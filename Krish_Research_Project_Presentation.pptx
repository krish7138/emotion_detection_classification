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Title, candidate details, course, and the confidentiality statement required by the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Acknowledgements on a separate slide, as required by the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Situation, Complication, Resolution. The key point is that existing studies confound the emoji decision with other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original research questions are combined into one. Six objectives follow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handbook lists MSc Data Science and Artificial Intelligence under the Applied route, with a data analytics or machine learning pipeline as the expected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required by the Applied route. It loads the same models and thresholds that produced the reported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themes, one per part of the experiment: the task type, the architectures, and emoji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screening funnel and the single critical point: no reviewed study isolates the preprocessing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gaps. Each one is closed by a specific feature of the design, revisited in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 Six layers of the research onion and the choice made at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 Alternatives considered and rejected, with the choice made in each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UREC1, no participants, no personal data. De-identification is built into preprocessing rather than bolted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3. The register. The matrix on the next slide plots the same seven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The matrix places each register entry by likelihood and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 seven registered risks actually materialised. Each mitigation is a concrete artefact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 Four layers. Development lifecycle was staged and incremental, one notebook per stage, each verified before the next was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 The fork is a single function call. Everything above and below it is shared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entire experimental manipulation is these two function bodies.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5. Only the Stage 2 emoji operation changes, so any difference in score belongs to that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4. Four of the twelve system test cases. The fixture test is the one that guarantees the served model sees the same text the trained model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6. Appendix G of the report. Blue is planned, rust is actual, and the dashed line marks a late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7. This turns the experiment from a table of numbers into something a practitioner can try on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8. Emoji density is the ceiling on the whole study, and it is the most important caveat on the headline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5. All figures are development split. The test split was preserved unused.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9. Both architectures move in the same direction, so the coarse claim holds for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10. This is the strongest finding in the project, because the per-emotion effects are large relative to the noise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independent checks. The AUC check matters most, because every other metric depends on the tuned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research question has two halves, answered here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handbook places MSc Data Science and AI on the Applied route. Applied evaluation normally means user acceptance testing, but the marking criteria also accept evaluation by an expert, which is what applies here given UREC1.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6. All figures are development split results, so they are indicative rather than confirmed generalisation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analysis of the feedback: the scope advice was the single most valuable input to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limitations concern how far the number generalises, not whether the comparison was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7. Every gap identified in the literature review is closed by a specific design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contributions: method, finding and artefact.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8. Scoring the held-out test split is the single highest-value extension and requires no 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integrity: every entry was checked against the publisher record rather than accepted from a search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AITS Level 2 declaration. The full statement is Appendix A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9. Every row pairs an AI use with the oversight that was applied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slides follow, for use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hyperlink" Target="https://doi.org/10.1186/s43067-026-00322-4" TargetMode="External"/><Relationship Id="rId2" Type="http://schemas.openxmlformats.org/officeDocument/2006/relationships/hyperlink" Target="https://doi.org/10.3389/fpsyg.2025.1626509" TargetMode="External"/><Relationship Id="rId3" Type="http://schemas.openxmlformats.org/officeDocument/2006/relationships/hyperlink" Target="https://doi.org/10.1177/00332941231220304" TargetMode="External"/><Relationship Id="rId4" Type="http://schemas.openxmlformats.org/officeDocument/2006/relationships/hyperlink" Target="https://doi.org/10.1155/2024/9652424" TargetMode="External"/><Relationship Id="rId5" Type="http://schemas.openxmlformats.org/officeDocument/2006/relationships/hyperlink" Target="https://doi.org/10.1007/s42044-025-00332-x" TargetMode="External"/><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s://doi.org/10.3389/frai.2025.1627078" TargetMode="External"/><Relationship Id="rId2" Type="http://schemas.openxmlformats.org/officeDocument/2006/relationships/hyperlink" Target="https://arxiv.org/abs/2505.16460" TargetMode="External"/><Relationship Id="rId3" Type="http://schemas.openxmlformats.org/officeDocument/2006/relationships/hyperlink" Target="https://doi.org/10.1080/13645579.2024.2393796" TargetMode="External"/><Relationship Id="rId4" Type="http://schemas.openxmlformats.org/officeDocument/2006/relationships/hyperlink" Target="https://doi.org/10.3233/IDA-230864" TargetMode="External"/><Relationship Id="rId5" Type="http://schemas.openxmlformats.org/officeDocument/2006/relationships/hyperlink" Target="https://doi.org/10.1016/j.nlp.2024.100059" TargetMode="External"/><Relationship Id="rId6" Type="http://schemas.openxmlformats.org/officeDocument/2006/relationships/slideLayout" Target="../slideLayouts/slideLayout1.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hyperlink" Target="https://doi.org/10.1038/s41598-025-92286-0" TargetMode="External"/><Relationship Id="rId2" Type="http://schemas.openxmlformats.org/officeDocument/2006/relationships/hyperlink" Target="https://doi.org/10.1038/s41598-025-31984-1" TargetMode="External"/><Relationship Id="rId3" Type="http://schemas.openxmlformats.org/officeDocument/2006/relationships/hyperlink" Target="https://doi.org/10.1038/s41598-024-80167-x" TargetMode="External"/><Relationship Id="rId4" Type="http://schemas.openxmlformats.org/officeDocument/2006/relationships/hyperlink" Target="https://aclanthology.org/S18-1001/" TargetMode="External"/><Relationship Id="rId5" Type="http://schemas.openxmlformats.org/officeDocument/2006/relationships/hyperlink" Target="https://arxiv.org/abs/2503.07269" TargetMode="External"/><Relationship Id="rId6" Type="http://schemas.openxmlformats.org/officeDocument/2006/relationships/slideLayout" Target="../slideLayouts/slideLayout1.xml"/><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doi.org/10.3389/fdata.2025.1677331" TargetMode="External"/><Relationship Id="rId2" Type="http://schemas.openxmlformats.org/officeDocument/2006/relationships/hyperlink" Target="https://arxiv.org/abs/2403.15454" TargetMode="External"/><Relationship Id="rId3" Type="http://schemas.openxmlformats.org/officeDocument/2006/relationships/hyperlink" Target="https://arxiv.org/abs/2505.03118" TargetMode="External"/><Relationship Id="rId4" Type="http://schemas.openxmlformats.org/officeDocument/2006/relationships/hyperlink" Target="https://doi.org/10.1007/s13278-024-01352-4" TargetMode="External"/><Relationship Id="rId5" Type="http://schemas.openxmlformats.org/officeDocument/2006/relationships/hyperlink" Target="https://doi.org/10.1038/s41598-024-58944-5" TargetMode="External"/><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s://arxiv.org/abs/2505.13244" TargetMode="External"/><Relationship Id="rId2" Type="http://schemas.openxmlformats.org/officeDocument/2006/relationships/hyperlink" Target="https://doi.org/10.1016/j.eswa.2023.121692" TargetMode="External"/><Relationship Id="rId3" Type="http://schemas.openxmlformats.org/officeDocument/2006/relationships/hyperlink" Target="https://doi.org/10.2196/51496" TargetMode="External"/><Relationship Id="rId4" Type="http://schemas.openxmlformats.org/officeDocument/2006/relationships/hyperlink" Target="https://doi.org/10.18653/v1/2024.emnlp-main.989" TargetMode="External"/><Relationship Id="rId5" Type="http://schemas.openxmlformats.org/officeDocument/2006/relationships/hyperlink" Target="https://doi.org/10.18653/v1/2024.emnlp-main.1041" TargetMode="External"/><Relationship Id="rId6" Type="http://schemas.openxmlformats.org/officeDocument/2006/relationships/slideLayout" Target="../slideLayouts/slideLayout1.xml"/><Relationship Id="rId7"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340"/>
        </a:solidFill>
      </p:bgPr>
    </p:bg>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9FB3C8"/>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9FB3C8"/>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9FB3C8"/>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822960" y="777240"/>
            <a:ext cx="10515600" cy="86868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Does the Emoji Matter?</a:t>
            </a:r>
            <a:endParaRPr lang="en-US" sz="4200" dirty="0"/>
          </a:p>
        </p:txBody>
      </p:sp>
      <p:sp>
        <p:nvSpPr>
          <p:cNvPr id="6" name="Text 4"/>
          <p:cNvSpPr txBox="1"/>
          <p:nvPr/>
        </p:nvSpPr>
        <p:spPr>
          <a:xfrm>
            <a:off x="822960" y="1691640"/>
            <a:ext cx="10515600" cy="868680"/>
          </a:xfrm>
          <a:prstGeom prst="rect">
            <a:avLst/>
          </a:prstGeom>
          <a:noFill/>
          <a:ln/>
        </p:spPr>
        <p:txBody>
          <a:bodyPr wrap="square" lIns="0" tIns="0" rIns="0" bIns="0" rtlCol="0" anchor="t"/>
          <a:lstStyle/>
          <a:p>
            <a:pPr indent="0" marL="0">
              <a:lnSpc>
                <a:spcPts val="3000"/>
              </a:lnSpc>
              <a:buNone/>
            </a:pPr>
            <a:r>
              <a:rPr lang="en-US" sz="2400" dirty="0">
                <a:solidFill>
                  <a:srgbClr val="9FB3C8"/>
                </a:solidFill>
                <a:latin typeface="Calibri" pitchFamily="34" charset="0"/>
                <a:ea typeface="Calibri" pitchFamily="34" charset="-122"/>
                <a:cs typeface="Calibri" pitchFamily="34" charset="-120"/>
              </a:rPr>
              <a:t>A Controlled Comparison of Emoji Removal and Emoji Verbalisation in Multi-Label Emotion Classification of Tweets</a:t>
            </a:r>
            <a:endParaRPr lang="en-US" sz="2400" dirty="0"/>
          </a:p>
        </p:txBody>
      </p:sp>
      <p:sp>
        <p:nvSpPr>
          <p:cNvPr id="7" name="Shape 5"/>
          <p:cNvSpPr/>
          <p:nvPr/>
        </p:nvSpPr>
        <p:spPr>
          <a:xfrm>
            <a:off x="822960" y="2724912"/>
            <a:ext cx="2011680" cy="45720"/>
          </a:xfrm>
          <a:prstGeom prst="rect">
            <a:avLst/>
          </a:prstGeom>
          <a:solidFill>
            <a:srgbClr val="B3512F"/>
          </a:solidFill>
          <a:ln w="12700">
            <a:solidFill>
              <a:srgbClr val="B3512F"/>
            </a:solidFill>
            <a:prstDash val="solid"/>
          </a:ln>
        </p:spPr>
      </p:sp>
      <p:sp>
        <p:nvSpPr>
          <p:cNvPr id="8" name="Text 6"/>
          <p:cNvSpPr txBox="1"/>
          <p:nvPr/>
        </p:nvSpPr>
        <p:spPr>
          <a:xfrm>
            <a:off x="822960" y="3063240"/>
            <a:ext cx="5669280" cy="1463040"/>
          </a:xfrm>
          <a:prstGeom prst="rect">
            <a:avLst/>
          </a:prstGeom>
          <a:noFill/>
          <a:ln/>
        </p:spPr>
        <p:txBody>
          <a:bodyPr wrap="square" lIns="0" tIns="0" rIns="0" bIns="0" rtlCol="0" anchor="t"/>
          <a:lstStyle/>
          <a:p>
            <a:pPr indent="0" marL="0">
              <a:lnSpc>
                <a:spcPts val="2800"/>
              </a:lnSpc>
              <a:buNone/>
            </a:pPr>
            <a:r>
              <a:rPr lang="en-US" sz="2600" b="1" dirty="0">
                <a:solidFill>
                  <a:srgbClr val="FFFFFF"/>
                </a:solidFill>
                <a:latin typeface="Calibri" pitchFamily="34" charset="0"/>
                <a:ea typeface="Calibri" pitchFamily="34" charset="-122"/>
                <a:cs typeface="Calibri" pitchFamily="34" charset="-120"/>
              </a:rPr>
              <a:t>Krishkumar Jatinbhai Sorathiya</a:t>
            </a:r>
            <a:endParaRPr lang="en-US" sz="2600" dirty="0"/>
          </a:p>
          <a:p>
            <a:pPr indent="0" marL="0">
              <a:lnSpc>
                <a:spcPts val="2800"/>
              </a:lnSpc>
              <a:buNone/>
            </a:pPr>
            <a:r>
              <a:rPr lang="en-US" sz="2000" dirty="0">
                <a:solidFill>
                  <a:srgbClr val="9FB3C8"/>
                </a:solidFill>
                <a:latin typeface="Calibri" pitchFamily="34" charset="0"/>
                <a:ea typeface="Calibri" pitchFamily="34" charset="-122"/>
                <a:cs typeface="Calibri" pitchFamily="34" charset="-120"/>
              </a:rPr>
              <a:t>Student Number 35042390</a:t>
            </a:r>
            <a:endParaRPr lang="en-US" sz="2600" dirty="0"/>
          </a:p>
          <a:p>
            <a:pPr indent="0" marL="0">
              <a:lnSpc>
                <a:spcPts val="2800"/>
              </a:lnSpc>
              <a:buNone/>
            </a:pPr>
            <a:r>
              <a:rPr lang="en-US" sz="2000" dirty="0">
                <a:solidFill>
                  <a:srgbClr val="9FB3C8"/>
                </a:solidFill>
                <a:latin typeface="Calibri" pitchFamily="34" charset="0"/>
                <a:ea typeface="Calibri" pitchFamily="34" charset="-122"/>
                <a:cs typeface="Calibri" pitchFamily="34" charset="-120"/>
              </a:rPr>
              <a:t>c5042390@hallam.shu.ac.uk</a:t>
            </a:r>
            <a:endParaRPr lang="en-US" sz="2600" dirty="0"/>
          </a:p>
        </p:txBody>
      </p:sp>
      <p:sp>
        <p:nvSpPr>
          <p:cNvPr id="9" name="Text 7"/>
          <p:cNvSpPr txBox="1"/>
          <p:nvPr/>
        </p:nvSpPr>
        <p:spPr>
          <a:xfrm>
            <a:off x="6675120" y="3063240"/>
            <a:ext cx="4663440" cy="1828800"/>
          </a:xfrm>
          <a:prstGeom prst="rect">
            <a:avLst/>
          </a:prstGeom>
          <a:noFill/>
          <a:ln/>
        </p:spPr>
        <p:txBody>
          <a:bodyPr wrap="square" lIns="0" tIns="0" rIns="0" bIns="0" rtlCol="0" anchor="t"/>
          <a:lstStyle/>
          <a:p>
            <a:pPr algn="r" indent="0" marL="0">
              <a:lnSpc>
                <a:spcPts val="2600"/>
              </a:lnSpc>
              <a:buNone/>
            </a:pPr>
            <a:r>
              <a:rPr lang="en-US" sz="2000" dirty="0">
                <a:solidFill>
                  <a:srgbClr val="FFFFFF"/>
                </a:solidFill>
                <a:latin typeface="Calibri" pitchFamily="34" charset="0"/>
                <a:ea typeface="Calibri" pitchFamily="34" charset="-122"/>
                <a:cs typeface="Calibri" pitchFamily="34" charset="-120"/>
              </a:rPr>
              <a:t>MSc Data Science and Artificial Intelligence</a:t>
            </a:r>
            <a:endParaRPr lang="en-US" sz="2000" dirty="0"/>
          </a:p>
          <a:p>
            <a:pPr algn="r" indent="0" marL="0">
              <a:lnSpc>
                <a:spcPts val="2600"/>
              </a:lnSpc>
              <a:buNone/>
            </a:pPr>
            <a:r>
              <a:rPr lang="en-US" sz="1800" dirty="0">
                <a:solidFill>
                  <a:srgbClr val="9FB3C8"/>
                </a:solidFill>
                <a:latin typeface="Calibri" pitchFamily="34" charset="0"/>
                <a:ea typeface="Calibri" pitchFamily="34" charset="-122"/>
                <a:cs typeface="Calibri" pitchFamily="34" charset="-120"/>
              </a:rPr>
              <a:t>School of Computing and Digital Technologies</a:t>
            </a:r>
            <a:endParaRPr lang="en-US" sz="2000" dirty="0"/>
          </a:p>
          <a:p>
            <a:pPr algn="r" indent="0" marL="0">
              <a:lnSpc>
                <a:spcPts val="2600"/>
              </a:lnSpc>
              <a:buNone/>
            </a:pPr>
            <a:r>
              <a:rPr lang="en-US" sz="1800" dirty="0">
                <a:solidFill>
                  <a:srgbClr val="9FB3C8"/>
                </a:solidFill>
                <a:latin typeface="Calibri" pitchFamily="34" charset="0"/>
                <a:ea typeface="Calibri" pitchFamily="34" charset="-122"/>
                <a:cs typeface="Calibri" pitchFamily="34" charset="-120"/>
              </a:rPr>
              <a:t>College of Business, Technology and Engineering</a:t>
            </a:r>
            <a:endParaRPr lang="en-US" sz="2000" dirty="0"/>
          </a:p>
          <a:p>
            <a:pPr algn="r" indent="0" marL="0">
              <a:lnSpc>
                <a:spcPts val="2600"/>
              </a:lnSpc>
              <a:buNone/>
            </a:pPr>
            <a:r>
              <a:rPr lang="en-US" sz="1800" dirty="0">
                <a:solidFill>
                  <a:srgbClr val="9FB3C8"/>
                </a:solidFill>
                <a:latin typeface="Calibri" pitchFamily="34" charset="0"/>
                <a:ea typeface="Calibri" pitchFamily="34" charset="-122"/>
                <a:cs typeface="Calibri" pitchFamily="34" charset="-120"/>
              </a:rPr>
              <a:t>Sheffield Hallam University</a:t>
            </a:r>
            <a:endParaRPr lang="en-US" sz="2000" dirty="0"/>
          </a:p>
          <a:p>
            <a:pPr algn="r" indent="0" marL="0">
              <a:lnSpc>
                <a:spcPts val="2600"/>
              </a:lnSpc>
              <a:buNone/>
            </a:pPr>
            <a:r>
              <a:rPr lang="en-US" sz="1800" dirty="0">
                <a:solidFill>
                  <a:srgbClr val="9FB3C8"/>
                </a:solidFill>
                <a:latin typeface="Calibri" pitchFamily="34" charset="0"/>
                <a:ea typeface="Calibri" pitchFamily="34" charset="-122"/>
                <a:cs typeface="Calibri" pitchFamily="34" charset="-120"/>
              </a:rPr>
              <a:t>September 2026</a:t>
            </a:r>
            <a:endParaRPr lang="en-US" sz="2000" dirty="0"/>
          </a:p>
        </p:txBody>
      </p:sp>
      <p:sp>
        <p:nvSpPr>
          <p:cNvPr id="10" name="Shape 8"/>
          <p:cNvSpPr/>
          <p:nvPr/>
        </p:nvSpPr>
        <p:spPr>
          <a:xfrm>
            <a:off x="822960" y="4892040"/>
            <a:ext cx="10515600" cy="658368"/>
          </a:xfrm>
          <a:prstGeom prst="roundRect">
            <a:avLst>
              <a:gd name="adj" fmla="val 12500"/>
            </a:avLst>
          </a:prstGeom>
          <a:solidFill>
            <a:srgbClr val="163A5F"/>
          </a:solidFill>
          <a:ln w="12700">
            <a:solidFill>
              <a:srgbClr val="D6DDE5"/>
            </a:solidFill>
            <a:prstDash val="solid"/>
          </a:ln>
        </p:spPr>
      </p:sp>
      <p:sp>
        <p:nvSpPr>
          <p:cNvPr id="11" name="Text 9"/>
          <p:cNvSpPr txBox="1"/>
          <p:nvPr/>
        </p:nvSpPr>
        <p:spPr>
          <a:xfrm>
            <a:off x="1005840" y="4892040"/>
            <a:ext cx="10149840" cy="658368"/>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This Research Project is NOT confidential and may be made available for consultation.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2</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Acknowledgements</a:t>
            </a:r>
            <a:endParaRPr lang="en-US" sz="3200" dirty="0"/>
          </a:p>
        </p:txBody>
      </p:sp>
      <p:sp>
        <p:nvSpPr>
          <p:cNvPr id="6" name="Text 4"/>
          <p:cNvSpPr txBox="1"/>
          <p:nvPr/>
        </p:nvSpPr>
        <p:spPr>
          <a:xfrm>
            <a:off x="640080" y="1234440"/>
            <a:ext cx="10908792" cy="4572000"/>
          </a:xfrm>
          <a:prstGeom prst="rect">
            <a:avLst/>
          </a:prstGeom>
          <a:noFill/>
          <a:ln/>
        </p:spPr>
        <p:txBody>
          <a:bodyPr wrap="square" lIns="0" tIns="0" rIns="0" bIns="0" rtlCol="0" anchor="t"/>
          <a:lstStyle/>
          <a:p>
            <a:pPr marL="342900" indent="-342900">
              <a:lnSpc>
                <a:spcPts val="2800"/>
              </a:lnSpc>
              <a:spcAft>
                <a:spcPts val="800"/>
              </a:spcAft>
              <a:buSzPct val="100000"/>
              <a:buChar char="•"/>
            </a:pPr>
            <a:r>
              <a:rPr lang="en-US" sz="2200" dirty="0">
                <a:solidFill>
                  <a:srgbClr val="1A1A1A"/>
                </a:solidFill>
                <a:latin typeface="Calibri" pitchFamily="34" charset="0"/>
                <a:ea typeface="Calibri" pitchFamily="34" charset="-122"/>
                <a:cs typeface="Calibri" pitchFamily="34" charset="-120"/>
              </a:rPr>
              <a:t>I thank my supervisor for guidance throughout this project. The most useful advice was to narrow a broad interest in emotion recognition down to one testable question about emoji. That is why this project is a controlled experiment rather than a general model-building exercise.</a:t>
            </a:r>
            <a:endParaRPr lang="en-US" sz="2200" dirty="0"/>
          </a:p>
          <a:p>
            <a:pPr marL="342900" indent="-342900">
              <a:lnSpc>
                <a:spcPts val="2800"/>
              </a:lnSpc>
              <a:spcAft>
                <a:spcPts val="800"/>
              </a:spcAft>
              <a:buSzPct val="100000"/>
              <a:buChar char="•"/>
            </a:pPr>
            <a:r>
              <a:rPr lang="en-US" sz="2200" dirty="0">
                <a:solidFill>
                  <a:srgbClr val="1A1A1A"/>
                </a:solidFill>
                <a:latin typeface="Calibri" pitchFamily="34" charset="0"/>
                <a:ea typeface="Calibri" pitchFamily="34" charset="-122"/>
                <a:cs typeface="Calibri" pitchFamily="34" charset="-120"/>
              </a:rPr>
              <a:t>I thank the organisers of the SemEval-2018 Affect in Tweets shared task for releasing the annotated corpus used here.</a:t>
            </a:r>
            <a:endParaRPr lang="en-US" sz="2200" dirty="0"/>
          </a:p>
          <a:p>
            <a:pPr marL="342900" indent="-342900">
              <a:lnSpc>
                <a:spcPts val="2800"/>
              </a:lnSpc>
              <a:spcAft>
                <a:spcPts val="800"/>
              </a:spcAft>
              <a:buSzPct val="100000"/>
              <a:buChar char="•"/>
            </a:pPr>
            <a:r>
              <a:rPr lang="en-US" sz="2200" dirty="0">
                <a:solidFill>
                  <a:srgbClr val="1A1A1A"/>
                </a:solidFill>
                <a:latin typeface="Calibri" pitchFamily="34" charset="0"/>
                <a:ea typeface="Calibri" pitchFamily="34" charset="-122"/>
                <a:cs typeface="Calibri" pitchFamily="34" charset="-120"/>
              </a:rPr>
              <a:t>I thank the maintainers of the open-source libraries this work depends on: TensorFlow, Keras, scikit-learn, NLTK, emoji, demoji and Streamlit.</a:t>
            </a:r>
            <a:endParaRPr lang="en-US" sz="2200" dirty="0"/>
          </a:p>
          <a:p>
            <a:pPr marL="342900" indent="-342900">
              <a:lnSpc>
                <a:spcPts val="2800"/>
              </a:lnSpc>
              <a:spcAft>
                <a:spcPts val="800"/>
              </a:spcAft>
              <a:buSzPct val="100000"/>
              <a:buChar char="•"/>
            </a:pPr>
            <a:r>
              <a:rPr lang="en-US" sz="2200" dirty="0">
                <a:solidFill>
                  <a:srgbClr val="1A1A1A"/>
                </a:solidFill>
                <a:latin typeface="Calibri" pitchFamily="34" charset="0"/>
                <a:ea typeface="Calibri" pitchFamily="34" charset="-122"/>
                <a:cs typeface="Calibri" pitchFamily="34" charset="-120"/>
              </a:rPr>
              <a:t>GPU training was carried out on a personal compute account. No industry partner or host organisation was involved, and no third-party data was accessed.</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3</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Presentation Agenda 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280160"/>
          <a:ext cx="10908792" cy="914400"/>
        </p:xfrm>
        <a:graphic>
          <a:graphicData uri="http://schemas.openxmlformats.org/drawingml/2006/table">
            <a:tbl>
              <a:tblPr/>
              <a:tblGrid>
                <a:gridCol w="8622792"/>
                <a:gridCol w="2286000"/>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Section</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Slide</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r>
              <a:tr h="0">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1.  Introduction</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Slide 5</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2.  Literature Review</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Slide 10</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3.  Research Methodology</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Slide 14</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4.  Ethics</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Slide 17</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5.  Implementation</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Slide 22</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4</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Presentation Agenda II</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280160"/>
          <a:ext cx="10908792" cy="914400"/>
        </p:xfrm>
        <a:graphic>
          <a:graphicData uri="http://schemas.openxmlformats.org/drawingml/2006/table">
            <a:tbl>
              <a:tblPr/>
              <a:tblGrid>
                <a:gridCol w="8622792"/>
                <a:gridCol w="2286000"/>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Section</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Slide</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r>
              <a:tr h="0">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6.  Results</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Slide 30</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7.  Evaluation</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Slide 37</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8.  Conclusion</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Slide 42</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9.  References</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Slide 46</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10.  AI Declaration</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Slide 53</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Appendix</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A1A1A"/>
                          </a:solidFill>
                          <a:latin typeface="Calibri" pitchFamily="34" charset="0"/>
                          <a:ea typeface="Calibri" pitchFamily="34" charset="-122"/>
                          <a:cs typeface="Calibri" pitchFamily="34" charset="-120"/>
                        </a:rPr>
                        <a:t>Slide 57</a:t>
                      </a:r>
                      <a:endParaRPr lang="en-US" sz="22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2340"/>
        </a:solidFill>
      </p:bgPr>
    </p:bg>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9FB3C8"/>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9FB3C8"/>
                </a:solidFill>
                <a:latin typeface="Calibri" pitchFamily="34" charset="0"/>
                <a:ea typeface="Calibri" pitchFamily="34" charset="-122"/>
                <a:cs typeface="Calibri" pitchFamily="34" charset="-120"/>
              </a:rPr>
              <a:t>5</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9FB3C8"/>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822960" y="1965960"/>
            <a:ext cx="2011680" cy="1737360"/>
          </a:xfrm>
          <a:prstGeom prst="rect">
            <a:avLst/>
          </a:prstGeom>
          <a:noFill/>
          <a:ln/>
        </p:spPr>
        <p:txBody>
          <a:bodyPr wrap="square" lIns="0" tIns="0" rIns="0" bIns="0" rtlCol="0" anchor="ctr"/>
          <a:lstStyle/>
          <a:p>
            <a:pPr algn="l" indent="0" marL="0">
              <a:buNone/>
            </a:pPr>
            <a:r>
              <a:rPr lang="en-US" sz="9600" b="1" dirty="0">
                <a:solidFill>
                  <a:srgbClr val="B3512F"/>
                </a:solidFill>
                <a:latin typeface="Calibri" pitchFamily="34" charset="0"/>
                <a:ea typeface="Calibri" pitchFamily="34" charset="-122"/>
                <a:cs typeface="Calibri" pitchFamily="34" charset="-120"/>
              </a:rPr>
              <a:t>1</a:t>
            </a:r>
            <a:endParaRPr lang="en-US" sz="9600" dirty="0"/>
          </a:p>
        </p:txBody>
      </p:sp>
      <p:sp>
        <p:nvSpPr>
          <p:cNvPr id="6" name="Text 4"/>
          <p:cNvSpPr txBox="1"/>
          <p:nvPr/>
        </p:nvSpPr>
        <p:spPr>
          <a:xfrm>
            <a:off x="2834640" y="1965960"/>
            <a:ext cx="8503920" cy="1737360"/>
          </a:xfrm>
          <a:prstGeom prst="rect">
            <a:avLst/>
          </a:prstGeom>
          <a:noFill/>
          <a:ln/>
        </p:spPr>
        <p:txBody>
          <a:bodyPr wrap="square" lIns="0" tIns="0" rIns="0" bIns="0" rtlCol="0" anchor="ctr"/>
          <a:lstStyle/>
          <a:p>
            <a:pPr algn="l" indent="0" marL="0">
              <a:buNone/>
            </a:pPr>
            <a:r>
              <a:rPr lang="en-US" sz="4400" b="1" dirty="0">
                <a:solidFill>
                  <a:srgbClr val="FFFFFF"/>
                </a:solidFill>
                <a:latin typeface="Calibri" pitchFamily="34" charset="0"/>
                <a:ea typeface="Calibri" pitchFamily="34" charset="-122"/>
                <a:cs typeface="Calibri" pitchFamily="34" charset="-120"/>
              </a:rPr>
              <a:t>Introduction</a:t>
            </a:r>
            <a:endParaRPr lang="en-US" sz="4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6</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Background and the Problem</a:t>
            </a:r>
            <a:endParaRPr lang="en-US" sz="3200" dirty="0"/>
          </a:p>
        </p:txBody>
      </p:sp>
      <p:sp>
        <p:nvSpPr>
          <p:cNvPr id="6" name="Shape 4"/>
          <p:cNvSpPr/>
          <p:nvPr/>
        </p:nvSpPr>
        <p:spPr>
          <a:xfrm>
            <a:off x="640080" y="1234440"/>
            <a:ext cx="5257800" cy="4480560"/>
          </a:xfrm>
          <a:prstGeom prst="roundRect">
            <a:avLst>
              <a:gd name="adj" fmla="val 1837"/>
            </a:avLst>
          </a:prstGeom>
          <a:solidFill>
            <a:srgbClr val="F4F7FA"/>
          </a:solidFill>
          <a:ln w="12700">
            <a:solidFill>
              <a:srgbClr val="D6DDE5"/>
            </a:solidFill>
            <a:prstDash val="solid"/>
          </a:ln>
        </p:spPr>
      </p:sp>
      <p:sp>
        <p:nvSpPr>
          <p:cNvPr id="7" name="Text 5"/>
          <p:cNvSpPr txBox="1"/>
          <p:nvPr/>
        </p:nvSpPr>
        <p:spPr>
          <a:xfrm>
            <a:off x="914400" y="1463040"/>
            <a:ext cx="4709160" cy="4023360"/>
          </a:xfrm>
          <a:prstGeom prst="rect">
            <a:avLst/>
          </a:prstGeom>
          <a:noFill/>
          <a:ln/>
        </p:spPr>
        <p:txBody>
          <a:bodyPr wrap="square" lIns="0" tIns="0" rIns="0" bIns="0" rtlCol="0" anchor="t"/>
          <a:lstStyle/>
          <a:p>
            <a:pPr indent="0" marL="0">
              <a:lnSpc>
                <a:spcPts val="2700"/>
              </a:lnSpc>
              <a:buNone/>
            </a:pPr>
            <a:r>
              <a:rPr lang="en-US" sz="2400" b="1" dirty="0">
                <a:solidFill>
                  <a:srgbClr val="0C2340"/>
                </a:solidFill>
                <a:latin typeface="Calibri" pitchFamily="34" charset="0"/>
                <a:ea typeface="Calibri" pitchFamily="34" charset="-122"/>
                <a:cs typeface="Calibri" pitchFamily="34" charset="-120"/>
              </a:rPr>
              <a:t>Situation</a:t>
            </a:r>
            <a:endParaRPr lang="en-US" sz="2400" dirty="0"/>
          </a:p>
          <a:p>
            <a:pPr indent="0" marL="0">
              <a:lnSpc>
                <a:spcPts val="2700"/>
              </a:lnSpc>
              <a:buNone/>
            </a:pPr>
            <a:r>
              <a:rPr lang="en-US" sz="2200" dirty="0">
                <a:solidFill>
                  <a:srgbClr val="1A1A1A"/>
                </a:solidFill>
                <a:latin typeface="Calibri" pitchFamily="34" charset="0"/>
                <a:ea typeface="Calibri" pitchFamily="34" charset="-122"/>
                <a:cs typeface="Calibri" pitchFamily="34" charset="-120"/>
              </a:rPr>
              <a:t>Emotion recognition assigns feelings such as anger, joy or fear to text. On social media, much of that feeling is carried by emoji (Carroll, 2025).</a:t>
            </a:r>
            <a:endParaRPr lang="en-US" sz="2400" dirty="0"/>
          </a:p>
          <a:p>
            <a:pPr indent="0" marL="0">
              <a:lnSpc>
                <a:spcPts val="2700"/>
              </a:lnSpc>
              <a:buNone/>
            </a:pPr>
            <a:endParaRPr lang="en-US" sz="2400" dirty="0"/>
          </a:p>
          <a:p>
            <a:pPr indent="0" marL="0">
              <a:lnSpc>
                <a:spcPts val="2700"/>
              </a:lnSpc>
              <a:buNone/>
            </a:pPr>
            <a:r>
              <a:rPr lang="en-US" sz="2400" b="1" dirty="0">
                <a:solidFill>
                  <a:srgbClr val="0C2340"/>
                </a:solidFill>
                <a:latin typeface="Calibri" pitchFamily="34" charset="0"/>
                <a:ea typeface="Calibri" pitchFamily="34" charset="-122"/>
                <a:cs typeface="Calibri" pitchFamily="34" charset="-120"/>
              </a:rPr>
              <a:t>Complication</a:t>
            </a:r>
            <a:endParaRPr lang="en-US" sz="2400" dirty="0"/>
          </a:p>
          <a:p>
            <a:pPr indent="0" marL="0">
              <a:lnSpc>
                <a:spcPts val="2700"/>
              </a:lnSpc>
              <a:buNone/>
            </a:pPr>
            <a:r>
              <a:rPr lang="en-US" sz="2200" dirty="0">
                <a:solidFill>
                  <a:srgbClr val="1A1A1A"/>
                </a:solidFill>
                <a:latin typeface="Calibri" pitchFamily="34" charset="0"/>
                <a:ea typeface="Calibri" pitchFamily="34" charset="-122"/>
                <a:cs typeface="Calibri" pitchFamily="34" charset="-120"/>
              </a:rPr>
              <a:t>Before a model sees a tweet, the pipeline must delete the emoji or turn them into words. Both appear in the literature, and the choice is largely untested.</a:t>
            </a:r>
            <a:endParaRPr lang="en-US" sz="2400" dirty="0"/>
          </a:p>
        </p:txBody>
      </p:sp>
      <p:sp>
        <p:nvSpPr>
          <p:cNvPr id="8" name="Shape 6"/>
          <p:cNvSpPr/>
          <p:nvPr/>
        </p:nvSpPr>
        <p:spPr>
          <a:xfrm>
            <a:off x="6291072" y="1234440"/>
            <a:ext cx="5257800" cy="4480560"/>
          </a:xfrm>
          <a:prstGeom prst="roundRect">
            <a:avLst>
              <a:gd name="adj" fmla="val 1837"/>
            </a:avLst>
          </a:prstGeom>
          <a:solidFill>
            <a:srgbClr val="F4F7FA"/>
          </a:solidFill>
          <a:ln w="12700">
            <a:solidFill>
              <a:srgbClr val="D6DDE5"/>
            </a:solidFill>
            <a:prstDash val="solid"/>
          </a:ln>
        </p:spPr>
      </p:sp>
      <p:sp>
        <p:nvSpPr>
          <p:cNvPr id="9" name="Text 7"/>
          <p:cNvSpPr txBox="1"/>
          <p:nvPr/>
        </p:nvSpPr>
        <p:spPr>
          <a:xfrm>
            <a:off x="6565392" y="1463040"/>
            <a:ext cx="4709160" cy="4023360"/>
          </a:xfrm>
          <a:prstGeom prst="rect">
            <a:avLst/>
          </a:prstGeom>
          <a:noFill/>
          <a:ln/>
        </p:spPr>
        <p:txBody>
          <a:bodyPr wrap="square" lIns="0" tIns="0" rIns="0" bIns="0" rtlCol="0" anchor="t"/>
          <a:lstStyle/>
          <a:p>
            <a:pPr indent="0" marL="0">
              <a:lnSpc>
                <a:spcPts val="2700"/>
              </a:lnSpc>
              <a:buNone/>
            </a:pPr>
            <a:r>
              <a:rPr lang="en-US" sz="2400" b="1" dirty="0">
                <a:solidFill>
                  <a:srgbClr val="0C2340"/>
                </a:solidFill>
                <a:latin typeface="Calibri" pitchFamily="34" charset="0"/>
                <a:ea typeface="Calibri" pitchFamily="34" charset="-122"/>
                <a:cs typeface="Calibri" pitchFamily="34" charset="-120"/>
              </a:rPr>
              <a:t>Why It Is Untested</a:t>
            </a:r>
            <a:endParaRPr lang="en-US" sz="2400" dirty="0"/>
          </a:p>
          <a:p>
            <a:pPr indent="0" marL="0">
              <a:lnSpc>
                <a:spcPts val="2700"/>
              </a:lnSpc>
              <a:buNone/>
            </a:pPr>
            <a:r>
              <a:rPr lang="en-US" sz="2200" dirty="0">
                <a:solidFill>
                  <a:srgbClr val="1A1A1A"/>
                </a:solidFill>
                <a:latin typeface="Calibri" pitchFamily="34" charset="0"/>
                <a:ea typeface="Calibri" pitchFamily="34" charset="-122"/>
                <a:cs typeface="Calibri" pitchFamily="34" charset="-120"/>
              </a:rPr>
              <a:t>Studies that report a gain from emoji change several things at once, so the reported improvement is a combined effect (Z. Zhang et al., 2024).</a:t>
            </a:r>
            <a:endParaRPr lang="en-US" sz="2400" dirty="0"/>
          </a:p>
          <a:p>
            <a:pPr indent="0" marL="0">
              <a:lnSpc>
                <a:spcPts val="2700"/>
              </a:lnSpc>
              <a:buNone/>
            </a:pPr>
            <a:endParaRPr lang="en-US" sz="2400" dirty="0"/>
          </a:p>
          <a:p>
            <a:pPr indent="0" marL="0">
              <a:lnSpc>
                <a:spcPts val="2700"/>
              </a:lnSpc>
              <a:buNone/>
            </a:pPr>
            <a:r>
              <a:rPr lang="en-US" sz="2400" b="1" dirty="0">
                <a:solidFill>
                  <a:srgbClr val="B3512F"/>
                </a:solidFill>
                <a:latin typeface="Calibri" pitchFamily="34" charset="0"/>
                <a:ea typeface="Calibri" pitchFamily="34" charset="-122"/>
                <a:cs typeface="Calibri" pitchFamily="34" charset="-120"/>
              </a:rPr>
              <a:t>Resolution</a:t>
            </a:r>
            <a:endParaRPr lang="en-US" sz="2400" dirty="0"/>
          </a:p>
          <a:p>
            <a:pPr indent="0" marL="0">
              <a:lnSpc>
                <a:spcPts val="2700"/>
              </a:lnSpc>
              <a:buNone/>
            </a:pPr>
            <a:r>
              <a:rPr lang="en-US" sz="2200" dirty="0">
                <a:solidFill>
                  <a:srgbClr val="1A1A1A"/>
                </a:solidFill>
                <a:latin typeface="Calibri" pitchFamily="34" charset="0"/>
                <a:ea typeface="Calibri" pitchFamily="34" charset="-122"/>
                <a:cs typeface="Calibri" pitchFamily="34" charset="-120"/>
              </a:rPr>
              <a:t>One preprocessing pipeline that splits at exactly one step, so the only difference between the two corpora is whether emoji survive as text.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7</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Research Question and Objectives</a:t>
            </a:r>
            <a:endParaRPr lang="en-US" sz="3200" dirty="0"/>
          </a:p>
        </p:txBody>
      </p:sp>
      <p:sp>
        <p:nvSpPr>
          <p:cNvPr id="6" name="Shape 4"/>
          <p:cNvSpPr/>
          <p:nvPr/>
        </p:nvSpPr>
        <p:spPr>
          <a:xfrm>
            <a:off x="640080" y="1188720"/>
            <a:ext cx="10908792" cy="1572768"/>
          </a:xfrm>
          <a:prstGeom prst="roundRect">
            <a:avLst>
              <a:gd name="adj" fmla="val 5233"/>
            </a:avLst>
          </a:prstGeom>
          <a:solidFill>
            <a:srgbClr val="FDF1EC"/>
          </a:solidFill>
          <a:ln w="12700">
            <a:solidFill>
              <a:srgbClr val="D6DDE5"/>
            </a:solidFill>
            <a:prstDash val="solid"/>
          </a:ln>
        </p:spPr>
      </p:sp>
      <p:sp>
        <p:nvSpPr>
          <p:cNvPr id="7" name="Text 5"/>
          <p:cNvSpPr txBox="1"/>
          <p:nvPr/>
        </p:nvSpPr>
        <p:spPr>
          <a:xfrm>
            <a:off x="914400" y="1325880"/>
            <a:ext cx="10378440" cy="1325880"/>
          </a:xfrm>
          <a:prstGeom prst="rect">
            <a:avLst/>
          </a:prstGeom>
          <a:noFill/>
          <a:ln/>
        </p:spPr>
        <p:txBody>
          <a:bodyPr wrap="square" lIns="0" tIns="0" rIns="0" bIns="0" rtlCol="0" anchor="t"/>
          <a:lstStyle/>
          <a:p>
            <a:pPr indent="0" marL="0">
              <a:lnSpc>
                <a:spcPts val="2600"/>
              </a:lnSpc>
              <a:buNone/>
            </a:pPr>
            <a:r>
              <a:rPr lang="en-US" sz="2000" b="1" dirty="0">
                <a:solidFill>
                  <a:srgbClr val="B3512F"/>
                </a:solidFill>
                <a:latin typeface="Calibri" pitchFamily="34" charset="0"/>
                <a:ea typeface="Calibri" pitchFamily="34" charset="-122"/>
                <a:cs typeface="Calibri" pitchFamily="34" charset="-120"/>
              </a:rPr>
              <a:t>Research Question</a:t>
            </a:r>
            <a:endParaRPr lang="en-US" sz="2000" dirty="0"/>
          </a:p>
          <a:p>
            <a:pPr indent="0" marL="0">
              <a:lnSpc>
                <a:spcPts val="2600"/>
              </a:lnSpc>
              <a:buNone/>
            </a:pPr>
            <a:r>
              <a:rPr lang="en-US" sz="2200" b="1" dirty="0">
                <a:solidFill>
                  <a:srgbClr val="1A1A1A"/>
                </a:solidFill>
                <a:latin typeface="Calibri" pitchFamily="34" charset="0"/>
                <a:ea typeface="Calibri" pitchFamily="34" charset="-122"/>
                <a:cs typeface="Calibri" pitchFamily="34" charset="-120"/>
              </a:rPr>
              <a:t>To what extent does the treatment of emoji during preprocessing, that is removal compared with conversion into text descriptions, affect deep learning performance on multi-label emotion classification of tweets, and does that effect depend on the model architecture and on the specific emotion?</a:t>
            </a:r>
            <a:endParaRPr lang="en-US" sz="2000" dirty="0"/>
          </a:p>
        </p:txBody>
      </p:sp>
      <p:sp>
        <p:nvSpPr>
          <p:cNvPr id="8" name="Text 6"/>
          <p:cNvSpPr txBox="1"/>
          <p:nvPr/>
        </p:nvSpPr>
        <p:spPr>
          <a:xfrm>
            <a:off x="640080" y="2971800"/>
            <a:ext cx="10908792" cy="2743200"/>
          </a:xfrm>
          <a:prstGeom prst="rect">
            <a:avLst/>
          </a:prstGeom>
          <a:noFill/>
          <a:ln/>
        </p:spPr>
        <p:txBody>
          <a:bodyPr wrap="square" lIns="0" tIns="0" rIns="0" bIns="0" rtlCol="0" anchor="t"/>
          <a:lstStyle/>
          <a:p>
            <a:pPr marL="342900" indent="-342900">
              <a:lnSpc>
                <a:spcPts val="3000"/>
              </a:lnSpc>
              <a:spcAft>
                <a:spcPts val="600"/>
              </a:spcAft>
              <a:buSzPct val="100000"/>
              <a:buChar char="•"/>
            </a:pPr>
            <a:r>
              <a:rPr lang="en-US" sz="2200" dirty="0">
                <a:solidFill>
                  <a:srgbClr val="1A1A1A"/>
                </a:solidFill>
                <a:latin typeface="Calibri" pitchFamily="34" charset="0"/>
                <a:ea typeface="Calibri" pitchFamily="34" charset="-122"/>
                <a:cs typeface="Calibri" pitchFamily="34" charset="-120"/>
              </a:rPr>
              <a:t>O1  Review recent literature and identify the gap</a:t>
            </a:r>
            <a:endParaRPr lang="en-US" sz="2200" dirty="0"/>
          </a:p>
          <a:p>
            <a:pPr marL="342900" indent="-342900">
              <a:lnSpc>
                <a:spcPts val="3000"/>
              </a:lnSpc>
              <a:spcAft>
                <a:spcPts val="600"/>
              </a:spcAft>
              <a:buSzPct val="100000"/>
              <a:buChar char="•"/>
            </a:pPr>
            <a:r>
              <a:rPr lang="en-US" sz="2200" dirty="0">
                <a:solidFill>
                  <a:srgbClr val="1A1A1A"/>
                </a:solidFill>
                <a:latin typeface="Calibri" pitchFamily="34" charset="0"/>
                <a:ea typeface="Calibri" pitchFamily="34" charset="-122"/>
                <a:cs typeface="Calibri" pitchFamily="34" charset="-120"/>
              </a:rPr>
              <a:t>O2  Build one preprocessing pipeline that splits at a single step</a:t>
            </a:r>
            <a:endParaRPr lang="en-US" sz="2200" dirty="0"/>
          </a:p>
          <a:p>
            <a:pPr marL="342900" indent="-342900">
              <a:lnSpc>
                <a:spcPts val="3000"/>
              </a:lnSpc>
              <a:spcAft>
                <a:spcPts val="600"/>
              </a:spcAft>
              <a:buSzPct val="100000"/>
              <a:buChar char="•"/>
            </a:pPr>
            <a:r>
              <a:rPr lang="en-US" sz="2200" dirty="0">
                <a:solidFill>
                  <a:srgbClr val="1A1A1A"/>
                </a:solidFill>
                <a:latin typeface="Calibri" pitchFamily="34" charset="0"/>
                <a:ea typeface="Calibri" pitchFamily="34" charset="-122"/>
                <a:cs typeface="Calibri" pitchFamily="34" charset="-120"/>
              </a:rPr>
              <a:t>O3  Implement two architectures trainable identically on either track</a:t>
            </a:r>
            <a:endParaRPr lang="en-US" sz="2200" dirty="0"/>
          </a:p>
          <a:p>
            <a:pPr marL="342900" indent="-342900">
              <a:lnSpc>
                <a:spcPts val="3000"/>
              </a:lnSpc>
              <a:spcAft>
                <a:spcPts val="600"/>
              </a:spcAft>
              <a:buSzPct val="100000"/>
              <a:buChar char="•"/>
            </a:pPr>
            <a:r>
              <a:rPr lang="en-US" sz="2200" dirty="0">
                <a:solidFill>
                  <a:srgbClr val="1A1A1A"/>
                </a:solidFill>
                <a:latin typeface="Calibri" pitchFamily="34" charset="0"/>
                <a:ea typeface="Calibri" pitchFamily="34" charset="-122"/>
                <a:cs typeface="Calibri" pitchFamily="34" charset="-120"/>
              </a:rPr>
              <a:t>O4  Tune each condition, handling severe label imbalance</a:t>
            </a:r>
            <a:endParaRPr lang="en-US" sz="2200" dirty="0"/>
          </a:p>
          <a:p>
            <a:pPr marL="342900" indent="-342900">
              <a:lnSpc>
                <a:spcPts val="3000"/>
              </a:lnSpc>
              <a:spcAft>
                <a:spcPts val="600"/>
              </a:spcAft>
              <a:buSzPct val="100000"/>
              <a:buChar char="•"/>
            </a:pPr>
            <a:r>
              <a:rPr lang="en-US" sz="2200" dirty="0">
                <a:solidFill>
                  <a:srgbClr val="1A1A1A"/>
                </a:solidFill>
                <a:latin typeface="Calibri" pitchFamily="34" charset="0"/>
                <a:ea typeface="Calibri" pitchFamily="34" charset="-122"/>
                <a:cs typeface="Calibri" pitchFamily="34" charset="-120"/>
              </a:rPr>
              <a:t>O5  Evaluate all four conditions and compute the difference between tracks</a:t>
            </a:r>
            <a:endParaRPr lang="en-US" sz="2200" dirty="0"/>
          </a:p>
          <a:p>
            <a:pPr marL="342900" indent="-342900">
              <a:lnSpc>
                <a:spcPts val="3000"/>
              </a:lnSpc>
              <a:spcAft>
                <a:spcPts val="600"/>
              </a:spcAft>
              <a:buSzPct val="100000"/>
              <a:buChar char="•"/>
            </a:pPr>
            <a:r>
              <a:rPr lang="en-US" sz="2200" dirty="0">
                <a:solidFill>
                  <a:srgbClr val="1A1A1A"/>
                </a:solidFill>
                <a:latin typeface="Calibri" pitchFamily="34" charset="0"/>
                <a:ea typeface="Calibri" pitchFamily="34" charset="-122"/>
                <a:cs typeface="Calibri" pitchFamily="34" charset="-120"/>
              </a:rPr>
              <a:t>O6  Deliver a working application and verify it by system testing</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8</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The Corpus and Course Alignment</a:t>
            </a:r>
            <a:endParaRPr lang="en-US" sz="3200" dirty="0"/>
          </a:p>
        </p:txBody>
      </p:sp>
      <p:sp>
        <p:nvSpPr>
          <p:cNvPr id="6" name="Shape 4"/>
          <p:cNvSpPr/>
          <p:nvPr/>
        </p:nvSpPr>
        <p:spPr>
          <a:xfrm>
            <a:off x="640080" y="1234440"/>
            <a:ext cx="5257800" cy="4480560"/>
          </a:xfrm>
          <a:prstGeom prst="roundRect">
            <a:avLst>
              <a:gd name="adj" fmla="val 1837"/>
            </a:avLst>
          </a:prstGeom>
          <a:solidFill>
            <a:srgbClr val="F4F7FA"/>
          </a:solidFill>
          <a:ln w="12700">
            <a:solidFill>
              <a:srgbClr val="D6DDE5"/>
            </a:solidFill>
            <a:prstDash val="solid"/>
          </a:ln>
        </p:spPr>
      </p:sp>
      <p:sp>
        <p:nvSpPr>
          <p:cNvPr id="7" name="Text 5"/>
          <p:cNvSpPr txBox="1"/>
          <p:nvPr/>
        </p:nvSpPr>
        <p:spPr>
          <a:xfrm>
            <a:off x="914400" y="1481328"/>
            <a:ext cx="4709160" cy="4023360"/>
          </a:xfrm>
          <a:prstGeom prst="rect">
            <a:avLst/>
          </a:prstGeom>
          <a:noFill/>
          <a:ln/>
        </p:spPr>
        <p:txBody>
          <a:bodyPr wrap="square" lIns="0" tIns="0" rIns="0" bIns="0" rtlCol="0" anchor="t"/>
          <a:lstStyle/>
          <a:p>
            <a:pPr indent="0" marL="0">
              <a:lnSpc>
                <a:spcPts val="2700"/>
              </a:lnSpc>
              <a:spcAft>
                <a:spcPts val="600"/>
              </a:spcAft>
              <a:buNone/>
            </a:pPr>
            <a:r>
              <a:rPr lang="en-US" sz="2400" b="1" dirty="0">
                <a:solidFill>
                  <a:srgbClr val="0C2340"/>
                </a:solidFill>
                <a:latin typeface="Calibri" pitchFamily="34" charset="0"/>
                <a:ea typeface="Calibri" pitchFamily="34" charset="-122"/>
                <a:cs typeface="Calibri" pitchFamily="34" charset="-120"/>
              </a:rPr>
              <a:t>Corpus Under Test</a:t>
            </a:r>
            <a:endParaRPr lang="en-US" sz="2400" dirty="0"/>
          </a:p>
          <a:p>
            <a:pPr marL="342900" indent="-342900">
              <a:lnSpc>
                <a:spcPts val="2700"/>
              </a:lnSpc>
              <a:spcAft>
                <a:spcPts val="600"/>
              </a:spcAft>
              <a:buSzPct val="100000"/>
              <a:buChar char="•"/>
            </a:pPr>
            <a:r>
              <a:rPr lang="en-US" sz="2100" dirty="0">
                <a:solidFill>
                  <a:srgbClr val="1A1A1A"/>
                </a:solidFill>
                <a:latin typeface="Calibri" pitchFamily="34" charset="0"/>
                <a:ea typeface="Calibri" pitchFamily="34" charset="-122"/>
                <a:cs typeface="Calibri" pitchFamily="34" charset="-120"/>
              </a:rPr>
              <a:t>SemEval-2018 Task 1, Task E-c, English subtask</a:t>
            </a:r>
            <a:endParaRPr lang="en-US" sz="2400" dirty="0"/>
          </a:p>
          <a:p>
            <a:pPr marL="342900" indent="-342900">
              <a:lnSpc>
                <a:spcPts val="2700"/>
              </a:lnSpc>
              <a:spcAft>
                <a:spcPts val="600"/>
              </a:spcAft>
              <a:buSzPct val="100000"/>
              <a:buChar char="•"/>
            </a:pPr>
            <a:r>
              <a:rPr lang="en-US" sz="2100" dirty="0">
                <a:solidFill>
                  <a:srgbClr val="1A1A1A"/>
                </a:solidFill>
                <a:latin typeface="Calibri" pitchFamily="34" charset="0"/>
                <a:ea typeface="Calibri" pitchFamily="34" charset="-122"/>
                <a:cs typeface="Calibri" pitchFamily="34" charset="-120"/>
              </a:rPr>
              <a:t>6,838 training, 886 development, 3,259 test tweets</a:t>
            </a:r>
            <a:endParaRPr lang="en-US" sz="2400" dirty="0"/>
          </a:p>
          <a:p>
            <a:pPr marL="342900" indent="-342900">
              <a:lnSpc>
                <a:spcPts val="2700"/>
              </a:lnSpc>
              <a:spcAft>
                <a:spcPts val="600"/>
              </a:spcAft>
              <a:buSzPct val="100000"/>
              <a:buChar char="•"/>
            </a:pPr>
            <a:r>
              <a:rPr lang="en-US" sz="2100" dirty="0">
                <a:solidFill>
                  <a:srgbClr val="1A1A1A"/>
                </a:solidFill>
                <a:latin typeface="Calibri" pitchFamily="34" charset="0"/>
                <a:ea typeface="Calibri" pitchFamily="34" charset="-122"/>
                <a:cs typeface="Calibri" pitchFamily="34" charset="-120"/>
              </a:rPr>
              <a:t>Eleven emotion labels, several per tweet</a:t>
            </a:r>
            <a:endParaRPr lang="en-US" sz="2400" dirty="0"/>
          </a:p>
          <a:p>
            <a:pPr marL="342900" indent="-342900">
              <a:lnSpc>
                <a:spcPts val="2700"/>
              </a:lnSpc>
              <a:spcAft>
                <a:spcPts val="600"/>
              </a:spcAft>
              <a:buSzPct val="100000"/>
              <a:buChar char="•"/>
            </a:pPr>
            <a:r>
              <a:rPr lang="en-US" sz="2100" dirty="0">
                <a:solidFill>
                  <a:srgbClr val="1A1A1A"/>
                </a:solidFill>
                <a:latin typeface="Calibri" pitchFamily="34" charset="0"/>
                <a:ea typeface="Calibri" pitchFamily="34" charset="-122"/>
                <a:cs typeface="Calibri" pitchFamily="34" charset="-120"/>
              </a:rPr>
              <a:t>Emoji in 11.3% of training and 24.8% of development rows</a:t>
            </a:r>
            <a:endParaRPr lang="en-US" sz="2400" dirty="0"/>
          </a:p>
        </p:txBody>
      </p:sp>
      <p:sp>
        <p:nvSpPr>
          <p:cNvPr id="8" name="Shape 6"/>
          <p:cNvSpPr/>
          <p:nvPr/>
        </p:nvSpPr>
        <p:spPr>
          <a:xfrm>
            <a:off x="6291072" y="1234440"/>
            <a:ext cx="5257800" cy="4480560"/>
          </a:xfrm>
          <a:prstGeom prst="roundRect">
            <a:avLst>
              <a:gd name="adj" fmla="val 1837"/>
            </a:avLst>
          </a:prstGeom>
          <a:solidFill>
            <a:srgbClr val="F4F7FA"/>
          </a:solidFill>
          <a:ln w="12700">
            <a:solidFill>
              <a:srgbClr val="D6DDE5"/>
            </a:solidFill>
            <a:prstDash val="solid"/>
          </a:ln>
        </p:spPr>
      </p:sp>
      <p:sp>
        <p:nvSpPr>
          <p:cNvPr id="9" name="Text 7"/>
          <p:cNvSpPr txBox="1"/>
          <p:nvPr/>
        </p:nvSpPr>
        <p:spPr>
          <a:xfrm>
            <a:off x="6565392" y="1481328"/>
            <a:ext cx="4709160" cy="4023360"/>
          </a:xfrm>
          <a:prstGeom prst="rect">
            <a:avLst/>
          </a:prstGeom>
          <a:noFill/>
          <a:ln/>
        </p:spPr>
        <p:txBody>
          <a:bodyPr wrap="square" lIns="0" tIns="0" rIns="0" bIns="0" rtlCol="0" anchor="t"/>
          <a:lstStyle/>
          <a:p>
            <a:pPr indent="0" marL="0">
              <a:lnSpc>
                <a:spcPts val="2700"/>
              </a:lnSpc>
              <a:buNone/>
            </a:pPr>
            <a:r>
              <a:rPr lang="en-US" sz="2400" b="1" dirty="0">
                <a:solidFill>
                  <a:srgbClr val="B3512F"/>
                </a:solidFill>
                <a:latin typeface="Calibri" pitchFamily="34" charset="0"/>
                <a:ea typeface="Calibri" pitchFamily="34" charset="-122"/>
                <a:cs typeface="Calibri" pitchFamily="34" charset="-120"/>
              </a:rPr>
              <a:t>Course Alignment: Applied Route</a:t>
            </a:r>
            <a:endParaRPr lang="en-US" sz="2400" dirty="0"/>
          </a:p>
          <a:p>
            <a:pPr indent="0" marL="0">
              <a:lnSpc>
                <a:spcPts val="2700"/>
              </a:lnSpc>
              <a:buNone/>
            </a:pPr>
            <a:r>
              <a:rPr lang="en-US" sz="2100" dirty="0">
                <a:solidFill>
                  <a:srgbClr val="1A1A1A"/>
                </a:solidFill>
                <a:latin typeface="Calibri" pitchFamily="34" charset="0"/>
                <a:ea typeface="Calibri" pitchFamily="34" charset="-122"/>
                <a:cs typeface="Calibri" pitchFamily="34" charset="-120"/>
              </a:rPr>
              <a:t>The handbook classifies MSc Data Science and Artificial Intelligence as an Applied project, requiring a machine learning pipeline covering data preparation, modelling and evaluation, delivered in a quantitative or mixed-methods design.</a:t>
            </a:r>
            <a:endParaRPr lang="en-US" sz="2400" dirty="0"/>
          </a:p>
          <a:p>
            <a:pPr indent="0" marL="0">
              <a:lnSpc>
                <a:spcPts val="2700"/>
              </a:lnSpc>
              <a:buNone/>
            </a:pPr>
            <a:endParaRPr lang="en-US" sz="2400" dirty="0"/>
          </a:p>
          <a:p>
            <a:pPr indent="0" marL="0">
              <a:lnSpc>
                <a:spcPts val="2700"/>
              </a:lnSpc>
              <a:buNone/>
            </a:pPr>
            <a:r>
              <a:rPr lang="en-US" sz="2100" dirty="0">
                <a:solidFill>
                  <a:srgbClr val="1A1A1A"/>
                </a:solidFill>
                <a:latin typeface="Calibri" pitchFamily="34" charset="0"/>
                <a:ea typeface="Calibri" pitchFamily="34" charset="-122"/>
                <a:cs typeface="Calibri" pitchFamily="34" charset="-120"/>
              </a:rPr>
              <a:t>This project delivers exactly that in Python, using TensorFlow and Keras, scikit-learn and NLTK, plus a Streamlit prototype.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9</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The Deliverable in Use</a:t>
            </a:r>
            <a:endParaRPr lang="en-US" sz="3200" dirty="0"/>
          </a:p>
        </p:txBody>
      </p:sp>
      <p:pic>
        <p:nvPicPr>
          <p:cNvPr id="6" name="Image 0" descr="D:/assigments_7_students/krish/figures/app_classify.png">    </p:cNvPr>
          <p:cNvPicPr>
            <a:picLocks noChangeAspect="1"/>
          </p:cNvPicPr>
          <p:nvPr/>
        </p:nvPicPr>
        <p:blipFill>
          <a:blip r:embed="rId1"/>
          <a:srcRect l="0" r="0" t="0" b="0"/>
          <a:stretch/>
        </p:blipFill>
        <p:spPr>
          <a:xfrm>
            <a:off x="548640" y="1298448"/>
            <a:ext cx="6675120" cy="4023360"/>
          </a:xfrm>
          <a:prstGeom prst="rect">
            <a:avLst/>
          </a:prstGeom>
        </p:spPr>
      </p:pic>
      <p:sp>
        <p:nvSpPr>
          <p:cNvPr id="7" name="Text 4"/>
          <p:cNvSpPr txBox="1"/>
          <p:nvPr/>
        </p:nvSpPr>
        <p:spPr>
          <a:xfrm>
            <a:off x="548640" y="5394960"/>
            <a:ext cx="6675120" cy="384048"/>
          </a:xfrm>
          <a:prstGeom prst="rect">
            <a:avLst/>
          </a:prstGeom>
          <a:noFill/>
          <a:ln/>
        </p:spPr>
        <p:txBody>
          <a:bodyPr wrap="square" lIns="0" tIns="0" rIns="0" bIns="0" rtlCol="0" anchor="t"/>
          <a:lstStyle/>
          <a:p>
            <a:pPr algn="l" indent="0" marL="0">
              <a:buNone/>
            </a:pPr>
            <a:r>
              <a:rPr lang="en-US" sz="1300" i="1" dirty="0">
                <a:solidFill>
                  <a:srgbClr val="5A6472"/>
                </a:solidFill>
                <a:latin typeface="Calibri" pitchFamily="34" charset="0"/>
                <a:ea typeface="Calibri" pitchFamily="34" charset="-122"/>
                <a:cs typeface="Calibri" pitchFamily="34" charset="-120"/>
              </a:rPr>
              <a:t>Figure 1: The delivered Streamlit application classifying a comment with the BiLSTM trained in this project.</a:t>
            </a:r>
            <a:endParaRPr lang="en-US" sz="1300" dirty="0"/>
          </a:p>
        </p:txBody>
      </p:sp>
      <p:sp>
        <p:nvSpPr>
          <p:cNvPr id="8" name="Shape 5"/>
          <p:cNvSpPr/>
          <p:nvPr/>
        </p:nvSpPr>
        <p:spPr>
          <a:xfrm>
            <a:off x="7452360" y="1298448"/>
            <a:ext cx="4096512" cy="4023360"/>
          </a:xfrm>
          <a:prstGeom prst="roundRect">
            <a:avLst>
              <a:gd name="adj" fmla="val 2045"/>
            </a:avLst>
          </a:prstGeom>
          <a:solidFill>
            <a:srgbClr val="F4F7FA"/>
          </a:solidFill>
          <a:ln w="12700">
            <a:solidFill>
              <a:srgbClr val="D6DDE5"/>
            </a:solidFill>
            <a:prstDash val="solid"/>
          </a:ln>
        </p:spPr>
      </p:sp>
      <p:sp>
        <p:nvSpPr>
          <p:cNvPr id="9" name="Text 6"/>
          <p:cNvSpPr txBox="1"/>
          <p:nvPr/>
        </p:nvSpPr>
        <p:spPr>
          <a:xfrm>
            <a:off x="7699248" y="1517904"/>
            <a:ext cx="3611880" cy="3657600"/>
          </a:xfrm>
          <a:prstGeom prst="rect">
            <a:avLst/>
          </a:prstGeom>
          <a:noFill/>
          <a:ln/>
        </p:spPr>
        <p:txBody>
          <a:bodyPr wrap="square" lIns="0" tIns="0" rIns="0" bIns="0" rtlCol="0" anchor="t"/>
          <a:lstStyle/>
          <a:p>
            <a:pPr indent="0" marL="0">
              <a:lnSpc>
                <a:spcPts val="2300"/>
              </a:lnSpc>
              <a:spcAft>
                <a:spcPts val="400"/>
              </a:spcAft>
              <a:buNone/>
            </a:pPr>
            <a:r>
              <a:rPr lang="en-US" sz="2100" b="1" dirty="0">
                <a:solidFill>
                  <a:srgbClr val="0C2340"/>
                </a:solidFill>
                <a:latin typeface="Calibri" pitchFamily="34" charset="0"/>
                <a:ea typeface="Calibri" pitchFamily="34" charset="-122"/>
                <a:cs typeface="Calibri" pitchFamily="34" charset="-120"/>
              </a:rPr>
              <a:t>What the User Sees</a:t>
            </a:r>
            <a:endParaRPr lang="en-US" sz="2100" dirty="0"/>
          </a:p>
          <a:p>
            <a:pPr marL="342900" indent="-342900">
              <a:lnSpc>
                <a:spcPts val="2300"/>
              </a:lnSpc>
              <a:spcAft>
                <a:spcPts val="400"/>
              </a:spcAft>
              <a:buSzPct val="100000"/>
              <a:buChar char="•"/>
            </a:pPr>
            <a:r>
              <a:rPr lang="en-US" sz="1800" dirty="0">
                <a:solidFill>
                  <a:srgbClr val="1A1A1A"/>
                </a:solidFill>
                <a:latin typeface="Calibri" pitchFamily="34" charset="0"/>
                <a:ea typeface="Calibri" pitchFamily="34" charset="-122"/>
                <a:cs typeface="Calibri" pitchFamily="34" charset="-120"/>
              </a:rPr>
              <a:t>One text box for any comment</a:t>
            </a:r>
            <a:endParaRPr lang="en-US" sz="2100" dirty="0"/>
          </a:p>
          <a:p>
            <a:pPr marL="342900" indent="-342900">
              <a:lnSpc>
                <a:spcPts val="2300"/>
              </a:lnSpc>
              <a:spcAft>
                <a:spcPts val="400"/>
              </a:spcAft>
              <a:buSzPct val="100000"/>
              <a:buChar char="•"/>
            </a:pPr>
            <a:r>
              <a:rPr lang="en-US" sz="1800" dirty="0">
                <a:solidFill>
                  <a:srgbClr val="1A1A1A"/>
                </a:solidFill>
                <a:latin typeface="Calibri" pitchFamily="34" charset="0"/>
                <a:ea typeface="Calibri" pitchFamily="34" charset="-122"/>
                <a:cs typeface="Calibri" pitchFamily="34" charset="-120"/>
              </a:rPr>
              <a:t>Eleven emotions with confidences</a:t>
            </a:r>
            <a:endParaRPr lang="en-US" sz="2100" dirty="0"/>
          </a:p>
          <a:p>
            <a:pPr marL="342900" indent="-342900">
              <a:lnSpc>
                <a:spcPts val="2300"/>
              </a:lnSpc>
              <a:spcAft>
                <a:spcPts val="400"/>
              </a:spcAft>
              <a:buSzPct val="100000"/>
              <a:buChar char="•"/>
            </a:pPr>
            <a:r>
              <a:rPr lang="en-US" sz="1800" dirty="0">
                <a:solidFill>
                  <a:srgbClr val="1A1A1A"/>
                </a:solidFill>
                <a:latin typeface="Calibri" pitchFamily="34" charset="0"/>
                <a:ea typeface="Calibri" pitchFamily="34" charset="-122"/>
                <a:cs typeface="Calibri" pitchFamily="34" charset="-120"/>
              </a:rPr>
              <a:t>Which labels the emoji changed</a:t>
            </a:r>
            <a:endParaRPr lang="en-US" sz="2100" dirty="0"/>
          </a:p>
          <a:p>
            <a:pPr marL="342900" indent="-342900">
              <a:lnSpc>
                <a:spcPts val="2300"/>
              </a:lnSpc>
              <a:spcAft>
                <a:spcPts val="400"/>
              </a:spcAft>
              <a:buSzPct val="100000"/>
              <a:buChar char="•"/>
            </a:pPr>
            <a:r>
              <a:rPr lang="en-US" sz="1800" dirty="0">
                <a:solidFill>
                  <a:srgbClr val="1A1A1A"/>
                </a:solidFill>
                <a:latin typeface="Calibri" pitchFamily="34" charset="0"/>
                <a:ea typeface="Calibri" pitchFamily="34" charset="-122"/>
                <a:cs typeface="Calibri" pitchFamily="34" charset="-120"/>
              </a:rPr>
              <a:t>The pipeline, stage by stage</a:t>
            </a:r>
            <a:endParaRPr lang="en-US" sz="2100" dirty="0"/>
          </a:p>
          <a:p>
            <a:pPr indent="0" marL="0">
              <a:lnSpc>
                <a:spcPts val="2300"/>
              </a:lnSpc>
              <a:spcAft>
                <a:spcPts val="400"/>
              </a:spcAft>
              <a:buNone/>
            </a:pPr>
            <a:endParaRPr lang="en-US" sz="2100" dirty="0"/>
          </a:p>
          <a:p>
            <a:pPr indent="0" marL="0">
              <a:lnSpc>
                <a:spcPts val="2300"/>
              </a:lnSpc>
              <a:spcAft>
                <a:spcPts val="400"/>
              </a:spcAft>
              <a:buNone/>
            </a:pPr>
            <a:r>
              <a:rPr lang="en-US" sz="2100" b="1" dirty="0">
                <a:solidFill>
                  <a:srgbClr val="0C2340"/>
                </a:solidFill>
                <a:latin typeface="Calibri" pitchFamily="34" charset="0"/>
                <a:ea typeface="Calibri" pitchFamily="34" charset="-122"/>
                <a:cs typeface="Calibri" pitchFamily="34" charset="-120"/>
              </a:rPr>
              <a:t>Deployment</a:t>
            </a:r>
            <a:endParaRPr lang="en-US" sz="2100" dirty="0"/>
          </a:p>
          <a:p>
            <a:pPr marL="342900" indent="-342900">
              <a:lnSpc>
                <a:spcPts val="2300"/>
              </a:lnSpc>
              <a:spcAft>
                <a:spcPts val="400"/>
              </a:spcAft>
              <a:buSzPct val="100000"/>
              <a:buChar char="•"/>
            </a:pPr>
            <a:r>
              <a:rPr lang="en-US" sz="1800" dirty="0">
                <a:solidFill>
                  <a:srgbClr val="1A1A1A"/>
                </a:solidFill>
                <a:latin typeface="Calibri" pitchFamily="34" charset="0"/>
                <a:ea typeface="Calibri" pitchFamily="34" charset="-122"/>
                <a:cs typeface="Calibri" pitchFamily="34" charset="-120"/>
              </a:rPr>
              <a:t>One command, no manual setup</a:t>
            </a:r>
            <a:endParaRPr lang="en-US" sz="2100" dirty="0"/>
          </a:p>
          <a:p>
            <a:pPr marL="342900" indent="-342900">
              <a:lnSpc>
                <a:spcPts val="2300"/>
              </a:lnSpc>
              <a:spcAft>
                <a:spcPts val="400"/>
              </a:spcAft>
              <a:buSzPct val="100000"/>
              <a:buChar char="•"/>
            </a:pPr>
            <a:r>
              <a:rPr lang="en-US" sz="1800" dirty="0">
                <a:solidFill>
                  <a:srgbClr val="1A1A1A"/>
                </a:solidFill>
                <a:latin typeface="Calibri" pitchFamily="34" charset="0"/>
                <a:ea typeface="Calibri" pitchFamily="34" charset="-122"/>
                <a:cs typeface="Calibri" pitchFamily="34" charset="-120"/>
              </a:rPr>
              <a:t>Runs on CPU; a GPU only shortens training</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2340"/>
        </a:solidFill>
      </p:bgPr>
    </p:bg>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9FB3C8"/>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9FB3C8"/>
                </a:solidFill>
                <a:latin typeface="Calibri" pitchFamily="34" charset="0"/>
                <a:ea typeface="Calibri" pitchFamily="34" charset="-122"/>
                <a:cs typeface="Calibri" pitchFamily="34" charset="-120"/>
              </a:rPr>
              <a:t>10</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9FB3C8"/>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822960" y="1965960"/>
            <a:ext cx="2011680" cy="1737360"/>
          </a:xfrm>
          <a:prstGeom prst="rect">
            <a:avLst/>
          </a:prstGeom>
          <a:noFill/>
          <a:ln/>
        </p:spPr>
        <p:txBody>
          <a:bodyPr wrap="square" lIns="0" tIns="0" rIns="0" bIns="0" rtlCol="0" anchor="ctr"/>
          <a:lstStyle/>
          <a:p>
            <a:pPr algn="l" indent="0" marL="0">
              <a:buNone/>
            </a:pPr>
            <a:r>
              <a:rPr lang="en-US" sz="9600" b="1" dirty="0">
                <a:solidFill>
                  <a:srgbClr val="B3512F"/>
                </a:solidFill>
                <a:latin typeface="Calibri" pitchFamily="34" charset="0"/>
                <a:ea typeface="Calibri" pitchFamily="34" charset="-122"/>
                <a:cs typeface="Calibri" pitchFamily="34" charset="-120"/>
              </a:rPr>
              <a:t>2</a:t>
            </a:r>
            <a:endParaRPr lang="en-US" sz="9600" dirty="0"/>
          </a:p>
        </p:txBody>
      </p:sp>
      <p:sp>
        <p:nvSpPr>
          <p:cNvPr id="6" name="Text 4"/>
          <p:cNvSpPr txBox="1"/>
          <p:nvPr/>
        </p:nvSpPr>
        <p:spPr>
          <a:xfrm>
            <a:off x="2834640" y="1965960"/>
            <a:ext cx="8503920" cy="1737360"/>
          </a:xfrm>
          <a:prstGeom prst="rect">
            <a:avLst/>
          </a:prstGeom>
          <a:noFill/>
          <a:ln/>
        </p:spPr>
        <p:txBody>
          <a:bodyPr wrap="square" lIns="0" tIns="0" rIns="0" bIns="0" rtlCol="0" anchor="ctr"/>
          <a:lstStyle/>
          <a:p>
            <a:pPr algn="l" indent="0" marL="0">
              <a:buNone/>
            </a:pPr>
            <a:r>
              <a:rPr lang="en-US" sz="4400" b="1" dirty="0">
                <a:solidFill>
                  <a:srgbClr val="FFFFFF"/>
                </a:solidFill>
                <a:latin typeface="Calibri" pitchFamily="34" charset="0"/>
                <a:ea typeface="Calibri" pitchFamily="34" charset="-122"/>
                <a:cs typeface="Calibri" pitchFamily="34" charset="-120"/>
              </a:rPr>
              <a:t>Literature Review</a:t>
            </a:r>
            <a:endParaRPr lang="en-US" sz="4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11</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Themes in the Literature</a:t>
            </a:r>
            <a:endParaRPr lang="en-US" sz="3200" dirty="0"/>
          </a:p>
        </p:txBody>
      </p:sp>
      <p:sp>
        <p:nvSpPr>
          <p:cNvPr id="6" name="Shape 4"/>
          <p:cNvSpPr/>
          <p:nvPr/>
        </p:nvSpPr>
        <p:spPr>
          <a:xfrm>
            <a:off x="640080" y="1234440"/>
            <a:ext cx="10908792" cy="1417320"/>
          </a:xfrm>
          <a:prstGeom prst="roundRect">
            <a:avLst>
              <a:gd name="adj" fmla="val 5806"/>
            </a:avLst>
          </a:prstGeom>
          <a:solidFill>
            <a:srgbClr val="F4F7FA"/>
          </a:solidFill>
          <a:ln w="12700">
            <a:solidFill>
              <a:srgbClr val="D6DDE5"/>
            </a:solidFill>
            <a:prstDash val="solid"/>
          </a:ln>
        </p:spPr>
      </p:sp>
      <p:sp>
        <p:nvSpPr>
          <p:cNvPr id="7" name="Shape 5"/>
          <p:cNvSpPr/>
          <p:nvPr/>
        </p:nvSpPr>
        <p:spPr>
          <a:xfrm>
            <a:off x="868680" y="1490472"/>
            <a:ext cx="1417320" cy="530352"/>
          </a:xfrm>
          <a:prstGeom prst="roundRect">
            <a:avLst>
              <a:gd name="adj" fmla="val 13793"/>
            </a:avLst>
          </a:prstGeom>
          <a:solidFill>
            <a:srgbClr val="B3512F"/>
          </a:solidFill>
          <a:ln w="12700">
            <a:solidFill>
              <a:srgbClr val="B3512F"/>
            </a:solidFill>
            <a:prstDash val="solid"/>
          </a:ln>
        </p:spPr>
      </p:sp>
      <p:sp>
        <p:nvSpPr>
          <p:cNvPr id="8" name="Text 6"/>
          <p:cNvSpPr txBox="1"/>
          <p:nvPr/>
        </p:nvSpPr>
        <p:spPr>
          <a:xfrm>
            <a:off x="868680" y="1490472"/>
            <a:ext cx="1417320"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Theme 1</a:t>
            </a:r>
            <a:endParaRPr lang="en-US" sz="1800" dirty="0"/>
          </a:p>
        </p:txBody>
      </p:sp>
      <p:sp>
        <p:nvSpPr>
          <p:cNvPr id="9" name="Text 7"/>
          <p:cNvSpPr txBox="1"/>
          <p:nvPr/>
        </p:nvSpPr>
        <p:spPr>
          <a:xfrm>
            <a:off x="2514600" y="1353312"/>
            <a:ext cx="8869680" cy="1188720"/>
          </a:xfrm>
          <a:prstGeom prst="rect">
            <a:avLst/>
          </a:prstGeom>
          <a:noFill/>
          <a:ln/>
        </p:spPr>
        <p:txBody>
          <a:bodyPr wrap="square" lIns="0" tIns="0" rIns="0" bIns="0" rtlCol="0" anchor="ctr"/>
          <a:lstStyle/>
          <a:p>
            <a:pPr indent="0" marL="0">
              <a:lnSpc>
                <a:spcPts val="2400"/>
              </a:lnSpc>
              <a:buNone/>
            </a:pPr>
            <a:r>
              <a:rPr lang="en-US" sz="2200" b="1" dirty="0">
                <a:solidFill>
                  <a:srgbClr val="0C2340"/>
                </a:solidFill>
                <a:latin typeface="Calibri" pitchFamily="34" charset="0"/>
                <a:ea typeface="Calibri" pitchFamily="34" charset="-122"/>
                <a:cs typeface="Calibri" pitchFamily="34" charset="-120"/>
              </a:rPr>
              <a:t>Emotion Recognition as a Multi-Label Task</a:t>
            </a:r>
            <a:endParaRPr lang="en-US" sz="2200" dirty="0"/>
          </a:p>
          <a:p>
            <a:pPr indent="0" marL="0">
              <a:lnSpc>
                <a:spcPts val="2400"/>
              </a:lnSpc>
              <a:buNone/>
            </a:pPr>
            <a:r>
              <a:rPr lang="en-US" sz="2000" dirty="0">
                <a:solidFill>
                  <a:srgbClr val="1A1A1A"/>
                </a:solidFill>
                <a:latin typeface="Calibri" pitchFamily="34" charset="0"/>
                <a:ea typeface="Calibri" pitchFamily="34" charset="-122"/>
                <a:cs typeface="Calibri" pitchFamily="34" charset="-120"/>
              </a:rPr>
              <a:t>Labels overlap, so per-label thresholds and Micro-F1 with Macro-F1 are needed rather than accuracy.</a:t>
            </a:r>
            <a:endParaRPr lang="en-US" sz="2200" dirty="0"/>
          </a:p>
          <a:p>
            <a:pPr indent="0" marL="0">
              <a:lnSpc>
                <a:spcPts val="2400"/>
              </a:lnSpc>
              <a:buNone/>
            </a:pPr>
            <a:r>
              <a:rPr lang="en-US" sz="1600" i="1" dirty="0">
                <a:solidFill>
                  <a:srgbClr val="5A6472"/>
                </a:solidFill>
                <a:latin typeface="Calibri" pitchFamily="34" charset="0"/>
                <a:ea typeface="Calibri" pitchFamily="34" charset="-122"/>
                <a:cs typeface="Calibri" pitchFamily="34" charset="-120"/>
              </a:rPr>
              <a:t>Jim et al., 2024; Muhammad et al., 2025</a:t>
            </a:r>
            <a:endParaRPr lang="en-US" sz="2200" dirty="0"/>
          </a:p>
        </p:txBody>
      </p:sp>
      <p:sp>
        <p:nvSpPr>
          <p:cNvPr id="10" name="Shape 8"/>
          <p:cNvSpPr/>
          <p:nvPr/>
        </p:nvSpPr>
        <p:spPr>
          <a:xfrm>
            <a:off x="640080" y="2770632"/>
            <a:ext cx="10908792" cy="1417320"/>
          </a:xfrm>
          <a:prstGeom prst="roundRect">
            <a:avLst>
              <a:gd name="adj" fmla="val 5806"/>
            </a:avLst>
          </a:prstGeom>
          <a:solidFill>
            <a:srgbClr val="F4F7FA"/>
          </a:solidFill>
          <a:ln w="12700">
            <a:solidFill>
              <a:srgbClr val="D6DDE5"/>
            </a:solidFill>
            <a:prstDash val="solid"/>
          </a:ln>
        </p:spPr>
      </p:sp>
      <p:sp>
        <p:nvSpPr>
          <p:cNvPr id="11" name="Shape 9"/>
          <p:cNvSpPr/>
          <p:nvPr/>
        </p:nvSpPr>
        <p:spPr>
          <a:xfrm>
            <a:off x="868680" y="3026664"/>
            <a:ext cx="1417320" cy="530352"/>
          </a:xfrm>
          <a:prstGeom prst="roundRect">
            <a:avLst>
              <a:gd name="adj" fmla="val 13793"/>
            </a:avLst>
          </a:prstGeom>
          <a:solidFill>
            <a:srgbClr val="B3512F"/>
          </a:solidFill>
          <a:ln w="12700">
            <a:solidFill>
              <a:srgbClr val="B3512F"/>
            </a:solidFill>
            <a:prstDash val="solid"/>
          </a:ln>
        </p:spPr>
      </p:sp>
      <p:sp>
        <p:nvSpPr>
          <p:cNvPr id="12" name="Text 10"/>
          <p:cNvSpPr txBox="1"/>
          <p:nvPr/>
        </p:nvSpPr>
        <p:spPr>
          <a:xfrm>
            <a:off x="868680" y="3026664"/>
            <a:ext cx="1417320"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Theme 2</a:t>
            </a:r>
            <a:endParaRPr lang="en-US" sz="1800" dirty="0"/>
          </a:p>
        </p:txBody>
      </p:sp>
      <p:sp>
        <p:nvSpPr>
          <p:cNvPr id="13" name="Text 11"/>
          <p:cNvSpPr txBox="1"/>
          <p:nvPr/>
        </p:nvSpPr>
        <p:spPr>
          <a:xfrm>
            <a:off x="2514600" y="2889504"/>
            <a:ext cx="8869680" cy="1188720"/>
          </a:xfrm>
          <a:prstGeom prst="rect">
            <a:avLst/>
          </a:prstGeom>
          <a:noFill/>
          <a:ln/>
        </p:spPr>
        <p:txBody>
          <a:bodyPr wrap="square" lIns="0" tIns="0" rIns="0" bIns="0" rtlCol="0" anchor="ctr"/>
          <a:lstStyle/>
          <a:p>
            <a:pPr indent="0" marL="0">
              <a:lnSpc>
                <a:spcPts val="2400"/>
              </a:lnSpc>
              <a:buNone/>
            </a:pPr>
            <a:r>
              <a:rPr lang="en-US" sz="2200" b="1" dirty="0">
                <a:solidFill>
                  <a:srgbClr val="0C2340"/>
                </a:solidFill>
                <a:latin typeface="Calibri" pitchFamily="34" charset="0"/>
                <a:ea typeface="Calibri" pitchFamily="34" charset="-122"/>
                <a:cs typeface="Calibri" pitchFamily="34" charset="-120"/>
              </a:rPr>
              <a:t>Model Architectures</a:t>
            </a:r>
            <a:endParaRPr lang="en-US" sz="2200" dirty="0"/>
          </a:p>
          <a:p>
            <a:pPr indent="0" marL="0">
              <a:lnSpc>
                <a:spcPts val="2400"/>
              </a:lnSpc>
              <a:buNone/>
            </a:pPr>
            <a:r>
              <a:rPr lang="en-US" sz="2000" dirty="0">
                <a:solidFill>
                  <a:srgbClr val="1A1A1A"/>
                </a:solidFill>
                <a:latin typeface="Calibri" pitchFamily="34" charset="0"/>
                <a:ea typeface="Calibri" pitchFamily="34" charset="-122"/>
                <a:cs typeface="Calibri" pitchFamily="34" charset="-120"/>
              </a:rPr>
              <a:t>Recurrent networks remain in use in hybrids. Transformers give consistent gains, but the advantage is credited largely to pre-training.</a:t>
            </a:r>
            <a:endParaRPr lang="en-US" sz="2200" dirty="0"/>
          </a:p>
          <a:p>
            <a:pPr indent="0" marL="0">
              <a:lnSpc>
                <a:spcPts val="2400"/>
              </a:lnSpc>
              <a:buNone/>
            </a:pPr>
            <a:r>
              <a:rPr lang="en-US" sz="1600" i="1" dirty="0">
                <a:solidFill>
                  <a:srgbClr val="5A6472"/>
                </a:solidFill>
                <a:latin typeface="Calibri" pitchFamily="34" charset="0"/>
                <a:ea typeface="Calibri" pitchFamily="34" charset="-122"/>
                <a:cs typeface="Calibri" pitchFamily="34" charset="-120"/>
              </a:rPr>
              <a:t>Rezapour, 2024; B. Khan et al., 2026</a:t>
            </a:r>
            <a:endParaRPr lang="en-US" sz="2200" dirty="0"/>
          </a:p>
        </p:txBody>
      </p:sp>
      <p:sp>
        <p:nvSpPr>
          <p:cNvPr id="14" name="Shape 12"/>
          <p:cNvSpPr/>
          <p:nvPr/>
        </p:nvSpPr>
        <p:spPr>
          <a:xfrm>
            <a:off x="640080" y="4306824"/>
            <a:ext cx="10908792" cy="1417320"/>
          </a:xfrm>
          <a:prstGeom prst="roundRect">
            <a:avLst>
              <a:gd name="adj" fmla="val 5806"/>
            </a:avLst>
          </a:prstGeom>
          <a:solidFill>
            <a:srgbClr val="F4F7FA"/>
          </a:solidFill>
          <a:ln w="12700">
            <a:solidFill>
              <a:srgbClr val="D6DDE5"/>
            </a:solidFill>
            <a:prstDash val="solid"/>
          </a:ln>
        </p:spPr>
      </p:sp>
      <p:sp>
        <p:nvSpPr>
          <p:cNvPr id="15" name="Shape 13"/>
          <p:cNvSpPr/>
          <p:nvPr/>
        </p:nvSpPr>
        <p:spPr>
          <a:xfrm>
            <a:off x="868680" y="4562856"/>
            <a:ext cx="1417320" cy="530352"/>
          </a:xfrm>
          <a:prstGeom prst="roundRect">
            <a:avLst>
              <a:gd name="adj" fmla="val 13793"/>
            </a:avLst>
          </a:prstGeom>
          <a:solidFill>
            <a:srgbClr val="B3512F"/>
          </a:solidFill>
          <a:ln w="12700">
            <a:solidFill>
              <a:srgbClr val="B3512F"/>
            </a:solidFill>
            <a:prstDash val="solid"/>
          </a:ln>
        </p:spPr>
      </p:sp>
      <p:sp>
        <p:nvSpPr>
          <p:cNvPr id="16" name="Text 14"/>
          <p:cNvSpPr txBox="1"/>
          <p:nvPr/>
        </p:nvSpPr>
        <p:spPr>
          <a:xfrm>
            <a:off x="868680" y="4562856"/>
            <a:ext cx="1417320"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Theme 3</a:t>
            </a:r>
            <a:endParaRPr lang="en-US" sz="1800" dirty="0"/>
          </a:p>
        </p:txBody>
      </p:sp>
      <p:sp>
        <p:nvSpPr>
          <p:cNvPr id="17" name="Text 15"/>
          <p:cNvSpPr txBox="1"/>
          <p:nvPr/>
        </p:nvSpPr>
        <p:spPr>
          <a:xfrm>
            <a:off x="2514600" y="4425696"/>
            <a:ext cx="8869680" cy="1188720"/>
          </a:xfrm>
          <a:prstGeom prst="rect">
            <a:avLst/>
          </a:prstGeom>
          <a:noFill/>
          <a:ln/>
        </p:spPr>
        <p:txBody>
          <a:bodyPr wrap="square" lIns="0" tIns="0" rIns="0" bIns="0" rtlCol="0" anchor="ctr"/>
          <a:lstStyle/>
          <a:p>
            <a:pPr indent="0" marL="0">
              <a:lnSpc>
                <a:spcPts val="2400"/>
              </a:lnSpc>
              <a:buNone/>
            </a:pPr>
            <a:r>
              <a:rPr lang="en-US" sz="2200" b="1" dirty="0">
                <a:solidFill>
                  <a:srgbClr val="0C2340"/>
                </a:solidFill>
                <a:latin typeface="Calibri" pitchFamily="34" charset="0"/>
                <a:ea typeface="Calibri" pitchFamily="34" charset="-122"/>
                <a:cs typeface="Calibri" pitchFamily="34" charset="-120"/>
              </a:rPr>
              <a:t>Emoji as a Carrier of Feeling</a:t>
            </a:r>
            <a:endParaRPr lang="en-US" sz="2200" dirty="0"/>
          </a:p>
          <a:p>
            <a:pPr indent="0" marL="0">
              <a:lnSpc>
                <a:spcPts val="2400"/>
              </a:lnSpc>
              <a:buNone/>
            </a:pPr>
            <a:r>
              <a:rPr lang="en-US" sz="2000" dirty="0">
                <a:solidFill>
                  <a:srgbClr val="1A1A1A"/>
                </a:solidFill>
                <a:latin typeface="Calibri" pitchFamily="34" charset="0"/>
                <a:ea typeface="Calibri" pitchFamily="34" charset="-122"/>
                <a:cs typeface="Calibri" pitchFamily="34" charset="-120"/>
              </a:rPr>
              <a:t>Emoji carry usable signal, yet their meaning shifts between communities and between writers.</a:t>
            </a:r>
            <a:endParaRPr lang="en-US" sz="2200" dirty="0"/>
          </a:p>
          <a:p>
            <a:pPr indent="0" marL="0">
              <a:lnSpc>
                <a:spcPts val="2400"/>
              </a:lnSpc>
              <a:buNone/>
            </a:pPr>
            <a:r>
              <a:rPr lang="en-US" sz="1600" i="1" dirty="0">
                <a:solidFill>
                  <a:srgbClr val="5A6472"/>
                </a:solidFill>
                <a:latin typeface="Calibri" pitchFamily="34" charset="0"/>
                <a:ea typeface="Calibri" pitchFamily="34" charset="-122"/>
                <a:cs typeface="Calibri" pitchFamily="34" charset="-120"/>
              </a:rPr>
              <a:t>Huang et al., 2024; Zhou et al., 2024</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12</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Critical Analysis and Screening</a:t>
            </a:r>
            <a:endParaRPr lang="en-US" sz="3200" dirty="0"/>
          </a:p>
        </p:txBody>
      </p:sp>
      <p:sp>
        <p:nvSpPr>
          <p:cNvPr id="6" name="Shape 4"/>
          <p:cNvSpPr/>
          <p:nvPr/>
        </p:nvSpPr>
        <p:spPr>
          <a:xfrm>
            <a:off x="640080" y="1234440"/>
            <a:ext cx="6858000" cy="4480560"/>
          </a:xfrm>
          <a:prstGeom prst="roundRect">
            <a:avLst>
              <a:gd name="adj" fmla="val 1837"/>
            </a:avLst>
          </a:prstGeom>
          <a:solidFill>
            <a:srgbClr val="F4F7FA"/>
          </a:solidFill>
          <a:ln w="12700">
            <a:solidFill>
              <a:srgbClr val="D6DDE5"/>
            </a:solidFill>
            <a:prstDash val="solid"/>
          </a:ln>
        </p:spPr>
      </p:sp>
      <p:sp>
        <p:nvSpPr>
          <p:cNvPr id="7" name="Text 5"/>
          <p:cNvSpPr txBox="1"/>
          <p:nvPr/>
        </p:nvSpPr>
        <p:spPr>
          <a:xfrm>
            <a:off x="914400" y="1481328"/>
            <a:ext cx="6309360" cy="4023360"/>
          </a:xfrm>
          <a:prstGeom prst="rect">
            <a:avLst/>
          </a:prstGeom>
          <a:noFill/>
          <a:ln/>
        </p:spPr>
        <p:txBody>
          <a:bodyPr wrap="square" lIns="0" tIns="0" rIns="0" bIns="0" rtlCol="0" anchor="t"/>
          <a:lstStyle/>
          <a:p>
            <a:pPr indent="0" marL="0">
              <a:lnSpc>
                <a:spcPts val="2600"/>
              </a:lnSpc>
              <a:buNone/>
            </a:pPr>
            <a:r>
              <a:rPr lang="en-US" sz="2400" b="1" dirty="0">
                <a:solidFill>
                  <a:srgbClr val="0C2340"/>
                </a:solidFill>
                <a:latin typeface="Calibri" pitchFamily="34" charset="0"/>
                <a:ea typeface="Calibri" pitchFamily="34" charset="-122"/>
                <a:cs typeface="Calibri" pitchFamily="34" charset="-120"/>
              </a:rPr>
              <a:t>Critical Analysis</a:t>
            </a:r>
            <a:endParaRPr lang="en-US" sz="2400" dirty="0"/>
          </a:p>
          <a:p>
            <a:pPr indent="0" marL="0">
              <a:lnSpc>
                <a:spcPts val="2600"/>
              </a:lnSpc>
              <a:buNone/>
            </a:pPr>
            <a:r>
              <a:rPr lang="en-US" sz="2100" dirty="0">
                <a:solidFill>
                  <a:srgbClr val="1A1A1A"/>
                </a:solidFill>
                <a:latin typeface="Calibri" pitchFamily="34" charset="0"/>
                <a:ea typeface="Calibri" pitchFamily="34" charset="-122"/>
                <a:cs typeface="Calibri" pitchFamily="34" charset="-120"/>
              </a:rPr>
              <a:t>Studies reporting emoji benefits are convincing about their own systems, but none is designed to isolate the preprocessing decision.</a:t>
            </a:r>
            <a:endParaRPr lang="en-US" sz="2400" dirty="0"/>
          </a:p>
          <a:p>
            <a:pPr indent="0" marL="0">
              <a:lnSpc>
                <a:spcPts val="2600"/>
              </a:lnSpc>
              <a:buNone/>
            </a:pPr>
            <a:endParaRPr lang="en-US" sz="2400" dirty="0"/>
          </a:p>
          <a:p>
            <a:pPr indent="0" marL="0">
              <a:lnSpc>
                <a:spcPts val="2600"/>
              </a:lnSpc>
              <a:buNone/>
            </a:pPr>
            <a:r>
              <a:rPr lang="en-US" sz="2100" dirty="0">
                <a:solidFill>
                  <a:srgbClr val="1A1A1A"/>
                </a:solidFill>
                <a:latin typeface="Calibri" pitchFamily="34" charset="0"/>
                <a:ea typeface="Calibri" pitchFamily="34" charset="-122"/>
                <a:cs typeface="Calibri" pitchFamily="34" charset="-120"/>
              </a:rPr>
              <a:t>In each case a new representation is introduced alongside the emoji information and compared against an emoji-free baseline, so the reported improvement is a combined effect.</a:t>
            </a:r>
            <a:endParaRPr lang="en-US" sz="2400" dirty="0"/>
          </a:p>
          <a:p>
            <a:pPr indent="0" marL="0">
              <a:lnSpc>
                <a:spcPts val="2600"/>
              </a:lnSpc>
              <a:buNone/>
            </a:pPr>
            <a:endParaRPr lang="en-US" sz="2400" dirty="0"/>
          </a:p>
          <a:p>
            <a:pPr indent="0" marL="0">
              <a:lnSpc>
                <a:spcPts val="2600"/>
              </a:lnSpc>
              <a:buNone/>
            </a:pPr>
            <a:r>
              <a:rPr lang="en-US" sz="2100" b="1" dirty="0">
                <a:solidFill>
                  <a:srgbClr val="B3512F"/>
                </a:solidFill>
                <a:latin typeface="Calibri" pitchFamily="34" charset="0"/>
                <a:ea typeface="Calibri" pitchFamily="34" charset="-122"/>
                <a:cs typeface="Calibri" pitchFamily="34" charset="-120"/>
              </a:rPr>
              <a:t>None tells a practitioner what happens if only the preprocessing line changes.</a:t>
            </a:r>
            <a:endParaRPr lang="en-US" sz="2400" dirty="0"/>
          </a:p>
        </p:txBody>
      </p:sp>
      <p:sp>
        <p:nvSpPr>
          <p:cNvPr id="8" name="Shape 6"/>
          <p:cNvSpPr/>
          <p:nvPr/>
        </p:nvSpPr>
        <p:spPr>
          <a:xfrm>
            <a:off x="7680960" y="1234440"/>
            <a:ext cx="3867912" cy="4480560"/>
          </a:xfrm>
          <a:prstGeom prst="roundRect">
            <a:avLst>
              <a:gd name="adj" fmla="val 2128"/>
            </a:avLst>
          </a:prstGeom>
          <a:solidFill>
            <a:srgbClr val="F4F7FA"/>
          </a:solidFill>
          <a:ln w="12700">
            <a:solidFill>
              <a:srgbClr val="D6DDE5"/>
            </a:solidFill>
            <a:prstDash val="solid"/>
          </a:ln>
        </p:spPr>
      </p:sp>
      <p:sp>
        <p:nvSpPr>
          <p:cNvPr id="9" name="Text 7"/>
          <p:cNvSpPr txBox="1"/>
          <p:nvPr/>
        </p:nvSpPr>
        <p:spPr>
          <a:xfrm>
            <a:off x="7927848" y="1481328"/>
            <a:ext cx="3383280" cy="4023360"/>
          </a:xfrm>
          <a:prstGeom prst="rect">
            <a:avLst/>
          </a:prstGeom>
          <a:noFill/>
          <a:ln/>
        </p:spPr>
        <p:txBody>
          <a:bodyPr wrap="square" lIns="0" tIns="0" rIns="0" bIns="0" rtlCol="0" anchor="t"/>
          <a:lstStyle/>
          <a:p>
            <a:pPr indent="0" marL="0">
              <a:lnSpc>
                <a:spcPts val="2500"/>
              </a:lnSpc>
              <a:spcAft>
                <a:spcPts val="500"/>
              </a:spcAft>
              <a:buNone/>
            </a:pPr>
            <a:r>
              <a:rPr lang="en-US" sz="2300" b="1" dirty="0">
                <a:solidFill>
                  <a:srgbClr val="0C2340"/>
                </a:solidFill>
                <a:latin typeface="Calibri" pitchFamily="34" charset="0"/>
                <a:ea typeface="Calibri" pitchFamily="34" charset="-122"/>
                <a:cs typeface="Calibri" pitchFamily="34" charset="-120"/>
              </a:rPr>
              <a:t>Search and Screening</a:t>
            </a:r>
            <a:endParaRPr lang="en-US" sz="2300" dirty="0"/>
          </a:p>
          <a:p>
            <a:pPr marL="342900" indent="-342900">
              <a:lnSpc>
                <a:spcPts val="2500"/>
              </a:lnSpc>
              <a:spcAft>
                <a:spcPts val="500"/>
              </a:spcAft>
              <a:buSzPct val="100000"/>
              <a:buChar char="•"/>
            </a:pPr>
            <a:r>
              <a:rPr lang="en-US" sz="2000" dirty="0">
                <a:solidFill>
                  <a:srgbClr val="1A1A1A"/>
                </a:solidFill>
                <a:latin typeface="Calibri" pitchFamily="34" charset="0"/>
                <a:ea typeface="Calibri" pitchFamily="34" charset="-122"/>
                <a:cs typeface="Calibri" pitchFamily="34" charset="-120"/>
              </a:rPr>
              <a:t>180 records returned</a:t>
            </a:r>
            <a:endParaRPr lang="en-US" sz="2300" dirty="0"/>
          </a:p>
          <a:p>
            <a:pPr marL="342900" indent="-342900">
              <a:lnSpc>
                <a:spcPts val="2500"/>
              </a:lnSpc>
              <a:spcAft>
                <a:spcPts val="500"/>
              </a:spcAft>
              <a:buSzPct val="100000"/>
              <a:buChar char="•"/>
            </a:pPr>
            <a:r>
              <a:rPr lang="en-US" sz="2000" dirty="0">
                <a:solidFill>
                  <a:srgbClr val="1A1A1A"/>
                </a:solidFill>
                <a:latin typeface="Calibri" pitchFamily="34" charset="0"/>
                <a:ea typeface="Calibri" pitchFamily="34" charset="-122"/>
                <a:cs typeface="Calibri" pitchFamily="34" charset="-120"/>
              </a:rPr>
              <a:t>70 after de-duplication</a:t>
            </a:r>
            <a:endParaRPr lang="en-US" sz="2300" dirty="0"/>
          </a:p>
          <a:p>
            <a:pPr marL="342900" indent="-342900">
              <a:lnSpc>
                <a:spcPts val="2500"/>
              </a:lnSpc>
              <a:spcAft>
                <a:spcPts val="500"/>
              </a:spcAft>
              <a:buSzPct val="100000"/>
              <a:buChar char="•"/>
            </a:pPr>
            <a:r>
              <a:rPr lang="en-US" sz="2000" dirty="0">
                <a:solidFill>
                  <a:srgbClr val="1A1A1A"/>
                </a:solidFill>
                <a:latin typeface="Calibri" pitchFamily="34" charset="0"/>
                <a:ea typeface="Calibri" pitchFamily="34" charset="-122"/>
                <a:cs typeface="Calibri" pitchFamily="34" charset="-120"/>
              </a:rPr>
              <a:t>40 after abstract screening</a:t>
            </a:r>
            <a:endParaRPr lang="en-US" sz="2300" dirty="0"/>
          </a:p>
          <a:p>
            <a:pPr marL="342900" indent="-342900">
              <a:lnSpc>
                <a:spcPts val="2500"/>
              </a:lnSpc>
              <a:spcAft>
                <a:spcPts val="500"/>
              </a:spcAft>
              <a:buSzPct val="100000"/>
              <a:buChar char="•"/>
            </a:pPr>
            <a:r>
              <a:rPr lang="en-US" sz="2000" dirty="0">
                <a:solidFill>
                  <a:srgbClr val="1A1A1A"/>
                </a:solidFill>
                <a:latin typeface="Calibri" pitchFamily="34" charset="0"/>
                <a:ea typeface="Calibri" pitchFamily="34" charset="-122"/>
                <a:cs typeface="Calibri" pitchFamily="34" charset="-120"/>
              </a:rPr>
              <a:t>25 read in full and retained</a:t>
            </a:r>
            <a:endParaRPr lang="en-US" sz="2300" dirty="0"/>
          </a:p>
          <a:p>
            <a:pPr indent="0" marL="0">
              <a:lnSpc>
                <a:spcPts val="2500"/>
              </a:lnSpc>
              <a:spcAft>
                <a:spcPts val="500"/>
              </a:spcAft>
              <a:buNone/>
            </a:pPr>
            <a:endParaRPr lang="en-US" sz="2300" dirty="0"/>
          </a:p>
          <a:p>
            <a:pPr indent="0" marL="0">
              <a:lnSpc>
                <a:spcPts val="2500"/>
              </a:lnSpc>
              <a:spcAft>
                <a:spcPts val="500"/>
              </a:spcAft>
              <a:buNone/>
            </a:pPr>
            <a:r>
              <a:rPr lang="en-US" sz="1800" dirty="0">
                <a:solidFill>
                  <a:srgbClr val="5A6472"/>
                </a:solidFill>
                <a:latin typeface="Calibri" pitchFamily="34" charset="0"/>
                <a:ea typeface="Calibri" pitchFamily="34" charset="-122"/>
                <a:cs typeface="Calibri" pitchFamily="34" charset="-120"/>
              </a:rPr>
              <a:t>Sources: SHU Library Search, Google Scholar, ACL Anthology, arXiv, ScienceDirect, SpringerLink. Every reference was verified against the Crossref API.</a:t>
            </a:r>
            <a:endParaRPr lang="en-US" sz="2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13</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Gaps in the Literature</a:t>
            </a:r>
            <a:endParaRPr lang="en-US" sz="3200" dirty="0"/>
          </a:p>
        </p:txBody>
      </p:sp>
      <p:sp>
        <p:nvSpPr>
          <p:cNvPr id="6" name="Shape 4"/>
          <p:cNvSpPr/>
          <p:nvPr/>
        </p:nvSpPr>
        <p:spPr>
          <a:xfrm>
            <a:off x="640080" y="1280160"/>
            <a:ext cx="10908792" cy="1024128"/>
          </a:xfrm>
          <a:prstGeom prst="roundRect">
            <a:avLst>
              <a:gd name="adj" fmla="val 8036"/>
            </a:avLst>
          </a:prstGeom>
          <a:solidFill>
            <a:srgbClr val="F4F7FA"/>
          </a:solidFill>
          <a:ln w="12700">
            <a:solidFill>
              <a:srgbClr val="D6DDE5"/>
            </a:solidFill>
            <a:prstDash val="solid"/>
          </a:ln>
        </p:spPr>
      </p:sp>
      <p:sp>
        <p:nvSpPr>
          <p:cNvPr id="7" name="Shape 5"/>
          <p:cNvSpPr/>
          <p:nvPr/>
        </p:nvSpPr>
        <p:spPr>
          <a:xfrm>
            <a:off x="868680" y="1499616"/>
            <a:ext cx="1234440" cy="566928"/>
          </a:xfrm>
          <a:prstGeom prst="roundRect">
            <a:avLst>
              <a:gd name="adj" fmla="val 12903"/>
            </a:avLst>
          </a:prstGeom>
          <a:solidFill>
            <a:srgbClr val="0C2340"/>
          </a:solidFill>
          <a:ln w="12700">
            <a:solidFill>
              <a:srgbClr val="0C2340"/>
            </a:solidFill>
            <a:prstDash val="solid"/>
          </a:ln>
        </p:spPr>
      </p:sp>
      <p:sp>
        <p:nvSpPr>
          <p:cNvPr id="8" name="Text 6"/>
          <p:cNvSpPr txBox="1"/>
          <p:nvPr/>
        </p:nvSpPr>
        <p:spPr>
          <a:xfrm>
            <a:off x="868680" y="1499616"/>
            <a:ext cx="1234440"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Gap 1</a:t>
            </a:r>
            <a:endParaRPr lang="en-US" sz="1900" dirty="0"/>
          </a:p>
        </p:txBody>
      </p:sp>
      <p:sp>
        <p:nvSpPr>
          <p:cNvPr id="9" name="Text 7"/>
          <p:cNvSpPr txBox="1"/>
          <p:nvPr/>
        </p:nvSpPr>
        <p:spPr>
          <a:xfrm>
            <a:off x="2331720" y="1371600"/>
            <a:ext cx="9006840" cy="841248"/>
          </a:xfrm>
          <a:prstGeom prst="rect">
            <a:avLst/>
          </a:prstGeom>
          <a:noFill/>
          <a:ln/>
        </p:spPr>
        <p:txBody>
          <a:bodyPr wrap="square" lIns="0" tIns="0" rIns="0" bIns="0" rtlCol="0" anchor="ctr"/>
          <a:lstStyle/>
          <a:p>
            <a:pPr indent="0" marL="0">
              <a:lnSpc>
                <a:spcPts val="2500"/>
              </a:lnSpc>
              <a:buNone/>
            </a:pPr>
            <a:r>
              <a:rPr lang="en-US" sz="2200" dirty="0">
                <a:solidFill>
                  <a:srgbClr val="1A1A1A"/>
                </a:solidFill>
                <a:latin typeface="Calibri" pitchFamily="34" charset="0"/>
                <a:ea typeface="Calibri" pitchFamily="34" charset="-122"/>
                <a:cs typeface="Calibri" pitchFamily="34" charset="-120"/>
              </a:rPr>
              <a:t>The emoji decision is confounded with other changes, so its own contribution cannot be measured.</a:t>
            </a:r>
            <a:endParaRPr lang="en-US" sz="2200" dirty="0"/>
          </a:p>
        </p:txBody>
      </p:sp>
      <p:sp>
        <p:nvSpPr>
          <p:cNvPr id="10" name="Shape 8"/>
          <p:cNvSpPr/>
          <p:nvPr/>
        </p:nvSpPr>
        <p:spPr>
          <a:xfrm>
            <a:off x="640080" y="2423160"/>
            <a:ext cx="10908792" cy="1024128"/>
          </a:xfrm>
          <a:prstGeom prst="roundRect">
            <a:avLst>
              <a:gd name="adj" fmla="val 8036"/>
            </a:avLst>
          </a:prstGeom>
          <a:solidFill>
            <a:srgbClr val="F4F7FA"/>
          </a:solidFill>
          <a:ln w="12700">
            <a:solidFill>
              <a:srgbClr val="D6DDE5"/>
            </a:solidFill>
            <a:prstDash val="solid"/>
          </a:ln>
        </p:spPr>
      </p:sp>
      <p:sp>
        <p:nvSpPr>
          <p:cNvPr id="11" name="Shape 9"/>
          <p:cNvSpPr/>
          <p:nvPr/>
        </p:nvSpPr>
        <p:spPr>
          <a:xfrm>
            <a:off x="868680" y="2642616"/>
            <a:ext cx="1234440" cy="566928"/>
          </a:xfrm>
          <a:prstGeom prst="roundRect">
            <a:avLst>
              <a:gd name="adj" fmla="val 12903"/>
            </a:avLst>
          </a:prstGeom>
          <a:solidFill>
            <a:srgbClr val="0C2340"/>
          </a:solidFill>
          <a:ln w="12700">
            <a:solidFill>
              <a:srgbClr val="0C2340"/>
            </a:solidFill>
            <a:prstDash val="solid"/>
          </a:ln>
        </p:spPr>
      </p:sp>
      <p:sp>
        <p:nvSpPr>
          <p:cNvPr id="12" name="Text 10"/>
          <p:cNvSpPr txBox="1"/>
          <p:nvPr/>
        </p:nvSpPr>
        <p:spPr>
          <a:xfrm>
            <a:off x="868680" y="2642616"/>
            <a:ext cx="1234440"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Gap 2</a:t>
            </a:r>
            <a:endParaRPr lang="en-US" sz="1900" dirty="0"/>
          </a:p>
        </p:txBody>
      </p:sp>
      <p:sp>
        <p:nvSpPr>
          <p:cNvPr id="13" name="Text 11"/>
          <p:cNvSpPr txBox="1"/>
          <p:nvPr/>
        </p:nvSpPr>
        <p:spPr>
          <a:xfrm>
            <a:off x="2331720" y="2514600"/>
            <a:ext cx="9006840" cy="841248"/>
          </a:xfrm>
          <a:prstGeom prst="rect">
            <a:avLst/>
          </a:prstGeom>
          <a:noFill/>
          <a:ln/>
        </p:spPr>
        <p:txBody>
          <a:bodyPr wrap="square" lIns="0" tIns="0" rIns="0" bIns="0" rtlCol="0" anchor="ctr"/>
          <a:lstStyle/>
          <a:p>
            <a:pPr indent="0" marL="0">
              <a:lnSpc>
                <a:spcPts val="2500"/>
              </a:lnSpc>
              <a:buNone/>
            </a:pPr>
            <a:r>
              <a:rPr lang="en-US" sz="2200" dirty="0">
                <a:solidFill>
                  <a:srgbClr val="1A1A1A"/>
                </a:solidFill>
                <a:latin typeface="Calibri" pitchFamily="34" charset="0"/>
                <a:ea typeface="Calibri" pitchFamily="34" charset="-122"/>
                <a:cs typeface="Calibri" pitchFamily="34" charset="-120"/>
              </a:rPr>
              <a:t>Emoji effects are reported as a single average and never broken down per emotion.</a:t>
            </a:r>
            <a:endParaRPr lang="en-US" sz="2200" dirty="0"/>
          </a:p>
        </p:txBody>
      </p:sp>
      <p:sp>
        <p:nvSpPr>
          <p:cNvPr id="14" name="Shape 12"/>
          <p:cNvSpPr/>
          <p:nvPr/>
        </p:nvSpPr>
        <p:spPr>
          <a:xfrm>
            <a:off x="640080" y="3566160"/>
            <a:ext cx="10908792" cy="1024128"/>
          </a:xfrm>
          <a:prstGeom prst="roundRect">
            <a:avLst>
              <a:gd name="adj" fmla="val 8036"/>
            </a:avLst>
          </a:prstGeom>
          <a:solidFill>
            <a:srgbClr val="F4F7FA"/>
          </a:solidFill>
          <a:ln w="12700">
            <a:solidFill>
              <a:srgbClr val="D6DDE5"/>
            </a:solidFill>
            <a:prstDash val="solid"/>
          </a:ln>
        </p:spPr>
      </p:sp>
      <p:sp>
        <p:nvSpPr>
          <p:cNvPr id="15" name="Shape 13"/>
          <p:cNvSpPr/>
          <p:nvPr/>
        </p:nvSpPr>
        <p:spPr>
          <a:xfrm>
            <a:off x="868680" y="3785616"/>
            <a:ext cx="1234440" cy="566928"/>
          </a:xfrm>
          <a:prstGeom prst="roundRect">
            <a:avLst>
              <a:gd name="adj" fmla="val 12903"/>
            </a:avLst>
          </a:prstGeom>
          <a:solidFill>
            <a:srgbClr val="0C2340"/>
          </a:solidFill>
          <a:ln w="12700">
            <a:solidFill>
              <a:srgbClr val="0C2340"/>
            </a:solidFill>
            <a:prstDash val="solid"/>
          </a:ln>
        </p:spPr>
      </p:sp>
      <p:sp>
        <p:nvSpPr>
          <p:cNvPr id="16" name="Text 14"/>
          <p:cNvSpPr txBox="1"/>
          <p:nvPr/>
        </p:nvSpPr>
        <p:spPr>
          <a:xfrm>
            <a:off x="868680" y="3785616"/>
            <a:ext cx="1234440"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Gap 3</a:t>
            </a:r>
            <a:endParaRPr lang="en-US" sz="1900" dirty="0"/>
          </a:p>
        </p:txBody>
      </p:sp>
      <p:sp>
        <p:nvSpPr>
          <p:cNvPr id="17" name="Text 15"/>
          <p:cNvSpPr txBox="1"/>
          <p:nvPr/>
        </p:nvSpPr>
        <p:spPr>
          <a:xfrm>
            <a:off x="2331720" y="3657600"/>
            <a:ext cx="9006840" cy="841248"/>
          </a:xfrm>
          <a:prstGeom prst="rect">
            <a:avLst/>
          </a:prstGeom>
          <a:noFill/>
          <a:ln/>
        </p:spPr>
        <p:txBody>
          <a:bodyPr wrap="square" lIns="0" tIns="0" rIns="0" bIns="0" rtlCol="0" anchor="ctr"/>
          <a:lstStyle/>
          <a:p>
            <a:pPr indent="0" marL="0">
              <a:lnSpc>
                <a:spcPts val="2500"/>
              </a:lnSpc>
              <a:buNone/>
            </a:pPr>
            <a:r>
              <a:rPr lang="en-US" sz="2200" dirty="0">
                <a:solidFill>
                  <a:srgbClr val="1A1A1A"/>
                </a:solidFill>
                <a:latin typeface="Calibri" pitchFamily="34" charset="0"/>
                <a:ea typeface="Calibri" pitchFamily="34" charset="-122"/>
                <a:cs typeface="Calibri" pitchFamily="34" charset="-120"/>
              </a:rPr>
              <a:t>The interaction between emoji handling and architecture has not been tested by varying both factors in one design.</a:t>
            </a:r>
            <a:endParaRPr lang="en-US" sz="2200" dirty="0"/>
          </a:p>
        </p:txBody>
      </p:sp>
      <p:sp>
        <p:nvSpPr>
          <p:cNvPr id="18" name="Shape 16"/>
          <p:cNvSpPr/>
          <p:nvPr/>
        </p:nvSpPr>
        <p:spPr>
          <a:xfrm>
            <a:off x="640080" y="4709160"/>
            <a:ext cx="10908792" cy="1024128"/>
          </a:xfrm>
          <a:prstGeom prst="roundRect">
            <a:avLst>
              <a:gd name="adj" fmla="val 8036"/>
            </a:avLst>
          </a:prstGeom>
          <a:solidFill>
            <a:srgbClr val="F4F7FA"/>
          </a:solidFill>
          <a:ln w="12700">
            <a:solidFill>
              <a:srgbClr val="D6DDE5"/>
            </a:solidFill>
            <a:prstDash val="solid"/>
          </a:ln>
        </p:spPr>
      </p:sp>
      <p:sp>
        <p:nvSpPr>
          <p:cNvPr id="19" name="Shape 17"/>
          <p:cNvSpPr/>
          <p:nvPr/>
        </p:nvSpPr>
        <p:spPr>
          <a:xfrm>
            <a:off x="868680" y="4928616"/>
            <a:ext cx="1234440" cy="566928"/>
          </a:xfrm>
          <a:prstGeom prst="roundRect">
            <a:avLst>
              <a:gd name="adj" fmla="val 12903"/>
            </a:avLst>
          </a:prstGeom>
          <a:solidFill>
            <a:srgbClr val="0C2340"/>
          </a:solidFill>
          <a:ln w="12700">
            <a:solidFill>
              <a:srgbClr val="0C2340"/>
            </a:solidFill>
            <a:prstDash val="solid"/>
          </a:ln>
        </p:spPr>
      </p:sp>
      <p:sp>
        <p:nvSpPr>
          <p:cNvPr id="20" name="Text 18"/>
          <p:cNvSpPr txBox="1"/>
          <p:nvPr/>
        </p:nvSpPr>
        <p:spPr>
          <a:xfrm>
            <a:off x="868680" y="4928616"/>
            <a:ext cx="1234440"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Gap 4</a:t>
            </a:r>
            <a:endParaRPr lang="en-US" sz="1900" dirty="0"/>
          </a:p>
        </p:txBody>
      </p:sp>
      <p:sp>
        <p:nvSpPr>
          <p:cNvPr id="21" name="Text 19"/>
          <p:cNvSpPr txBox="1"/>
          <p:nvPr/>
        </p:nvSpPr>
        <p:spPr>
          <a:xfrm>
            <a:off x="2331720" y="4800600"/>
            <a:ext cx="9006840" cy="841248"/>
          </a:xfrm>
          <a:prstGeom prst="rect">
            <a:avLst/>
          </a:prstGeom>
          <a:noFill/>
          <a:ln/>
        </p:spPr>
        <p:txBody>
          <a:bodyPr wrap="square" lIns="0" tIns="0" rIns="0" bIns="0" rtlCol="0" anchor="ctr"/>
          <a:lstStyle/>
          <a:p>
            <a:pPr indent="0" marL="0">
              <a:lnSpc>
                <a:spcPts val="2500"/>
              </a:lnSpc>
              <a:buNone/>
            </a:pPr>
            <a:r>
              <a:rPr lang="en-US" sz="2200" dirty="0">
                <a:solidFill>
                  <a:srgbClr val="1A1A1A"/>
                </a:solidFill>
                <a:latin typeface="Calibri" pitchFamily="34" charset="0"/>
                <a:ea typeface="Calibri" pitchFamily="34" charset="-122"/>
                <a:cs typeface="Calibri" pitchFamily="34" charset="-120"/>
              </a:rPr>
              <a:t>Emoji density is rarely stated, so a reader cannot judge whether a reported gain is large relative to the opportunity.</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2340"/>
        </a:solidFill>
      </p:bgPr>
    </p:bg>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9FB3C8"/>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9FB3C8"/>
                </a:solidFill>
                <a:latin typeface="Calibri" pitchFamily="34" charset="0"/>
                <a:ea typeface="Calibri" pitchFamily="34" charset="-122"/>
                <a:cs typeface="Calibri" pitchFamily="34" charset="-120"/>
              </a:rPr>
              <a:t>14</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9FB3C8"/>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822960" y="1965960"/>
            <a:ext cx="2011680" cy="1737360"/>
          </a:xfrm>
          <a:prstGeom prst="rect">
            <a:avLst/>
          </a:prstGeom>
          <a:noFill/>
          <a:ln/>
        </p:spPr>
        <p:txBody>
          <a:bodyPr wrap="square" lIns="0" tIns="0" rIns="0" bIns="0" rtlCol="0" anchor="ctr"/>
          <a:lstStyle/>
          <a:p>
            <a:pPr algn="l" indent="0" marL="0">
              <a:buNone/>
            </a:pPr>
            <a:r>
              <a:rPr lang="en-US" sz="9600" b="1" dirty="0">
                <a:solidFill>
                  <a:srgbClr val="B3512F"/>
                </a:solidFill>
                <a:latin typeface="Calibri" pitchFamily="34" charset="0"/>
                <a:ea typeface="Calibri" pitchFamily="34" charset="-122"/>
                <a:cs typeface="Calibri" pitchFamily="34" charset="-120"/>
              </a:rPr>
              <a:t>3</a:t>
            </a:r>
            <a:endParaRPr lang="en-US" sz="9600" dirty="0"/>
          </a:p>
        </p:txBody>
      </p:sp>
      <p:sp>
        <p:nvSpPr>
          <p:cNvPr id="6" name="Text 4"/>
          <p:cNvSpPr txBox="1"/>
          <p:nvPr/>
        </p:nvSpPr>
        <p:spPr>
          <a:xfrm>
            <a:off x="2834640" y="1965960"/>
            <a:ext cx="8503920" cy="1737360"/>
          </a:xfrm>
          <a:prstGeom prst="rect">
            <a:avLst/>
          </a:prstGeom>
          <a:noFill/>
          <a:ln/>
        </p:spPr>
        <p:txBody>
          <a:bodyPr wrap="square" lIns="0" tIns="0" rIns="0" bIns="0" rtlCol="0" anchor="ctr"/>
          <a:lstStyle/>
          <a:p>
            <a:pPr algn="l" indent="0" marL="0">
              <a:buNone/>
            </a:pPr>
            <a:r>
              <a:rPr lang="en-US" sz="4400" b="1" dirty="0">
                <a:solidFill>
                  <a:srgbClr val="FFFFFF"/>
                </a:solidFill>
                <a:latin typeface="Calibri" pitchFamily="34" charset="0"/>
                <a:ea typeface="Calibri" pitchFamily="34" charset="-122"/>
                <a:cs typeface="Calibri" pitchFamily="34" charset="-120"/>
              </a:rPr>
              <a:t>Research Methodology</a:t>
            </a:r>
            <a:endParaRPr lang="en-US" sz="4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15</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The Research Onion</a:t>
            </a:r>
            <a:endParaRPr lang="en-US" sz="3200" dirty="0"/>
          </a:p>
        </p:txBody>
      </p:sp>
      <p:sp>
        <p:nvSpPr>
          <p:cNvPr id="6" name="Text 4"/>
          <p:cNvSpPr txBox="1"/>
          <p:nvPr/>
        </p:nvSpPr>
        <p:spPr>
          <a:xfrm>
            <a:off x="640080" y="1115568"/>
            <a:ext cx="10908792" cy="310896"/>
          </a:xfrm>
          <a:prstGeom prst="rect">
            <a:avLst/>
          </a:prstGeom>
          <a:noFill/>
          <a:ln/>
        </p:spPr>
        <p:txBody>
          <a:bodyPr wrap="square" lIns="0" tIns="0" rIns="0" bIns="0"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Table 1: The six layers of the research onion and the choice made at each.</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908792" cy="914400"/>
        </p:xfrm>
        <a:graphic>
          <a:graphicData uri="http://schemas.openxmlformats.org/drawingml/2006/table">
            <a:tbl>
              <a:tblPr/>
              <a:tblGrid>
                <a:gridCol w="2514600"/>
                <a:gridCol w="3063240"/>
                <a:gridCol w="5330952"/>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Layer</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Choice Made</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Why It Fits This Project</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Philosophy</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Positivism</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The difference being measured is numeric</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Approach</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Deductive</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Theory predicts the effect; it is tested, not generated</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Strategy</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Experiment</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Two tracks by two architectures, all else constant</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Methodological Choice</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Mono-Method Quantitative</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One data type, one analysis: F1, accuracy, ROC-AUC</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Time Horizon</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Cross-Sectional</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A fixed corpus, analysed once</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Techniques</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Secondary Data Analysis</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A published benchmark reused, processed in code</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40080" y="5394960"/>
            <a:ext cx="10908792" cy="411480"/>
          </a:xfrm>
          <a:prstGeom prst="rect">
            <a:avLst/>
          </a:prstGeom>
          <a:noFill/>
          <a:ln/>
        </p:spPr>
        <p:txBody>
          <a:bodyPr wrap="square" lIns="0" tIns="0" rIns="0" bIns="0" rtlCol="0" anchor="ctr"/>
          <a:lstStyle/>
          <a:p>
            <a:pPr indent="0" marL="0">
              <a:buNone/>
            </a:pPr>
            <a:r>
              <a:rPr lang="en-US" sz="1900" i="1" dirty="0">
                <a:solidFill>
                  <a:srgbClr val="0C2340"/>
                </a:solidFill>
                <a:latin typeface="Calibri" pitchFamily="34" charset="0"/>
                <a:ea typeface="Calibri" pitchFamily="34" charset="-122"/>
                <a:cs typeface="Calibri" pitchFamily="34" charset="-120"/>
              </a:rPr>
              <a:t>The layers are consistent with each other: a positivist, deductive, experimental design measured quantitatively on secondary data.</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16</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Alternatives Considered</a:t>
            </a:r>
            <a:endParaRPr lang="en-US" sz="3200" dirty="0"/>
          </a:p>
        </p:txBody>
      </p:sp>
      <p:sp>
        <p:nvSpPr>
          <p:cNvPr id="6" name="Text 4"/>
          <p:cNvSpPr txBox="1"/>
          <p:nvPr/>
        </p:nvSpPr>
        <p:spPr>
          <a:xfrm>
            <a:off x="640080" y="1115568"/>
            <a:ext cx="10908792" cy="310896"/>
          </a:xfrm>
          <a:prstGeom prst="rect">
            <a:avLst/>
          </a:prstGeom>
          <a:noFill/>
          <a:ln/>
        </p:spPr>
        <p:txBody>
          <a:bodyPr wrap="square" lIns="0" tIns="0" rIns="0" bIns="0"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Table 2: Alternatives considered and rejected, with the choice made in each case.</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908792" cy="914400"/>
        </p:xfrm>
        <a:graphic>
          <a:graphicData uri="http://schemas.openxmlformats.org/drawingml/2006/table">
            <a:tbl>
              <a:tblPr/>
              <a:tblGrid>
                <a:gridCol w="3291840"/>
                <a:gridCol w="4480560"/>
                <a:gridCol w="3136392"/>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Alternative</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Why It Was Rejected</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Chosen Instead</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Interpretivism with qualitative reading</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Cannot produce a measurable effect size</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Positivist quantitative measurement</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Survey of practitioners</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Reports what people believe, not what happens to the model</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Controlled experiment on the model</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Case study of one production system</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Would not separate the emoji step from everything else</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Two-by-two factorial design</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Collecting fresh tweets from an API</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Slower, raises licensing issues, loses comparability</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Public benchmark corpus</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Fine-tuning a pre-trained encoder</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It has already seen emoji and their descriptions</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Both architectures trained from scratch</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bl>
          </a:graphicData>
        </a:graphic>
      </p:graphicFrame>
      <p:sp>
        <p:nvSpPr>
          <p:cNvPr id="8" name="Text 5"/>
          <p:cNvSpPr txBox="1"/>
          <p:nvPr/>
        </p:nvSpPr>
        <p:spPr>
          <a:xfrm>
            <a:off x="640080" y="5394960"/>
            <a:ext cx="10908792" cy="411480"/>
          </a:xfrm>
          <a:prstGeom prst="rect">
            <a:avLst/>
          </a:prstGeom>
          <a:noFill/>
          <a:ln/>
        </p:spPr>
        <p:txBody>
          <a:bodyPr wrap="square" lIns="0" tIns="0" rIns="0" bIns="0" rtlCol="0" anchor="ctr"/>
          <a:lstStyle/>
          <a:p>
            <a:pPr indent="0" marL="0">
              <a:buNone/>
            </a:pPr>
            <a:r>
              <a:rPr lang="en-US" sz="1900" i="1" dirty="0">
                <a:solidFill>
                  <a:srgbClr val="0C2340"/>
                </a:solidFill>
                <a:latin typeface="Calibri" pitchFamily="34" charset="0"/>
                <a:ea typeface="Calibri" pitchFamily="34" charset="-122"/>
                <a:cs typeface="Calibri" pitchFamily="34" charset="-120"/>
              </a:rPr>
              <a:t>The research question asks for the size of an effect and whether it is conditional. Only a controlled design with two factors answers both.</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2340"/>
        </a:solidFill>
      </p:bgPr>
    </p:bg>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9FB3C8"/>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9FB3C8"/>
                </a:solidFill>
                <a:latin typeface="Calibri" pitchFamily="34" charset="0"/>
                <a:ea typeface="Calibri" pitchFamily="34" charset="-122"/>
                <a:cs typeface="Calibri" pitchFamily="34" charset="-120"/>
              </a:rPr>
              <a:t>17</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9FB3C8"/>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822960" y="1965960"/>
            <a:ext cx="2011680" cy="1737360"/>
          </a:xfrm>
          <a:prstGeom prst="rect">
            <a:avLst/>
          </a:prstGeom>
          <a:noFill/>
          <a:ln/>
        </p:spPr>
        <p:txBody>
          <a:bodyPr wrap="square" lIns="0" tIns="0" rIns="0" bIns="0" rtlCol="0" anchor="ctr"/>
          <a:lstStyle/>
          <a:p>
            <a:pPr algn="l" indent="0" marL="0">
              <a:buNone/>
            </a:pPr>
            <a:r>
              <a:rPr lang="en-US" sz="9600" b="1" dirty="0">
                <a:solidFill>
                  <a:srgbClr val="B3512F"/>
                </a:solidFill>
                <a:latin typeface="Calibri" pitchFamily="34" charset="0"/>
                <a:ea typeface="Calibri" pitchFamily="34" charset="-122"/>
                <a:cs typeface="Calibri" pitchFamily="34" charset="-120"/>
              </a:rPr>
              <a:t>4</a:t>
            </a:r>
            <a:endParaRPr lang="en-US" sz="9600" dirty="0"/>
          </a:p>
        </p:txBody>
      </p:sp>
      <p:sp>
        <p:nvSpPr>
          <p:cNvPr id="6" name="Text 4"/>
          <p:cNvSpPr txBox="1"/>
          <p:nvPr/>
        </p:nvSpPr>
        <p:spPr>
          <a:xfrm>
            <a:off x="2834640" y="1965960"/>
            <a:ext cx="8503920" cy="1737360"/>
          </a:xfrm>
          <a:prstGeom prst="rect">
            <a:avLst/>
          </a:prstGeom>
          <a:noFill/>
          <a:ln/>
        </p:spPr>
        <p:txBody>
          <a:bodyPr wrap="square" lIns="0" tIns="0" rIns="0" bIns="0" rtlCol="0" anchor="ctr"/>
          <a:lstStyle/>
          <a:p>
            <a:pPr algn="l" indent="0" marL="0">
              <a:buNone/>
            </a:pPr>
            <a:r>
              <a:rPr lang="en-US" sz="4400" b="1" dirty="0">
                <a:solidFill>
                  <a:srgbClr val="FFFFFF"/>
                </a:solidFill>
                <a:latin typeface="Calibri" pitchFamily="34" charset="0"/>
                <a:ea typeface="Calibri" pitchFamily="34" charset="-122"/>
                <a:cs typeface="Calibri" pitchFamily="34" charset="-120"/>
              </a:rPr>
              <a:t>Ethics</a:t>
            </a:r>
            <a:endParaRPr lang="en-US" sz="4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18</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Ethics Approval and Governance</a:t>
            </a:r>
            <a:endParaRPr lang="en-US" sz="3200" dirty="0"/>
          </a:p>
        </p:txBody>
      </p:sp>
      <p:sp>
        <p:nvSpPr>
          <p:cNvPr id="6" name="Shape 4"/>
          <p:cNvSpPr/>
          <p:nvPr/>
        </p:nvSpPr>
        <p:spPr>
          <a:xfrm>
            <a:off x="640080" y="1234440"/>
            <a:ext cx="5257800" cy="4480560"/>
          </a:xfrm>
          <a:prstGeom prst="roundRect">
            <a:avLst>
              <a:gd name="adj" fmla="val 1837"/>
            </a:avLst>
          </a:prstGeom>
          <a:solidFill>
            <a:srgbClr val="F4F7FA"/>
          </a:solidFill>
          <a:ln w="12700">
            <a:solidFill>
              <a:srgbClr val="D6DDE5"/>
            </a:solidFill>
            <a:prstDash val="solid"/>
          </a:ln>
        </p:spPr>
      </p:sp>
      <p:sp>
        <p:nvSpPr>
          <p:cNvPr id="7" name="Text 5"/>
          <p:cNvSpPr txBox="1"/>
          <p:nvPr/>
        </p:nvSpPr>
        <p:spPr>
          <a:xfrm>
            <a:off x="914400" y="1481328"/>
            <a:ext cx="4709160" cy="4023360"/>
          </a:xfrm>
          <a:prstGeom prst="rect">
            <a:avLst/>
          </a:prstGeom>
          <a:noFill/>
          <a:ln/>
        </p:spPr>
        <p:txBody>
          <a:bodyPr wrap="square" lIns="0" tIns="0" rIns="0" bIns="0" rtlCol="0" anchor="t"/>
          <a:lstStyle/>
          <a:p>
            <a:pPr indent="0" marL="0">
              <a:lnSpc>
                <a:spcPts val="2500"/>
              </a:lnSpc>
              <a:buNone/>
            </a:pPr>
            <a:r>
              <a:rPr lang="en-US" sz="2300" b="1" dirty="0">
                <a:solidFill>
                  <a:srgbClr val="0C2340"/>
                </a:solidFill>
                <a:latin typeface="Calibri" pitchFamily="34" charset="0"/>
                <a:ea typeface="Calibri" pitchFamily="34" charset="-122"/>
                <a:cs typeface="Calibri" pitchFamily="34" charset="-120"/>
              </a:rPr>
              <a:t>Approval</a:t>
            </a:r>
            <a:endParaRPr lang="en-US" sz="2300" dirty="0"/>
          </a:p>
          <a:p>
            <a:pPr indent="0" marL="0">
              <a:lnSpc>
                <a:spcPts val="2500"/>
              </a:lnSpc>
              <a:buNone/>
            </a:pPr>
            <a:r>
              <a:rPr lang="en-US" sz="2000" dirty="0">
                <a:solidFill>
                  <a:srgbClr val="1A1A1A"/>
                </a:solidFill>
                <a:latin typeface="Calibri" pitchFamily="34" charset="0"/>
                <a:ea typeface="Calibri" pitchFamily="34" charset="-122"/>
                <a:cs typeface="Calibri" pitchFamily="34" charset="-120"/>
              </a:rPr>
              <a:t>Approved via Blackboard under category UREC1 before any data was collected.</a:t>
            </a:r>
            <a:endParaRPr lang="en-US" sz="2300" dirty="0"/>
          </a:p>
          <a:p>
            <a:pPr indent="0" marL="0">
              <a:lnSpc>
                <a:spcPts val="2500"/>
              </a:lnSpc>
              <a:buNone/>
            </a:pPr>
            <a:r>
              <a:rPr lang="en-US" sz="2000" dirty="0">
                <a:solidFill>
                  <a:srgbClr val="1A1A1A"/>
                </a:solidFill>
                <a:latin typeface="Calibri" pitchFamily="34" charset="0"/>
                <a:ea typeface="Calibri" pitchFamily="34" charset="-122"/>
                <a:cs typeface="Calibri" pitchFamily="34" charset="-120"/>
              </a:rPr>
              <a:t>Both screening questions were answered No: no human participants, and the secondary data is neither sensitive nor identifying, so no UREC2 or UREC3 was required.</a:t>
            </a:r>
            <a:endParaRPr lang="en-US" sz="2300" dirty="0"/>
          </a:p>
          <a:p>
            <a:pPr indent="0" marL="0">
              <a:lnSpc>
                <a:spcPts val="2500"/>
              </a:lnSpc>
              <a:buNone/>
            </a:pPr>
            <a:endParaRPr lang="en-US" sz="2300" dirty="0"/>
          </a:p>
          <a:p>
            <a:pPr indent="0" marL="0">
              <a:lnSpc>
                <a:spcPts val="2500"/>
              </a:lnSpc>
              <a:buNone/>
            </a:pPr>
            <a:r>
              <a:rPr lang="en-US" sz="2000" i="1" dirty="0">
                <a:solidFill>
                  <a:srgbClr val="5A6472"/>
                </a:solidFill>
                <a:latin typeface="Calibri" pitchFamily="34" charset="0"/>
                <a:ea typeface="Calibri" pitchFamily="34" charset="-122"/>
                <a:cs typeface="Calibri" pitchFamily="34" charset="-120"/>
              </a:rPr>
              <a:t>The signed form is Appendix B of the report.</a:t>
            </a:r>
            <a:endParaRPr lang="en-US" sz="2300" dirty="0"/>
          </a:p>
        </p:txBody>
      </p:sp>
      <p:sp>
        <p:nvSpPr>
          <p:cNvPr id="8" name="Shape 6"/>
          <p:cNvSpPr/>
          <p:nvPr/>
        </p:nvSpPr>
        <p:spPr>
          <a:xfrm>
            <a:off x="6291072" y="1234440"/>
            <a:ext cx="5257800" cy="4480560"/>
          </a:xfrm>
          <a:prstGeom prst="roundRect">
            <a:avLst>
              <a:gd name="adj" fmla="val 1837"/>
            </a:avLst>
          </a:prstGeom>
          <a:solidFill>
            <a:srgbClr val="F4F7FA"/>
          </a:solidFill>
          <a:ln w="12700">
            <a:solidFill>
              <a:srgbClr val="D6DDE5"/>
            </a:solidFill>
            <a:prstDash val="solid"/>
          </a:ln>
        </p:spPr>
      </p:sp>
      <p:sp>
        <p:nvSpPr>
          <p:cNvPr id="9" name="Text 7"/>
          <p:cNvSpPr txBox="1"/>
          <p:nvPr/>
        </p:nvSpPr>
        <p:spPr>
          <a:xfrm>
            <a:off x="6565392" y="1481328"/>
            <a:ext cx="4709160" cy="4023360"/>
          </a:xfrm>
          <a:prstGeom prst="rect">
            <a:avLst/>
          </a:prstGeom>
          <a:noFill/>
          <a:ln/>
        </p:spPr>
        <p:txBody>
          <a:bodyPr wrap="square" lIns="0" tIns="0" rIns="0" bIns="0" rtlCol="0" anchor="t"/>
          <a:lstStyle/>
          <a:p>
            <a:pPr indent="0" marL="0">
              <a:lnSpc>
                <a:spcPts val="2500"/>
              </a:lnSpc>
              <a:spcAft>
                <a:spcPts val="500"/>
              </a:spcAft>
              <a:buNone/>
            </a:pPr>
            <a:r>
              <a:rPr lang="en-US" sz="2300" b="1" dirty="0">
                <a:solidFill>
                  <a:srgbClr val="0C2340"/>
                </a:solidFill>
                <a:latin typeface="Calibri" pitchFamily="34" charset="0"/>
                <a:ea typeface="Calibri" pitchFamily="34" charset="-122"/>
                <a:cs typeface="Calibri" pitchFamily="34" charset="-120"/>
              </a:rPr>
              <a:t>Data and GDPR</a:t>
            </a:r>
            <a:endParaRPr lang="en-US" sz="2300" dirty="0"/>
          </a:p>
          <a:p>
            <a:pPr marL="342900" indent="-342900">
              <a:lnSpc>
                <a:spcPts val="2500"/>
              </a:lnSpc>
              <a:spcAft>
                <a:spcPts val="500"/>
              </a:spcAft>
              <a:buSzPct val="100000"/>
              <a:buChar char="•"/>
            </a:pPr>
            <a:r>
              <a:rPr lang="en-US" sz="2000" dirty="0">
                <a:solidFill>
                  <a:srgbClr val="1A1A1A"/>
                </a:solidFill>
                <a:latin typeface="Calibri" pitchFamily="34" charset="0"/>
                <a:ea typeface="Calibri" pitchFamily="34" charset="-122"/>
                <a:cs typeface="Calibri" pitchFamily="34" charset="-120"/>
              </a:rPr>
              <a:t>Secondary data only. No participants recruited, contacted or observed.</a:t>
            </a:r>
            <a:endParaRPr lang="en-US" sz="2300" dirty="0"/>
          </a:p>
          <a:p>
            <a:pPr marL="342900" indent="-342900">
              <a:lnSpc>
                <a:spcPts val="2500"/>
              </a:lnSpc>
              <a:spcAft>
                <a:spcPts val="500"/>
              </a:spcAft>
              <a:buSzPct val="100000"/>
              <a:buChar char="•"/>
            </a:pPr>
            <a:r>
              <a:rPr lang="en-US" sz="2000" dirty="0">
                <a:solidFill>
                  <a:srgbClr val="1A1A1A"/>
                </a:solidFill>
                <a:latin typeface="Calibri" pitchFamily="34" charset="0"/>
                <a:ea typeface="Calibri" pitchFamily="34" charset="-122"/>
                <a:cs typeface="Calibri" pitchFamily="34" charset="-120"/>
              </a:rPr>
              <a:t>Held on the University-allocated networked drive, with no removable media.</a:t>
            </a:r>
            <a:endParaRPr lang="en-US" sz="2300" dirty="0"/>
          </a:p>
          <a:p>
            <a:pPr marL="342900" indent="-342900">
              <a:lnSpc>
                <a:spcPts val="2500"/>
              </a:lnSpc>
              <a:spcAft>
                <a:spcPts val="500"/>
              </a:spcAft>
              <a:buSzPct val="100000"/>
              <a:buChar char="•"/>
            </a:pPr>
            <a:r>
              <a:rPr lang="en-US" sz="2000" dirty="0">
                <a:solidFill>
                  <a:srgbClr val="1A1A1A"/>
                </a:solidFill>
                <a:latin typeface="Calibri" pitchFamily="34" charset="0"/>
                <a:ea typeface="Calibri" pitchFamily="34" charset="-122"/>
                <a:cs typeface="Calibri" pitchFamily="34" charset="-120"/>
              </a:rPr>
              <a:t>No personal data is processed. The corpus is already de-identified.</a:t>
            </a:r>
            <a:endParaRPr lang="en-US" sz="2300" dirty="0"/>
          </a:p>
          <a:p>
            <a:pPr marL="342900" indent="-342900">
              <a:lnSpc>
                <a:spcPts val="2500"/>
              </a:lnSpc>
              <a:spcAft>
                <a:spcPts val="500"/>
              </a:spcAft>
              <a:buSzPct val="100000"/>
              <a:buChar char="•"/>
            </a:pPr>
            <a:r>
              <a:rPr lang="en-US" sz="2000" dirty="0">
                <a:solidFill>
                  <a:srgbClr val="1A1A1A"/>
                </a:solidFill>
                <a:latin typeface="Calibri" pitchFamily="34" charset="0"/>
                <a:ea typeface="Calibri" pitchFamily="34" charset="-122"/>
                <a:cs typeface="Calibri" pitchFamily="34" charset="-120"/>
              </a:rPr>
              <a:t>Mentions and URLs are removed at the first preprocessing step, so no identifier reaches a model or a result file.</a:t>
            </a:r>
            <a:endParaRPr lang="en-US" sz="2300" dirty="0"/>
          </a:p>
          <a:p>
            <a:pPr marL="342900" indent="-342900">
              <a:lnSpc>
                <a:spcPts val="2500"/>
              </a:lnSpc>
              <a:spcAft>
                <a:spcPts val="500"/>
              </a:spcAft>
              <a:buSzPct val="100000"/>
              <a:buChar char="•"/>
            </a:pPr>
            <a:r>
              <a:rPr lang="en-US" sz="2000" dirty="0">
                <a:solidFill>
                  <a:srgbClr val="1A1A1A"/>
                </a:solidFill>
                <a:latin typeface="Calibri" pitchFamily="34" charset="0"/>
                <a:ea typeface="Calibri" pitchFamily="34" charset="-122"/>
                <a:cs typeface="Calibri" pitchFamily="34" charset="-120"/>
              </a:rPr>
              <a:t>No tweet is reproduced verbatim anywhere in the project.</a:t>
            </a:r>
            <a:endParaRPr lang="en-US" sz="2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19</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Risk Register</a:t>
            </a:r>
            <a:endParaRPr lang="en-US" sz="3200" dirty="0"/>
          </a:p>
        </p:txBody>
      </p:sp>
      <p:sp>
        <p:nvSpPr>
          <p:cNvPr id="6" name="Text 4"/>
          <p:cNvSpPr txBox="1"/>
          <p:nvPr/>
        </p:nvSpPr>
        <p:spPr>
          <a:xfrm>
            <a:off x="640080" y="1133856"/>
            <a:ext cx="10908792" cy="310896"/>
          </a:xfrm>
          <a:prstGeom prst="rect">
            <a:avLst/>
          </a:prstGeom>
          <a:noFill/>
          <a:ln/>
        </p:spPr>
        <p:txBody>
          <a:bodyPr wrap="square" lIns="0" tIns="0" rIns="0" bIns="0"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Table 3: Risk register, eight identified risks with likelihood, impact and mitigation.</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908792" cy="914400"/>
        </p:xfrm>
        <a:graphic>
          <a:graphicData uri="http://schemas.openxmlformats.org/drawingml/2006/table">
            <a:tbl>
              <a:tblPr/>
              <a:tblGrid>
                <a:gridCol w="640080"/>
                <a:gridCol w="3794760"/>
                <a:gridCol w="1371600"/>
                <a:gridCol w="1051560"/>
                <a:gridCol w="405079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ID</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Risk</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Likelihood</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Impact</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Mitigation</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r>
              <a:tr h="0">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R1</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Imbalance stops rare emotions being learned</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High</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High</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Weighted loss plus threshold tuning</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R2</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Overfitting on a small corpus</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High</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Medium</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Dropout, early stopping, best weights</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R3</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Emoji density too low to show an effect</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Medium</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High</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Density measured first, used to bound claims</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R4</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Something other than emoji differs</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Low</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High</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Single pipeline forked at one operation</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R5</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Results not reproducible</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Medium</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High</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Seed fixed, all artefacts written to disk</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R6</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Source dataset unavailable</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Medium</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High</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Download script plus documented mirrors</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R7</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Library drift breaks saved models</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Medium</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Medium</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Versions pinned in requirements.txt</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R8</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Compute or internet limits on the platform</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Medium</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Medium</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Calibri" pitchFamily="34" charset="0"/>
                          <a:ea typeface="Calibri" pitchFamily="34" charset="-122"/>
                          <a:cs typeface="Calibri" pitchFamily="34" charset="-120"/>
                        </a:rPr>
                        <a:t>Offline wheel install, GPU account arranged early</a:t>
                      </a:r>
                      <a:endParaRPr lang="en-US" sz="17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20</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Risk Matrix</a:t>
            </a:r>
            <a:endParaRPr lang="en-US" sz="3200" dirty="0"/>
          </a:p>
        </p:txBody>
      </p:sp>
      <p:pic>
        <p:nvPicPr>
          <p:cNvPr id="6" name="Image 0" descr="D:/assigments_7_students/krish/figures/risk_matrix.png">    </p:cNvPr>
          <p:cNvPicPr>
            <a:picLocks noChangeAspect="1"/>
          </p:cNvPicPr>
          <p:nvPr/>
        </p:nvPicPr>
        <p:blipFill>
          <a:blip r:embed="rId1"/>
          <a:srcRect l="0" r="0" t="0" b="0"/>
          <a:stretch/>
        </p:blipFill>
        <p:spPr>
          <a:xfrm>
            <a:off x="640080" y="1280160"/>
            <a:ext cx="5943600" cy="4251960"/>
          </a:xfrm>
          <a:prstGeom prst="rect">
            <a:avLst/>
          </a:prstGeom>
        </p:spPr>
      </p:pic>
      <p:sp>
        <p:nvSpPr>
          <p:cNvPr id="7" name="Text 4"/>
          <p:cNvSpPr txBox="1"/>
          <p:nvPr/>
        </p:nvSpPr>
        <p:spPr>
          <a:xfrm>
            <a:off x="640080" y="5532120"/>
            <a:ext cx="5943600" cy="384048"/>
          </a:xfrm>
          <a:prstGeom prst="rect">
            <a:avLst/>
          </a:prstGeom>
          <a:noFill/>
          <a:ln/>
        </p:spPr>
        <p:txBody>
          <a:bodyPr wrap="square" lIns="0" tIns="0" rIns="0" bIns="0" rtlCol="0" anchor="t"/>
          <a:lstStyle/>
          <a:p>
            <a:pPr algn="l" indent="0" marL="0">
              <a:buNone/>
            </a:pPr>
            <a:r>
              <a:rPr lang="en-US" sz="1300" i="1" dirty="0">
                <a:solidFill>
                  <a:srgbClr val="5A6472"/>
                </a:solidFill>
                <a:latin typeface="Calibri" pitchFamily="34" charset="0"/>
                <a:ea typeface="Calibri" pitchFamily="34" charset="-122"/>
                <a:cs typeface="Calibri" pitchFamily="34" charset="-120"/>
              </a:rPr>
              <a:t>Figure 2: Risk matrix, likelihood against impact.</a:t>
            </a:r>
            <a:endParaRPr lang="en-US" sz="1300" dirty="0"/>
          </a:p>
        </p:txBody>
      </p:sp>
      <p:sp>
        <p:nvSpPr>
          <p:cNvPr id="8" name="Shape 5"/>
          <p:cNvSpPr/>
          <p:nvPr/>
        </p:nvSpPr>
        <p:spPr>
          <a:xfrm>
            <a:off x="6858000" y="1280160"/>
            <a:ext cx="4690872" cy="4251960"/>
          </a:xfrm>
          <a:prstGeom prst="roundRect">
            <a:avLst>
              <a:gd name="adj" fmla="val 1935"/>
            </a:avLst>
          </a:prstGeom>
          <a:solidFill>
            <a:srgbClr val="F4F7FA"/>
          </a:solidFill>
          <a:ln w="12700">
            <a:solidFill>
              <a:srgbClr val="D6DDE5"/>
            </a:solidFill>
            <a:prstDash val="solid"/>
          </a:ln>
        </p:spPr>
      </p:sp>
      <p:sp>
        <p:nvSpPr>
          <p:cNvPr id="9" name="Text 6"/>
          <p:cNvSpPr txBox="1"/>
          <p:nvPr/>
        </p:nvSpPr>
        <p:spPr>
          <a:xfrm>
            <a:off x="7104888" y="1499616"/>
            <a:ext cx="4206240" cy="3840480"/>
          </a:xfrm>
          <a:prstGeom prst="rect">
            <a:avLst/>
          </a:prstGeom>
          <a:noFill/>
          <a:ln/>
        </p:spPr>
        <p:txBody>
          <a:bodyPr wrap="square" lIns="0" tIns="0" rIns="0" bIns="0" rtlCol="0" anchor="t"/>
          <a:lstStyle/>
          <a:p>
            <a:pPr indent="0" marL="0">
              <a:lnSpc>
                <a:spcPts val="2200"/>
              </a:lnSpc>
              <a:buNone/>
            </a:pPr>
            <a:r>
              <a:rPr lang="en-US" sz="2100" b="1" dirty="0">
                <a:solidFill>
                  <a:srgbClr val="0C2340"/>
                </a:solidFill>
                <a:latin typeface="Calibri" pitchFamily="34" charset="0"/>
                <a:ea typeface="Calibri" pitchFamily="34" charset="-122"/>
                <a:cs typeface="Calibri" pitchFamily="34" charset="-120"/>
              </a:rPr>
              <a:t>Reading the Matrix</a:t>
            </a:r>
            <a:endParaRPr lang="en-US" sz="2100" dirty="0"/>
          </a:p>
          <a:p>
            <a:pPr indent="0" marL="0">
              <a:lnSpc>
                <a:spcPts val="2200"/>
              </a:lnSpc>
              <a:buNone/>
            </a:pPr>
            <a:r>
              <a:rPr lang="en-US" sz="1800" dirty="0">
                <a:solidFill>
                  <a:srgbClr val="1A1A1A"/>
                </a:solidFill>
                <a:latin typeface="Calibri" pitchFamily="34" charset="0"/>
                <a:ea typeface="Calibri" pitchFamily="34" charset="-122"/>
                <a:cs typeface="Calibri" pitchFamily="34" charset="-120"/>
              </a:rPr>
              <a:t>Top right is the priority corner. R1, imbalance, sits there and drove two design decisions: the weighted loss and the tuned threshold.</a:t>
            </a:r>
            <a:endParaRPr lang="en-US" sz="2100" dirty="0"/>
          </a:p>
          <a:p>
            <a:pPr indent="0" marL="0">
              <a:lnSpc>
                <a:spcPts val="2200"/>
              </a:lnSpc>
              <a:buNone/>
            </a:pPr>
            <a:endParaRPr lang="en-US" sz="2100" dirty="0"/>
          </a:p>
          <a:p>
            <a:pPr indent="0" marL="0">
              <a:lnSpc>
                <a:spcPts val="2200"/>
              </a:lnSpc>
              <a:buNone/>
            </a:pPr>
            <a:r>
              <a:rPr lang="en-US" sz="1800" dirty="0">
                <a:solidFill>
                  <a:srgbClr val="1A1A1A"/>
                </a:solidFill>
                <a:latin typeface="Calibri" pitchFamily="34" charset="0"/>
                <a:ea typeface="Calibri" pitchFamily="34" charset="-122"/>
                <a:cs typeface="Calibri" pitchFamily="34" charset="-120"/>
              </a:rPr>
              <a:t>R3, R5 and R6 are high impact but only medium likelihood, so each was handled by a control put in place before it could occur.</a:t>
            </a:r>
            <a:endParaRPr lang="en-US" sz="2100" dirty="0"/>
          </a:p>
          <a:p>
            <a:pPr indent="0" marL="0">
              <a:lnSpc>
                <a:spcPts val="2200"/>
              </a:lnSpc>
              <a:buNone/>
            </a:pPr>
            <a:endParaRPr lang="en-US" sz="2100" dirty="0"/>
          </a:p>
          <a:p>
            <a:pPr indent="0" marL="0">
              <a:lnSpc>
                <a:spcPts val="2200"/>
              </a:lnSpc>
              <a:buNone/>
            </a:pPr>
            <a:r>
              <a:rPr lang="en-US" sz="1800" dirty="0">
                <a:solidFill>
                  <a:srgbClr val="1A1A1A"/>
                </a:solidFill>
                <a:latin typeface="Calibri" pitchFamily="34" charset="0"/>
                <a:ea typeface="Calibri" pitchFamily="34" charset="-122"/>
                <a:cs typeface="Calibri" pitchFamily="34" charset="-120"/>
              </a:rPr>
              <a:t>R4, confounding, would invalidate the whole study. It is low likelihood only because the single-fork design makes it hard to occur.</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21</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Risks Encountered and How They Were Mitigated</a:t>
            </a:r>
            <a:endParaRPr lang="en-US" sz="3200" dirty="0"/>
          </a:p>
        </p:txBody>
      </p:sp>
      <p:sp>
        <p:nvSpPr>
          <p:cNvPr id="6" name="Shape 4"/>
          <p:cNvSpPr/>
          <p:nvPr/>
        </p:nvSpPr>
        <p:spPr>
          <a:xfrm>
            <a:off x="640080" y="1207008"/>
            <a:ext cx="10908792" cy="1298448"/>
          </a:xfrm>
          <a:prstGeom prst="roundRect">
            <a:avLst>
              <a:gd name="adj" fmla="val 6338"/>
            </a:avLst>
          </a:prstGeom>
          <a:solidFill>
            <a:srgbClr val="F4F7FA"/>
          </a:solidFill>
          <a:ln w="12700">
            <a:solidFill>
              <a:srgbClr val="D6DDE5"/>
            </a:solidFill>
            <a:prstDash val="solid"/>
          </a:ln>
        </p:spPr>
      </p:sp>
      <p:sp>
        <p:nvSpPr>
          <p:cNvPr id="7" name="Shape 5"/>
          <p:cNvSpPr/>
          <p:nvPr/>
        </p:nvSpPr>
        <p:spPr>
          <a:xfrm>
            <a:off x="868680" y="1572768"/>
            <a:ext cx="868680" cy="548640"/>
          </a:xfrm>
          <a:prstGeom prst="roundRect">
            <a:avLst>
              <a:gd name="adj" fmla="val 13333"/>
            </a:avLst>
          </a:prstGeom>
          <a:solidFill>
            <a:srgbClr val="B3512F"/>
          </a:solidFill>
          <a:ln w="12700">
            <a:solidFill>
              <a:srgbClr val="B3512F"/>
            </a:solidFill>
            <a:prstDash val="solid"/>
          </a:ln>
        </p:spPr>
      </p:sp>
      <p:sp>
        <p:nvSpPr>
          <p:cNvPr id="8" name="Text 6"/>
          <p:cNvSpPr txBox="1"/>
          <p:nvPr/>
        </p:nvSpPr>
        <p:spPr>
          <a:xfrm>
            <a:off x="868680" y="1572768"/>
            <a:ext cx="86868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R6</a:t>
            </a:r>
            <a:endParaRPr lang="en-US" sz="1800" dirty="0"/>
          </a:p>
        </p:txBody>
      </p:sp>
      <p:sp>
        <p:nvSpPr>
          <p:cNvPr id="9" name="Text 7"/>
          <p:cNvSpPr txBox="1"/>
          <p:nvPr/>
        </p:nvSpPr>
        <p:spPr>
          <a:xfrm>
            <a:off x="1965960" y="1298448"/>
            <a:ext cx="9400032" cy="1115568"/>
          </a:xfrm>
          <a:prstGeom prst="rect">
            <a:avLst/>
          </a:prstGeom>
          <a:noFill/>
          <a:ln/>
        </p:spPr>
        <p:txBody>
          <a:bodyPr wrap="square" lIns="0" tIns="0" rIns="0" bIns="0" rtlCol="0" anchor="ctr"/>
          <a:lstStyle/>
          <a:p>
            <a:pPr indent="0" marL="0">
              <a:lnSpc>
                <a:spcPts val="2200"/>
              </a:lnSpc>
              <a:buNone/>
            </a:pPr>
            <a:r>
              <a:rPr lang="en-US" sz="1800" b="1" dirty="0">
                <a:solidFill>
                  <a:srgbClr val="0C2340"/>
                </a:solidFill>
                <a:latin typeface="Calibri" pitchFamily="34" charset="0"/>
                <a:ea typeface="Calibri" pitchFamily="34" charset="-122"/>
                <a:cs typeface="Calibri" pitchFamily="34" charset="-120"/>
              </a:rPr>
              <a:t>What happened:  </a:t>
            </a:r>
            <a:pPr indent="0" marL="0">
              <a:lnSpc>
                <a:spcPts val="2200"/>
              </a:lnSpc>
              <a:buNone/>
            </a:pPr>
            <a:r>
              <a:rPr lang="en-US" sz="1800" dirty="0">
                <a:solidFill>
                  <a:srgbClr val="1A1A1A"/>
                </a:solidFill>
                <a:latin typeface="Calibri" pitchFamily="34" charset="0"/>
                <a:ea typeface="Calibri" pitchFamily="34" charset="-122"/>
                <a:cs typeface="Calibri" pitchFamily="34" charset="-120"/>
              </a:rPr>
              <a:t>The Kaggle dataset path stopped resolving, so the corpus could not be fetched.</a:t>
            </a:r>
            <a:endParaRPr lang="en-US" sz="1800" dirty="0"/>
          </a:p>
          <a:p>
            <a:pPr indent="0" marL="0">
              <a:lnSpc>
                <a:spcPts val="2200"/>
              </a:lnSpc>
              <a:buNone/>
            </a:pPr>
            <a:r>
              <a:rPr lang="en-US" sz="1800" b="1" dirty="0">
                <a:solidFill>
                  <a:srgbClr val="B3512F"/>
                </a:solidFill>
                <a:latin typeface="Calibri" pitchFamily="34" charset="0"/>
                <a:ea typeface="Calibri" pitchFamily="34" charset="-122"/>
                <a:cs typeface="Calibri" pitchFamily="34" charset="-120"/>
              </a:rPr>
              <a:t>Mitigation:  </a:t>
            </a:r>
            <a:pPr indent="0" marL="0">
              <a:lnSpc>
                <a:spcPts val="2200"/>
              </a:lnSpc>
              <a:buNone/>
            </a:pPr>
            <a:r>
              <a:rPr lang="en-US" sz="1800" dirty="0">
                <a:solidFill>
                  <a:srgbClr val="1A1A1A"/>
                </a:solidFill>
                <a:latin typeface="Calibri" pitchFamily="34" charset="0"/>
                <a:ea typeface="Calibri" pitchFamily="34" charset="-122"/>
                <a:cs typeface="Calibri" pitchFamily="34" charset="-120"/>
              </a:rPr>
              <a:t>Wrote download_data.py to pull the official release, with two documented mirrors. Row counts verified against the original notebook.</a:t>
            </a:r>
            <a:endParaRPr lang="en-US" sz="1800" dirty="0"/>
          </a:p>
        </p:txBody>
      </p:sp>
      <p:sp>
        <p:nvSpPr>
          <p:cNvPr id="10" name="Shape 8"/>
          <p:cNvSpPr/>
          <p:nvPr/>
        </p:nvSpPr>
        <p:spPr>
          <a:xfrm>
            <a:off x="640080" y="2615184"/>
            <a:ext cx="10908792" cy="1298448"/>
          </a:xfrm>
          <a:prstGeom prst="roundRect">
            <a:avLst>
              <a:gd name="adj" fmla="val 6338"/>
            </a:avLst>
          </a:prstGeom>
          <a:solidFill>
            <a:srgbClr val="F4F7FA"/>
          </a:solidFill>
          <a:ln w="12700">
            <a:solidFill>
              <a:srgbClr val="D6DDE5"/>
            </a:solidFill>
            <a:prstDash val="solid"/>
          </a:ln>
        </p:spPr>
      </p:sp>
      <p:sp>
        <p:nvSpPr>
          <p:cNvPr id="11" name="Shape 9"/>
          <p:cNvSpPr/>
          <p:nvPr/>
        </p:nvSpPr>
        <p:spPr>
          <a:xfrm>
            <a:off x="868680" y="2980944"/>
            <a:ext cx="868680" cy="548640"/>
          </a:xfrm>
          <a:prstGeom prst="roundRect">
            <a:avLst>
              <a:gd name="adj" fmla="val 13333"/>
            </a:avLst>
          </a:prstGeom>
          <a:solidFill>
            <a:srgbClr val="B3512F"/>
          </a:solidFill>
          <a:ln w="12700">
            <a:solidFill>
              <a:srgbClr val="B3512F"/>
            </a:solidFill>
            <a:prstDash val="solid"/>
          </a:ln>
        </p:spPr>
      </p:sp>
      <p:sp>
        <p:nvSpPr>
          <p:cNvPr id="12" name="Text 10"/>
          <p:cNvSpPr txBox="1"/>
          <p:nvPr/>
        </p:nvSpPr>
        <p:spPr>
          <a:xfrm>
            <a:off x="868680" y="2980944"/>
            <a:ext cx="86868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R8</a:t>
            </a:r>
            <a:endParaRPr lang="en-US" sz="1800" dirty="0"/>
          </a:p>
        </p:txBody>
      </p:sp>
      <p:sp>
        <p:nvSpPr>
          <p:cNvPr id="13" name="Text 11"/>
          <p:cNvSpPr txBox="1"/>
          <p:nvPr/>
        </p:nvSpPr>
        <p:spPr>
          <a:xfrm>
            <a:off x="1965960" y="2706624"/>
            <a:ext cx="9400032" cy="1115568"/>
          </a:xfrm>
          <a:prstGeom prst="rect">
            <a:avLst/>
          </a:prstGeom>
          <a:noFill/>
          <a:ln/>
        </p:spPr>
        <p:txBody>
          <a:bodyPr wrap="square" lIns="0" tIns="0" rIns="0" bIns="0" rtlCol="0" anchor="ctr"/>
          <a:lstStyle/>
          <a:p>
            <a:pPr indent="0" marL="0">
              <a:lnSpc>
                <a:spcPts val="2200"/>
              </a:lnSpc>
              <a:buNone/>
            </a:pPr>
            <a:r>
              <a:rPr lang="en-US" sz="1800" b="1" dirty="0">
                <a:solidFill>
                  <a:srgbClr val="0C2340"/>
                </a:solidFill>
                <a:latin typeface="Calibri" pitchFamily="34" charset="0"/>
                <a:ea typeface="Calibri" pitchFamily="34" charset="-122"/>
                <a:cs typeface="Calibri" pitchFamily="34" charset="-120"/>
              </a:rPr>
              <a:t>What happened:  </a:t>
            </a:r>
            <a:pPr indent="0" marL="0">
              <a:lnSpc>
                <a:spcPts val="2200"/>
              </a:lnSpc>
              <a:buNone/>
            </a:pPr>
            <a:r>
              <a:rPr lang="en-US" sz="1800" dirty="0">
                <a:solidFill>
                  <a:srgbClr val="1A1A1A"/>
                </a:solidFill>
                <a:latin typeface="Calibri" pitchFamily="34" charset="0"/>
                <a:ea typeface="Calibri" pitchFamily="34" charset="-122"/>
                <a:cs typeface="Calibri" pitchFamily="34" charset="-120"/>
              </a:rPr>
              <a:t>Kaggle grants notebook internet only to phone-verified accounts, so demoji could not be installed.</a:t>
            </a:r>
            <a:endParaRPr lang="en-US" sz="1800" dirty="0"/>
          </a:p>
          <a:p>
            <a:pPr indent="0" marL="0">
              <a:lnSpc>
                <a:spcPts val="2200"/>
              </a:lnSpc>
              <a:buNone/>
            </a:pPr>
            <a:r>
              <a:rPr lang="en-US" sz="1800" b="1" dirty="0">
                <a:solidFill>
                  <a:srgbClr val="B3512F"/>
                </a:solidFill>
                <a:latin typeface="Calibri" pitchFamily="34" charset="0"/>
                <a:ea typeface="Calibri" pitchFamily="34" charset="-122"/>
                <a:cs typeface="Calibri" pitchFamily="34" charset="-120"/>
              </a:rPr>
              <a:t>Mitigation:  </a:t>
            </a:r>
            <a:pPr indent="0" marL="0">
              <a:lnSpc>
                <a:spcPts val="2200"/>
              </a:lnSpc>
              <a:buNone/>
            </a:pPr>
            <a:r>
              <a:rPr lang="en-US" sz="1800" dirty="0">
                <a:solidFill>
                  <a:srgbClr val="1A1A1A"/>
                </a:solidFill>
                <a:latin typeface="Calibri" pitchFamily="34" charset="0"/>
                <a:ea typeface="Calibri" pitchFamily="34" charset="-122"/>
                <a:cs typeface="Calibri" pitchFamily="34" charset="-120"/>
              </a:rPr>
              <a:t>Shipped the emoji and demoji wheels as an attached dataset and installed them offline.</a:t>
            </a:r>
            <a:endParaRPr lang="en-US" sz="1800" dirty="0"/>
          </a:p>
        </p:txBody>
      </p:sp>
      <p:sp>
        <p:nvSpPr>
          <p:cNvPr id="14" name="Shape 12"/>
          <p:cNvSpPr/>
          <p:nvPr/>
        </p:nvSpPr>
        <p:spPr>
          <a:xfrm>
            <a:off x="640080" y="4023360"/>
            <a:ext cx="10908792" cy="1298448"/>
          </a:xfrm>
          <a:prstGeom prst="roundRect">
            <a:avLst>
              <a:gd name="adj" fmla="val 6338"/>
            </a:avLst>
          </a:prstGeom>
          <a:solidFill>
            <a:srgbClr val="F4F7FA"/>
          </a:solidFill>
          <a:ln w="12700">
            <a:solidFill>
              <a:srgbClr val="D6DDE5"/>
            </a:solidFill>
            <a:prstDash val="solid"/>
          </a:ln>
        </p:spPr>
      </p:sp>
      <p:sp>
        <p:nvSpPr>
          <p:cNvPr id="15" name="Shape 13"/>
          <p:cNvSpPr/>
          <p:nvPr/>
        </p:nvSpPr>
        <p:spPr>
          <a:xfrm>
            <a:off x="868680" y="4389120"/>
            <a:ext cx="868680" cy="548640"/>
          </a:xfrm>
          <a:prstGeom prst="roundRect">
            <a:avLst>
              <a:gd name="adj" fmla="val 13333"/>
            </a:avLst>
          </a:prstGeom>
          <a:solidFill>
            <a:srgbClr val="B3512F"/>
          </a:solidFill>
          <a:ln w="12700">
            <a:solidFill>
              <a:srgbClr val="B3512F"/>
            </a:solidFill>
            <a:prstDash val="solid"/>
          </a:ln>
        </p:spPr>
      </p:sp>
      <p:sp>
        <p:nvSpPr>
          <p:cNvPr id="16" name="Text 14"/>
          <p:cNvSpPr txBox="1"/>
          <p:nvPr/>
        </p:nvSpPr>
        <p:spPr>
          <a:xfrm>
            <a:off x="868680" y="4389120"/>
            <a:ext cx="86868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R7</a:t>
            </a:r>
            <a:endParaRPr lang="en-US" sz="1800" dirty="0"/>
          </a:p>
        </p:txBody>
      </p:sp>
      <p:sp>
        <p:nvSpPr>
          <p:cNvPr id="17" name="Text 15"/>
          <p:cNvSpPr txBox="1"/>
          <p:nvPr/>
        </p:nvSpPr>
        <p:spPr>
          <a:xfrm>
            <a:off x="1965960" y="4114800"/>
            <a:ext cx="9400032" cy="1115568"/>
          </a:xfrm>
          <a:prstGeom prst="rect">
            <a:avLst/>
          </a:prstGeom>
          <a:noFill/>
          <a:ln/>
        </p:spPr>
        <p:txBody>
          <a:bodyPr wrap="square" lIns="0" tIns="0" rIns="0" bIns="0" rtlCol="0" anchor="ctr"/>
          <a:lstStyle/>
          <a:p>
            <a:pPr indent="0" marL="0">
              <a:lnSpc>
                <a:spcPts val="2200"/>
              </a:lnSpc>
              <a:buNone/>
            </a:pPr>
            <a:r>
              <a:rPr lang="en-US" sz="1800" b="1" dirty="0">
                <a:solidFill>
                  <a:srgbClr val="0C2340"/>
                </a:solidFill>
                <a:latin typeface="Calibri" pitchFamily="34" charset="0"/>
                <a:ea typeface="Calibri" pitchFamily="34" charset="-122"/>
                <a:cs typeface="Calibri" pitchFamily="34" charset="-120"/>
              </a:rPr>
              <a:t>What happened:  </a:t>
            </a:r>
            <a:pPr indent="0" marL="0">
              <a:lnSpc>
                <a:spcPts val="2200"/>
              </a:lnSpc>
              <a:buNone/>
            </a:pPr>
            <a:r>
              <a:rPr lang="en-US" sz="1800" dirty="0">
                <a:solidFill>
                  <a:srgbClr val="1A1A1A"/>
                </a:solidFill>
                <a:latin typeface="Calibri" pitchFamily="34" charset="0"/>
                <a:ea typeface="Calibri" pitchFamily="34" charset="-122"/>
                <a:cs typeface="Calibri" pitchFamily="34" charset="-120"/>
              </a:rPr>
              <a:t>Saved models failed to load on an older Keras, which rejected a field the newer version writes.</a:t>
            </a:r>
            <a:endParaRPr lang="en-US" sz="1800" dirty="0"/>
          </a:p>
          <a:p>
            <a:pPr indent="0" marL="0">
              <a:lnSpc>
                <a:spcPts val="2200"/>
              </a:lnSpc>
              <a:buNone/>
            </a:pPr>
            <a:r>
              <a:rPr lang="en-US" sz="1800" b="1" dirty="0">
                <a:solidFill>
                  <a:srgbClr val="B3512F"/>
                </a:solidFill>
                <a:latin typeface="Calibri" pitchFamily="34" charset="0"/>
                <a:ea typeface="Calibri" pitchFamily="34" charset="-122"/>
                <a:cs typeface="Calibri" pitchFamily="34" charset="-120"/>
              </a:rPr>
              <a:t>Mitigation:  </a:t>
            </a:r>
            <a:pPr indent="0" marL="0">
              <a:lnSpc>
                <a:spcPts val="2200"/>
              </a:lnSpc>
              <a:buNone/>
            </a:pPr>
            <a:r>
              <a:rPr lang="en-US" sz="1800" dirty="0">
                <a:solidFill>
                  <a:srgbClr val="1A1A1A"/>
                </a:solidFill>
                <a:latin typeface="Calibri" pitchFamily="34" charset="0"/>
                <a:ea typeface="Calibri" pitchFamily="34" charset="-122"/>
                <a:cs typeface="Calibri" pitchFamily="34" charset="-120"/>
              </a:rPr>
              <a:t>Pinned keras to the 3.13 line in requirements.txt and recorded the exact error in the README.</a:t>
            </a:r>
            <a:endParaRPr lang="en-US" sz="1800" dirty="0"/>
          </a:p>
        </p:txBody>
      </p:sp>
      <p:sp>
        <p:nvSpPr>
          <p:cNvPr id="18" name="Text 16"/>
          <p:cNvSpPr txBox="1"/>
          <p:nvPr/>
        </p:nvSpPr>
        <p:spPr>
          <a:xfrm>
            <a:off x="640080" y="5477256"/>
            <a:ext cx="10908792" cy="329184"/>
          </a:xfrm>
          <a:prstGeom prst="rect">
            <a:avLst/>
          </a:prstGeom>
          <a:noFill/>
          <a:ln/>
        </p:spPr>
        <p:txBody>
          <a:bodyPr wrap="square" lIns="0" tIns="0" rIns="0" bIns="0" rtlCol="0" anchor="ctr"/>
          <a:lstStyle/>
          <a:p>
            <a:pPr indent="0" marL="0">
              <a:buNone/>
            </a:pPr>
            <a:r>
              <a:rPr lang="en-US" sz="1800" i="1" dirty="0">
                <a:solidFill>
                  <a:srgbClr val="0C2340"/>
                </a:solidFill>
                <a:latin typeface="Calibri" pitchFamily="34" charset="0"/>
                <a:ea typeface="Calibri" pitchFamily="34" charset="-122"/>
                <a:cs typeface="Calibri" pitchFamily="34" charset="-120"/>
              </a:rPr>
              <a:t>All three were resolved without changing the experimental design or the reported results.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2340"/>
        </a:solidFill>
      </p:bgPr>
    </p:bg>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9FB3C8"/>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9FB3C8"/>
                </a:solidFill>
                <a:latin typeface="Calibri" pitchFamily="34" charset="0"/>
                <a:ea typeface="Calibri" pitchFamily="34" charset="-122"/>
                <a:cs typeface="Calibri" pitchFamily="34" charset="-120"/>
              </a:rPr>
              <a:t>22</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9FB3C8"/>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822960" y="1965960"/>
            <a:ext cx="2011680" cy="1737360"/>
          </a:xfrm>
          <a:prstGeom prst="rect">
            <a:avLst/>
          </a:prstGeom>
          <a:noFill/>
          <a:ln/>
        </p:spPr>
        <p:txBody>
          <a:bodyPr wrap="square" lIns="0" tIns="0" rIns="0" bIns="0" rtlCol="0" anchor="ctr"/>
          <a:lstStyle/>
          <a:p>
            <a:pPr algn="l" indent="0" marL="0">
              <a:buNone/>
            </a:pPr>
            <a:r>
              <a:rPr lang="en-US" sz="9600" b="1" dirty="0">
                <a:solidFill>
                  <a:srgbClr val="B3512F"/>
                </a:solidFill>
                <a:latin typeface="Calibri" pitchFamily="34" charset="0"/>
                <a:ea typeface="Calibri" pitchFamily="34" charset="-122"/>
                <a:cs typeface="Calibri" pitchFamily="34" charset="-120"/>
              </a:rPr>
              <a:t>5</a:t>
            </a:r>
            <a:endParaRPr lang="en-US" sz="9600" dirty="0"/>
          </a:p>
        </p:txBody>
      </p:sp>
      <p:sp>
        <p:nvSpPr>
          <p:cNvPr id="6" name="Text 4"/>
          <p:cNvSpPr txBox="1"/>
          <p:nvPr/>
        </p:nvSpPr>
        <p:spPr>
          <a:xfrm>
            <a:off x="2834640" y="1965960"/>
            <a:ext cx="8503920" cy="1737360"/>
          </a:xfrm>
          <a:prstGeom prst="rect">
            <a:avLst/>
          </a:prstGeom>
          <a:noFill/>
          <a:ln/>
        </p:spPr>
        <p:txBody>
          <a:bodyPr wrap="square" lIns="0" tIns="0" rIns="0" bIns="0" rtlCol="0" anchor="ctr"/>
          <a:lstStyle/>
          <a:p>
            <a:pPr algn="l" indent="0" marL="0">
              <a:buNone/>
            </a:pPr>
            <a:r>
              <a:rPr lang="en-US" sz="4400" b="1" dirty="0">
                <a:solidFill>
                  <a:srgbClr val="FFFFFF"/>
                </a:solidFill>
                <a:latin typeface="Calibri" pitchFamily="34" charset="0"/>
                <a:ea typeface="Calibri" pitchFamily="34" charset="-122"/>
                <a:cs typeface="Calibri" pitchFamily="34" charset="-120"/>
              </a:rPr>
              <a:t>Implementation</a:t>
            </a:r>
            <a:endParaRPr lang="en-US" sz="4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23</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System Architecture I: Four Layers</a:t>
            </a:r>
            <a:endParaRPr lang="en-US" sz="3200" dirty="0"/>
          </a:p>
        </p:txBody>
      </p:sp>
      <p:pic>
        <p:nvPicPr>
          <p:cNvPr id="6" name="Image 0" descr="D:/assigments_7_students/krish/figures/arch_highlevel.png">    </p:cNvPr>
          <p:cNvPicPr>
            <a:picLocks noChangeAspect="1"/>
          </p:cNvPicPr>
          <p:nvPr/>
        </p:nvPicPr>
        <p:blipFill>
          <a:blip r:embed="rId1"/>
          <a:srcRect l="0" r="0" t="0" b="0"/>
          <a:stretch/>
        </p:blipFill>
        <p:spPr>
          <a:xfrm>
            <a:off x="640080" y="1207008"/>
            <a:ext cx="7086600" cy="4206240"/>
          </a:xfrm>
          <a:prstGeom prst="rect">
            <a:avLst/>
          </a:prstGeom>
        </p:spPr>
      </p:pic>
      <p:sp>
        <p:nvSpPr>
          <p:cNvPr id="7" name="Text 4"/>
          <p:cNvSpPr txBox="1"/>
          <p:nvPr/>
        </p:nvSpPr>
        <p:spPr>
          <a:xfrm>
            <a:off x="640080" y="5468112"/>
            <a:ext cx="7086600" cy="384048"/>
          </a:xfrm>
          <a:prstGeom prst="rect">
            <a:avLst/>
          </a:prstGeom>
          <a:noFill/>
          <a:ln/>
        </p:spPr>
        <p:txBody>
          <a:bodyPr wrap="square" lIns="0" tIns="0" rIns="0" bIns="0" rtlCol="0" anchor="t"/>
          <a:lstStyle/>
          <a:p>
            <a:pPr algn="l" indent="0" marL="0">
              <a:buNone/>
            </a:pPr>
            <a:r>
              <a:rPr lang="en-US" sz="1300" i="1" dirty="0">
                <a:solidFill>
                  <a:srgbClr val="5A6472"/>
                </a:solidFill>
                <a:latin typeface="Calibri" pitchFamily="34" charset="0"/>
                <a:ea typeface="Calibri" pitchFamily="34" charset="-122"/>
                <a:cs typeface="Calibri" pitchFamily="34" charset="-120"/>
              </a:rPr>
              <a:t>Figure 3: High-level architecture. Every arrow shows one direction of flow, top to bottom.</a:t>
            </a:r>
            <a:endParaRPr lang="en-US" sz="1300" dirty="0"/>
          </a:p>
        </p:txBody>
      </p:sp>
      <p:sp>
        <p:nvSpPr>
          <p:cNvPr id="8" name="Shape 5"/>
          <p:cNvSpPr/>
          <p:nvPr/>
        </p:nvSpPr>
        <p:spPr>
          <a:xfrm>
            <a:off x="7955280" y="1207008"/>
            <a:ext cx="3593592" cy="4206240"/>
          </a:xfrm>
          <a:prstGeom prst="roundRect">
            <a:avLst>
              <a:gd name="adj" fmla="val 2290"/>
            </a:avLst>
          </a:prstGeom>
          <a:solidFill>
            <a:srgbClr val="F4F7FA"/>
          </a:solidFill>
          <a:ln w="12700">
            <a:solidFill>
              <a:srgbClr val="D6DDE5"/>
            </a:solidFill>
            <a:prstDash val="solid"/>
          </a:ln>
        </p:spPr>
      </p:sp>
      <p:sp>
        <p:nvSpPr>
          <p:cNvPr id="9" name="Text 6"/>
          <p:cNvSpPr txBox="1"/>
          <p:nvPr/>
        </p:nvSpPr>
        <p:spPr>
          <a:xfrm>
            <a:off x="8202168" y="1426464"/>
            <a:ext cx="3108960" cy="3840480"/>
          </a:xfrm>
          <a:prstGeom prst="rect">
            <a:avLst/>
          </a:prstGeom>
          <a:noFill/>
          <a:ln/>
        </p:spPr>
        <p:txBody>
          <a:bodyPr wrap="square" lIns="0" tIns="0" rIns="0" bIns="0" rtlCol="0" anchor="t"/>
          <a:lstStyle/>
          <a:p>
            <a:pPr indent="0" marL="0">
              <a:lnSpc>
                <a:spcPts val="2100"/>
              </a:lnSpc>
              <a:spcAft>
                <a:spcPts val="300"/>
              </a:spcAft>
              <a:buNone/>
            </a:pPr>
            <a:r>
              <a:rPr lang="en-US" sz="2000" b="1" dirty="0">
                <a:solidFill>
                  <a:srgbClr val="0C2340"/>
                </a:solidFill>
                <a:latin typeface="Calibri" pitchFamily="34" charset="0"/>
                <a:ea typeface="Calibri" pitchFamily="34" charset="-122"/>
                <a:cs typeface="Calibri" pitchFamily="34" charset="-120"/>
              </a:rPr>
              <a:t>How to Read It</a:t>
            </a:r>
            <a:endParaRPr lang="en-US" sz="2000" dirty="0"/>
          </a:p>
          <a:p>
            <a:pPr indent="0" marL="0">
              <a:lnSpc>
                <a:spcPts val="2100"/>
              </a:lnSpc>
              <a:spcAft>
                <a:spcPts val="300"/>
              </a:spcAft>
              <a:buNone/>
            </a:pPr>
            <a:r>
              <a:rPr lang="en-US" sz="1700" dirty="0">
                <a:solidFill>
                  <a:srgbClr val="1A1A1A"/>
                </a:solidFill>
                <a:latin typeface="Calibri" pitchFamily="34" charset="0"/>
                <a:ea typeface="Calibri" pitchFamily="34" charset="-122"/>
                <a:cs typeface="Calibri" pitchFamily="34" charset="-120"/>
              </a:rPr>
              <a:t>Data flows down through four layers. Each arrow is a real dependency.</a:t>
            </a:r>
            <a:endParaRPr lang="en-US" sz="2000" dirty="0"/>
          </a:p>
          <a:p>
            <a:pPr indent="0" marL="0">
              <a:lnSpc>
                <a:spcPts val="2100"/>
              </a:lnSpc>
              <a:spcAft>
                <a:spcPts val="300"/>
              </a:spcAft>
              <a:buNone/>
            </a:pPr>
            <a:endParaRPr lang="en-US" sz="2000" dirty="0"/>
          </a:p>
          <a:p>
            <a:pPr marL="342900" indent="-342900">
              <a:lnSpc>
                <a:spcPts val="2100"/>
              </a:lnSpc>
              <a:spcAft>
                <a:spcPts val="300"/>
              </a:spcAft>
              <a:buSzPct val="100000"/>
              <a:buChar char="•"/>
            </a:pPr>
            <a:r>
              <a:rPr lang="en-US" sz="1700" dirty="0">
                <a:solidFill>
                  <a:srgbClr val="1A1A1A"/>
                </a:solidFill>
                <a:latin typeface="Calibri" pitchFamily="34" charset="0"/>
                <a:ea typeface="Calibri" pitchFamily="34" charset="-122"/>
                <a:cs typeface="Calibri" pitchFamily="34" charset="-120"/>
              </a:rPr>
              <a:t>Data: the corpus and its two derived copies.</a:t>
            </a:r>
            <a:endParaRPr lang="en-US" sz="2000" dirty="0"/>
          </a:p>
          <a:p>
            <a:pPr marL="342900" indent="-342900">
              <a:lnSpc>
                <a:spcPts val="2100"/>
              </a:lnSpc>
              <a:spcAft>
                <a:spcPts val="300"/>
              </a:spcAft>
              <a:buSzPct val="100000"/>
              <a:buChar char="•"/>
            </a:pPr>
            <a:r>
              <a:rPr lang="en-US" sz="1700" dirty="0">
                <a:solidFill>
                  <a:srgbClr val="1A1A1A"/>
                </a:solidFill>
                <a:latin typeface="Calibri" pitchFamily="34" charset="0"/>
                <a:ea typeface="Calibri" pitchFamily="34" charset="-122"/>
                <a:cs typeface="Calibri" pitchFamily="34" charset="-120"/>
              </a:rPr>
              <a:t>Processing: four notebooks, run in order.</a:t>
            </a:r>
            <a:endParaRPr lang="en-US" sz="2000" dirty="0"/>
          </a:p>
          <a:p>
            <a:pPr marL="342900" indent="-342900">
              <a:lnSpc>
                <a:spcPts val="2100"/>
              </a:lnSpc>
              <a:spcAft>
                <a:spcPts val="300"/>
              </a:spcAft>
              <a:buSzPct val="100000"/>
              <a:buChar char="•"/>
            </a:pPr>
            <a:r>
              <a:rPr lang="en-US" sz="1700" dirty="0">
                <a:solidFill>
                  <a:srgbClr val="1A1A1A"/>
                </a:solidFill>
                <a:latin typeface="Calibri" pitchFamily="34" charset="0"/>
                <a:ea typeface="Calibri" pitchFamily="34" charset="-122"/>
                <a:cs typeface="Calibri" pitchFamily="34" charset="-120"/>
              </a:rPr>
              <a:t>Artefacts: models, tables and figures.</a:t>
            </a:r>
            <a:endParaRPr lang="en-US" sz="2000" dirty="0"/>
          </a:p>
          <a:p>
            <a:pPr marL="342900" indent="-342900">
              <a:lnSpc>
                <a:spcPts val="2100"/>
              </a:lnSpc>
              <a:spcAft>
                <a:spcPts val="300"/>
              </a:spcAft>
              <a:buSzPct val="100000"/>
              <a:buChar char="•"/>
            </a:pPr>
            <a:r>
              <a:rPr lang="en-US" sz="1700" dirty="0">
                <a:solidFill>
                  <a:srgbClr val="1A1A1A"/>
                </a:solidFill>
                <a:latin typeface="Calibri" pitchFamily="34" charset="0"/>
                <a:ea typeface="Calibri" pitchFamily="34" charset="-122"/>
                <a:cs typeface="Calibri" pitchFamily="34" charset="-120"/>
              </a:rPr>
              <a:t>Presentation: the Streamlit app.</a:t>
            </a:r>
            <a:endParaRPr lang="en-US" sz="2000" dirty="0"/>
          </a:p>
          <a:p>
            <a:pPr indent="0" marL="0">
              <a:lnSpc>
                <a:spcPts val="2100"/>
              </a:lnSpc>
              <a:spcAft>
                <a:spcPts val="300"/>
              </a:spcAft>
              <a:buNone/>
            </a:pPr>
            <a:endParaRPr lang="en-US" sz="2000" dirty="0"/>
          </a:p>
          <a:p>
            <a:pPr indent="0" marL="0">
              <a:lnSpc>
                <a:spcPts val="2100"/>
              </a:lnSpc>
              <a:spcAft>
                <a:spcPts val="300"/>
              </a:spcAft>
              <a:buNone/>
            </a:pPr>
            <a:r>
              <a:rPr lang="en-US" sz="1700" i="1" dirty="0">
                <a:solidFill>
                  <a:srgbClr val="5A6472"/>
                </a:solidFill>
                <a:latin typeface="Calibri" pitchFamily="34" charset="0"/>
                <a:ea typeface="Calibri" pitchFamily="34" charset="-122"/>
                <a:cs typeface="Calibri" pitchFamily="34" charset="-120"/>
              </a:rPr>
              <a:t>The app reads the artefacts directly, so there is no copying step to get wrong.</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24</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System Architecture II: The Preprocessing Pipeline</a:t>
            </a:r>
            <a:endParaRPr lang="en-US" sz="3200" dirty="0"/>
          </a:p>
        </p:txBody>
      </p:sp>
      <p:pic>
        <p:nvPicPr>
          <p:cNvPr id="6" name="Image 0" descr="D:/assigments_7_students/krish/figures/arch_pipeline.png">    </p:cNvPr>
          <p:cNvPicPr>
            <a:picLocks noChangeAspect="1"/>
          </p:cNvPicPr>
          <p:nvPr/>
        </p:nvPicPr>
        <p:blipFill>
          <a:blip r:embed="rId1"/>
          <a:srcRect l="0" r="0" t="0" b="0"/>
          <a:stretch/>
        </p:blipFill>
        <p:spPr>
          <a:xfrm>
            <a:off x="640080" y="1207008"/>
            <a:ext cx="7086600" cy="4206240"/>
          </a:xfrm>
          <a:prstGeom prst="rect">
            <a:avLst/>
          </a:prstGeom>
        </p:spPr>
      </p:pic>
      <p:sp>
        <p:nvSpPr>
          <p:cNvPr id="7" name="Text 4"/>
          <p:cNvSpPr txBox="1"/>
          <p:nvPr/>
        </p:nvSpPr>
        <p:spPr>
          <a:xfrm>
            <a:off x="640080" y="5468112"/>
            <a:ext cx="7086600" cy="384048"/>
          </a:xfrm>
          <a:prstGeom prst="rect">
            <a:avLst/>
          </a:prstGeom>
          <a:noFill/>
          <a:ln/>
        </p:spPr>
        <p:txBody>
          <a:bodyPr wrap="square" lIns="0" tIns="0" rIns="0" bIns="0" rtlCol="0" anchor="t"/>
          <a:lstStyle/>
          <a:p>
            <a:pPr algn="l" indent="0" marL="0">
              <a:buNone/>
            </a:pPr>
            <a:r>
              <a:rPr lang="en-US" sz="1300" i="1" dirty="0">
                <a:solidFill>
                  <a:srgbClr val="5A6472"/>
                </a:solidFill>
                <a:latin typeface="Calibri" pitchFamily="34" charset="0"/>
                <a:ea typeface="Calibri" pitchFamily="34" charset="-122"/>
                <a:cs typeface="Calibri" pitchFamily="34" charset="-120"/>
              </a:rPr>
              <a:t>Figure 4: The preprocessing pipeline, forked at Stage 2.</a:t>
            </a:r>
            <a:endParaRPr lang="en-US" sz="1300" dirty="0"/>
          </a:p>
        </p:txBody>
      </p:sp>
      <p:sp>
        <p:nvSpPr>
          <p:cNvPr id="8" name="Shape 5"/>
          <p:cNvSpPr/>
          <p:nvPr/>
        </p:nvSpPr>
        <p:spPr>
          <a:xfrm>
            <a:off x="7955280" y="1207008"/>
            <a:ext cx="3593592" cy="4206240"/>
          </a:xfrm>
          <a:prstGeom prst="roundRect">
            <a:avLst>
              <a:gd name="adj" fmla="val 2290"/>
            </a:avLst>
          </a:prstGeom>
          <a:solidFill>
            <a:srgbClr val="F4F7FA"/>
          </a:solidFill>
          <a:ln w="12700">
            <a:solidFill>
              <a:srgbClr val="D6DDE5"/>
            </a:solidFill>
            <a:prstDash val="solid"/>
          </a:ln>
        </p:spPr>
      </p:sp>
      <p:sp>
        <p:nvSpPr>
          <p:cNvPr id="9" name="Text 6"/>
          <p:cNvSpPr txBox="1"/>
          <p:nvPr/>
        </p:nvSpPr>
        <p:spPr>
          <a:xfrm>
            <a:off x="8202168" y="1426464"/>
            <a:ext cx="3108960" cy="3840480"/>
          </a:xfrm>
          <a:prstGeom prst="rect">
            <a:avLst/>
          </a:prstGeom>
          <a:noFill/>
          <a:ln/>
        </p:spPr>
        <p:txBody>
          <a:bodyPr wrap="square" lIns="0" tIns="0" rIns="0" bIns="0" rtlCol="0" anchor="t"/>
          <a:lstStyle/>
          <a:p>
            <a:pPr indent="0" marL="0">
              <a:lnSpc>
                <a:spcPts val="2100"/>
              </a:lnSpc>
              <a:buNone/>
            </a:pPr>
            <a:r>
              <a:rPr lang="en-US" sz="2000" b="1" dirty="0">
                <a:solidFill>
                  <a:srgbClr val="0C2340"/>
                </a:solidFill>
                <a:latin typeface="Calibri" pitchFamily="34" charset="0"/>
                <a:ea typeface="Calibri" pitchFamily="34" charset="-122"/>
                <a:cs typeface="Calibri" pitchFamily="34" charset="-120"/>
              </a:rPr>
              <a:t>Reading the Flowchart</a:t>
            </a:r>
            <a:endParaRPr lang="en-US" sz="2000" dirty="0"/>
          </a:p>
          <a:p>
            <a:pPr indent="0" marL="0">
              <a:lnSpc>
                <a:spcPts val="2100"/>
              </a:lnSpc>
              <a:buNone/>
            </a:pPr>
            <a:r>
              <a:rPr lang="en-US" sz="1700" dirty="0">
                <a:solidFill>
                  <a:srgbClr val="1A1A1A"/>
                </a:solidFill>
                <a:latin typeface="Calibri" pitchFamily="34" charset="0"/>
                <a:ea typeface="Calibri" pitchFamily="34" charset="-122"/>
                <a:cs typeface="Calibri" pitchFamily="34" charset="-120"/>
              </a:rPr>
              <a:t>A raw tweet enters at the top and runs through Stage 1, which strips URLs, mentions and the hash symbol.</a:t>
            </a:r>
            <a:endParaRPr lang="en-US" sz="2000" dirty="0"/>
          </a:p>
          <a:p>
            <a:pPr indent="0" marL="0">
              <a:lnSpc>
                <a:spcPts val="2100"/>
              </a:lnSpc>
              <a:buNone/>
            </a:pPr>
            <a:endParaRPr lang="en-US" sz="2000" dirty="0"/>
          </a:p>
          <a:p>
            <a:pPr indent="0" marL="0">
              <a:lnSpc>
                <a:spcPts val="2100"/>
              </a:lnSpc>
              <a:buNone/>
            </a:pPr>
            <a:r>
              <a:rPr lang="en-US" sz="1700" dirty="0">
                <a:solidFill>
                  <a:srgbClr val="1A1A1A"/>
                </a:solidFill>
                <a:latin typeface="Calibri" pitchFamily="34" charset="0"/>
                <a:ea typeface="Calibri" pitchFamily="34" charset="-122"/>
                <a:cs typeface="Calibri" pitchFamily="34" charset="-120"/>
              </a:rPr>
              <a:t>At Stage 2 the flow splits. The left branch deletes every emoji, the right replaces each with its description.</a:t>
            </a:r>
            <a:endParaRPr lang="en-US" sz="2000" dirty="0"/>
          </a:p>
          <a:p>
            <a:pPr indent="0" marL="0">
              <a:lnSpc>
                <a:spcPts val="2100"/>
              </a:lnSpc>
              <a:buNone/>
            </a:pPr>
            <a:endParaRPr lang="en-US" sz="2000" dirty="0"/>
          </a:p>
          <a:p>
            <a:pPr indent="0" marL="0">
              <a:lnSpc>
                <a:spcPts val="2100"/>
              </a:lnSpc>
              <a:buNone/>
            </a:pPr>
            <a:r>
              <a:rPr lang="en-US" sz="1700" dirty="0">
                <a:solidFill>
                  <a:srgbClr val="1A1A1A"/>
                </a:solidFill>
                <a:latin typeface="Calibri" pitchFamily="34" charset="0"/>
                <a:ea typeface="Calibri" pitchFamily="34" charset="-122"/>
                <a:cs typeface="Calibri" pitchFamily="34" charset="-120"/>
              </a:rPr>
              <a:t>Stages 3, 4 and 5 are the same code on both branches, so the two outputs differ only by the emoji step.</a:t>
            </a:r>
            <a:endParaRPr lang="en-US" sz="2000" dirty="0"/>
          </a:p>
          <a:p>
            <a:pPr indent="0" marL="0">
              <a:lnSpc>
                <a:spcPts val="2100"/>
              </a:lnSpc>
              <a:buNone/>
            </a:pPr>
            <a:endParaRPr lang="en-US" sz="2000" dirty="0"/>
          </a:p>
          <a:p>
            <a:pPr indent="0" marL="0">
              <a:lnSpc>
                <a:spcPts val="2100"/>
              </a:lnSpc>
              <a:buNone/>
            </a:pPr>
            <a:r>
              <a:rPr lang="en-US" sz="1700" i="1" dirty="0">
                <a:solidFill>
                  <a:srgbClr val="5A6472"/>
                </a:solidFill>
                <a:latin typeface="Calibri" pitchFamily="34" charset="0"/>
                <a:ea typeface="Calibri" pitchFamily="34" charset="-122"/>
                <a:cs typeface="Calibri" pitchFamily="34" charset="-120"/>
              </a:rPr>
              <a:t>Track B is 4 characters longer on average.</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25</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Source Code: The Single Fork</a:t>
            </a:r>
            <a:endParaRPr lang="en-US" sz="3200" dirty="0"/>
          </a:p>
        </p:txBody>
      </p:sp>
      <p:sp>
        <p:nvSpPr>
          <p:cNvPr id="6" name="Shape 4"/>
          <p:cNvSpPr/>
          <p:nvPr/>
        </p:nvSpPr>
        <p:spPr>
          <a:xfrm>
            <a:off x="640080" y="1207008"/>
            <a:ext cx="6035040" cy="2880360"/>
          </a:xfrm>
          <a:prstGeom prst="roundRect">
            <a:avLst>
              <a:gd name="adj" fmla="val 2857"/>
            </a:avLst>
          </a:prstGeom>
          <a:solidFill>
            <a:srgbClr val="0E1B2A"/>
          </a:solidFill>
          <a:ln w="12700">
            <a:solidFill>
              <a:srgbClr val="D6DDE5"/>
            </a:solidFill>
            <a:prstDash val="solid"/>
          </a:ln>
        </p:spPr>
      </p:sp>
      <p:sp>
        <p:nvSpPr>
          <p:cNvPr id="7" name="Text 5"/>
          <p:cNvSpPr txBox="1"/>
          <p:nvPr/>
        </p:nvSpPr>
        <p:spPr>
          <a:xfrm>
            <a:off x="868680" y="1371600"/>
            <a:ext cx="5577840" cy="2560320"/>
          </a:xfrm>
          <a:prstGeom prst="rect">
            <a:avLst/>
          </a:prstGeom>
          <a:noFill/>
          <a:ln/>
        </p:spPr>
        <p:txBody>
          <a:bodyPr wrap="square" lIns="0" tIns="0" rIns="0" bIns="0" rtlCol="0" anchor="t"/>
          <a:lstStyle/>
          <a:p>
            <a:pPr indent="0" marL="0">
              <a:lnSpc>
                <a:spcPts val="2200"/>
              </a:lnSpc>
              <a:buNone/>
            </a:pPr>
            <a:r>
              <a:rPr lang="en-US" sz="1700" dirty="0">
                <a:solidFill>
                  <a:srgbClr val="7FC7FF"/>
                </a:solidFill>
                <a:latin typeface="Consolas" pitchFamily="34" charset="0"/>
                <a:ea typeface="Consolas" pitchFamily="34" charset="-122"/>
                <a:cs typeface="Consolas" pitchFamily="34" charset="-120"/>
              </a:rPr>
              <a:t>def handle_emoji_no(text):</a:t>
            </a:r>
            <a:endParaRPr lang="en-US" sz="1700" dirty="0"/>
          </a:p>
          <a:p>
            <a:pPr indent="0" marL="0">
              <a:lnSpc>
                <a:spcPts val="2200"/>
              </a:lnSpc>
              <a:buNone/>
            </a:pPr>
            <a:r>
              <a:rPr lang="en-US" sz="1700" dirty="0">
                <a:solidFill>
                  <a:srgbClr val="8FA6B8"/>
                </a:solidFill>
                <a:latin typeface="Consolas" pitchFamily="34" charset="0"/>
                <a:ea typeface="Consolas" pitchFamily="34" charset="-122"/>
                <a:cs typeface="Consolas" pitchFamily="34" charset="-120"/>
              </a:rPr>
              <a:t>    """Track A: delete every emoji."""</a:t>
            </a:r>
            <a:endParaRPr lang="en-US" sz="1700" dirty="0"/>
          </a:p>
          <a:p>
            <a:pPr indent="0" marL="0">
              <a:lnSpc>
                <a:spcPts val="2200"/>
              </a:lnSpc>
              <a:buNone/>
            </a:pPr>
            <a:r>
              <a:rPr lang="en-US" sz="1700" dirty="0">
                <a:solidFill>
                  <a:srgbClr val="E8EEF4"/>
                </a:solidFill>
                <a:latin typeface="Consolas" pitchFamily="34" charset="0"/>
                <a:ea typeface="Consolas" pitchFamily="34" charset="-122"/>
                <a:cs typeface="Consolas" pitchFamily="34" charset="-120"/>
              </a:rPr>
              <a:t>    return emoji.replace_emoji(</a:t>
            </a:r>
            <a:endParaRPr lang="en-US" sz="1700" dirty="0"/>
          </a:p>
          <a:p>
            <a:pPr indent="0" marL="0">
              <a:lnSpc>
                <a:spcPts val="2200"/>
              </a:lnSpc>
              <a:buNone/>
            </a:pPr>
            <a:r>
              <a:rPr lang="en-US" sz="1700" dirty="0">
                <a:solidFill>
                  <a:srgbClr val="E8EEF4"/>
                </a:solidFill>
                <a:latin typeface="Consolas" pitchFamily="34" charset="0"/>
                <a:ea typeface="Consolas" pitchFamily="34" charset="-122"/>
                <a:cs typeface="Consolas" pitchFamily="34" charset="-120"/>
              </a:rPr>
              <a:t>        str(text), replace="")</a:t>
            </a:r>
            <a:endParaRPr lang="en-US" sz="1700" dirty="0"/>
          </a:p>
          <a:p>
            <a:pPr indent="0" marL="0">
              <a:lnSpc>
                <a:spcPts val="2200"/>
              </a:lnSpc>
              <a:buNone/>
            </a:pPr>
            <a:endParaRPr lang="en-US" sz="1700" dirty="0"/>
          </a:p>
          <a:p>
            <a:pPr indent="0" marL="0">
              <a:lnSpc>
                <a:spcPts val="2200"/>
              </a:lnSpc>
              <a:buNone/>
            </a:pPr>
            <a:r>
              <a:rPr lang="en-US" sz="1700" dirty="0">
                <a:solidFill>
                  <a:srgbClr val="7FC7FF"/>
                </a:solidFill>
                <a:latin typeface="Consolas" pitchFamily="34" charset="0"/>
                <a:ea typeface="Consolas" pitchFamily="34" charset="-122"/>
                <a:cs typeface="Consolas" pitchFamily="34" charset="-120"/>
              </a:rPr>
              <a:t>def handle_emoji_yes(text):</a:t>
            </a:r>
            <a:endParaRPr lang="en-US" sz="1700" dirty="0"/>
          </a:p>
          <a:p>
            <a:pPr indent="0" marL="0">
              <a:lnSpc>
                <a:spcPts val="2200"/>
              </a:lnSpc>
              <a:buNone/>
            </a:pPr>
            <a:r>
              <a:rPr lang="en-US" sz="1700" dirty="0">
                <a:solidFill>
                  <a:srgbClr val="8FA6B8"/>
                </a:solidFill>
                <a:latin typeface="Consolas" pitchFamily="34" charset="0"/>
                <a:ea typeface="Consolas" pitchFamily="34" charset="-122"/>
                <a:cs typeface="Consolas" pitchFamily="34" charset="-120"/>
              </a:rPr>
              <a:t>    """Track B: replace with description."""</a:t>
            </a:r>
            <a:endParaRPr lang="en-US" sz="1700" dirty="0"/>
          </a:p>
          <a:p>
            <a:pPr indent="0" marL="0">
              <a:lnSpc>
                <a:spcPts val="2200"/>
              </a:lnSpc>
              <a:buNone/>
            </a:pPr>
            <a:r>
              <a:rPr lang="en-US" sz="1700" dirty="0">
                <a:solidFill>
                  <a:srgbClr val="E8EEF4"/>
                </a:solidFill>
                <a:latin typeface="Consolas" pitchFamily="34" charset="0"/>
                <a:ea typeface="Consolas" pitchFamily="34" charset="-122"/>
                <a:cs typeface="Consolas" pitchFamily="34" charset="-120"/>
              </a:rPr>
              <a:t>    return demoji.replace_with_desc(</a:t>
            </a:r>
            <a:endParaRPr lang="en-US" sz="1700" dirty="0"/>
          </a:p>
          <a:p>
            <a:pPr indent="0" marL="0">
              <a:lnSpc>
                <a:spcPts val="2200"/>
              </a:lnSpc>
              <a:buNone/>
            </a:pPr>
            <a:r>
              <a:rPr lang="en-US" sz="1700" dirty="0">
                <a:solidFill>
                  <a:srgbClr val="E8EEF4"/>
                </a:solidFill>
                <a:latin typeface="Consolas" pitchFamily="34" charset="0"/>
                <a:ea typeface="Consolas" pitchFamily="34" charset="-122"/>
                <a:cs typeface="Consolas" pitchFamily="34" charset="-120"/>
              </a:rPr>
              <a:t>        str(text), sep=" ")</a:t>
            </a:r>
            <a:endParaRPr lang="en-US" sz="1700" dirty="0"/>
          </a:p>
        </p:txBody>
      </p:sp>
      <p:sp>
        <p:nvSpPr>
          <p:cNvPr id="8" name="Text 6"/>
          <p:cNvSpPr txBox="1"/>
          <p:nvPr/>
        </p:nvSpPr>
        <p:spPr>
          <a:xfrm>
            <a:off x="640080" y="4160520"/>
            <a:ext cx="6035040" cy="384048"/>
          </a:xfrm>
          <a:prstGeom prst="rect">
            <a:avLst/>
          </a:prstGeom>
          <a:noFill/>
          <a:ln/>
        </p:spPr>
        <p:txBody>
          <a:bodyPr wrap="square" lIns="0" tIns="0" rIns="0" bIns="0" rtlCol="0" anchor="t"/>
          <a:lstStyle/>
          <a:p>
            <a:pPr algn="l" indent="0" marL="0">
              <a:buNone/>
            </a:pPr>
            <a:r>
              <a:rPr lang="en-US" sz="1300" i="1" dirty="0">
                <a:solidFill>
                  <a:srgbClr val="5A6472"/>
                </a:solidFill>
                <a:latin typeface="Calibri" pitchFamily="34" charset="0"/>
                <a:ea typeface="Calibri" pitchFamily="34" charset="-122"/>
                <a:cs typeface="Calibri" pitchFamily="34" charset="-120"/>
              </a:rPr>
              <a:t>Code 1: The two functions that constitute the entire manipulation.</a:t>
            </a:r>
            <a:endParaRPr lang="en-US" sz="1300" dirty="0"/>
          </a:p>
        </p:txBody>
      </p:sp>
      <p:sp>
        <p:nvSpPr>
          <p:cNvPr id="9" name="Shape 7"/>
          <p:cNvSpPr/>
          <p:nvPr/>
        </p:nvSpPr>
        <p:spPr>
          <a:xfrm>
            <a:off x="6903720" y="1207008"/>
            <a:ext cx="4645152" cy="2880360"/>
          </a:xfrm>
          <a:prstGeom prst="roundRect">
            <a:avLst>
              <a:gd name="adj" fmla="val 2857"/>
            </a:avLst>
          </a:prstGeom>
          <a:solidFill>
            <a:srgbClr val="F4F7FA"/>
          </a:solidFill>
          <a:ln w="12700">
            <a:solidFill>
              <a:srgbClr val="D6DDE5"/>
            </a:solidFill>
            <a:prstDash val="solid"/>
          </a:ln>
        </p:spPr>
      </p:sp>
      <p:sp>
        <p:nvSpPr>
          <p:cNvPr id="10" name="Text 8"/>
          <p:cNvSpPr txBox="1"/>
          <p:nvPr/>
        </p:nvSpPr>
        <p:spPr>
          <a:xfrm>
            <a:off x="7150608" y="1417320"/>
            <a:ext cx="4160520" cy="2514600"/>
          </a:xfrm>
          <a:prstGeom prst="rect">
            <a:avLst/>
          </a:prstGeom>
          <a:noFill/>
          <a:ln/>
        </p:spPr>
        <p:txBody>
          <a:bodyPr wrap="square" lIns="0" tIns="0" rIns="0" bIns="0" rtlCol="0" anchor="t"/>
          <a:lstStyle/>
          <a:p>
            <a:pPr indent="0" marL="0">
              <a:lnSpc>
                <a:spcPts val="2300"/>
              </a:lnSpc>
              <a:buNone/>
            </a:pPr>
            <a:r>
              <a:rPr lang="en-US" sz="2200" b="1" dirty="0">
                <a:solidFill>
                  <a:srgbClr val="0C2340"/>
                </a:solidFill>
                <a:latin typeface="Calibri" pitchFamily="34" charset="0"/>
                <a:ea typeface="Calibri" pitchFamily="34" charset="-122"/>
                <a:cs typeface="Calibri" pitchFamily="34" charset="-120"/>
              </a:rPr>
              <a:t>Worked Example</a:t>
            </a:r>
            <a:endParaRPr lang="en-US" sz="2200" dirty="0"/>
          </a:p>
          <a:p>
            <a:pPr indent="0" marL="0">
              <a:lnSpc>
                <a:spcPts val="2300"/>
              </a:lnSpc>
              <a:buNone/>
            </a:pPr>
            <a:r>
              <a:rPr lang="en-US" sz="1800" dirty="0">
                <a:solidFill>
                  <a:srgbClr val="1A1A1A"/>
                </a:solidFill>
                <a:latin typeface="Calibri" pitchFamily="34" charset="0"/>
                <a:ea typeface="Calibri" pitchFamily="34" charset="-122"/>
                <a:cs typeface="Calibri" pitchFamily="34" charset="-120"/>
              </a:rPr>
              <a:t>In:  so happy today [tears of joy] u cant believe it</a:t>
            </a:r>
            <a:endParaRPr lang="en-US" sz="2200" dirty="0"/>
          </a:p>
          <a:p>
            <a:pPr indent="0" marL="0">
              <a:lnSpc>
                <a:spcPts val="2300"/>
              </a:lnSpc>
              <a:buNone/>
            </a:pPr>
            <a:endParaRPr lang="en-US" sz="2200" dirty="0"/>
          </a:p>
          <a:p>
            <a:pPr indent="0" marL="0">
              <a:lnSpc>
                <a:spcPts val="2300"/>
              </a:lnSpc>
              <a:buNone/>
            </a:pPr>
            <a:r>
              <a:rPr lang="en-US" sz="1800" b="1" dirty="0">
                <a:solidFill>
                  <a:srgbClr val="3B6EA5"/>
                </a:solidFill>
                <a:latin typeface="Calibri" pitchFamily="34" charset="0"/>
                <a:ea typeface="Calibri" pitchFamily="34" charset="-122"/>
                <a:cs typeface="Calibri" pitchFamily="34" charset="-120"/>
              </a:rPr>
              <a:t>A:  </a:t>
            </a:r>
            <a:pPr indent="0" marL="0">
              <a:lnSpc>
                <a:spcPts val="2300"/>
              </a:lnSpc>
              <a:buNone/>
            </a:pPr>
            <a:r>
              <a:rPr lang="en-US" sz="1800" dirty="0">
                <a:solidFill>
                  <a:srgbClr val="1A1A1A"/>
                </a:solidFill>
                <a:latin typeface="Calibri" pitchFamily="34" charset="0"/>
                <a:ea typeface="Calibri" pitchFamily="34" charset="-122"/>
                <a:cs typeface="Calibri" pitchFamily="34" charset="-120"/>
              </a:rPr>
              <a:t>so happy today you cannot believe it</a:t>
            </a:r>
            <a:endParaRPr lang="en-US" sz="2200" dirty="0"/>
          </a:p>
          <a:p>
            <a:pPr indent="0" marL="0">
              <a:lnSpc>
                <a:spcPts val="2300"/>
              </a:lnSpc>
              <a:buNone/>
            </a:pPr>
            <a:endParaRPr lang="en-US" sz="2200" dirty="0"/>
          </a:p>
          <a:p>
            <a:pPr indent="0" marL="0">
              <a:lnSpc>
                <a:spcPts val="2300"/>
              </a:lnSpc>
              <a:buNone/>
            </a:pPr>
            <a:r>
              <a:rPr lang="en-US" sz="1800" b="1" dirty="0">
                <a:solidFill>
                  <a:srgbClr val="B3512F"/>
                </a:solidFill>
                <a:latin typeface="Calibri" pitchFamily="34" charset="0"/>
                <a:ea typeface="Calibri" pitchFamily="34" charset="-122"/>
                <a:cs typeface="Calibri" pitchFamily="34" charset="-120"/>
              </a:rPr>
              <a:t>B:  </a:t>
            </a:r>
            <a:pPr indent="0" marL="0">
              <a:lnSpc>
                <a:spcPts val="2300"/>
              </a:lnSpc>
              <a:buNone/>
            </a:pPr>
            <a:r>
              <a:rPr lang="en-US" sz="1800" dirty="0">
                <a:solidFill>
                  <a:srgbClr val="1A1A1A"/>
                </a:solidFill>
                <a:latin typeface="Calibri" pitchFamily="34" charset="0"/>
                <a:ea typeface="Calibri" pitchFamily="34" charset="-122"/>
                <a:cs typeface="Calibri" pitchFamily="34" charset="-120"/>
              </a:rPr>
              <a:t>so happy today face with tear of joy you cannot believe it</a:t>
            </a:r>
            <a:endParaRPr lang="en-US" sz="2200" dirty="0"/>
          </a:p>
        </p:txBody>
      </p:sp>
      <p:sp>
        <p:nvSpPr>
          <p:cNvPr id="11" name="Shape 9"/>
          <p:cNvSpPr/>
          <p:nvPr/>
        </p:nvSpPr>
        <p:spPr>
          <a:xfrm>
            <a:off x="640080" y="4553712"/>
            <a:ext cx="10908792" cy="1170432"/>
          </a:xfrm>
          <a:prstGeom prst="roundRect">
            <a:avLst>
              <a:gd name="adj" fmla="val 7031"/>
            </a:avLst>
          </a:prstGeom>
          <a:solidFill>
            <a:srgbClr val="FDF1EC"/>
          </a:solidFill>
          <a:ln w="12700">
            <a:solidFill>
              <a:srgbClr val="D6DDE5"/>
            </a:solidFill>
            <a:prstDash val="solid"/>
          </a:ln>
        </p:spPr>
      </p:sp>
      <p:sp>
        <p:nvSpPr>
          <p:cNvPr id="12" name="Text 10"/>
          <p:cNvSpPr txBox="1"/>
          <p:nvPr/>
        </p:nvSpPr>
        <p:spPr>
          <a:xfrm>
            <a:off x="914400" y="4553712"/>
            <a:ext cx="10378440" cy="1170432"/>
          </a:xfrm>
          <a:prstGeom prst="rect">
            <a:avLst/>
          </a:prstGeom>
          <a:noFill/>
          <a:ln/>
        </p:spPr>
        <p:txBody>
          <a:bodyPr wrap="square" lIns="0" tIns="0" rIns="0" bIns="0" rtlCol="0" anchor="ctr"/>
          <a:lstStyle/>
          <a:p>
            <a:pPr indent="0" marL="0">
              <a:lnSpc>
                <a:spcPts val="2600"/>
              </a:lnSpc>
              <a:buNone/>
            </a:pPr>
            <a:r>
              <a:rPr lang="en-US" sz="2200" dirty="0">
                <a:solidFill>
                  <a:srgbClr val="1A1A1A"/>
                </a:solidFill>
                <a:latin typeface="Calibri" pitchFamily="34" charset="0"/>
                <a:ea typeface="Calibri" pitchFamily="34" charset="-122"/>
                <a:cs typeface="Calibri" pitchFamily="34" charset="-120"/>
              </a:rPr>
              <a:t>Stage 2 is the only operation that differs between the two tracks. Stages 1, 3, 4 and 5 are shared code, and 12.1% of training rows actually differ as a result.</a:t>
            </a:r>
            <a:endParaRPr lang="en-US"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26</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System Architecture III: Experimental Design</a:t>
            </a:r>
            <a:endParaRPr lang="en-US" sz="3200" dirty="0"/>
          </a:p>
        </p:txBody>
      </p:sp>
      <p:pic>
        <p:nvPicPr>
          <p:cNvPr id="6" name="Image 0" descr="D:/assigments_7_students/krish/figures/arch_design.png">    </p:cNvPr>
          <p:cNvPicPr>
            <a:picLocks noChangeAspect="1"/>
          </p:cNvPicPr>
          <p:nvPr/>
        </p:nvPicPr>
        <p:blipFill>
          <a:blip r:embed="rId1"/>
          <a:srcRect l="0" r="0" t="0" b="0"/>
          <a:stretch/>
        </p:blipFill>
        <p:spPr>
          <a:xfrm>
            <a:off x="640080" y="1207008"/>
            <a:ext cx="7086600" cy="4206240"/>
          </a:xfrm>
          <a:prstGeom prst="rect">
            <a:avLst/>
          </a:prstGeom>
        </p:spPr>
      </p:pic>
      <p:sp>
        <p:nvSpPr>
          <p:cNvPr id="7" name="Text 4"/>
          <p:cNvSpPr txBox="1"/>
          <p:nvPr/>
        </p:nvSpPr>
        <p:spPr>
          <a:xfrm>
            <a:off x="640080" y="5468112"/>
            <a:ext cx="7086600" cy="384048"/>
          </a:xfrm>
          <a:prstGeom prst="rect">
            <a:avLst/>
          </a:prstGeom>
          <a:noFill/>
          <a:ln/>
        </p:spPr>
        <p:txBody>
          <a:bodyPr wrap="square" lIns="0" tIns="0" rIns="0" bIns="0" rtlCol="0" anchor="t"/>
          <a:lstStyle/>
          <a:p>
            <a:pPr algn="l" indent="0" marL="0">
              <a:buNone/>
            </a:pPr>
            <a:r>
              <a:rPr lang="en-US" sz="1300" i="1" dirty="0">
                <a:solidFill>
                  <a:srgbClr val="5A6472"/>
                </a:solidFill>
                <a:latin typeface="Calibri" pitchFamily="34" charset="0"/>
                <a:ea typeface="Calibri" pitchFamily="34" charset="-122"/>
                <a:cs typeface="Calibri" pitchFamily="34" charset="-120"/>
              </a:rPr>
              <a:t>Figure 5: Two tracks crossed with two architectures, giving four conditions.</a:t>
            </a:r>
            <a:endParaRPr lang="en-US" sz="1300" dirty="0"/>
          </a:p>
        </p:txBody>
      </p:sp>
      <p:sp>
        <p:nvSpPr>
          <p:cNvPr id="8" name="Shape 5"/>
          <p:cNvSpPr/>
          <p:nvPr/>
        </p:nvSpPr>
        <p:spPr>
          <a:xfrm>
            <a:off x="7955280" y="1207008"/>
            <a:ext cx="3593592" cy="4206240"/>
          </a:xfrm>
          <a:prstGeom prst="roundRect">
            <a:avLst>
              <a:gd name="adj" fmla="val 2290"/>
            </a:avLst>
          </a:prstGeom>
          <a:solidFill>
            <a:srgbClr val="F4F7FA"/>
          </a:solidFill>
          <a:ln w="12700">
            <a:solidFill>
              <a:srgbClr val="D6DDE5"/>
            </a:solidFill>
            <a:prstDash val="solid"/>
          </a:ln>
        </p:spPr>
      </p:sp>
      <p:sp>
        <p:nvSpPr>
          <p:cNvPr id="9" name="Text 6"/>
          <p:cNvSpPr txBox="1"/>
          <p:nvPr/>
        </p:nvSpPr>
        <p:spPr>
          <a:xfrm>
            <a:off x="8202168" y="1426464"/>
            <a:ext cx="3108960" cy="3840480"/>
          </a:xfrm>
          <a:prstGeom prst="rect">
            <a:avLst/>
          </a:prstGeom>
          <a:noFill/>
          <a:ln/>
        </p:spPr>
        <p:txBody>
          <a:bodyPr wrap="square" lIns="0" tIns="0" rIns="0" bIns="0" rtlCol="0" anchor="t"/>
          <a:lstStyle/>
          <a:p>
            <a:pPr indent="0" marL="0">
              <a:lnSpc>
                <a:spcPts val="2000"/>
              </a:lnSpc>
              <a:buNone/>
            </a:pPr>
            <a:r>
              <a:rPr lang="en-US" sz="2000" b="1" dirty="0">
                <a:solidFill>
                  <a:srgbClr val="0C2340"/>
                </a:solidFill>
                <a:latin typeface="Calibri" pitchFamily="34" charset="0"/>
                <a:ea typeface="Calibri" pitchFamily="34" charset="-122"/>
                <a:cs typeface="Calibri" pitchFamily="34" charset="-120"/>
              </a:rPr>
              <a:t>Reading the Flowchart</a:t>
            </a:r>
            <a:endParaRPr lang="en-US" sz="2000" dirty="0"/>
          </a:p>
          <a:p>
            <a:pPr indent="0" marL="0">
              <a:lnSpc>
                <a:spcPts val="2000"/>
              </a:lnSpc>
              <a:buNone/>
            </a:pPr>
            <a:r>
              <a:rPr lang="en-US" sz="1700" dirty="0">
                <a:solidFill>
                  <a:srgbClr val="1A1A1A"/>
                </a:solidFill>
                <a:latin typeface="Calibri" pitchFamily="34" charset="0"/>
                <a:ea typeface="Calibri" pitchFamily="34" charset="-122"/>
                <a:cs typeface="Calibri" pitchFamily="34" charset="-120"/>
              </a:rPr>
              <a:t>One corpus splits into the two tracks. Each track trains both architectures, so the diagram is symmetrical by construction.</a:t>
            </a:r>
            <a:endParaRPr lang="en-US" sz="2000" dirty="0"/>
          </a:p>
          <a:p>
            <a:pPr indent="0" marL="0">
              <a:lnSpc>
                <a:spcPts val="2000"/>
              </a:lnSpc>
              <a:buNone/>
            </a:pPr>
            <a:endParaRPr lang="en-US" sz="2000" dirty="0"/>
          </a:p>
          <a:p>
            <a:pPr indent="0" marL="0">
              <a:lnSpc>
                <a:spcPts val="2000"/>
              </a:lnSpc>
              <a:buNone/>
            </a:pPr>
            <a:r>
              <a:rPr lang="en-US" sz="1700" dirty="0">
                <a:solidFill>
                  <a:srgbClr val="1A1A1A"/>
                </a:solidFill>
                <a:latin typeface="Calibri" pitchFamily="34" charset="0"/>
                <a:ea typeface="Calibri" pitchFamily="34" charset="-122"/>
                <a:cs typeface="Calibri" pitchFamily="34" charset="-120"/>
              </a:rPr>
              <a:t>Each branch runs the same two phases: a grid search over three configurations, then final training with a threshold sweep.</a:t>
            </a:r>
            <a:endParaRPr lang="en-US" sz="2000" dirty="0"/>
          </a:p>
          <a:p>
            <a:pPr indent="0" marL="0">
              <a:lnSpc>
                <a:spcPts val="2000"/>
              </a:lnSpc>
              <a:buNone/>
            </a:pPr>
            <a:endParaRPr lang="en-US" sz="2000" dirty="0"/>
          </a:p>
          <a:p>
            <a:pPr indent="0" marL="0">
              <a:lnSpc>
                <a:spcPts val="2000"/>
              </a:lnSpc>
              <a:buNone/>
            </a:pPr>
            <a:r>
              <a:rPr lang="en-US" sz="1700" dirty="0">
                <a:solidFill>
                  <a:srgbClr val="1A1A1A"/>
                </a:solidFill>
                <a:latin typeface="Calibri" pitchFamily="34" charset="0"/>
                <a:ea typeface="Calibri" pitchFamily="34" charset="-122"/>
                <a:cs typeface="Calibri" pitchFamily="34" charset="-120"/>
              </a:rPr>
              <a:t>The two grey boxes hold identical metrics. The arrow between them is the measurement this project exists to make.</a:t>
            </a:r>
            <a:endParaRPr lang="en-US" sz="2000" dirty="0"/>
          </a:p>
          <a:p>
            <a:pPr indent="0" marL="0">
              <a:lnSpc>
                <a:spcPts val="2000"/>
              </a:lnSpc>
              <a:buNone/>
            </a:pPr>
            <a:endParaRPr lang="en-US" sz="2000" dirty="0"/>
          </a:p>
          <a:p>
            <a:pPr indent="0" marL="0">
              <a:lnSpc>
                <a:spcPts val="2000"/>
              </a:lnSpc>
              <a:buNone/>
            </a:pPr>
            <a:r>
              <a:rPr lang="en-US" sz="1600" i="1" dirty="0">
                <a:solidFill>
                  <a:srgbClr val="5A6472"/>
                </a:solidFill>
                <a:latin typeface="Calibri" pitchFamily="34" charset="0"/>
                <a:ea typeface="Calibri" pitchFamily="34" charset="-122"/>
                <a:cs typeface="Calibri" pitchFamily="34" charset="-120"/>
              </a:rPr>
              <a:t>Held constant: corpus, splits, tokeniser, vocabulary, grid, loss, sweep and seed 42.</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27</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Testing and Validation</a:t>
            </a:r>
            <a:endParaRPr lang="en-US" sz="3200" dirty="0"/>
          </a:p>
        </p:txBody>
      </p:sp>
      <p:sp>
        <p:nvSpPr>
          <p:cNvPr id="6" name="Shape 4"/>
          <p:cNvSpPr/>
          <p:nvPr/>
        </p:nvSpPr>
        <p:spPr>
          <a:xfrm>
            <a:off x="640080" y="1207008"/>
            <a:ext cx="5394960" cy="4517136"/>
          </a:xfrm>
          <a:prstGeom prst="roundRect">
            <a:avLst>
              <a:gd name="adj" fmla="val 1822"/>
            </a:avLst>
          </a:prstGeom>
          <a:solidFill>
            <a:srgbClr val="F4F7FA"/>
          </a:solidFill>
          <a:ln w="12700">
            <a:solidFill>
              <a:srgbClr val="D6DDE5"/>
            </a:solidFill>
            <a:prstDash val="solid"/>
          </a:ln>
        </p:spPr>
      </p:sp>
      <p:sp>
        <p:nvSpPr>
          <p:cNvPr id="7" name="Text 5"/>
          <p:cNvSpPr txBox="1"/>
          <p:nvPr/>
        </p:nvSpPr>
        <p:spPr>
          <a:xfrm>
            <a:off x="886968" y="1444752"/>
            <a:ext cx="4892040" cy="4023360"/>
          </a:xfrm>
          <a:prstGeom prst="rect">
            <a:avLst/>
          </a:prstGeom>
          <a:noFill/>
          <a:ln/>
        </p:spPr>
        <p:txBody>
          <a:bodyPr wrap="square" lIns="0" tIns="0" rIns="0" bIns="0" rtlCol="0" anchor="t"/>
          <a:lstStyle/>
          <a:p>
            <a:pPr indent="0" marL="0">
              <a:lnSpc>
                <a:spcPts val="2400"/>
              </a:lnSpc>
              <a:spcAft>
                <a:spcPts val="500"/>
              </a:spcAft>
              <a:buNone/>
            </a:pPr>
            <a:r>
              <a:rPr lang="en-US" sz="2300" b="1" dirty="0">
                <a:solidFill>
                  <a:srgbClr val="0C2340"/>
                </a:solidFill>
                <a:latin typeface="Calibri" pitchFamily="34" charset="0"/>
                <a:ea typeface="Calibri" pitchFamily="34" charset="-122"/>
                <a:cs typeface="Calibri" pitchFamily="34" charset="-120"/>
              </a:rPr>
              <a:t>Four Levels of Testing</a:t>
            </a:r>
            <a:endParaRPr lang="en-US" sz="2300" dirty="0"/>
          </a:p>
          <a:p>
            <a:pPr indent="0" marL="0">
              <a:lnSpc>
                <a:spcPts val="2400"/>
              </a:lnSpc>
              <a:spcAft>
                <a:spcPts val="500"/>
              </a:spcAft>
              <a:buNone/>
            </a:pPr>
            <a:r>
              <a:rPr lang="en-US" sz="2000" b="1" dirty="0">
                <a:solidFill>
                  <a:srgbClr val="1A1A1A"/>
                </a:solidFill>
                <a:latin typeface="Calibri" pitchFamily="34" charset="0"/>
                <a:ea typeface="Calibri" pitchFamily="34" charset="-122"/>
                <a:cs typeface="Calibri" pitchFamily="34" charset="-120"/>
              </a:rPr>
              <a:t>Unit: </a:t>
            </a:r>
            <a:pPr indent="0" marL="0">
              <a:lnSpc>
                <a:spcPts val="2400"/>
              </a:lnSpc>
              <a:spcAft>
                <a:spcPts val="500"/>
              </a:spcAft>
              <a:buNone/>
            </a:pPr>
            <a:r>
              <a:rPr lang="en-US" sz="2000" dirty="0">
                <a:solidFill>
                  <a:srgbClr val="1A1A1A"/>
                </a:solidFill>
                <a:latin typeface="Calibri" pitchFamily="34" charset="0"/>
                <a:ea typeface="Calibri" pitchFamily="34" charset="-122"/>
                <a:cs typeface="Calibri" pitchFamily="34" charset="-120"/>
              </a:rPr>
              <a:t>functions checked against known outputs, and the pipeline against a stored fixture, so training and serving cannot drift apart.</a:t>
            </a:r>
            <a:endParaRPr lang="en-US" sz="2300" dirty="0"/>
          </a:p>
          <a:p>
            <a:pPr indent="0" marL="0">
              <a:lnSpc>
                <a:spcPts val="2400"/>
              </a:lnSpc>
              <a:spcAft>
                <a:spcPts val="500"/>
              </a:spcAft>
              <a:buNone/>
            </a:pPr>
            <a:r>
              <a:rPr lang="en-US" sz="2000" b="1" dirty="0">
                <a:solidFill>
                  <a:srgbClr val="1A1A1A"/>
                </a:solidFill>
                <a:latin typeface="Calibri" pitchFamily="34" charset="0"/>
                <a:ea typeface="Calibri" pitchFamily="34" charset="-122"/>
                <a:cs typeface="Calibri" pitchFamily="34" charset="-120"/>
              </a:rPr>
              <a:t>Integration: </a:t>
            </a:r>
            <a:pPr indent="0" marL="0">
              <a:lnSpc>
                <a:spcPts val="2400"/>
              </a:lnSpc>
              <a:spcAft>
                <a:spcPts val="500"/>
              </a:spcAft>
              <a:buNone/>
            </a:pPr>
            <a:r>
              <a:rPr lang="en-US" sz="2000" dirty="0">
                <a:solidFill>
                  <a:srgbClr val="1A1A1A"/>
                </a:solidFill>
                <a:latin typeface="Calibri" pitchFamily="34" charset="0"/>
                <a:ea typeface="Calibri" pitchFamily="34" charset="-122"/>
                <a:cs typeface="Calibri" pitchFamily="34" charset="-120"/>
              </a:rPr>
              <a:t>raw text to thresholded prediction, exercised end to end with stand-in models.</a:t>
            </a:r>
            <a:endParaRPr lang="en-US" sz="2300" dirty="0"/>
          </a:p>
          <a:p>
            <a:pPr indent="0" marL="0">
              <a:lnSpc>
                <a:spcPts val="2400"/>
              </a:lnSpc>
              <a:spcAft>
                <a:spcPts val="500"/>
              </a:spcAft>
              <a:buNone/>
            </a:pPr>
            <a:r>
              <a:rPr lang="en-US" sz="2000" b="1" dirty="0">
                <a:solidFill>
                  <a:srgbClr val="1A1A1A"/>
                </a:solidFill>
                <a:latin typeface="Calibri" pitchFamily="34" charset="0"/>
                <a:ea typeface="Calibri" pitchFamily="34" charset="-122"/>
                <a:cs typeface="Calibri" pitchFamily="34" charset="-120"/>
              </a:rPr>
              <a:t>System: </a:t>
            </a:r>
            <a:pPr indent="0" marL="0">
              <a:lnSpc>
                <a:spcPts val="2400"/>
              </a:lnSpc>
              <a:spcAft>
                <a:spcPts val="500"/>
              </a:spcAft>
              <a:buNone/>
            </a:pPr>
            <a:r>
              <a:rPr lang="en-US" sz="2000" dirty="0">
                <a:solidFill>
                  <a:srgbClr val="1A1A1A"/>
                </a:solidFill>
                <a:latin typeface="Calibri" pitchFamily="34" charset="0"/>
                <a:ea typeface="Calibri" pitchFamily="34" charset="-122"/>
                <a:cs typeface="Calibri" pitchFamily="34" charset="-120"/>
              </a:rPr>
              <a:t>all four notebooks run in order on the real corpus; row counts and artefact writes matched.</a:t>
            </a:r>
            <a:endParaRPr lang="en-US" sz="2300" dirty="0"/>
          </a:p>
          <a:p>
            <a:pPr indent="0" marL="0">
              <a:lnSpc>
                <a:spcPts val="2400"/>
              </a:lnSpc>
              <a:spcAft>
                <a:spcPts val="500"/>
              </a:spcAft>
              <a:buNone/>
            </a:pPr>
            <a:r>
              <a:rPr lang="en-US" sz="2000" b="1" dirty="0">
                <a:solidFill>
                  <a:srgbClr val="1A1A1A"/>
                </a:solidFill>
                <a:latin typeface="Calibri" pitchFamily="34" charset="0"/>
                <a:ea typeface="Calibri" pitchFamily="34" charset="-122"/>
                <a:cs typeface="Calibri" pitchFamily="34" charset="-120"/>
              </a:rPr>
              <a:t>Acceptance: </a:t>
            </a:r>
            <a:pPr indent="0" marL="0">
              <a:lnSpc>
                <a:spcPts val="2400"/>
              </a:lnSpc>
              <a:spcAft>
                <a:spcPts val="500"/>
              </a:spcAft>
              <a:buNone/>
            </a:pPr>
            <a:r>
              <a:rPr lang="en-US" sz="2000" dirty="0">
                <a:solidFill>
                  <a:srgbClr val="1A1A1A"/>
                </a:solidFill>
                <a:latin typeface="Calibri" pitchFamily="34" charset="0"/>
                <a:ea typeface="Calibri" pitchFamily="34" charset="-122"/>
                <a:cs typeface="Calibri" pitchFamily="34" charset="-120"/>
              </a:rPr>
              <a:t>the application driven through every page against four acceptance criteria. All four held.</a:t>
            </a:r>
            <a:endParaRPr lang="en-US" sz="2300" dirty="0"/>
          </a:p>
        </p:txBody>
      </p:sp>
      <p:sp>
        <p:nvSpPr>
          <p:cNvPr id="8" name="Text 6"/>
          <p:cNvSpPr txBox="1"/>
          <p:nvPr/>
        </p:nvSpPr>
        <p:spPr>
          <a:xfrm>
            <a:off x="6355080" y="1188720"/>
            <a:ext cx="5193792" cy="310896"/>
          </a:xfrm>
          <a:prstGeom prst="rect">
            <a:avLst/>
          </a:prstGeom>
          <a:noFill/>
          <a:ln/>
        </p:spPr>
        <p:txBody>
          <a:bodyPr wrap="square" lIns="0" tIns="0" rIns="0" bIns="0"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Table 4: Selected system test cases.</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355080" y="1536192"/>
          <a:ext cx="5193792" cy="914400"/>
        </p:xfrm>
        <a:graphic>
          <a:graphicData uri="http://schemas.openxmlformats.org/drawingml/2006/table">
            <a:tbl>
              <a:tblPr/>
              <a:tblGrid>
                <a:gridCol w="685800"/>
                <a:gridCol w="3502152"/>
                <a:gridCol w="1005840"/>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ID</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Test</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Result</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TC2</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Pipeline matches the training definition</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Pass</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TC3</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Tracks differ only where emoji occur</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Pass</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TC9</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Classify emoji-only input</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Pass</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TC11</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Starts with no manual setup</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Pass</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bl>
          </a:graphicData>
        </a:graphic>
      </p:graphicFrame>
      <p:sp>
        <p:nvSpPr>
          <p:cNvPr id="10" name="Shape 7"/>
          <p:cNvSpPr/>
          <p:nvPr/>
        </p:nvSpPr>
        <p:spPr>
          <a:xfrm>
            <a:off x="6355080" y="4224528"/>
            <a:ext cx="5193792" cy="1499616"/>
          </a:xfrm>
          <a:prstGeom prst="roundRect">
            <a:avLst>
              <a:gd name="adj" fmla="val 5488"/>
            </a:avLst>
          </a:prstGeom>
          <a:solidFill>
            <a:srgbClr val="FDF1EC"/>
          </a:solidFill>
          <a:ln w="12700">
            <a:solidFill>
              <a:srgbClr val="D6DDE5"/>
            </a:solidFill>
            <a:prstDash val="solid"/>
          </a:ln>
        </p:spPr>
      </p:sp>
      <p:sp>
        <p:nvSpPr>
          <p:cNvPr id="11" name="Text 8"/>
          <p:cNvSpPr txBox="1"/>
          <p:nvPr/>
        </p:nvSpPr>
        <p:spPr>
          <a:xfrm>
            <a:off x="6601968" y="4343400"/>
            <a:ext cx="4709160" cy="1280160"/>
          </a:xfrm>
          <a:prstGeom prst="rect">
            <a:avLst/>
          </a:prstGeom>
          <a:noFill/>
          <a:ln/>
        </p:spPr>
        <p:txBody>
          <a:bodyPr wrap="square" lIns="0" tIns="0" rIns="0" bIns="0" rtlCol="0" anchor="t"/>
          <a:lstStyle/>
          <a:p>
            <a:pPr indent="0" marL="0">
              <a:lnSpc>
                <a:spcPts val="2300"/>
              </a:lnSpc>
              <a:buNone/>
            </a:pPr>
            <a:r>
              <a:rPr lang="en-US" sz="2000" b="1" dirty="0">
                <a:solidFill>
                  <a:srgbClr val="B3512F"/>
                </a:solidFill>
                <a:latin typeface="Calibri" pitchFamily="34" charset="0"/>
                <a:ea typeface="Calibri" pitchFamily="34" charset="-122"/>
                <a:cs typeface="Calibri" pitchFamily="34" charset="-120"/>
              </a:rPr>
              <a:t>Outcome</a:t>
            </a:r>
            <a:endParaRPr lang="en-US" sz="2000" dirty="0"/>
          </a:p>
          <a:p>
            <a:pPr indent="0" marL="0">
              <a:lnSpc>
                <a:spcPts val="2300"/>
              </a:lnSpc>
              <a:buNone/>
            </a:pPr>
            <a:r>
              <a:rPr lang="en-US" sz="1900" dirty="0">
                <a:solidFill>
                  <a:srgbClr val="1A1A1A"/>
                </a:solidFill>
                <a:latin typeface="Calibri" pitchFamily="34" charset="0"/>
                <a:ea typeface="Calibri" pitchFamily="34" charset="-122"/>
                <a:cs typeface="Calibri" pitchFamily="34" charset="-120"/>
              </a:rPr>
              <a:t>Twelve system test cases, all passed. Two defects were found in integration testing and both were fixed and retested.</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28</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Schedule: Planned Against Actual</a:t>
            </a:r>
            <a:endParaRPr lang="en-US" sz="3200" dirty="0"/>
          </a:p>
        </p:txBody>
      </p:sp>
      <p:pic>
        <p:nvPicPr>
          <p:cNvPr id="6" name="Image 0" descr="D:/assigments_7_students/krish/figures/gantt_planned_vs_actual.png">    </p:cNvPr>
          <p:cNvPicPr>
            <a:picLocks noChangeAspect="1"/>
          </p:cNvPicPr>
          <p:nvPr/>
        </p:nvPicPr>
        <p:blipFill>
          <a:blip r:embed="rId1"/>
          <a:srcRect l="0" r="0" t="0" b="0"/>
          <a:stretch/>
        </p:blipFill>
        <p:spPr>
          <a:xfrm>
            <a:off x="640080" y="1188720"/>
            <a:ext cx="7818120" cy="4343400"/>
          </a:xfrm>
          <a:prstGeom prst="rect">
            <a:avLst/>
          </a:prstGeom>
        </p:spPr>
      </p:pic>
      <p:sp>
        <p:nvSpPr>
          <p:cNvPr id="7" name="Text 4"/>
          <p:cNvSpPr txBox="1"/>
          <p:nvPr/>
        </p:nvSpPr>
        <p:spPr>
          <a:xfrm>
            <a:off x="640080" y="5559552"/>
            <a:ext cx="7818120" cy="384048"/>
          </a:xfrm>
          <a:prstGeom prst="rect">
            <a:avLst/>
          </a:prstGeom>
          <a:noFill/>
          <a:ln/>
        </p:spPr>
        <p:txBody>
          <a:bodyPr wrap="square" lIns="0" tIns="0" rIns="0" bIns="0" rtlCol="0" anchor="t"/>
          <a:lstStyle/>
          <a:p>
            <a:pPr algn="l" indent="0" marL="0">
              <a:buNone/>
            </a:pPr>
            <a:r>
              <a:rPr lang="en-US" sz="1300" i="1" dirty="0">
                <a:solidFill>
                  <a:srgbClr val="5A6472"/>
                </a:solidFill>
                <a:latin typeface="Calibri" pitchFamily="34" charset="0"/>
                <a:ea typeface="Calibri" pitchFamily="34" charset="-122"/>
                <a:cs typeface="Calibri" pitchFamily="34" charset="-120"/>
              </a:rPr>
              <a:t>Figure 6: Planned schedule against actual execution, by project week.</a:t>
            </a:r>
            <a:endParaRPr lang="en-US" sz="1300" dirty="0"/>
          </a:p>
        </p:txBody>
      </p:sp>
      <p:sp>
        <p:nvSpPr>
          <p:cNvPr id="8" name="Shape 5"/>
          <p:cNvSpPr/>
          <p:nvPr/>
        </p:nvSpPr>
        <p:spPr>
          <a:xfrm>
            <a:off x="8686800" y="1188720"/>
            <a:ext cx="2862072" cy="4343400"/>
          </a:xfrm>
          <a:prstGeom prst="roundRect">
            <a:avLst>
              <a:gd name="adj" fmla="val 2875"/>
            </a:avLst>
          </a:prstGeom>
          <a:solidFill>
            <a:srgbClr val="F4F7FA"/>
          </a:solidFill>
          <a:ln w="12700">
            <a:solidFill>
              <a:srgbClr val="D6DDE5"/>
            </a:solidFill>
            <a:prstDash val="solid"/>
          </a:ln>
        </p:spPr>
      </p:sp>
      <p:sp>
        <p:nvSpPr>
          <p:cNvPr id="9" name="Text 6"/>
          <p:cNvSpPr txBox="1"/>
          <p:nvPr/>
        </p:nvSpPr>
        <p:spPr>
          <a:xfrm>
            <a:off x="8933688" y="1408176"/>
            <a:ext cx="2377440" cy="3931920"/>
          </a:xfrm>
          <a:prstGeom prst="rect">
            <a:avLst/>
          </a:prstGeom>
          <a:noFill/>
          <a:ln/>
        </p:spPr>
        <p:txBody>
          <a:bodyPr wrap="square" lIns="0" tIns="0" rIns="0" bIns="0" rtlCol="0" anchor="t"/>
          <a:lstStyle/>
          <a:p>
            <a:pPr indent="0" marL="0">
              <a:lnSpc>
                <a:spcPts val="2000"/>
              </a:lnSpc>
              <a:spcAft>
                <a:spcPts val="300"/>
              </a:spcAft>
              <a:buNone/>
            </a:pPr>
            <a:r>
              <a:rPr lang="en-US" sz="2000" b="1" dirty="0">
                <a:solidFill>
                  <a:srgbClr val="0C2340"/>
                </a:solidFill>
                <a:latin typeface="Calibri" pitchFamily="34" charset="0"/>
                <a:ea typeface="Calibri" pitchFamily="34" charset="-122"/>
                <a:cs typeface="Calibri" pitchFamily="34" charset="-120"/>
              </a:rPr>
              <a:t>What Slipped</a:t>
            </a:r>
            <a:endParaRPr lang="en-US" sz="2000" dirty="0"/>
          </a:p>
          <a:p>
            <a:pPr marL="342900" indent="-342900">
              <a:lnSpc>
                <a:spcPts val="2000"/>
              </a:lnSpc>
              <a:spcAft>
                <a:spcPts val="300"/>
              </a:spcAft>
              <a:buSzPct val="100000"/>
              <a:buChar char="•"/>
            </a:pPr>
            <a:r>
              <a:rPr lang="en-US" sz="1700" dirty="0">
                <a:solidFill>
                  <a:srgbClr val="1A1A1A"/>
                </a:solidFill>
                <a:latin typeface="Calibri" pitchFamily="34" charset="0"/>
                <a:ea typeface="Calibri" pitchFamily="34" charset="-122"/>
                <a:cs typeface="Calibri" pitchFamily="34" charset="-120"/>
              </a:rPr>
              <a:t>9 of 11 stages overran, most by one week.</a:t>
            </a:r>
            <a:endParaRPr lang="en-US" sz="2000" dirty="0"/>
          </a:p>
          <a:p>
            <a:pPr marL="342900" indent="-342900">
              <a:lnSpc>
                <a:spcPts val="2000"/>
              </a:lnSpc>
              <a:spcAft>
                <a:spcPts val="300"/>
              </a:spcAft>
              <a:buSzPct val="100000"/>
              <a:buChar char="•"/>
            </a:pPr>
            <a:r>
              <a:rPr lang="en-US" sz="1700" dirty="0">
                <a:solidFill>
                  <a:srgbClr val="1A1A1A"/>
                </a:solidFill>
                <a:latin typeface="Calibri" pitchFamily="34" charset="0"/>
                <a:ea typeface="Calibri" pitchFamily="34" charset="-122"/>
                <a:cs typeface="Calibri" pitchFamily="34" charset="-120"/>
              </a:rPr>
              <a:t>Hyper-parameter training slipped most, by two weeks, because GPU runs ran long.</a:t>
            </a:r>
            <a:endParaRPr lang="en-US" sz="2000" dirty="0"/>
          </a:p>
          <a:p>
            <a:pPr marL="342900" indent="-342900">
              <a:lnSpc>
                <a:spcPts val="2000"/>
              </a:lnSpc>
              <a:spcAft>
                <a:spcPts val="300"/>
              </a:spcAft>
              <a:buSzPct val="100000"/>
              <a:buChar char="•"/>
            </a:pPr>
            <a:r>
              <a:rPr lang="en-US" sz="1700" dirty="0">
                <a:solidFill>
                  <a:srgbClr val="1A1A1A"/>
                </a:solidFill>
                <a:latin typeface="Calibri" pitchFamily="34" charset="0"/>
                <a:ea typeface="Calibri" pitchFamily="34" charset="-122"/>
                <a:cs typeface="Calibri" pitchFamily="34" charset="-120"/>
              </a:rPr>
              <a:t>Ethics approval and report writing ran to plan.</a:t>
            </a:r>
            <a:endParaRPr lang="en-US" sz="2000" dirty="0"/>
          </a:p>
          <a:p>
            <a:pPr indent="0" marL="0">
              <a:lnSpc>
                <a:spcPts val="2000"/>
              </a:lnSpc>
              <a:spcAft>
                <a:spcPts val="300"/>
              </a:spcAft>
              <a:buNone/>
            </a:pPr>
            <a:endParaRPr lang="en-US" sz="2000" dirty="0"/>
          </a:p>
          <a:p>
            <a:pPr indent="0" marL="0">
              <a:lnSpc>
                <a:spcPts val="2000"/>
              </a:lnSpc>
              <a:spcAft>
                <a:spcPts val="300"/>
              </a:spcAft>
              <a:buNone/>
            </a:pPr>
            <a:r>
              <a:rPr lang="en-US" sz="1700" i="1" dirty="0">
                <a:solidFill>
                  <a:srgbClr val="5A6472"/>
                </a:solidFill>
                <a:latin typeface="Calibri" pitchFamily="34" charset="0"/>
                <a:ea typeface="Calibri" pitchFamily="34" charset="-122"/>
                <a:cs typeface="Calibri" pitchFamily="34" charset="-120"/>
              </a:rPr>
              <a:t>Week 17 held, because slack in the writing window absorbed the earlier slip.</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29</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Prototype: Comparing the Two Tracks</a:t>
            </a:r>
            <a:endParaRPr lang="en-US" sz="3200" dirty="0"/>
          </a:p>
        </p:txBody>
      </p:sp>
      <p:pic>
        <p:nvPicPr>
          <p:cNvPr id="6" name="Image 0" descr="D:/assigments_7_students/krish/figures/app_tracks.png">    </p:cNvPr>
          <p:cNvPicPr>
            <a:picLocks noChangeAspect="1"/>
          </p:cNvPicPr>
          <p:nvPr/>
        </p:nvPicPr>
        <p:blipFill>
          <a:blip r:embed="rId1"/>
          <a:srcRect l="0" r="0" t="0" b="0"/>
          <a:stretch/>
        </p:blipFill>
        <p:spPr>
          <a:xfrm>
            <a:off x="640080" y="1207008"/>
            <a:ext cx="6675120" cy="4206240"/>
          </a:xfrm>
          <a:prstGeom prst="rect">
            <a:avLst/>
          </a:prstGeom>
        </p:spPr>
      </p:pic>
      <p:sp>
        <p:nvSpPr>
          <p:cNvPr id="7" name="Text 4"/>
          <p:cNvSpPr txBox="1"/>
          <p:nvPr/>
        </p:nvSpPr>
        <p:spPr>
          <a:xfrm>
            <a:off x="640080" y="5468112"/>
            <a:ext cx="6675120" cy="384048"/>
          </a:xfrm>
          <a:prstGeom prst="rect">
            <a:avLst/>
          </a:prstGeom>
          <a:noFill/>
          <a:ln/>
        </p:spPr>
        <p:txBody>
          <a:bodyPr wrap="square" lIns="0" tIns="0" rIns="0" bIns="0" rtlCol="0" anchor="t"/>
          <a:lstStyle/>
          <a:p>
            <a:pPr algn="l" indent="0" marL="0">
              <a:buNone/>
            </a:pPr>
            <a:r>
              <a:rPr lang="en-US" sz="1300" i="1" dirty="0">
                <a:solidFill>
                  <a:srgbClr val="5A6472"/>
                </a:solidFill>
                <a:latin typeface="Calibri" pitchFamily="34" charset="0"/>
                <a:ea typeface="Calibri" pitchFamily="34" charset="-122"/>
                <a:cs typeface="Calibri" pitchFamily="34" charset="-120"/>
              </a:rPr>
              <a:t>Figure 7: The application showing both preprocessing tracks side by side.</a:t>
            </a:r>
            <a:endParaRPr lang="en-US" sz="1300" dirty="0"/>
          </a:p>
        </p:txBody>
      </p:sp>
      <p:sp>
        <p:nvSpPr>
          <p:cNvPr id="8" name="Shape 5"/>
          <p:cNvSpPr/>
          <p:nvPr/>
        </p:nvSpPr>
        <p:spPr>
          <a:xfrm>
            <a:off x="7543800" y="1207008"/>
            <a:ext cx="4005072" cy="4206240"/>
          </a:xfrm>
          <a:prstGeom prst="roundRect">
            <a:avLst>
              <a:gd name="adj" fmla="val 2055"/>
            </a:avLst>
          </a:prstGeom>
          <a:solidFill>
            <a:srgbClr val="F4F7FA"/>
          </a:solidFill>
          <a:ln w="12700">
            <a:solidFill>
              <a:srgbClr val="D6DDE5"/>
            </a:solidFill>
            <a:prstDash val="solid"/>
          </a:ln>
        </p:spPr>
      </p:sp>
      <p:sp>
        <p:nvSpPr>
          <p:cNvPr id="9" name="Text 6"/>
          <p:cNvSpPr txBox="1"/>
          <p:nvPr/>
        </p:nvSpPr>
        <p:spPr>
          <a:xfrm>
            <a:off x="7790688" y="1426464"/>
            <a:ext cx="3520440" cy="3840480"/>
          </a:xfrm>
          <a:prstGeom prst="rect">
            <a:avLst/>
          </a:prstGeom>
          <a:noFill/>
          <a:ln/>
        </p:spPr>
        <p:txBody>
          <a:bodyPr wrap="square" lIns="0" tIns="0" rIns="0" bIns="0" rtlCol="0" anchor="t"/>
          <a:lstStyle/>
          <a:p>
            <a:pPr indent="0" marL="0">
              <a:lnSpc>
                <a:spcPts val="2100"/>
              </a:lnSpc>
              <a:spcAft>
                <a:spcPts val="400"/>
              </a:spcAft>
              <a:buNone/>
            </a:pPr>
            <a:r>
              <a:rPr lang="en-US" sz="2000" b="1" dirty="0">
                <a:solidFill>
                  <a:srgbClr val="0C2340"/>
                </a:solidFill>
                <a:latin typeface="Calibri" pitchFamily="34" charset="0"/>
                <a:ea typeface="Calibri" pitchFamily="34" charset="-122"/>
                <a:cs typeface="Calibri" pitchFamily="34" charset="-120"/>
              </a:rPr>
              <a:t>How It Closes the Loop</a:t>
            </a:r>
            <a:endParaRPr lang="en-US" sz="2000" dirty="0"/>
          </a:p>
          <a:p>
            <a:pPr marL="342900" indent="-342900">
              <a:lnSpc>
                <a:spcPts val="2100"/>
              </a:lnSpc>
              <a:spcAft>
                <a:spcPts val="400"/>
              </a:spcAft>
              <a:buSzPct val="100000"/>
              <a:buChar char="•"/>
            </a:pPr>
            <a:r>
              <a:rPr lang="en-US" sz="1700" dirty="0">
                <a:solidFill>
                  <a:srgbClr val="1A1A1A"/>
                </a:solidFill>
                <a:latin typeface="Calibri" pitchFamily="34" charset="0"/>
                <a:ea typeface="Calibri" pitchFamily="34" charset="-122"/>
                <a:cs typeface="Calibri" pitchFamily="34" charset="-120"/>
              </a:rPr>
              <a:t>It loads the same models and thresholds that produced the reported results, so what the user sees is what was evaluated.</a:t>
            </a:r>
            <a:endParaRPr lang="en-US" sz="2000" dirty="0"/>
          </a:p>
          <a:p>
            <a:pPr marL="342900" indent="-342900">
              <a:lnSpc>
                <a:spcPts val="2100"/>
              </a:lnSpc>
              <a:spcAft>
                <a:spcPts val="400"/>
              </a:spcAft>
              <a:buSzPct val="100000"/>
              <a:buChar char="•"/>
            </a:pPr>
            <a:r>
              <a:rPr lang="en-US" sz="1700" dirty="0">
                <a:solidFill>
                  <a:srgbClr val="1A1A1A"/>
                </a:solidFill>
                <a:latin typeface="Calibri" pitchFamily="34" charset="0"/>
                <a:ea typeface="Calibri" pitchFamily="34" charset="-122"/>
                <a:cs typeface="Calibri" pitchFamily="34" charset="-120"/>
              </a:rPr>
              <a:t>It shows which labels appeared only when emoji were kept, and which were lost.</a:t>
            </a:r>
            <a:endParaRPr lang="en-US" sz="2000" dirty="0"/>
          </a:p>
          <a:p>
            <a:pPr marL="342900" indent="-342900">
              <a:lnSpc>
                <a:spcPts val="2100"/>
              </a:lnSpc>
              <a:spcAft>
                <a:spcPts val="400"/>
              </a:spcAft>
              <a:buSzPct val="100000"/>
              <a:buChar char="•"/>
            </a:pPr>
            <a:r>
              <a:rPr lang="en-US" sz="1700" dirty="0">
                <a:solidFill>
                  <a:srgbClr val="1A1A1A"/>
                </a:solidFill>
                <a:latin typeface="Calibri" pitchFamily="34" charset="0"/>
                <a:ea typeface="Calibri" pitchFamily="34" charset="-122"/>
                <a:cs typeface="Calibri" pitchFamily="34" charset="-120"/>
              </a:rPr>
              <a:t>The probability chart puts both tracks against the tuned threshold.</a:t>
            </a:r>
            <a:endParaRPr lang="en-US" sz="2000" dirty="0"/>
          </a:p>
          <a:p>
            <a:pPr marL="342900" indent="-342900">
              <a:lnSpc>
                <a:spcPts val="2100"/>
              </a:lnSpc>
              <a:spcAft>
                <a:spcPts val="400"/>
              </a:spcAft>
              <a:buSzPct val="100000"/>
              <a:buChar char="•"/>
            </a:pPr>
            <a:r>
              <a:rPr lang="en-US" sz="1700" dirty="0">
                <a:solidFill>
                  <a:srgbClr val="1A1A1A"/>
                </a:solidFill>
                <a:latin typeface="Calibri" pitchFamily="34" charset="0"/>
                <a:ea typeface="Calibri" pitchFamily="34" charset="-122"/>
                <a:cs typeface="Calibri" pitchFamily="34" charset="-120"/>
              </a:rPr>
              <a:t>The pipeline view makes the single fork visible for any text supplied.</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2340"/>
        </a:solidFill>
      </p:bgPr>
    </p:bg>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9FB3C8"/>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9FB3C8"/>
                </a:solidFill>
                <a:latin typeface="Calibri" pitchFamily="34" charset="0"/>
                <a:ea typeface="Calibri" pitchFamily="34" charset="-122"/>
                <a:cs typeface="Calibri" pitchFamily="34" charset="-120"/>
              </a:rPr>
              <a:t>30</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9FB3C8"/>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822960" y="1965960"/>
            <a:ext cx="2011680" cy="1737360"/>
          </a:xfrm>
          <a:prstGeom prst="rect">
            <a:avLst/>
          </a:prstGeom>
          <a:noFill/>
          <a:ln/>
        </p:spPr>
        <p:txBody>
          <a:bodyPr wrap="square" lIns="0" tIns="0" rIns="0" bIns="0" rtlCol="0" anchor="ctr"/>
          <a:lstStyle/>
          <a:p>
            <a:pPr algn="l" indent="0" marL="0">
              <a:buNone/>
            </a:pPr>
            <a:r>
              <a:rPr lang="en-US" sz="9600" b="1" dirty="0">
                <a:solidFill>
                  <a:srgbClr val="B3512F"/>
                </a:solidFill>
                <a:latin typeface="Calibri" pitchFamily="34" charset="0"/>
                <a:ea typeface="Calibri" pitchFamily="34" charset="-122"/>
                <a:cs typeface="Calibri" pitchFamily="34" charset="-120"/>
              </a:rPr>
              <a:t>6</a:t>
            </a:r>
            <a:endParaRPr lang="en-US" sz="9600" dirty="0"/>
          </a:p>
        </p:txBody>
      </p:sp>
      <p:sp>
        <p:nvSpPr>
          <p:cNvPr id="6" name="Text 4"/>
          <p:cNvSpPr txBox="1"/>
          <p:nvPr/>
        </p:nvSpPr>
        <p:spPr>
          <a:xfrm>
            <a:off x="2834640" y="1965960"/>
            <a:ext cx="8503920" cy="1737360"/>
          </a:xfrm>
          <a:prstGeom prst="rect">
            <a:avLst/>
          </a:prstGeom>
          <a:noFill/>
          <a:ln/>
        </p:spPr>
        <p:txBody>
          <a:bodyPr wrap="square" lIns="0" tIns="0" rIns="0" bIns="0" rtlCol="0" anchor="ctr"/>
          <a:lstStyle/>
          <a:p>
            <a:pPr algn="l" indent="0" marL="0">
              <a:buNone/>
            </a:pPr>
            <a:r>
              <a:rPr lang="en-US" sz="4400" b="1" dirty="0">
                <a:solidFill>
                  <a:srgbClr val="FFFFFF"/>
                </a:solidFill>
                <a:latin typeface="Calibri" pitchFamily="34" charset="0"/>
                <a:ea typeface="Calibri" pitchFamily="34" charset="-122"/>
                <a:cs typeface="Calibri" pitchFamily="34" charset="-120"/>
              </a:rPr>
              <a:t>Results</a:t>
            </a:r>
            <a:endParaRPr lang="en-US" sz="4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31</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Corpus Profile and Emoji Density</a:t>
            </a:r>
            <a:endParaRPr lang="en-US" sz="3200" dirty="0"/>
          </a:p>
        </p:txBody>
      </p:sp>
      <p:pic>
        <p:nvPicPr>
          <p:cNvPr id="6" name="Image 0" descr="D:/assigments_7_students/krish/figures/label_distribution.png">    </p:cNvPr>
          <p:cNvPicPr>
            <a:picLocks noChangeAspect="1"/>
          </p:cNvPicPr>
          <p:nvPr/>
        </p:nvPicPr>
        <p:blipFill>
          <a:blip r:embed="rId1"/>
          <a:srcRect l="0" r="0" t="0" b="0"/>
          <a:stretch/>
        </p:blipFill>
        <p:spPr>
          <a:xfrm>
            <a:off x="640080" y="1298448"/>
            <a:ext cx="6858000" cy="3090672"/>
          </a:xfrm>
          <a:prstGeom prst="rect">
            <a:avLst/>
          </a:prstGeom>
        </p:spPr>
      </p:pic>
      <p:sp>
        <p:nvSpPr>
          <p:cNvPr id="7" name="Text 4"/>
          <p:cNvSpPr txBox="1"/>
          <p:nvPr/>
        </p:nvSpPr>
        <p:spPr>
          <a:xfrm>
            <a:off x="640080" y="4434840"/>
            <a:ext cx="6858000" cy="384048"/>
          </a:xfrm>
          <a:prstGeom prst="rect">
            <a:avLst/>
          </a:prstGeom>
          <a:noFill/>
          <a:ln/>
        </p:spPr>
        <p:txBody>
          <a:bodyPr wrap="square" lIns="0" tIns="0" rIns="0" bIns="0" rtlCol="0" anchor="t"/>
          <a:lstStyle/>
          <a:p>
            <a:pPr algn="l" indent="0" marL="0">
              <a:buNone/>
            </a:pPr>
            <a:r>
              <a:rPr lang="en-US" sz="1300" i="1" dirty="0">
                <a:solidFill>
                  <a:srgbClr val="5A6472"/>
                </a:solidFill>
                <a:latin typeface="Calibri" pitchFamily="34" charset="0"/>
                <a:ea typeface="Calibri" pitchFamily="34" charset="-122"/>
                <a:cs typeface="Calibri" pitchFamily="34" charset="-120"/>
              </a:rPr>
              <a:t>Figure 8: Label distribution across the eleven emotions, training split.</a:t>
            </a:r>
            <a:endParaRPr lang="en-US" sz="1300" dirty="0"/>
          </a:p>
        </p:txBody>
      </p:sp>
      <p:sp>
        <p:nvSpPr>
          <p:cNvPr id="8" name="Shape 5"/>
          <p:cNvSpPr/>
          <p:nvPr/>
        </p:nvSpPr>
        <p:spPr>
          <a:xfrm>
            <a:off x="640080" y="4937760"/>
            <a:ext cx="6858000" cy="786384"/>
          </a:xfrm>
          <a:prstGeom prst="roundRect">
            <a:avLst>
              <a:gd name="adj" fmla="val 10465"/>
            </a:avLst>
          </a:prstGeom>
          <a:solidFill>
            <a:srgbClr val="FDF1EC"/>
          </a:solidFill>
          <a:ln w="12700">
            <a:solidFill>
              <a:srgbClr val="D6DDE5"/>
            </a:solidFill>
            <a:prstDash val="solid"/>
          </a:ln>
        </p:spPr>
      </p:sp>
      <p:sp>
        <p:nvSpPr>
          <p:cNvPr id="9" name="Text 6"/>
          <p:cNvSpPr txBox="1"/>
          <p:nvPr/>
        </p:nvSpPr>
        <p:spPr>
          <a:xfrm>
            <a:off x="868680" y="4937760"/>
            <a:ext cx="6400800" cy="786384"/>
          </a:xfrm>
          <a:prstGeom prst="rect">
            <a:avLst/>
          </a:prstGeom>
          <a:noFill/>
          <a:ln/>
        </p:spPr>
        <p:txBody>
          <a:bodyPr wrap="square" lIns="0" tIns="0" rIns="0" bIns="0" rtlCol="0" anchor="ctr"/>
          <a:lstStyle/>
          <a:p>
            <a:pPr indent="0" marL="0">
              <a:lnSpc>
                <a:spcPts val="2200"/>
              </a:lnSpc>
              <a:buNone/>
            </a:pPr>
            <a:r>
              <a:rPr lang="en-US" sz="1900" dirty="0">
                <a:solidFill>
                  <a:srgbClr val="1A1A1A"/>
                </a:solidFill>
                <a:latin typeface="Calibri" pitchFamily="34" charset="0"/>
                <a:ea typeface="Calibri" pitchFamily="34" charset="-122"/>
                <a:cs typeface="Calibri" pitchFamily="34" charset="-120"/>
              </a:rPr>
              <a:t>Imbalance is severe, 7.3 to 1 between the most and least frequent label. That is why a weighted loss and a tuned threshold were used.</a:t>
            </a:r>
            <a:endParaRPr lang="en-US" sz="1900" dirty="0"/>
          </a:p>
        </p:txBody>
      </p:sp>
      <p:sp>
        <p:nvSpPr>
          <p:cNvPr id="10" name="Shape 7"/>
          <p:cNvSpPr/>
          <p:nvPr/>
        </p:nvSpPr>
        <p:spPr>
          <a:xfrm>
            <a:off x="7726680" y="1298448"/>
            <a:ext cx="3822192" cy="4425696"/>
          </a:xfrm>
          <a:prstGeom prst="roundRect">
            <a:avLst>
              <a:gd name="adj" fmla="val 2153"/>
            </a:avLst>
          </a:prstGeom>
          <a:solidFill>
            <a:srgbClr val="F4F7FA"/>
          </a:solidFill>
          <a:ln w="12700">
            <a:solidFill>
              <a:srgbClr val="D6DDE5"/>
            </a:solidFill>
            <a:prstDash val="solid"/>
          </a:ln>
        </p:spPr>
      </p:sp>
      <p:sp>
        <p:nvSpPr>
          <p:cNvPr id="11" name="Text 8"/>
          <p:cNvSpPr txBox="1"/>
          <p:nvPr/>
        </p:nvSpPr>
        <p:spPr>
          <a:xfrm>
            <a:off x="7973568" y="1481328"/>
            <a:ext cx="3337560" cy="4069080"/>
          </a:xfrm>
          <a:prstGeom prst="rect">
            <a:avLst/>
          </a:prstGeom>
          <a:noFill/>
          <a:ln/>
        </p:spPr>
        <p:txBody>
          <a:bodyPr wrap="square" lIns="0" tIns="0" rIns="0" bIns="0" rtlCol="0" anchor="t"/>
          <a:lstStyle/>
          <a:p>
            <a:pPr indent="0" marL="0">
              <a:lnSpc>
                <a:spcPts val="2100"/>
              </a:lnSpc>
              <a:buNone/>
            </a:pPr>
            <a:r>
              <a:rPr lang="en-US" sz="2000" b="1" dirty="0">
                <a:solidFill>
                  <a:srgbClr val="0C2340"/>
                </a:solidFill>
                <a:latin typeface="Calibri" pitchFamily="34" charset="0"/>
                <a:ea typeface="Calibri" pitchFamily="34" charset="-122"/>
                <a:cs typeface="Calibri" pitchFamily="34" charset="-120"/>
              </a:rPr>
              <a:t>Emoji Density Bounds the Claim</a:t>
            </a:r>
            <a:endParaRPr lang="en-US" sz="2000" dirty="0"/>
          </a:p>
          <a:p>
            <a:pPr indent="0" marL="0">
              <a:lnSpc>
                <a:spcPts val="2100"/>
              </a:lnSpc>
              <a:buNone/>
            </a:pPr>
            <a:endParaRPr lang="en-US" sz="2000" dirty="0"/>
          </a:p>
          <a:p>
            <a:pPr indent="0" marL="0">
              <a:lnSpc>
                <a:spcPts val="2100"/>
              </a:lnSpc>
              <a:buNone/>
            </a:pPr>
            <a:r>
              <a:rPr lang="en-US" sz="3400" b="1" dirty="0">
                <a:solidFill>
                  <a:srgbClr val="B3512F"/>
                </a:solidFill>
                <a:latin typeface="Calibri" pitchFamily="34" charset="0"/>
                <a:ea typeface="Calibri" pitchFamily="34" charset="-122"/>
                <a:cs typeface="Calibri" pitchFamily="34" charset="-120"/>
              </a:rPr>
              <a:t>11.3%</a:t>
            </a:r>
            <a:endParaRPr lang="en-US" sz="2000" dirty="0"/>
          </a:p>
          <a:p>
            <a:pPr indent="0" marL="0">
              <a:lnSpc>
                <a:spcPts val="2100"/>
              </a:lnSpc>
              <a:buNone/>
            </a:pPr>
            <a:r>
              <a:rPr lang="en-US" sz="1700" dirty="0">
                <a:solidFill>
                  <a:srgbClr val="5A6472"/>
                </a:solidFill>
                <a:latin typeface="Calibri" pitchFamily="34" charset="0"/>
                <a:ea typeface="Calibri" pitchFamily="34" charset="-122"/>
                <a:cs typeface="Calibri" pitchFamily="34" charset="-120"/>
              </a:rPr>
              <a:t>of training tweets contain emoji</a:t>
            </a:r>
            <a:endParaRPr lang="en-US" sz="2000" dirty="0"/>
          </a:p>
          <a:p>
            <a:pPr indent="0" marL="0">
              <a:lnSpc>
                <a:spcPts val="2100"/>
              </a:lnSpc>
              <a:buNone/>
            </a:pPr>
            <a:endParaRPr lang="en-US" sz="2000" dirty="0"/>
          </a:p>
          <a:p>
            <a:pPr indent="0" marL="0">
              <a:lnSpc>
                <a:spcPts val="2100"/>
              </a:lnSpc>
              <a:buNone/>
            </a:pPr>
            <a:r>
              <a:rPr lang="en-US" sz="3400" b="1" dirty="0">
                <a:solidFill>
                  <a:srgbClr val="B3512F"/>
                </a:solidFill>
                <a:latin typeface="Calibri" pitchFamily="34" charset="0"/>
                <a:ea typeface="Calibri" pitchFamily="34" charset="-122"/>
                <a:cs typeface="Calibri" pitchFamily="34" charset="-120"/>
              </a:rPr>
              <a:t>24.8%</a:t>
            </a:r>
            <a:endParaRPr lang="en-US" sz="2000" dirty="0"/>
          </a:p>
          <a:p>
            <a:pPr indent="0" marL="0">
              <a:lnSpc>
                <a:spcPts val="2100"/>
              </a:lnSpc>
              <a:buNone/>
            </a:pPr>
            <a:r>
              <a:rPr lang="en-US" sz="1700" dirty="0">
                <a:solidFill>
                  <a:srgbClr val="5A6472"/>
                </a:solidFill>
                <a:latin typeface="Calibri" pitchFamily="34" charset="0"/>
                <a:ea typeface="Calibri" pitchFamily="34" charset="-122"/>
                <a:cs typeface="Calibri" pitchFamily="34" charset="-120"/>
              </a:rPr>
              <a:t>of development tweets contain emoji</a:t>
            </a:r>
            <a:endParaRPr lang="en-US" sz="2000" dirty="0"/>
          </a:p>
          <a:p>
            <a:pPr indent="0" marL="0">
              <a:lnSpc>
                <a:spcPts val="2100"/>
              </a:lnSpc>
              <a:buNone/>
            </a:pPr>
            <a:endParaRPr lang="en-US" sz="2000" dirty="0"/>
          </a:p>
          <a:p>
            <a:pPr indent="0" marL="0">
              <a:lnSpc>
                <a:spcPts val="2100"/>
              </a:lnSpc>
              <a:buNone/>
            </a:pPr>
            <a:r>
              <a:rPr lang="en-US" sz="1700" dirty="0">
                <a:solidFill>
                  <a:srgbClr val="1A1A1A"/>
                </a:solidFill>
                <a:latin typeface="Calibri" pitchFamily="34" charset="0"/>
                <a:ea typeface="Calibri" pitchFamily="34" charset="-122"/>
                <a:cs typeface="Calibri" pitchFamily="34" charset="-120"/>
              </a:rPr>
              <a:t>Any effect comes from a minority of rows. The split it is measured on is less diluted than the training split.</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32</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Performance of the Four Conditions</a:t>
            </a:r>
            <a:endParaRPr lang="en-US" sz="3200" dirty="0"/>
          </a:p>
        </p:txBody>
      </p:sp>
      <p:sp>
        <p:nvSpPr>
          <p:cNvPr id="6" name="Text 4"/>
          <p:cNvSpPr txBox="1"/>
          <p:nvPr/>
        </p:nvSpPr>
        <p:spPr>
          <a:xfrm>
            <a:off x="640080" y="1133856"/>
            <a:ext cx="10908792" cy="310896"/>
          </a:xfrm>
          <a:prstGeom prst="rect">
            <a:avLst/>
          </a:prstGeom>
          <a:noFill/>
          <a:ln/>
        </p:spPr>
        <p:txBody>
          <a:bodyPr wrap="square" lIns="0" tIns="0" rIns="0" bIns="0"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Table 5: Development split results for the four conditions, in percent.</a:t>
            </a:r>
            <a:endParaRPr lang="en-US" sz="1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908792" cy="914400"/>
        </p:xfrm>
        <a:graphic>
          <a:graphicData uri="http://schemas.openxmlformats.org/drawingml/2006/table">
            <a:tbl>
              <a:tblPr/>
              <a:tblGrid>
                <a:gridCol w="2377440"/>
                <a:gridCol w="2743200"/>
                <a:gridCol w="1929384"/>
                <a:gridCol w="1929384"/>
                <a:gridCol w="1929384"/>
              </a:tblGrid>
              <a:tr h="0">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Model</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Track</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Micro-F1</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Macro-F1</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Label Accuracy</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r>
              <a:tr h="0">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BiLSTM</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Without Emoji</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53.63</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47.86</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74.02</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BiLSTM</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With Emoji</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55.65</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48.86</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75.85</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Transformer</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Without Emoji</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47.29</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44.36</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70.19</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Transformer</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With Emoji</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51.00</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47.30</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72.63</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40080" y="3657600"/>
            <a:ext cx="10908792" cy="2057400"/>
          </a:xfrm>
          <a:prstGeom prst="rect">
            <a:avLst/>
          </a:prstGeom>
          <a:noFill/>
          <a:ln/>
        </p:spPr>
        <p:txBody>
          <a:bodyPr wrap="square" lIns="0" tIns="0" rIns="0" bIns="0" rtlCol="0" anchor="t"/>
          <a:lstStyle/>
          <a:p>
            <a:pPr marL="342900" indent="-342900">
              <a:lnSpc>
                <a:spcPts val="3000"/>
              </a:lnSpc>
              <a:spcAft>
                <a:spcPts val="700"/>
              </a:spcAft>
              <a:buSzPct val="100000"/>
              <a:buChar char="•"/>
            </a:pPr>
            <a:r>
              <a:rPr lang="en-US" sz="2100" dirty="0">
                <a:solidFill>
                  <a:srgbClr val="1A1A1A"/>
                </a:solidFill>
                <a:latin typeface="Calibri" pitchFamily="34" charset="0"/>
                <a:ea typeface="Calibri" pitchFamily="34" charset="-122"/>
                <a:cs typeface="Calibri" pitchFamily="34" charset="-120"/>
              </a:rPr>
              <a:t>Keeping emoji as text improved both models on every headline metric.</a:t>
            </a:r>
            <a:endParaRPr lang="en-US" sz="2100" dirty="0"/>
          </a:p>
          <a:p>
            <a:pPr marL="342900" indent="-342900">
              <a:lnSpc>
                <a:spcPts val="3000"/>
              </a:lnSpc>
              <a:spcAft>
                <a:spcPts val="700"/>
              </a:spcAft>
              <a:buSzPct val="100000"/>
              <a:buChar char="•"/>
            </a:pPr>
            <a:r>
              <a:rPr lang="en-US" sz="2100" dirty="0">
                <a:solidFill>
                  <a:srgbClr val="1A1A1A"/>
                </a:solidFill>
                <a:latin typeface="Calibri" pitchFamily="34" charset="0"/>
                <a:ea typeface="Calibri" pitchFamily="34" charset="-122"/>
                <a:cs typeface="Calibri" pitchFamily="34" charset="-120"/>
              </a:rPr>
              <a:t>The BiLSTM beat the Transformer, which is expected: both were trained from scratch on 6,838 tweets, so the Transformer has no pre-training advantage.</a:t>
            </a:r>
            <a:endParaRPr lang="en-US" sz="2100" dirty="0"/>
          </a:p>
          <a:p>
            <a:pPr marL="342900" indent="-342900">
              <a:lnSpc>
                <a:spcPts val="3000"/>
              </a:lnSpc>
              <a:spcAft>
                <a:spcPts val="700"/>
              </a:spcAft>
              <a:buSzPct val="100000"/>
              <a:buChar char="•"/>
            </a:pPr>
            <a:r>
              <a:rPr lang="en-US" sz="2100" dirty="0">
                <a:solidFill>
                  <a:srgbClr val="1A1A1A"/>
                </a:solidFill>
                <a:latin typeface="Calibri" pitchFamily="34" charset="0"/>
                <a:ea typeface="Calibri" pitchFamily="34" charset="-122"/>
                <a:cs typeface="Calibri" pitchFamily="34" charset="-120"/>
              </a:rPr>
              <a:t>The threshold was tuned per condition by sweeping 0.10 to 0.55 and taking the best Micro-F1.</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33</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The Emoji Effect by Architecture</a:t>
            </a:r>
            <a:endParaRPr lang="en-US" sz="3200" dirty="0"/>
          </a:p>
        </p:txBody>
      </p:sp>
      <p:pic>
        <p:nvPicPr>
          <p:cNvPr id="6" name="Image 0" descr="D:/assigments_7_students/krish/figures/emoji_impact.png">    </p:cNvPr>
          <p:cNvPicPr>
            <a:picLocks noChangeAspect="1"/>
          </p:cNvPicPr>
          <p:nvPr/>
        </p:nvPicPr>
        <p:blipFill>
          <a:blip r:embed="rId1"/>
          <a:srcRect l="0" r="0" t="0" b="0"/>
          <a:stretch/>
        </p:blipFill>
        <p:spPr>
          <a:xfrm>
            <a:off x="822960" y="1325880"/>
            <a:ext cx="5669280" cy="3218688"/>
          </a:xfrm>
          <a:prstGeom prst="rect">
            <a:avLst/>
          </a:prstGeom>
        </p:spPr>
      </p:pic>
      <p:sp>
        <p:nvSpPr>
          <p:cNvPr id="7" name="Text 4"/>
          <p:cNvSpPr txBox="1"/>
          <p:nvPr/>
        </p:nvSpPr>
        <p:spPr>
          <a:xfrm>
            <a:off x="822960" y="4590288"/>
            <a:ext cx="5669280" cy="384048"/>
          </a:xfrm>
          <a:prstGeom prst="rect">
            <a:avLst/>
          </a:prstGeom>
          <a:noFill/>
          <a:ln/>
        </p:spPr>
        <p:txBody>
          <a:bodyPr wrap="square" lIns="0" tIns="0" rIns="0" bIns="0" rtlCol="0" anchor="t"/>
          <a:lstStyle/>
          <a:p>
            <a:pPr algn="l" indent="0" marL="0">
              <a:buNone/>
            </a:pPr>
            <a:r>
              <a:rPr lang="en-US" sz="1300" i="1" dirty="0">
                <a:solidFill>
                  <a:srgbClr val="5A6472"/>
                </a:solidFill>
                <a:latin typeface="Calibri" pitchFamily="34" charset="0"/>
                <a:ea typeface="Calibri" pitchFamily="34" charset="-122"/>
                <a:cs typeface="Calibri" pitchFamily="34" charset="-120"/>
              </a:rPr>
              <a:t>Figure 9: Aggregate emoji effect by architecture, in Micro-F1 points.</a:t>
            </a:r>
            <a:endParaRPr lang="en-US" sz="1300" dirty="0"/>
          </a:p>
        </p:txBody>
      </p:sp>
      <p:sp>
        <p:nvSpPr>
          <p:cNvPr id="8" name="Shape 5"/>
          <p:cNvSpPr/>
          <p:nvPr/>
        </p:nvSpPr>
        <p:spPr>
          <a:xfrm>
            <a:off x="6858000" y="1325880"/>
            <a:ext cx="4690872" cy="3218688"/>
          </a:xfrm>
          <a:prstGeom prst="roundRect">
            <a:avLst>
              <a:gd name="adj" fmla="val 2557"/>
            </a:avLst>
          </a:prstGeom>
          <a:solidFill>
            <a:srgbClr val="FDF1EC"/>
          </a:solidFill>
          <a:ln w="12700">
            <a:solidFill>
              <a:srgbClr val="D6DDE5"/>
            </a:solidFill>
            <a:prstDash val="solid"/>
          </a:ln>
        </p:spPr>
      </p:sp>
      <p:sp>
        <p:nvSpPr>
          <p:cNvPr id="9" name="Text 6"/>
          <p:cNvSpPr txBox="1"/>
          <p:nvPr/>
        </p:nvSpPr>
        <p:spPr>
          <a:xfrm>
            <a:off x="7132320" y="1481328"/>
            <a:ext cx="4206240" cy="2926080"/>
          </a:xfrm>
          <a:prstGeom prst="rect">
            <a:avLst/>
          </a:prstGeom>
          <a:noFill/>
          <a:ln/>
        </p:spPr>
        <p:txBody>
          <a:bodyPr wrap="square" lIns="0" tIns="0" rIns="0" bIns="0" rtlCol="0" anchor="t"/>
          <a:lstStyle/>
          <a:p>
            <a:pPr indent="0" marL="0">
              <a:lnSpc>
                <a:spcPts val="2200"/>
              </a:lnSpc>
              <a:buNone/>
            </a:pPr>
            <a:r>
              <a:rPr lang="en-US" sz="4000" b="1" dirty="0">
                <a:solidFill>
                  <a:srgbClr val="B3512F"/>
                </a:solidFill>
                <a:latin typeface="Calibri" pitchFamily="34" charset="0"/>
                <a:ea typeface="Calibri" pitchFamily="34" charset="-122"/>
                <a:cs typeface="Calibri" pitchFamily="34" charset="-120"/>
              </a:rPr>
              <a:t>+2.03</a:t>
            </a:r>
            <a:endParaRPr lang="en-US" sz="4000" dirty="0"/>
          </a:p>
          <a:p>
            <a:pPr indent="0" marL="0">
              <a:lnSpc>
                <a:spcPts val="2200"/>
              </a:lnSpc>
              <a:buNone/>
            </a:pPr>
            <a:r>
              <a:rPr lang="en-US" sz="1900" dirty="0">
                <a:solidFill>
                  <a:srgbClr val="5A6472"/>
                </a:solidFill>
                <a:latin typeface="Calibri" pitchFamily="34" charset="0"/>
                <a:ea typeface="Calibri" pitchFamily="34" charset="-122"/>
                <a:cs typeface="Calibri" pitchFamily="34" charset="-120"/>
              </a:rPr>
              <a:t>Micro-F1 points, BiLSTM</a:t>
            </a:r>
            <a:endParaRPr lang="en-US" sz="4000" dirty="0"/>
          </a:p>
          <a:p>
            <a:pPr indent="0" marL="0">
              <a:lnSpc>
                <a:spcPts val="2200"/>
              </a:lnSpc>
              <a:buNone/>
            </a:pPr>
            <a:endParaRPr lang="en-US" sz="4000" dirty="0"/>
          </a:p>
          <a:p>
            <a:pPr indent="0" marL="0">
              <a:lnSpc>
                <a:spcPts val="2200"/>
              </a:lnSpc>
              <a:buNone/>
            </a:pPr>
            <a:r>
              <a:rPr lang="en-US" sz="4000" b="1" dirty="0">
                <a:solidFill>
                  <a:srgbClr val="B3512F"/>
                </a:solidFill>
                <a:latin typeface="Calibri" pitchFamily="34" charset="0"/>
                <a:ea typeface="Calibri" pitchFamily="34" charset="-122"/>
                <a:cs typeface="Calibri" pitchFamily="34" charset="-120"/>
              </a:rPr>
              <a:t>+3.71</a:t>
            </a:r>
            <a:endParaRPr lang="en-US" sz="4000" dirty="0"/>
          </a:p>
          <a:p>
            <a:pPr indent="0" marL="0">
              <a:lnSpc>
                <a:spcPts val="2200"/>
              </a:lnSpc>
              <a:buNone/>
            </a:pPr>
            <a:r>
              <a:rPr lang="en-US" sz="1900" dirty="0">
                <a:solidFill>
                  <a:srgbClr val="5A6472"/>
                </a:solidFill>
                <a:latin typeface="Calibri" pitchFamily="34" charset="0"/>
                <a:ea typeface="Calibri" pitchFamily="34" charset="-122"/>
                <a:cs typeface="Calibri" pitchFamily="34" charset="-120"/>
              </a:rPr>
              <a:t>Micro-F1 points, Transformer</a:t>
            </a:r>
            <a:endParaRPr lang="en-US" sz="4000" dirty="0"/>
          </a:p>
          <a:p>
            <a:pPr indent="0" marL="0">
              <a:lnSpc>
                <a:spcPts val="2200"/>
              </a:lnSpc>
              <a:buNone/>
            </a:pPr>
            <a:endParaRPr lang="en-US" sz="4000" dirty="0"/>
          </a:p>
          <a:p>
            <a:pPr indent="0" marL="0">
              <a:lnSpc>
                <a:spcPts val="2200"/>
              </a:lnSpc>
              <a:buNone/>
            </a:pPr>
            <a:r>
              <a:rPr lang="en-US" sz="1900" dirty="0">
                <a:solidFill>
                  <a:srgbClr val="1A1A1A"/>
                </a:solidFill>
                <a:latin typeface="Calibri" pitchFamily="34" charset="0"/>
                <a:ea typeface="Calibri" pitchFamily="34" charset="-122"/>
                <a:cs typeface="Calibri" pitchFamily="34" charset="-120"/>
              </a:rPr>
              <a:t>Macro-F1 moves the same way for both, by 0.99 and 2.94 points.</a:t>
            </a:r>
            <a:endParaRPr lang="en-US" sz="4000" dirty="0"/>
          </a:p>
        </p:txBody>
      </p:sp>
      <p:sp>
        <p:nvSpPr>
          <p:cNvPr id="10" name="Shape 7"/>
          <p:cNvSpPr/>
          <p:nvPr/>
        </p:nvSpPr>
        <p:spPr>
          <a:xfrm>
            <a:off x="640080" y="4956048"/>
            <a:ext cx="10908792" cy="768096"/>
          </a:xfrm>
          <a:prstGeom prst="roundRect">
            <a:avLst>
              <a:gd name="adj" fmla="val 10714"/>
            </a:avLst>
          </a:prstGeom>
          <a:solidFill>
            <a:srgbClr val="F4F7FA"/>
          </a:solidFill>
          <a:ln w="12700">
            <a:solidFill>
              <a:srgbClr val="D6DDE5"/>
            </a:solidFill>
            <a:prstDash val="solid"/>
          </a:ln>
        </p:spPr>
      </p:sp>
      <p:sp>
        <p:nvSpPr>
          <p:cNvPr id="11" name="Text 8"/>
          <p:cNvSpPr txBox="1"/>
          <p:nvPr/>
        </p:nvSpPr>
        <p:spPr>
          <a:xfrm>
            <a:off x="886968" y="4956048"/>
            <a:ext cx="10424160" cy="768096"/>
          </a:xfrm>
          <a:prstGeom prst="rect">
            <a:avLst/>
          </a:prstGeom>
          <a:noFill/>
          <a:ln/>
        </p:spPr>
        <p:txBody>
          <a:bodyPr wrap="square" lIns="0" tIns="0" rIns="0" bIns="0" rtlCol="0" anchor="ctr"/>
          <a:lstStyle/>
          <a:p>
            <a:pPr indent="0" marL="0">
              <a:lnSpc>
                <a:spcPts val="2200"/>
              </a:lnSpc>
              <a:buNone/>
            </a:pPr>
            <a:r>
              <a:rPr lang="en-US" sz="1900" dirty="0">
                <a:solidFill>
                  <a:srgbClr val="1A1A1A"/>
                </a:solidFill>
                <a:latin typeface="Calibri" pitchFamily="34" charset="0"/>
                <a:ea typeface="Calibri" pitchFamily="34" charset="-122"/>
                <a:cs typeface="Calibri" pitchFamily="34" charset="-120"/>
              </a:rPr>
              <a:t>For context, the twelve tuning configurations span 7.4 Micro-F1 points. The emoji effect is a meaningful share of that range, but it is smaller than it, so the aggregate result is indicative rather than confirmed.</a:t>
            </a:r>
            <a:endParaRPr lang="en-US" sz="1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34</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The Effect Varies Sharply by Emotion</a:t>
            </a:r>
            <a:endParaRPr lang="en-US" sz="3200" dirty="0"/>
          </a:p>
        </p:txBody>
      </p:sp>
      <p:pic>
        <p:nvPicPr>
          <p:cNvPr id="6" name="Image 0" descr="D:/assigments_7_students/krish/figures/per_emotion_impact.png">    </p:cNvPr>
          <p:cNvPicPr>
            <a:picLocks noChangeAspect="1"/>
          </p:cNvPicPr>
          <p:nvPr/>
        </p:nvPicPr>
        <p:blipFill>
          <a:blip r:embed="rId1"/>
          <a:srcRect l="0" r="0" t="0" b="0"/>
          <a:stretch/>
        </p:blipFill>
        <p:spPr>
          <a:xfrm>
            <a:off x="640080" y="1280160"/>
            <a:ext cx="7223760" cy="3429000"/>
          </a:xfrm>
          <a:prstGeom prst="rect">
            <a:avLst/>
          </a:prstGeom>
        </p:spPr>
      </p:pic>
      <p:sp>
        <p:nvSpPr>
          <p:cNvPr id="7" name="Text 4"/>
          <p:cNvSpPr txBox="1"/>
          <p:nvPr/>
        </p:nvSpPr>
        <p:spPr>
          <a:xfrm>
            <a:off x="640080" y="4754880"/>
            <a:ext cx="7223760" cy="384048"/>
          </a:xfrm>
          <a:prstGeom prst="rect">
            <a:avLst/>
          </a:prstGeom>
          <a:noFill/>
          <a:ln/>
        </p:spPr>
        <p:txBody>
          <a:bodyPr wrap="square" lIns="0" tIns="0" rIns="0" bIns="0" rtlCol="0" anchor="t"/>
          <a:lstStyle/>
          <a:p>
            <a:pPr algn="l" indent="0" marL="0">
              <a:buNone/>
            </a:pPr>
            <a:r>
              <a:rPr lang="en-US" sz="1300" i="1" dirty="0">
                <a:solidFill>
                  <a:srgbClr val="5A6472"/>
                </a:solidFill>
                <a:latin typeface="Calibri" pitchFamily="34" charset="0"/>
                <a:ea typeface="Calibri" pitchFamily="34" charset="-122"/>
                <a:cs typeface="Calibri" pitchFamily="34" charset="-120"/>
              </a:rPr>
              <a:t>Figure 10: Per-emotion emoji effect for both architectures.</a:t>
            </a:r>
            <a:endParaRPr lang="en-US" sz="1300" dirty="0"/>
          </a:p>
        </p:txBody>
      </p:sp>
      <p:sp>
        <p:nvSpPr>
          <p:cNvPr id="8" name="Shape 5"/>
          <p:cNvSpPr/>
          <p:nvPr/>
        </p:nvSpPr>
        <p:spPr>
          <a:xfrm>
            <a:off x="8092440" y="1280160"/>
            <a:ext cx="3456432" cy="4443984"/>
          </a:xfrm>
          <a:prstGeom prst="roundRect">
            <a:avLst>
              <a:gd name="adj" fmla="val 2381"/>
            </a:avLst>
          </a:prstGeom>
          <a:solidFill>
            <a:srgbClr val="F4F7FA"/>
          </a:solidFill>
          <a:ln w="12700">
            <a:solidFill>
              <a:srgbClr val="D6DDE5"/>
            </a:solidFill>
            <a:prstDash val="solid"/>
          </a:ln>
        </p:spPr>
      </p:sp>
      <p:sp>
        <p:nvSpPr>
          <p:cNvPr id="9" name="Text 6"/>
          <p:cNvSpPr txBox="1"/>
          <p:nvPr/>
        </p:nvSpPr>
        <p:spPr>
          <a:xfrm>
            <a:off x="8339328" y="1481328"/>
            <a:ext cx="2971800" cy="4114800"/>
          </a:xfrm>
          <a:prstGeom prst="rect">
            <a:avLst/>
          </a:prstGeom>
          <a:noFill/>
          <a:ln/>
        </p:spPr>
        <p:txBody>
          <a:bodyPr wrap="square" lIns="0" tIns="0" rIns="0" bIns="0" rtlCol="0" anchor="t"/>
          <a:lstStyle/>
          <a:p>
            <a:pPr indent="0" marL="0">
              <a:lnSpc>
                <a:spcPts val="2200"/>
              </a:lnSpc>
              <a:buNone/>
            </a:pPr>
            <a:r>
              <a:rPr lang="en-US" sz="4400" b="1" dirty="0">
                <a:solidFill>
                  <a:srgbClr val="B3512F"/>
                </a:solidFill>
                <a:latin typeface="Calibri" pitchFamily="34" charset="0"/>
                <a:ea typeface="Calibri" pitchFamily="34" charset="-122"/>
                <a:cs typeface="Calibri" pitchFamily="34" charset="-120"/>
              </a:rPr>
              <a:t>15.9</a:t>
            </a:r>
            <a:endParaRPr lang="en-US" sz="4400" dirty="0"/>
          </a:p>
          <a:p>
            <a:pPr indent="0" marL="0">
              <a:lnSpc>
                <a:spcPts val="2200"/>
              </a:lnSpc>
              <a:buNone/>
            </a:pPr>
            <a:r>
              <a:rPr lang="en-US" sz="1900" dirty="0">
                <a:solidFill>
                  <a:srgbClr val="5A6472"/>
                </a:solidFill>
                <a:latin typeface="Calibri" pitchFamily="34" charset="0"/>
                <a:ea typeface="Calibri" pitchFamily="34" charset="-122"/>
                <a:cs typeface="Calibri" pitchFamily="34" charset="-120"/>
              </a:rPr>
              <a:t>points of spread across the eleven emotions</a:t>
            </a:r>
            <a:endParaRPr lang="en-US" sz="4400" dirty="0"/>
          </a:p>
          <a:p>
            <a:pPr indent="0" marL="0">
              <a:lnSpc>
                <a:spcPts val="2200"/>
              </a:lnSpc>
              <a:buNone/>
            </a:pPr>
            <a:endParaRPr lang="en-US" sz="4400" dirty="0"/>
          </a:p>
          <a:p>
            <a:pPr indent="0" marL="0">
              <a:lnSpc>
                <a:spcPts val="2200"/>
              </a:lnSpc>
              <a:buNone/>
            </a:pPr>
            <a:r>
              <a:rPr lang="en-US" sz="1900" dirty="0">
                <a:solidFill>
                  <a:srgbClr val="1A1A1A"/>
                </a:solidFill>
                <a:latin typeface="Calibri" pitchFamily="34" charset="0"/>
                <a:ea typeface="Calibri" pitchFamily="34" charset="-122"/>
                <a:cs typeface="Calibri" pitchFamily="34" charset="-120"/>
              </a:rPr>
              <a:t>From +11.80 for sadness under the Transformer to -4.13 for anticipation under the BiLSTM.</a:t>
            </a:r>
            <a:endParaRPr lang="en-US" sz="4400" dirty="0"/>
          </a:p>
          <a:p>
            <a:pPr indent="0" marL="0">
              <a:lnSpc>
                <a:spcPts val="2200"/>
              </a:lnSpc>
              <a:buNone/>
            </a:pPr>
            <a:endParaRPr lang="en-US" sz="4400" dirty="0"/>
          </a:p>
          <a:p>
            <a:pPr indent="0" marL="0">
              <a:lnSpc>
                <a:spcPts val="2200"/>
              </a:lnSpc>
              <a:buNone/>
            </a:pPr>
            <a:r>
              <a:rPr lang="en-US" sz="1900" dirty="0">
                <a:solidFill>
                  <a:srgbClr val="1A1A1A"/>
                </a:solidFill>
                <a:latin typeface="Calibri" pitchFamily="34" charset="0"/>
                <a:ea typeface="Calibri" pitchFamily="34" charset="-122"/>
                <a:cs typeface="Calibri" pitchFamily="34" charset="-120"/>
              </a:rPr>
              <a:t>The emotions that gain most are the ones the exploratory analysis showed to be over-represented among emoji-bearing tweets: sadness, fear, joy and love.</a:t>
            </a:r>
            <a:endParaRPr lang="en-US" sz="4400" dirty="0"/>
          </a:p>
        </p:txBody>
      </p:sp>
      <p:sp>
        <p:nvSpPr>
          <p:cNvPr id="10" name="Shape 7"/>
          <p:cNvSpPr/>
          <p:nvPr/>
        </p:nvSpPr>
        <p:spPr>
          <a:xfrm>
            <a:off x="640080" y="5138928"/>
            <a:ext cx="7223760" cy="585216"/>
          </a:xfrm>
          <a:prstGeom prst="roundRect">
            <a:avLst>
              <a:gd name="adj" fmla="val 14063"/>
            </a:avLst>
          </a:prstGeom>
          <a:solidFill>
            <a:srgbClr val="FDF1EC"/>
          </a:solidFill>
          <a:ln w="12700">
            <a:solidFill>
              <a:srgbClr val="D6DDE5"/>
            </a:solidFill>
            <a:prstDash val="solid"/>
          </a:ln>
        </p:spPr>
      </p:sp>
      <p:sp>
        <p:nvSpPr>
          <p:cNvPr id="11" name="Text 8"/>
          <p:cNvSpPr txBox="1"/>
          <p:nvPr/>
        </p:nvSpPr>
        <p:spPr>
          <a:xfrm>
            <a:off x="868680" y="5138928"/>
            <a:ext cx="6766560" cy="585216"/>
          </a:xfrm>
          <a:prstGeom prst="rect">
            <a:avLst/>
          </a:prstGeom>
          <a:noFill/>
          <a:ln/>
        </p:spPr>
        <p:txBody>
          <a:bodyPr wrap="square" lIns="0" tIns="0" rIns="0" bIns="0" rtlCol="0" anchor="ctr"/>
          <a:lstStyle/>
          <a:p>
            <a:pPr indent="0" marL="0">
              <a:buNone/>
            </a:pPr>
            <a:r>
              <a:rPr lang="en-US" sz="1900" b="1" dirty="0">
                <a:solidFill>
                  <a:srgbClr val="1A1A1A"/>
                </a:solidFill>
                <a:latin typeface="Calibri" pitchFamily="34" charset="0"/>
                <a:ea typeface="Calibri" pitchFamily="34" charset="-122"/>
                <a:cs typeface="Calibri" pitchFamily="34" charset="-120"/>
              </a:rPr>
              <a:t>The aggregate number is the near cancellation of much larger opposing movements.</a:t>
            </a:r>
            <a:endParaRPr lang="en-US" sz="1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35</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Robustness Checks</a:t>
            </a:r>
            <a:endParaRPr lang="en-US" sz="3200" dirty="0"/>
          </a:p>
        </p:txBody>
      </p:sp>
      <p:sp>
        <p:nvSpPr>
          <p:cNvPr id="6" name="Shape 4"/>
          <p:cNvSpPr/>
          <p:nvPr/>
        </p:nvSpPr>
        <p:spPr>
          <a:xfrm>
            <a:off x="640080" y="1207008"/>
            <a:ext cx="10908792" cy="1051560"/>
          </a:xfrm>
          <a:prstGeom prst="roundRect">
            <a:avLst>
              <a:gd name="adj" fmla="val 7826"/>
            </a:avLst>
          </a:prstGeom>
          <a:solidFill>
            <a:srgbClr val="F4F7FA"/>
          </a:solidFill>
          <a:ln w="12700">
            <a:solidFill>
              <a:srgbClr val="D6DDE5"/>
            </a:solidFill>
            <a:prstDash val="solid"/>
          </a:ln>
        </p:spPr>
      </p:sp>
      <p:sp>
        <p:nvSpPr>
          <p:cNvPr id="7" name="Text 5"/>
          <p:cNvSpPr txBox="1"/>
          <p:nvPr/>
        </p:nvSpPr>
        <p:spPr>
          <a:xfrm>
            <a:off x="914400" y="1261872"/>
            <a:ext cx="10378440" cy="941832"/>
          </a:xfrm>
          <a:prstGeom prst="rect">
            <a:avLst/>
          </a:prstGeom>
          <a:noFill/>
          <a:ln/>
        </p:spPr>
        <p:txBody>
          <a:bodyPr wrap="square" lIns="0" tIns="0" rIns="0" bIns="0" rtlCol="0" anchor="ctr"/>
          <a:lstStyle/>
          <a:p>
            <a:pPr indent="0" marL="0">
              <a:lnSpc>
                <a:spcPts val="2400"/>
              </a:lnSpc>
              <a:buNone/>
            </a:pPr>
            <a:r>
              <a:rPr lang="en-US" sz="2100" b="1" dirty="0">
                <a:solidFill>
                  <a:srgbClr val="B3512F"/>
                </a:solidFill>
                <a:latin typeface="Calibri" pitchFamily="34" charset="0"/>
                <a:ea typeface="Calibri" pitchFamily="34" charset="-122"/>
                <a:cs typeface="Calibri" pitchFamily="34" charset="-120"/>
              </a:rPr>
              <a:t>Threshold-Free.  </a:t>
            </a:r>
            <a:pPr indent="0" marL="0">
              <a:lnSpc>
                <a:spcPts val="2400"/>
              </a:lnSpc>
              <a:buNone/>
            </a:pPr>
            <a:r>
              <a:rPr lang="en-US" sz="2100" dirty="0">
                <a:solidFill>
                  <a:srgbClr val="1A1A1A"/>
                </a:solidFill>
                <a:latin typeface="Calibri" pitchFamily="34" charset="0"/>
                <a:ea typeface="Calibri" pitchFamily="34" charset="-122"/>
                <a:cs typeface="Calibri" pitchFamily="34" charset="-120"/>
              </a:rPr>
              <a:t>ROC-AUC rose for both models, so the gain does not depend on the chosen cut-off. Mean AUC moved from 0.786 to 0.788 for the BiLSTM and from 0.754 to 0.777 for the Transformer.</a:t>
            </a:r>
            <a:endParaRPr lang="en-US" sz="2100" dirty="0"/>
          </a:p>
        </p:txBody>
      </p:sp>
      <p:sp>
        <p:nvSpPr>
          <p:cNvPr id="8" name="Shape 6"/>
          <p:cNvSpPr/>
          <p:nvPr/>
        </p:nvSpPr>
        <p:spPr>
          <a:xfrm>
            <a:off x="640080" y="2359152"/>
            <a:ext cx="10908792" cy="1051560"/>
          </a:xfrm>
          <a:prstGeom prst="roundRect">
            <a:avLst>
              <a:gd name="adj" fmla="val 7826"/>
            </a:avLst>
          </a:prstGeom>
          <a:solidFill>
            <a:srgbClr val="F4F7FA"/>
          </a:solidFill>
          <a:ln w="12700">
            <a:solidFill>
              <a:srgbClr val="D6DDE5"/>
            </a:solidFill>
            <a:prstDash val="solid"/>
          </a:ln>
        </p:spPr>
      </p:sp>
      <p:sp>
        <p:nvSpPr>
          <p:cNvPr id="9" name="Text 7"/>
          <p:cNvSpPr txBox="1"/>
          <p:nvPr/>
        </p:nvSpPr>
        <p:spPr>
          <a:xfrm>
            <a:off x="914400" y="2414016"/>
            <a:ext cx="10378440" cy="941832"/>
          </a:xfrm>
          <a:prstGeom prst="rect">
            <a:avLst/>
          </a:prstGeom>
          <a:noFill/>
          <a:ln/>
        </p:spPr>
        <p:txBody>
          <a:bodyPr wrap="square" lIns="0" tIns="0" rIns="0" bIns="0" rtlCol="0" anchor="ctr"/>
          <a:lstStyle/>
          <a:p>
            <a:pPr indent="0" marL="0">
              <a:lnSpc>
                <a:spcPts val="2400"/>
              </a:lnSpc>
              <a:buNone/>
            </a:pPr>
            <a:r>
              <a:rPr lang="en-US" sz="2100" b="1" dirty="0">
                <a:solidFill>
                  <a:srgbClr val="0C2340"/>
                </a:solidFill>
                <a:latin typeface="Calibri" pitchFamily="34" charset="0"/>
                <a:ea typeface="Calibri" pitchFamily="34" charset="-122"/>
                <a:cs typeface="Calibri" pitchFamily="34" charset="-120"/>
              </a:rPr>
              <a:t>Error Structure.  </a:t>
            </a:r>
            <a:pPr indent="0" marL="0">
              <a:lnSpc>
                <a:spcPts val="2400"/>
              </a:lnSpc>
              <a:buNone/>
            </a:pPr>
            <a:r>
              <a:rPr lang="en-US" sz="2100" dirty="0">
                <a:solidFill>
                  <a:srgbClr val="1A1A1A"/>
                </a:solidFill>
                <a:latin typeface="Calibri" pitchFamily="34" charset="0"/>
                <a:ea typeface="Calibri" pitchFamily="34" charset="-122"/>
                <a:cs typeface="Calibri" pitchFamily="34" charset="-120"/>
              </a:rPr>
              <a:t>The improvement comes from recovering true positives on emoji-bearing rows, not from predicting fewer labels overall.</a:t>
            </a:r>
            <a:endParaRPr lang="en-US" sz="2100" dirty="0"/>
          </a:p>
        </p:txBody>
      </p:sp>
      <p:sp>
        <p:nvSpPr>
          <p:cNvPr id="10" name="Shape 8"/>
          <p:cNvSpPr/>
          <p:nvPr/>
        </p:nvSpPr>
        <p:spPr>
          <a:xfrm>
            <a:off x="640080" y="3511296"/>
            <a:ext cx="10908792" cy="1051560"/>
          </a:xfrm>
          <a:prstGeom prst="roundRect">
            <a:avLst>
              <a:gd name="adj" fmla="val 7826"/>
            </a:avLst>
          </a:prstGeom>
          <a:solidFill>
            <a:srgbClr val="F4F7FA"/>
          </a:solidFill>
          <a:ln w="12700">
            <a:solidFill>
              <a:srgbClr val="D6DDE5"/>
            </a:solidFill>
            <a:prstDash val="solid"/>
          </a:ln>
        </p:spPr>
      </p:sp>
      <p:sp>
        <p:nvSpPr>
          <p:cNvPr id="11" name="Text 9"/>
          <p:cNvSpPr txBox="1"/>
          <p:nvPr/>
        </p:nvSpPr>
        <p:spPr>
          <a:xfrm>
            <a:off x="914400" y="3566160"/>
            <a:ext cx="10378440" cy="941832"/>
          </a:xfrm>
          <a:prstGeom prst="rect">
            <a:avLst/>
          </a:prstGeom>
          <a:noFill/>
          <a:ln/>
        </p:spPr>
        <p:txBody>
          <a:bodyPr wrap="square" lIns="0" tIns="0" rIns="0" bIns="0" rtlCol="0" anchor="ctr"/>
          <a:lstStyle/>
          <a:p>
            <a:pPr indent="0" marL="0">
              <a:lnSpc>
                <a:spcPts val="2400"/>
              </a:lnSpc>
              <a:buNone/>
            </a:pPr>
            <a:r>
              <a:rPr lang="en-US" sz="2100" b="1" dirty="0">
                <a:solidFill>
                  <a:srgbClr val="0C2340"/>
                </a:solidFill>
                <a:latin typeface="Calibri" pitchFamily="34" charset="0"/>
                <a:ea typeface="Calibri" pitchFamily="34" charset="-122"/>
                <a:cs typeface="Calibri" pitchFamily="34" charset="-120"/>
              </a:rPr>
              <a:t>Precision and Recall.  </a:t>
            </a:r>
            <a:pPr indent="0" marL="0">
              <a:lnSpc>
                <a:spcPts val="2400"/>
              </a:lnSpc>
              <a:buNone/>
            </a:pPr>
            <a:r>
              <a:rPr lang="en-US" sz="2100" dirty="0">
                <a:solidFill>
                  <a:srgbClr val="1A1A1A"/>
                </a:solidFill>
                <a:latin typeface="Calibri" pitchFamily="34" charset="0"/>
                <a:ea typeface="Calibri" pitchFamily="34" charset="-122"/>
                <a:cs typeface="Calibri" pitchFamily="34" charset="-120"/>
              </a:rPr>
              <a:t>Recall exceeds precision by 21 to 23 points in every condition, which is the expected effect of the weighted loss. The pattern holds on both tracks, so the emoji step did not introduce it.</a:t>
            </a:r>
            <a:endParaRPr lang="en-US" sz="2100" dirty="0"/>
          </a:p>
        </p:txBody>
      </p:sp>
      <p:sp>
        <p:nvSpPr>
          <p:cNvPr id="12" name="Shape 10"/>
          <p:cNvSpPr/>
          <p:nvPr/>
        </p:nvSpPr>
        <p:spPr>
          <a:xfrm>
            <a:off x="640080" y="4663440"/>
            <a:ext cx="10908792" cy="1051560"/>
          </a:xfrm>
          <a:prstGeom prst="roundRect">
            <a:avLst>
              <a:gd name="adj" fmla="val 7826"/>
            </a:avLst>
          </a:prstGeom>
          <a:solidFill>
            <a:srgbClr val="F4F7FA"/>
          </a:solidFill>
          <a:ln w="12700">
            <a:solidFill>
              <a:srgbClr val="D6DDE5"/>
            </a:solidFill>
            <a:prstDash val="solid"/>
          </a:ln>
        </p:spPr>
      </p:sp>
      <p:sp>
        <p:nvSpPr>
          <p:cNvPr id="13" name="Text 11"/>
          <p:cNvSpPr txBox="1"/>
          <p:nvPr/>
        </p:nvSpPr>
        <p:spPr>
          <a:xfrm>
            <a:off x="914400" y="4718304"/>
            <a:ext cx="10378440" cy="941832"/>
          </a:xfrm>
          <a:prstGeom prst="rect">
            <a:avLst/>
          </a:prstGeom>
          <a:noFill/>
          <a:ln/>
        </p:spPr>
        <p:txBody>
          <a:bodyPr wrap="square" lIns="0" tIns="0" rIns="0" bIns="0" rtlCol="0" anchor="ctr"/>
          <a:lstStyle/>
          <a:p>
            <a:pPr indent="0" marL="0">
              <a:lnSpc>
                <a:spcPts val="2400"/>
              </a:lnSpc>
              <a:buNone/>
            </a:pPr>
            <a:r>
              <a:rPr lang="en-US" sz="2100" b="1" dirty="0">
                <a:solidFill>
                  <a:srgbClr val="0C2340"/>
                </a:solidFill>
                <a:latin typeface="Calibri" pitchFamily="34" charset="0"/>
                <a:ea typeface="Calibri" pitchFamily="34" charset="-122"/>
                <a:cs typeface="Calibri" pitchFamily="34" charset="-120"/>
              </a:rPr>
              <a:t>Reproducibility.  </a:t>
            </a:r>
            <a:pPr indent="0" marL="0">
              <a:lnSpc>
                <a:spcPts val="2400"/>
              </a:lnSpc>
              <a:buNone/>
            </a:pPr>
            <a:r>
              <a:rPr lang="en-US" sz="2100" dirty="0">
                <a:solidFill>
                  <a:srgbClr val="1A1A1A"/>
                </a:solidFill>
                <a:latin typeface="Calibri" pitchFamily="34" charset="0"/>
                <a:ea typeface="Calibri" pitchFamily="34" charset="-122"/>
                <a:cs typeface="Calibri" pitchFamily="34" charset="-120"/>
              </a:rPr>
              <a:t>The random seed is fixed and every artefact is written to disk, so re-running the notebooks reproduces every number in this deck.</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36</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Answering the Research Question</a:t>
            </a:r>
            <a:endParaRPr lang="en-US" sz="3200" dirty="0"/>
          </a:p>
        </p:txBody>
      </p:sp>
      <p:sp>
        <p:nvSpPr>
          <p:cNvPr id="6" name="Shape 4"/>
          <p:cNvSpPr/>
          <p:nvPr/>
        </p:nvSpPr>
        <p:spPr>
          <a:xfrm>
            <a:off x="640080" y="1188720"/>
            <a:ext cx="10908792" cy="2148840"/>
          </a:xfrm>
          <a:prstGeom prst="roundRect">
            <a:avLst>
              <a:gd name="adj" fmla="val 3830"/>
            </a:avLst>
          </a:prstGeom>
          <a:solidFill>
            <a:srgbClr val="FDF1EC"/>
          </a:solidFill>
          <a:ln w="12700">
            <a:solidFill>
              <a:srgbClr val="D6DDE5"/>
            </a:solidFill>
            <a:prstDash val="solid"/>
          </a:ln>
        </p:spPr>
      </p:sp>
      <p:sp>
        <p:nvSpPr>
          <p:cNvPr id="7" name="Text 5"/>
          <p:cNvSpPr txBox="1"/>
          <p:nvPr/>
        </p:nvSpPr>
        <p:spPr>
          <a:xfrm>
            <a:off x="914400" y="1353312"/>
            <a:ext cx="10378440" cy="1874520"/>
          </a:xfrm>
          <a:prstGeom prst="rect">
            <a:avLst/>
          </a:prstGeom>
          <a:noFill/>
          <a:ln/>
        </p:spPr>
        <p:txBody>
          <a:bodyPr wrap="square" lIns="0" tIns="0" rIns="0" bIns="0" rtlCol="0" anchor="t"/>
          <a:lstStyle/>
          <a:p>
            <a:pPr indent="0" marL="0">
              <a:lnSpc>
                <a:spcPts val="2500"/>
              </a:lnSpc>
              <a:buNone/>
            </a:pPr>
            <a:r>
              <a:rPr lang="en-US" sz="2200" b="1" dirty="0">
                <a:solidFill>
                  <a:srgbClr val="B3512F"/>
                </a:solidFill>
                <a:latin typeface="Calibri" pitchFamily="34" charset="0"/>
                <a:ea typeface="Calibri" pitchFamily="34" charset="-122"/>
                <a:cs typeface="Calibri" pitchFamily="34" charset="-120"/>
              </a:rPr>
              <a:t>Does emoji handling affect performance, and by how much?</a:t>
            </a:r>
            <a:endParaRPr lang="en-US" sz="2200" dirty="0"/>
          </a:p>
          <a:p>
            <a:pPr indent="0" marL="0">
              <a:lnSpc>
                <a:spcPts val="2500"/>
              </a:lnSpc>
              <a:buNone/>
            </a:pPr>
            <a:r>
              <a:rPr lang="en-US" sz="2100" dirty="0">
                <a:solidFill>
                  <a:srgbClr val="1A1A1A"/>
                </a:solidFill>
                <a:latin typeface="Calibri" pitchFamily="34" charset="0"/>
                <a:ea typeface="Calibri" pitchFamily="34" charset="-122"/>
                <a:cs typeface="Calibri" pitchFamily="34" charset="-120"/>
              </a:rPr>
              <a:t>Yes. Converting emoji into text raised Micro-F1 by 2.03 points for the BiLSTM and 3.71 points for the Transformer. Macro-F1 moved the same way for both, and threshold-free ROC-AUC rose for both. On this corpus the effect is real, and it favours keeping emoji as text rather than deleting them.</a:t>
            </a:r>
            <a:endParaRPr lang="en-US" sz="2200" dirty="0"/>
          </a:p>
        </p:txBody>
      </p:sp>
      <p:sp>
        <p:nvSpPr>
          <p:cNvPr id="8" name="Shape 6"/>
          <p:cNvSpPr/>
          <p:nvPr/>
        </p:nvSpPr>
        <p:spPr>
          <a:xfrm>
            <a:off x="640080" y="3493008"/>
            <a:ext cx="10908792" cy="2231136"/>
          </a:xfrm>
          <a:prstGeom prst="roundRect">
            <a:avLst>
              <a:gd name="adj" fmla="val 3689"/>
            </a:avLst>
          </a:prstGeom>
          <a:solidFill>
            <a:srgbClr val="F4F7FA"/>
          </a:solidFill>
          <a:ln w="12700">
            <a:solidFill>
              <a:srgbClr val="D6DDE5"/>
            </a:solidFill>
            <a:prstDash val="solid"/>
          </a:ln>
        </p:spPr>
      </p:sp>
      <p:sp>
        <p:nvSpPr>
          <p:cNvPr id="9" name="Text 7"/>
          <p:cNvSpPr txBox="1"/>
          <p:nvPr/>
        </p:nvSpPr>
        <p:spPr>
          <a:xfrm>
            <a:off x="914400" y="3657600"/>
            <a:ext cx="10378440" cy="1965960"/>
          </a:xfrm>
          <a:prstGeom prst="rect">
            <a:avLst/>
          </a:prstGeom>
          <a:noFill/>
          <a:ln/>
        </p:spPr>
        <p:txBody>
          <a:bodyPr wrap="square" lIns="0" tIns="0" rIns="0" bIns="0" rtlCol="0" anchor="t"/>
          <a:lstStyle/>
          <a:p>
            <a:pPr indent="0" marL="0">
              <a:lnSpc>
                <a:spcPts val="2500"/>
              </a:lnSpc>
              <a:buNone/>
            </a:pPr>
            <a:r>
              <a:rPr lang="en-US" sz="2200" b="1" dirty="0">
                <a:solidFill>
                  <a:srgbClr val="0C2340"/>
                </a:solidFill>
                <a:latin typeface="Calibri" pitchFamily="34" charset="0"/>
                <a:ea typeface="Calibri" pitchFamily="34" charset="-122"/>
                <a:cs typeface="Calibri" pitchFamily="34" charset="-120"/>
              </a:rPr>
              <a:t>Is the effect the same across architectures and emotions?</a:t>
            </a:r>
            <a:endParaRPr lang="en-US" sz="2200" dirty="0"/>
          </a:p>
          <a:p>
            <a:pPr indent="0" marL="0">
              <a:lnSpc>
                <a:spcPts val="2500"/>
              </a:lnSpc>
              <a:buNone/>
            </a:pPr>
            <a:r>
              <a:rPr lang="en-US" sz="2100" dirty="0">
                <a:solidFill>
                  <a:srgbClr val="1A1A1A"/>
                </a:solidFill>
                <a:latin typeface="Calibri" pitchFamily="34" charset="0"/>
                <a:ea typeface="Calibri" pitchFamily="34" charset="-122"/>
                <a:cs typeface="Calibri" pitchFamily="34" charset="-120"/>
              </a:rPr>
              <a:t>No, on both counts. The effect is roughly 80 per cent larger for the Transformer than for the BiLSTM. It varies far more by emotion, from +11.80 points for sadness to -4.13 for anticipation. Emotions with clear emoji conventions gain most; emotions with no such convention gain little or lose. Because the pipeline forks at exactly one operation, these differences belong to the emoji step and to nothing else.</a:t>
            </a:r>
            <a:endParaRPr lang="en-US"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2340"/>
        </a:solidFill>
      </p:bgPr>
    </p:bg>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9FB3C8"/>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9FB3C8"/>
                </a:solidFill>
                <a:latin typeface="Calibri" pitchFamily="34" charset="0"/>
                <a:ea typeface="Calibri" pitchFamily="34" charset="-122"/>
                <a:cs typeface="Calibri" pitchFamily="34" charset="-120"/>
              </a:rPr>
              <a:t>37</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9FB3C8"/>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822960" y="1965960"/>
            <a:ext cx="2011680" cy="1737360"/>
          </a:xfrm>
          <a:prstGeom prst="rect">
            <a:avLst/>
          </a:prstGeom>
          <a:noFill/>
          <a:ln/>
        </p:spPr>
        <p:txBody>
          <a:bodyPr wrap="square" lIns="0" tIns="0" rIns="0" bIns="0" rtlCol="0" anchor="ctr"/>
          <a:lstStyle/>
          <a:p>
            <a:pPr algn="l" indent="0" marL="0">
              <a:buNone/>
            </a:pPr>
            <a:r>
              <a:rPr lang="en-US" sz="9600" b="1" dirty="0">
                <a:solidFill>
                  <a:srgbClr val="B3512F"/>
                </a:solidFill>
                <a:latin typeface="Calibri" pitchFamily="34" charset="0"/>
                <a:ea typeface="Calibri" pitchFamily="34" charset="-122"/>
                <a:cs typeface="Calibri" pitchFamily="34" charset="-120"/>
              </a:rPr>
              <a:t>7</a:t>
            </a:r>
            <a:endParaRPr lang="en-US" sz="9600" dirty="0"/>
          </a:p>
        </p:txBody>
      </p:sp>
      <p:sp>
        <p:nvSpPr>
          <p:cNvPr id="6" name="Text 4"/>
          <p:cNvSpPr txBox="1"/>
          <p:nvPr/>
        </p:nvSpPr>
        <p:spPr>
          <a:xfrm>
            <a:off x="2834640" y="1965960"/>
            <a:ext cx="8503920" cy="1737360"/>
          </a:xfrm>
          <a:prstGeom prst="rect">
            <a:avLst/>
          </a:prstGeom>
          <a:noFill/>
          <a:ln/>
        </p:spPr>
        <p:txBody>
          <a:bodyPr wrap="square" lIns="0" tIns="0" rIns="0" bIns="0" rtlCol="0" anchor="ctr"/>
          <a:lstStyle/>
          <a:p>
            <a:pPr algn="l" indent="0" marL="0">
              <a:buNone/>
            </a:pPr>
            <a:r>
              <a:rPr lang="en-US" sz="4400" b="1" dirty="0">
                <a:solidFill>
                  <a:srgbClr val="FFFFFF"/>
                </a:solidFill>
                <a:latin typeface="Calibri" pitchFamily="34" charset="0"/>
                <a:ea typeface="Calibri" pitchFamily="34" charset="-122"/>
                <a:cs typeface="Calibri" pitchFamily="34" charset="-120"/>
              </a:rPr>
              <a:t>Evaluation</a:t>
            </a:r>
            <a:endParaRPr lang="en-US" sz="4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38</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Evaluation Approach: Applied Route</a:t>
            </a:r>
            <a:endParaRPr lang="en-US" sz="3200" dirty="0"/>
          </a:p>
        </p:txBody>
      </p:sp>
      <p:sp>
        <p:nvSpPr>
          <p:cNvPr id="6" name="Shape 4"/>
          <p:cNvSpPr/>
          <p:nvPr/>
        </p:nvSpPr>
        <p:spPr>
          <a:xfrm>
            <a:off x="640080" y="1207008"/>
            <a:ext cx="5394960" cy="4517136"/>
          </a:xfrm>
          <a:prstGeom prst="roundRect">
            <a:avLst>
              <a:gd name="adj" fmla="val 1822"/>
            </a:avLst>
          </a:prstGeom>
          <a:solidFill>
            <a:srgbClr val="F4F7FA"/>
          </a:solidFill>
          <a:ln w="12700">
            <a:solidFill>
              <a:srgbClr val="D6DDE5"/>
            </a:solidFill>
            <a:prstDash val="solid"/>
          </a:ln>
        </p:spPr>
      </p:sp>
      <p:sp>
        <p:nvSpPr>
          <p:cNvPr id="7" name="Text 5"/>
          <p:cNvSpPr txBox="1"/>
          <p:nvPr/>
        </p:nvSpPr>
        <p:spPr>
          <a:xfrm>
            <a:off x="886968" y="1426464"/>
            <a:ext cx="4892040" cy="4069080"/>
          </a:xfrm>
          <a:prstGeom prst="rect">
            <a:avLst/>
          </a:prstGeom>
          <a:noFill/>
          <a:ln/>
        </p:spPr>
        <p:txBody>
          <a:bodyPr wrap="square" lIns="0" tIns="0" rIns="0" bIns="0" rtlCol="0" anchor="t"/>
          <a:lstStyle/>
          <a:p>
            <a:pPr indent="0" marL="0">
              <a:lnSpc>
                <a:spcPts val="2200"/>
              </a:lnSpc>
              <a:buNone/>
            </a:pPr>
            <a:r>
              <a:rPr lang="en-US" sz="2100" b="1" dirty="0">
                <a:solidFill>
                  <a:srgbClr val="0C2340"/>
                </a:solidFill>
                <a:latin typeface="Calibri" pitchFamily="34" charset="0"/>
                <a:ea typeface="Calibri" pitchFamily="34" charset="-122"/>
                <a:cs typeface="Calibri" pitchFamily="34" charset="-120"/>
              </a:rPr>
              <a:t>Why There Is No User Cohort</a:t>
            </a:r>
            <a:endParaRPr lang="en-US" sz="2100" dirty="0"/>
          </a:p>
          <a:p>
            <a:pPr indent="0" marL="0">
              <a:lnSpc>
                <a:spcPts val="2200"/>
              </a:lnSpc>
              <a:buNone/>
            </a:pPr>
            <a:r>
              <a:rPr lang="en-US" sz="1900" dirty="0">
                <a:solidFill>
                  <a:srgbClr val="1A1A1A"/>
                </a:solidFill>
                <a:latin typeface="Calibri" pitchFamily="34" charset="0"/>
                <a:ea typeface="Calibri" pitchFamily="34" charset="-122"/>
                <a:cs typeface="Calibri" pitchFamily="34" charset="-120"/>
              </a:rPr>
              <a:t>This is an Applied route project, so the handbook expects the deliverable to be validated by potential beneficiaries or by an expert.</a:t>
            </a:r>
            <a:endParaRPr lang="en-US" sz="2100" dirty="0"/>
          </a:p>
          <a:p>
            <a:pPr indent="0" marL="0">
              <a:lnSpc>
                <a:spcPts val="2200"/>
              </a:lnSpc>
              <a:buNone/>
            </a:pPr>
            <a:endParaRPr lang="en-US" sz="2100" dirty="0"/>
          </a:p>
          <a:p>
            <a:pPr indent="0" marL="0">
              <a:lnSpc>
                <a:spcPts val="2200"/>
              </a:lnSpc>
              <a:buNone/>
            </a:pPr>
            <a:r>
              <a:rPr lang="en-US" sz="1900" dirty="0">
                <a:solidFill>
                  <a:srgbClr val="1A1A1A"/>
                </a:solidFill>
                <a:latin typeface="Calibri" pitchFamily="34" charset="0"/>
                <a:ea typeface="Calibri" pitchFamily="34" charset="-122"/>
                <a:cs typeface="Calibri" pitchFamily="34" charset="-120"/>
              </a:rPr>
              <a:t>The project uses secondary data only and recruits no participants, settled at the ethics stage under UREC1. There is therefore no participant cohort, no demographics and no consent process to report.</a:t>
            </a:r>
            <a:endParaRPr lang="en-US" sz="2100" dirty="0"/>
          </a:p>
          <a:p>
            <a:pPr indent="0" marL="0">
              <a:lnSpc>
                <a:spcPts val="2200"/>
              </a:lnSpc>
              <a:buNone/>
            </a:pPr>
            <a:endParaRPr lang="en-US" sz="2100" dirty="0"/>
          </a:p>
          <a:p>
            <a:pPr indent="0" marL="0">
              <a:lnSpc>
                <a:spcPts val="2200"/>
              </a:lnSpc>
              <a:buNone/>
            </a:pPr>
            <a:r>
              <a:rPr lang="en-US" sz="1900" b="1" dirty="0">
                <a:solidFill>
                  <a:srgbClr val="B3512F"/>
                </a:solidFill>
                <a:latin typeface="Calibri" pitchFamily="34" charset="0"/>
                <a:ea typeface="Calibri" pitchFamily="34" charset="-122"/>
                <a:cs typeface="Calibri" pitchFamily="34" charset="-120"/>
              </a:rPr>
              <a:t>Validation is by expert review instead, which the marking criteria accept as an alternative.</a:t>
            </a:r>
            <a:endParaRPr lang="en-US" sz="2100" dirty="0"/>
          </a:p>
        </p:txBody>
      </p:sp>
      <p:sp>
        <p:nvSpPr>
          <p:cNvPr id="8" name="Shape 6"/>
          <p:cNvSpPr/>
          <p:nvPr/>
        </p:nvSpPr>
        <p:spPr>
          <a:xfrm>
            <a:off x="6355080" y="1207008"/>
            <a:ext cx="5193792" cy="4517136"/>
          </a:xfrm>
          <a:prstGeom prst="roundRect">
            <a:avLst>
              <a:gd name="adj" fmla="val 1822"/>
            </a:avLst>
          </a:prstGeom>
          <a:solidFill>
            <a:srgbClr val="F4F7FA"/>
          </a:solidFill>
          <a:ln w="12700">
            <a:solidFill>
              <a:srgbClr val="D6DDE5"/>
            </a:solidFill>
            <a:prstDash val="solid"/>
          </a:ln>
        </p:spPr>
      </p:sp>
      <p:sp>
        <p:nvSpPr>
          <p:cNvPr id="9" name="Text 7"/>
          <p:cNvSpPr txBox="1"/>
          <p:nvPr/>
        </p:nvSpPr>
        <p:spPr>
          <a:xfrm>
            <a:off x="6601968" y="1444752"/>
            <a:ext cx="4709160" cy="4023360"/>
          </a:xfrm>
          <a:prstGeom prst="rect">
            <a:avLst/>
          </a:prstGeom>
          <a:noFill/>
          <a:ln/>
        </p:spPr>
        <p:txBody>
          <a:bodyPr wrap="square" lIns="0" tIns="0" rIns="0" bIns="0" rtlCol="0" anchor="t"/>
          <a:lstStyle/>
          <a:p>
            <a:pPr indent="0" marL="0">
              <a:lnSpc>
                <a:spcPts val="2400"/>
              </a:lnSpc>
              <a:spcAft>
                <a:spcPts val="600"/>
              </a:spcAft>
              <a:buNone/>
            </a:pPr>
            <a:r>
              <a:rPr lang="en-US" sz="2200" b="1" dirty="0">
                <a:solidFill>
                  <a:srgbClr val="0C2340"/>
                </a:solidFill>
                <a:latin typeface="Calibri" pitchFamily="34" charset="0"/>
                <a:ea typeface="Calibri" pitchFamily="34" charset="-122"/>
                <a:cs typeface="Calibri" pitchFamily="34" charset="-120"/>
              </a:rPr>
              <a:t>How the Deliverable Was Validated</a:t>
            </a:r>
            <a:endParaRPr lang="en-US" sz="2200" dirty="0"/>
          </a:p>
          <a:p>
            <a:pPr marL="342900" indent="-342900">
              <a:lnSpc>
                <a:spcPts val="2400"/>
              </a:lnSpc>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Expert review: supervisor critique at each project milestone.</a:t>
            </a:r>
            <a:endParaRPr lang="en-US" sz="2200" dirty="0"/>
          </a:p>
          <a:p>
            <a:pPr marL="342900" indent="-342900">
              <a:lnSpc>
                <a:spcPts val="2400"/>
              </a:lnSpc>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Technical validation: the artefact measured against the Track A baseline across four metrics.</a:t>
            </a:r>
            <a:endParaRPr lang="en-US" sz="2200" dirty="0"/>
          </a:p>
          <a:p>
            <a:pPr marL="342900" indent="-342900">
              <a:lnSpc>
                <a:spcPts val="2400"/>
              </a:lnSpc>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Acceptance testing: the application driven through every page against four acceptance criteria.</a:t>
            </a:r>
            <a:endParaRPr lang="en-US" sz="2200" dirty="0"/>
          </a:p>
          <a:p>
            <a:pPr marL="342900" indent="-342900">
              <a:lnSpc>
                <a:spcPts val="2400"/>
              </a:lnSpc>
              <a:spcAft>
                <a:spcPts val="600"/>
              </a:spcAft>
              <a:buSzPct val="100000"/>
              <a:buChar char="•"/>
            </a:pPr>
            <a:r>
              <a:rPr lang="en-US" sz="2000" dirty="0">
                <a:solidFill>
                  <a:srgbClr val="1A1A1A"/>
                </a:solidFill>
                <a:latin typeface="Calibri" pitchFamily="34" charset="0"/>
                <a:ea typeface="Calibri" pitchFamily="34" charset="-122"/>
                <a:cs typeface="Calibri" pitchFamily="34" charset="-120"/>
              </a:rPr>
              <a:t>Self-evaluation: progress assessed against the six objectives at each stage.</a:t>
            </a:r>
            <a:endParaRPr lang="en-US" sz="2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39</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Triangulation Against the Baseline</a:t>
            </a:r>
            <a:endParaRPr lang="en-US" sz="3200" dirty="0"/>
          </a:p>
        </p:txBody>
      </p:sp>
      <p:sp>
        <p:nvSpPr>
          <p:cNvPr id="6" name="Text 4"/>
          <p:cNvSpPr txBox="1"/>
          <p:nvPr/>
        </p:nvSpPr>
        <p:spPr>
          <a:xfrm>
            <a:off x="640080" y="1133856"/>
            <a:ext cx="10908792" cy="310896"/>
          </a:xfrm>
          <a:prstGeom prst="rect">
            <a:avLst/>
          </a:prstGeom>
          <a:noFill/>
          <a:ln/>
        </p:spPr>
        <p:txBody>
          <a:bodyPr wrap="square" lIns="0" tIns="0" rIns="0" bIns="0"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Table 6: Triangulation across technical, strategic and operational vectors.</a:t>
            </a:r>
            <a:endParaRPr lang="en-US" sz="14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908792" cy="914400"/>
        </p:xfrm>
        <a:graphic>
          <a:graphicData uri="http://schemas.openxmlformats.org/drawingml/2006/table">
            <a:tbl>
              <a:tblPr/>
              <a:tblGrid>
                <a:gridCol w="3776472"/>
                <a:gridCol w="3566160"/>
                <a:gridCol w="3566160"/>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Vector</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Baseline: Track A, Emoji Removed</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Artefact: Track B, Emoji Verbalised</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Technical: BiLSTM Micro-F1</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53.63%</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55.65%  (+2.03)</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Technical: Transformer Micro-F1</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47.29%</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51.00%  (+3.71)</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Technical: BiLSTM label accuracy</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74.02%</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75.85%  (+1.83)</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Technical: BiLSTM subset accuracy</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5.53%</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9.48%  (+3.95)</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Strategic: basis for the choice</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An untested convention</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A measured effect</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Operational: visibility</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No way to see the contribution</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A1A1A"/>
                          </a:solidFill>
                          <a:latin typeface="Calibri" pitchFamily="34" charset="0"/>
                          <a:ea typeface="Calibri" pitchFamily="34" charset="-122"/>
                          <a:cs typeface="Calibri" pitchFamily="34" charset="-120"/>
                        </a:rPr>
                        <a:t>Side by side in the application</a:t>
                      </a:r>
                      <a:endParaRPr lang="en-US" sz="18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40080" y="5257800"/>
            <a:ext cx="10908792" cy="548640"/>
          </a:xfrm>
          <a:prstGeom prst="rect">
            <a:avLst/>
          </a:prstGeom>
          <a:noFill/>
          <a:ln/>
        </p:spPr>
        <p:txBody>
          <a:bodyPr wrap="square" lIns="0" tIns="0" rIns="0" bIns="0" rtlCol="0" anchor="t"/>
          <a:lstStyle/>
          <a:p>
            <a:pPr indent="0" marL="0">
              <a:lnSpc>
                <a:spcPts val="2200"/>
              </a:lnSpc>
              <a:buNone/>
            </a:pPr>
            <a:r>
              <a:rPr lang="en-US" sz="1900" i="1" dirty="0">
                <a:solidFill>
                  <a:srgbClr val="0C2340"/>
                </a:solidFill>
                <a:latin typeface="Calibri" pitchFamily="34" charset="0"/>
                <a:ea typeface="Calibri" pitchFamily="34" charset="-122"/>
                <a:cs typeface="Calibri" pitchFamily="34" charset="-120"/>
              </a:rPr>
              <a:t>Every vector moves in the same direction, which is what gives confidence that the improvement is the emoji step rather than noise in one metric.</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40</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Feedback and How It Was Applied</a:t>
            </a:r>
            <a:endParaRPr lang="en-US" sz="3200" dirty="0"/>
          </a:p>
        </p:txBody>
      </p:sp>
      <p:sp>
        <p:nvSpPr>
          <p:cNvPr id="6" name="Shape 4"/>
          <p:cNvSpPr/>
          <p:nvPr/>
        </p:nvSpPr>
        <p:spPr>
          <a:xfrm>
            <a:off x="640080" y="1234440"/>
            <a:ext cx="10908792" cy="1298448"/>
          </a:xfrm>
          <a:prstGeom prst="roundRect">
            <a:avLst>
              <a:gd name="adj" fmla="val 6338"/>
            </a:avLst>
          </a:prstGeom>
          <a:solidFill>
            <a:srgbClr val="F4F7FA"/>
          </a:solidFill>
          <a:ln w="12700">
            <a:solidFill>
              <a:srgbClr val="D6DDE5"/>
            </a:solidFill>
            <a:prstDash val="solid"/>
          </a:ln>
        </p:spPr>
      </p:sp>
      <p:sp>
        <p:nvSpPr>
          <p:cNvPr id="7" name="Shape 5"/>
          <p:cNvSpPr/>
          <p:nvPr/>
        </p:nvSpPr>
        <p:spPr>
          <a:xfrm>
            <a:off x="868680" y="1563624"/>
            <a:ext cx="1600200" cy="640080"/>
          </a:xfrm>
          <a:prstGeom prst="roundRect">
            <a:avLst>
              <a:gd name="adj" fmla="val 11429"/>
            </a:avLst>
          </a:prstGeom>
          <a:solidFill>
            <a:srgbClr val="0C2340"/>
          </a:solidFill>
          <a:ln w="12700">
            <a:solidFill>
              <a:srgbClr val="0C2340"/>
            </a:solidFill>
            <a:prstDash val="solid"/>
          </a:ln>
        </p:spPr>
      </p:sp>
      <p:sp>
        <p:nvSpPr>
          <p:cNvPr id="8" name="Text 6"/>
          <p:cNvSpPr txBox="1"/>
          <p:nvPr/>
        </p:nvSpPr>
        <p:spPr>
          <a:xfrm>
            <a:off x="868680" y="1563624"/>
            <a:ext cx="160020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Supervisor</a:t>
            </a:r>
            <a:endParaRPr lang="en-US" sz="1700" dirty="0"/>
          </a:p>
        </p:txBody>
      </p:sp>
      <p:sp>
        <p:nvSpPr>
          <p:cNvPr id="9" name="Text 7"/>
          <p:cNvSpPr txBox="1"/>
          <p:nvPr/>
        </p:nvSpPr>
        <p:spPr>
          <a:xfrm>
            <a:off x="2697480" y="1344168"/>
            <a:ext cx="8668512" cy="1152144"/>
          </a:xfrm>
          <a:prstGeom prst="rect">
            <a:avLst/>
          </a:prstGeom>
          <a:noFill/>
          <a:ln/>
        </p:spPr>
        <p:txBody>
          <a:bodyPr wrap="square" lIns="0" tIns="0" rIns="0" bIns="0" rtlCol="0" anchor="ctr"/>
          <a:lstStyle/>
          <a:p>
            <a:pPr indent="0" marL="0">
              <a:lnSpc>
                <a:spcPts val="2400"/>
              </a:lnSpc>
              <a:buNone/>
            </a:pPr>
            <a:r>
              <a:rPr lang="en-US" sz="2000" b="1" dirty="0">
                <a:solidFill>
                  <a:srgbClr val="B3512F"/>
                </a:solidFill>
                <a:latin typeface="Calibri" pitchFamily="34" charset="0"/>
                <a:ea typeface="Calibri" pitchFamily="34" charset="-122"/>
                <a:cs typeface="Calibri" pitchFamily="34" charset="-120"/>
              </a:rPr>
              <a:t>Narrow the scope.  </a:t>
            </a:r>
            <a:pPr indent="0" marL="0">
              <a:lnSpc>
                <a:spcPts val="2400"/>
              </a:lnSpc>
              <a:buNone/>
            </a:pPr>
            <a:r>
              <a:rPr lang="en-US" sz="2000" dirty="0">
                <a:solidFill>
                  <a:srgbClr val="1A1A1A"/>
                </a:solidFill>
                <a:latin typeface="Calibri" pitchFamily="34" charset="0"/>
                <a:ea typeface="Calibri" pitchFamily="34" charset="-122"/>
                <a:cs typeface="Calibri" pitchFamily="34" charset="-120"/>
              </a:rPr>
              <a:t>A general modelling exercise became a controlled experiment with a single fork. This is the change that made the project answerable.</a:t>
            </a:r>
            <a:endParaRPr lang="en-US" sz="2000" dirty="0"/>
          </a:p>
        </p:txBody>
      </p:sp>
      <p:sp>
        <p:nvSpPr>
          <p:cNvPr id="10" name="Shape 8"/>
          <p:cNvSpPr/>
          <p:nvPr/>
        </p:nvSpPr>
        <p:spPr>
          <a:xfrm>
            <a:off x="640080" y="2651760"/>
            <a:ext cx="10908792" cy="1298448"/>
          </a:xfrm>
          <a:prstGeom prst="roundRect">
            <a:avLst>
              <a:gd name="adj" fmla="val 6338"/>
            </a:avLst>
          </a:prstGeom>
          <a:solidFill>
            <a:srgbClr val="F4F7FA"/>
          </a:solidFill>
          <a:ln w="12700">
            <a:solidFill>
              <a:srgbClr val="D6DDE5"/>
            </a:solidFill>
            <a:prstDash val="solid"/>
          </a:ln>
        </p:spPr>
      </p:sp>
      <p:sp>
        <p:nvSpPr>
          <p:cNvPr id="11" name="Shape 9"/>
          <p:cNvSpPr/>
          <p:nvPr/>
        </p:nvSpPr>
        <p:spPr>
          <a:xfrm>
            <a:off x="868680" y="2980944"/>
            <a:ext cx="1600200" cy="640080"/>
          </a:xfrm>
          <a:prstGeom prst="roundRect">
            <a:avLst>
              <a:gd name="adj" fmla="val 11429"/>
            </a:avLst>
          </a:prstGeom>
          <a:solidFill>
            <a:srgbClr val="0C2340"/>
          </a:solidFill>
          <a:ln w="12700">
            <a:solidFill>
              <a:srgbClr val="0C2340"/>
            </a:solidFill>
            <a:prstDash val="solid"/>
          </a:ln>
        </p:spPr>
      </p:sp>
      <p:sp>
        <p:nvSpPr>
          <p:cNvPr id="12" name="Text 10"/>
          <p:cNvSpPr txBox="1"/>
          <p:nvPr/>
        </p:nvSpPr>
        <p:spPr>
          <a:xfrm>
            <a:off x="868680" y="2980944"/>
            <a:ext cx="160020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Supervisor</a:t>
            </a:r>
            <a:endParaRPr lang="en-US" sz="1700" dirty="0"/>
          </a:p>
        </p:txBody>
      </p:sp>
      <p:sp>
        <p:nvSpPr>
          <p:cNvPr id="13" name="Text 11"/>
          <p:cNvSpPr txBox="1"/>
          <p:nvPr/>
        </p:nvSpPr>
        <p:spPr>
          <a:xfrm>
            <a:off x="2697480" y="2761488"/>
            <a:ext cx="8668512" cy="1152144"/>
          </a:xfrm>
          <a:prstGeom prst="rect">
            <a:avLst/>
          </a:prstGeom>
          <a:noFill/>
          <a:ln/>
        </p:spPr>
        <p:txBody>
          <a:bodyPr wrap="square" lIns="0" tIns="0" rIns="0" bIns="0" rtlCol="0" anchor="ctr"/>
          <a:lstStyle/>
          <a:p>
            <a:pPr indent="0" marL="0">
              <a:lnSpc>
                <a:spcPts val="2400"/>
              </a:lnSpc>
              <a:buNone/>
            </a:pPr>
            <a:r>
              <a:rPr lang="en-US" sz="2000" b="1" dirty="0">
                <a:solidFill>
                  <a:srgbClr val="B3512F"/>
                </a:solidFill>
                <a:latin typeface="Calibri" pitchFamily="34" charset="0"/>
                <a:ea typeface="Calibri" pitchFamily="34" charset="-122"/>
                <a:cs typeface="Calibri" pitchFamily="34" charset="-120"/>
              </a:rPr>
              <a:t>Review of early results.  </a:t>
            </a:r>
            <a:pPr indent="0" marL="0">
              <a:lnSpc>
                <a:spcPts val="2400"/>
              </a:lnSpc>
              <a:buNone/>
            </a:pPr>
            <a:r>
              <a:rPr lang="en-US" sz="2000" dirty="0">
                <a:solidFill>
                  <a:srgbClr val="1A1A1A"/>
                </a:solidFill>
                <a:latin typeface="Calibri" pitchFamily="34" charset="0"/>
                <a:ea typeface="Calibri" pitchFamily="34" charset="-122"/>
                <a:cs typeface="Calibri" pitchFamily="34" charset="-120"/>
              </a:rPr>
              <a:t>Reporting moved from the average alone to per-emotion figures, which exposed the 15.9 point spread the average hides.</a:t>
            </a:r>
            <a:endParaRPr lang="en-US" sz="2000" dirty="0"/>
          </a:p>
        </p:txBody>
      </p:sp>
      <p:sp>
        <p:nvSpPr>
          <p:cNvPr id="14" name="Shape 12"/>
          <p:cNvSpPr/>
          <p:nvPr/>
        </p:nvSpPr>
        <p:spPr>
          <a:xfrm>
            <a:off x="640080" y="4069080"/>
            <a:ext cx="10908792" cy="1298448"/>
          </a:xfrm>
          <a:prstGeom prst="roundRect">
            <a:avLst>
              <a:gd name="adj" fmla="val 6338"/>
            </a:avLst>
          </a:prstGeom>
          <a:solidFill>
            <a:srgbClr val="F4F7FA"/>
          </a:solidFill>
          <a:ln w="12700">
            <a:solidFill>
              <a:srgbClr val="D6DDE5"/>
            </a:solidFill>
            <a:prstDash val="solid"/>
          </a:ln>
        </p:spPr>
      </p:sp>
      <p:sp>
        <p:nvSpPr>
          <p:cNvPr id="15" name="Shape 13"/>
          <p:cNvSpPr/>
          <p:nvPr/>
        </p:nvSpPr>
        <p:spPr>
          <a:xfrm>
            <a:off x="868680" y="4398264"/>
            <a:ext cx="1600200" cy="640080"/>
          </a:xfrm>
          <a:prstGeom prst="roundRect">
            <a:avLst>
              <a:gd name="adj" fmla="val 11429"/>
            </a:avLst>
          </a:prstGeom>
          <a:solidFill>
            <a:srgbClr val="0C2340"/>
          </a:solidFill>
          <a:ln w="12700">
            <a:solidFill>
              <a:srgbClr val="0C2340"/>
            </a:solidFill>
            <a:prstDash val="solid"/>
          </a:ln>
        </p:spPr>
      </p:sp>
      <p:sp>
        <p:nvSpPr>
          <p:cNvPr id="16" name="Text 14"/>
          <p:cNvSpPr txBox="1"/>
          <p:nvPr/>
        </p:nvSpPr>
        <p:spPr>
          <a:xfrm>
            <a:off x="868680" y="4398264"/>
            <a:ext cx="160020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Testing</a:t>
            </a:r>
            <a:endParaRPr lang="en-US" sz="1700" dirty="0"/>
          </a:p>
        </p:txBody>
      </p:sp>
      <p:sp>
        <p:nvSpPr>
          <p:cNvPr id="17" name="Text 15"/>
          <p:cNvSpPr txBox="1"/>
          <p:nvPr/>
        </p:nvSpPr>
        <p:spPr>
          <a:xfrm>
            <a:off x="2697480" y="4178808"/>
            <a:ext cx="8668512" cy="1152144"/>
          </a:xfrm>
          <a:prstGeom prst="rect">
            <a:avLst/>
          </a:prstGeom>
          <a:noFill/>
          <a:ln/>
        </p:spPr>
        <p:txBody>
          <a:bodyPr wrap="square" lIns="0" tIns="0" rIns="0" bIns="0" rtlCol="0" anchor="ctr"/>
          <a:lstStyle/>
          <a:p>
            <a:pPr indent="0" marL="0">
              <a:lnSpc>
                <a:spcPts val="2400"/>
              </a:lnSpc>
              <a:buNone/>
            </a:pPr>
            <a:r>
              <a:rPr lang="en-US" sz="2000" b="1" dirty="0">
                <a:solidFill>
                  <a:srgbClr val="B3512F"/>
                </a:solidFill>
                <a:latin typeface="Calibri" pitchFamily="34" charset="0"/>
                <a:ea typeface="Calibri" pitchFamily="34" charset="-122"/>
                <a:cs typeface="Calibri" pitchFamily="34" charset="-120"/>
              </a:rPr>
              <a:t>Two defects in integration.  </a:t>
            </a:r>
            <a:pPr indent="0" marL="0">
              <a:lnSpc>
                <a:spcPts val="2400"/>
              </a:lnSpc>
              <a:buNone/>
            </a:pPr>
            <a:r>
              <a:rPr lang="en-US" sz="2000" dirty="0">
                <a:solidFill>
                  <a:srgbClr val="1A1A1A"/>
                </a:solidFill>
                <a:latin typeface="Calibri" pitchFamily="34" charset="0"/>
                <a:ea typeface="Calibri" pitchFamily="34" charset="-122"/>
                <a:cs typeface="Calibri" pitchFamily="34" charset="-120"/>
              </a:rPr>
              <a:t>An unsupported text input type and an undefined output when emoji-only input left Track A empty. Both were fixed, retested and guarded.</a:t>
            </a:r>
            <a:endParaRPr lang="en-US" sz="2000" dirty="0"/>
          </a:p>
        </p:txBody>
      </p:sp>
      <p:sp>
        <p:nvSpPr>
          <p:cNvPr id="18" name="Text 16"/>
          <p:cNvSpPr txBox="1"/>
          <p:nvPr/>
        </p:nvSpPr>
        <p:spPr>
          <a:xfrm>
            <a:off x="640080" y="5504688"/>
            <a:ext cx="10908792" cy="301752"/>
          </a:xfrm>
          <a:prstGeom prst="rect">
            <a:avLst/>
          </a:prstGeom>
          <a:noFill/>
          <a:ln/>
        </p:spPr>
        <p:txBody>
          <a:bodyPr wrap="square" lIns="0" tIns="0" rIns="0" bIns="0" rtlCol="0" anchor="ctr"/>
          <a:lstStyle/>
          <a:p>
            <a:pPr indent="0" marL="0">
              <a:buNone/>
            </a:pPr>
            <a:r>
              <a:rPr lang="en-US" sz="1800" i="1" dirty="0">
                <a:solidFill>
                  <a:srgbClr val="0C2340"/>
                </a:solidFill>
                <a:latin typeface="Calibri" pitchFamily="34" charset="0"/>
                <a:ea typeface="Calibri" pitchFamily="34" charset="-122"/>
                <a:cs typeface="Calibri" pitchFamily="34" charset="-120"/>
              </a:rPr>
              <a:t>Each of these changed the final artefact rather than only the write-up.</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41</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Strengths, Weaknesses and Limitations</a:t>
            </a:r>
            <a:endParaRPr lang="en-US" sz="3200" dirty="0"/>
          </a:p>
        </p:txBody>
      </p:sp>
      <p:sp>
        <p:nvSpPr>
          <p:cNvPr id="6" name="Shape 4"/>
          <p:cNvSpPr/>
          <p:nvPr/>
        </p:nvSpPr>
        <p:spPr>
          <a:xfrm>
            <a:off x="640080" y="1207008"/>
            <a:ext cx="3538728" cy="4517136"/>
          </a:xfrm>
          <a:prstGeom prst="roundRect">
            <a:avLst>
              <a:gd name="adj" fmla="val 2326"/>
            </a:avLst>
          </a:prstGeom>
          <a:solidFill>
            <a:srgbClr val="F4F7FA"/>
          </a:solidFill>
          <a:ln w="12700">
            <a:solidFill>
              <a:srgbClr val="D6DDE5"/>
            </a:solidFill>
            <a:prstDash val="solid"/>
          </a:ln>
        </p:spPr>
      </p:sp>
      <p:sp>
        <p:nvSpPr>
          <p:cNvPr id="7" name="Shape 5"/>
          <p:cNvSpPr/>
          <p:nvPr/>
        </p:nvSpPr>
        <p:spPr>
          <a:xfrm>
            <a:off x="640080" y="1207008"/>
            <a:ext cx="3538728" cy="621792"/>
          </a:xfrm>
          <a:prstGeom prst="roundRect">
            <a:avLst>
              <a:gd name="adj" fmla="val 13235"/>
            </a:avLst>
          </a:prstGeom>
          <a:solidFill>
            <a:srgbClr val="B3512F"/>
          </a:solidFill>
          <a:ln w="12700">
            <a:solidFill>
              <a:srgbClr val="B3512F"/>
            </a:solidFill>
            <a:prstDash val="solid"/>
          </a:ln>
        </p:spPr>
      </p:sp>
      <p:sp>
        <p:nvSpPr>
          <p:cNvPr id="8" name="Text 6"/>
          <p:cNvSpPr txBox="1"/>
          <p:nvPr/>
        </p:nvSpPr>
        <p:spPr>
          <a:xfrm>
            <a:off x="640080" y="1207008"/>
            <a:ext cx="3538728"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Strengths</a:t>
            </a:r>
            <a:endParaRPr lang="en-US" sz="2200" dirty="0"/>
          </a:p>
        </p:txBody>
      </p:sp>
      <p:sp>
        <p:nvSpPr>
          <p:cNvPr id="9" name="Text 7"/>
          <p:cNvSpPr txBox="1"/>
          <p:nvPr/>
        </p:nvSpPr>
        <p:spPr>
          <a:xfrm>
            <a:off x="868680" y="1938528"/>
            <a:ext cx="3081528" cy="3657600"/>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700" dirty="0">
                <a:solidFill>
                  <a:srgbClr val="1A1A1A"/>
                </a:solidFill>
                <a:latin typeface="Calibri" pitchFamily="34" charset="0"/>
                <a:ea typeface="Calibri" pitchFamily="34" charset="-122"/>
                <a:cs typeface="Calibri" pitchFamily="34" charset="-120"/>
              </a:rPr>
              <a:t>The single fork removes the confound the literature could not remove</a:t>
            </a:r>
            <a:endParaRPr lang="en-US" sz="1700" dirty="0"/>
          </a:p>
          <a:p>
            <a:pPr marL="342900" indent="-342900">
              <a:lnSpc>
                <a:spcPts val="2100"/>
              </a:lnSpc>
              <a:spcAft>
                <a:spcPts val="700"/>
              </a:spcAft>
              <a:buSzPct val="100000"/>
              <a:buChar char="•"/>
            </a:pPr>
            <a:r>
              <a:rPr lang="en-US" sz="1700" dirty="0">
                <a:solidFill>
                  <a:srgbClr val="1A1A1A"/>
                </a:solidFill>
                <a:latin typeface="Calibri" pitchFamily="34" charset="0"/>
                <a:ea typeface="Calibri" pitchFamily="34" charset="-122"/>
                <a:cs typeface="Calibri" pitchFamily="34" charset="-120"/>
              </a:rPr>
              <a:t>Identical protocol and budget across all four conditions</a:t>
            </a:r>
            <a:endParaRPr lang="en-US" sz="1700" dirty="0"/>
          </a:p>
          <a:p>
            <a:pPr marL="342900" indent="-342900">
              <a:lnSpc>
                <a:spcPts val="2100"/>
              </a:lnSpc>
              <a:spcAft>
                <a:spcPts val="700"/>
              </a:spcAft>
              <a:buSzPct val="100000"/>
              <a:buChar char="•"/>
            </a:pPr>
            <a:r>
              <a:rPr lang="en-US" sz="1700" dirty="0">
                <a:solidFill>
                  <a:srgbClr val="1A1A1A"/>
                </a:solidFill>
                <a:latin typeface="Calibri" pitchFamily="34" charset="0"/>
                <a:ea typeface="Calibri" pitchFamily="34" charset="-122"/>
                <a:cs typeface="Calibri" pitchFamily="34" charset="-120"/>
              </a:rPr>
              <a:t>Fixed seed, with every artefact written to disk</a:t>
            </a:r>
            <a:endParaRPr lang="en-US" sz="1700" dirty="0"/>
          </a:p>
          <a:p>
            <a:pPr marL="342900" indent="-342900">
              <a:lnSpc>
                <a:spcPts val="2100"/>
              </a:lnSpc>
              <a:spcAft>
                <a:spcPts val="700"/>
              </a:spcAft>
              <a:buSzPct val="100000"/>
              <a:buChar char="•"/>
            </a:pPr>
            <a:r>
              <a:rPr lang="en-US" sz="1700" dirty="0">
                <a:solidFill>
                  <a:srgbClr val="1A1A1A"/>
                </a:solidFill>
                <a:latin typeface="Calibri" pitchFamily="34" charset="0"/>
                <a:ea typeface="Calibri" pitchFamily="34" charset="-122"/>
                <a:cs typeface="Calibri" pitchFamily="34" charset="-120"/>
              </a:rPr>
              <a:t>Per-emotion reporting, which the reviewed studies omit</a:t>
            </a:r>
            <a:endParaRPr lang="en-US" sz="1700" dirty="0"/>
          </a:p>
          <a:p>
            <a:pPr marL="342900" indent="-342900">
              <a:lnSpc>
                <a:spcPts val="2100"/>
              </a:lnSpc>
              <a:spcAft>
                <a:spcPts val="700"/>
              </a:spcAft>
              <a:buSzPct val="100000"/>
              <a:buChar char="•"/>
            </a:pPr>
            <a:r>
              <a:rPr lang="en-US" sz="1700" dirty="0">
                <a:solidFill>
                  <a:srgbClr val="1A1A1A"/>
                </a:solidFill>
                <a:latin typeface="Calibri" pitchFamily="34" charset="0"/>
                <a:ea typeface="Calibri" pitchFamily="34" charset="-122"/>
                <a:cs typeface="Calibri" pitchFamily="34" charset="-120"/>
              </a:rPr>
              <a:t>Test split preserved unused</a:t>
            </a:r>
            <a:endParaRPr lang="en-US" sz="1700" dirty="0"/>
          </a:p>
        </p:txBody>
      </p:sp>
      <p:sp>
        <p:nvSpPr>
          <p:cNvPr id="10" name="Shape 8"/>
          <p:cNvSpPr/>
          <p:nvPr/>
        </p:nvSpPr>
        <p:spPr>
          <a:xfrm>
            <a:off x="4325112" y="1207008"/>
            <a:ext cx="3538728" cy="4517136"/>
          </a:xfrm>
          <a:prstGeom prst="roundRect">
            <a:avLst>
              <a:gd name="adj" fmla="val 2326"/>
            </a:avLst>
          </a:prstGeom>
          <a:solidFill>
            <a:srgbClr val="F4F7FA"/>
          </a:solidFill>
          <a:ln w="12700">
            <a:solidFill>
              <a:srgbClr val="D6DDE5"/>
            </a:solidFill>
            <a:prstDash val="solid"/>
          </a:ln>
        </p:spPr>
      </p:sp>
      <p:sp>
        <p:nvSpPr>
          <p:cNvPr id="11" name="Shape 9"/>
          <p:cNvSpPr/>
          <p:nvPr/>
        </p:nvSpPr>
        <p:spPr>
          <a:xfrm>
            <a:off x="4325112" y="1207008"/>
            <a:ext cx="3538728" cy="621792"/>
          </a:xfrm>
          <a:prstGeom prst="roundRect">
            <a:avLst>
              <a:gd name="adj" fmla="val 13235"/>
            </a:avLst>
          </a:prstGeom>
          <a:solidFill>
            <a:srgbClr val="0C2340"/>
          </a:solidFill>
          <a:ln w="12700">
            <a:solidFill>
              <a:srgbClr val="0C2340"/>
            </a:solidFill>
            <a:prstDash val="solid"/>
          </a:ln>
        </p:spPr>
      </p:sp>
      <p:sp>
        <p:nvSpPr>
          <p:cNvPr id="12" name="Text 10"/>
          <p:cNvSpPr txBox="1"/>
          <p:nvPr/>
        </p:nvSpPr>
        <p:spPr>
          <a:xfrm>
            <a:off x="4325112" y="1207008"/>
            <a:ext cx="3538728"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Weaknesses</a:t>
            </a:r>
            <a:endParaRPr lang="en-US" sz="2200" dirty="0"/>
          </a:p>
        </p:txBody>
      </p:sp>
      <p:sp>
        <p:nvSpPr>
          <p:cNvPr id="13" name="Text 11"/>
          <p:cNvSpPr txBox="1"/>
          <p:nvPr/>
        </p:nvSpPr>
        <p:spPr>
          <a:xfrm>
            <a:off x="4553712" y="1938528"/>
            <a:ext cx="3081528" cy="3657600"/>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700" dirty="0">
                <a:solidFill>
                  <a:srgbClr val="1A1A1A"/>
                </a:solidFill>
                <a:latin typeface="Calibri" pitchFamily="34" charset="0"/>
                <a:ea typeface="Calibri" pitchFamily="34" charset="-122"/>
                <a:cs typeface="Calibri" pitchFamily="34" charset="-120"/>
              </a:rPr>
              <a:t>Both architectures trained from scratch, so absolute scores are modest</a:t>
            </a:r>
            <a:endParaRPr lang="en-US" sz="1700" dirty="0"/>
          </a:p>
          <a:p>
            <a:pPr marL="342900" indent="-342900">
              <a:lnSpc>
                <a:spcPts val="2100"/>
              </a:lnSpc>
              <a:spcAft>
                <a:spcPts val="700"/>
              </a:spcAft>
              <a:buSzPct val="100000"/>
              <a:buChar char="•"/>
            </a:pPr>
            <a:r>
              <a:rPr lang="en-US" sz="1700" dirty="0">
                <a:solidFill>
                  <a:srgbClr val="1A1A1A"/>
                </a:solidFill>
                <a:latin typeface="Calibri" pitchFamily="34" charset="0"/>
                <a:ea typeface="Calibri" pitchFamily="34" charset="-122"/>
                <a:cs typeface="Calibri" pitchFamily="34" charset="-120"/>
              </a:rPr>
              <a:t>One Transformer comparison also involves a configuration change</a:t>
            </a:r>
            <a:endParaRPr lang="en-US" sz="1700" dirty="0"/>
          </a:p>
          <a:p>
            <a:pPr marL="342900" indent="-342900">
              <a:lnSpc>
                <a:spcPts val="2100"/>
              </a:lnSpc>
              <a:spcAft>
                <a:spcPts val="700"/>
              </a:spcAft>
              <a:buSzPct val="100000"/>
              <a:buChar char="•"/>
            </a:pPr>
            <a:r>
              <a:rPr lang="en-US" sz="1700" dirty="0">
                <a:solidFill>
                  <a:srgbClr val="1A1A1A"/>
                </a:solidFill>
                <a:latin typeface="Calibri" pitchFamily="34" charset="0"/>
                <a:ea typeface="Calibri" pitchFamily="34" charset="-122"/>
                <a:cs typeface="Calibri" pitchFamily="34" charset="-120"/>
              </a:rPr>
              <a:t>Three configurations per condition, not an exhaustive search</a:t>
            </a:r>
            <a:endParaRPr lang="en-US" sz="1700" dirty="0"/>
          </a:p>
          <a:p>
            <a:pPr marL="342900" indent="-342900">
              <a:lnSpc>
                <a:spcPts val="2100"/>
              </a:lnSpc>
              <a:spcAft>
                <a:spcPts val="700"/>
              </a:spcAft>
              <a:buSzPct val="100000"/>
              <a:buChar char="•"/>
            </a:pPr>
            <a:r>
              <a:rPr lang="en-US" sz="1700" dirty="0">
                <a:solidFill>
                  <a:srgbClr val="1A1A1A"/>
                </a:solidFill>
                <a:latin typeface="Calibri" pitchFamily="34" charset="0"/>
                <a:ea typeface="Calibri" pitchFamily="34" charset="-122"/>
                <a:cs typeface="Calibri" pitchFamily="34" charset="-120"/>
              </a:rPr>
              <a:t>Emoji-only input is a genuine edge case</a:t>
            </a:r>
            <a:endParaRPr lang="en-US" sz="1700" dirty="0"/>
          </a:p>
        </p:txBody>
      </p:sp>
      <p:sp>
        <p:nvSpPr>
          <p:cNvPr id="14" name="Shape 12"/>
          <p:cNvSpPr/>
          <p:nvPr/>
        </p:nvSpPr>
        <p:spPr>
          <a:xfrm>
            <a:off x="8010144" y="1207008"/>
            <a:ext cx="3538728" cy="4517136"/>
          </a:xfrm>
          <a:prstGeom prst="roundRect">
            <a:avLst>
              <a:gd name="adj" fmla="val 2326"/>
            </a:avLst>
          </a:prstGeom>
          <a:solidFill>
            <a:srgbClr val="F4F7FA"/>
          </a:solidFill>
          <a:ln w="12700">
            <a:solidFill>
              <a:srgbClr val="D6DDE5"/>
            </a:solidFill>
            <a:prstDash val="solid"/>
          </a:ln>
        </p:spPr>
      </p:sp>
      <p:sp>
        <p:nvSpPr>
          <p:cNvPr id="15" name="Shape 13"/>
          <p:cNvSpPr/>
          <p:nvPr/>
        </p:nvSpPr>
        <p:spPr>
          <a:xfrm>
            <a:off x="8010144" y="1207008"/>
            <a:ext cx="3538728" cy="621792"/>
          </a:xfrm>
          <a:prstGeom prst="roundRect">
            <a:avLst>
              <a:gd name="adj" fmla="val 13235"/>
            </a:avLst>
          </a:prstGeom>
          <a:solidFill>
            <a:srgbClr val="0C2340"/>
          </a:solidFill>
          <a:ln w="12700">
            <a:solidFill>
              <a:srgbClr val="0C2340"/>
            </a:solidFill>
            <a:prstDash val="solid"/>
          </a:ln>
        </p:spPr>
      </p:sp>
      <p:sp>
        <p:nvSpPr>
          <p:cNvPr id="16" name="Text 14"/>
          <p:cNvSpPr txBox="1"/>
          <p:nvPr/>
        </p:nvSpPr>
        <p:spPr>
          <a:xfrm>
            <a:off x="8010144" y="1207008"/>
            <a:ext cx="3538728"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Limitations</a:t>
            </a:r>
            <a:endParaRPr lang="en-US" sz="2200" dirty="0"/>
          </a:p>
        </p:txBody>
      </p:sp>
      <p:sp>
        <p:nvSpPr>
          <p:cNvPr id="17" name="Text 15"/>
          <p:cNvSpPr txBox="1"/>
          <p:nvPr/>
        </p:nvSpPr>
        <p:spPr>
          <a:xfrm>
            <a:off x="8238744" y="1938528"/>
            <a:ext cx="3081528" cy="3657600"/>
          </a:xfrm>
          <a:prstGeom prst="rect">
            <a:avLst/>
          </a:prstGeom>
          <a:noFill/>
          <a:ln/>
        </p:spPr>
        <p:txBody>
          <a:bodyPr wrap="square" lIns="0" tIns="0" rIns="0" bIns="0" rtlCol="0" anchor="t"/>
          <a:lstStyle/>
          <a:p>
            <a:pPr marL="342900" indent="-342900">
              <a:lnSpc>
                <a:spcPts val="2100"/>
              </a:lnSpc>
              <a:spcAft>
                <a:spcPts val="700"/>
              </a:spcAft>
              <a:buSzPct val="100000"/>
              <a:buChar char="•"/>
            </a:pPr>
            <a:r>
              <a:rPr lang="en-US" sz="1700" dirty="0">
                <a:solidFill>
                  <a:srgbClr val="1A1A1A"/>
                </a:solidFill>
                <a:latin typeface="Calibri" pitchFamily="34" charset="0"/>
                <a:ea typeface="Calibri" pitchFamily="34" charset="-122"/>
                <a:cs typeface="Calibri" pitchFamily="34" charset="-120"/>
              </a:rPr>
              <a:t>Development split figures, so absolute values are optimistic</a:t>
            </a:r>
            <a:endParaRPr lang="en-US" sz="1700" dirty="0"/>
          </a:p>
          <a:p>
            <a:pPr marL="342900" indent="-342900">
              <a:lnSpc>
                <a:spcPts val="2100"/>
              </a:lnSpc>
              <a:spcAft>
                <a:spcPts val="700"/>
              </a:spcAft>
              <a:buSzPct val="100000"/>
              <a:buChar char="•"/>
            </a:pPr>
            <a:r>
              <a:rPr lang="en-US" sz="1700" dirty="0">
                <a:solidFill>
                  <a:srgbClr val="1A1A1A"/>
                </a:solidFill>
                <a:latin typeface="Calibri" pitchFamily="34" charset="0"/>
                <a:ea typeface="Calibri" pitchFamily="34" charset="-122"/>
                <a:cs typeface="Calibri" pitchFamily="34" charset="-120"/>
              </a:rPr>
              <a:t>Each condition trained once, so no variance estimate exists</a:t>
            </a:r>
            <a:endParaRPr lang="en-US" sz="1700" dirty="0"/>
          </a:p>
          <a:p>
            <a:pPr marL="342900" indent="-342900">
              <a:lnSpc>
                <a:spcPts val="2100"/>
              </a:lnSpc>
              <a:spcAft>
                <a:spcPts val="700"/>
              </a:spcAft>
              <a:buSzPct val="100000"/>
              <a:buChar char="•"/>
            </a:pPr>
            <a:r>
              <a:rPr lang="en-US" sz="1700" dirty="0">
                <a:solidFill>
                  <a:srgbClr val="1A1A1A"/>
                </a:solidFill>
                <a:latin typeface="Calibri" pitchFamily="34" charset="0"/>
                <a:ea typeface="Calibri" pitchFamily="34" charset="-122"/>
                <a:cs typeface="Calibri" pitchFamily="34" charset="-120"/>
              </a:rPr>
              <a:t>One English corpus and one eleven-label inventory</a:t>
            </a:r>
            <a:endParaRPr lang="en-US" sz="1700" dirty="0"/>
          </a:p>
          <a:p>
            <a:pPr marL="342900" indent="-342900">
              <a:lnSpc>
                <a:spcPts val="2100"/>
              </a:lnSpc>
              <a:spcAft>
                <a:spcPts val="700"/>
              </a:spcAft>
              <a:buSzPct val="100000"/>
              <a:buChar char="•"/>
            </a:pPr>
            <a:r>
              <a:rPr lang="en-US" sz="1700" dirty="0">
                <a:solidFill>
                  <a:srgbClr val="1A1A1A"/>
                </a:solidFill>
                <a:latin typeface="Calibri" pitchFamily="34" charset="0"/>
                <a:ea typeface="Calibri" pitchFamily="34" charset="-122"/>
                <a:cs typeface="Calibri" pitchFamily="34" charset="-120"/>
              </a:rPr>
              <a:t>Only 11.3% of training tweets carry emoji, which bounds any effect</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C2340"/>
        </a:solidFill>
      </p:bgPr>
    </p:bg>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9FB3C8"/>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9FB3C8"/>
                </a:solidFill>
                <a:latin typeface="Calibri" pitchFamily="34" charset="0"/>
                <a:ea typeface="Calibri" pitchFamily="34" charset="-122"/>
                <a:cs typeface="Calibri" pitchFamily="34" charset="-120"/>
              </a:rPr>
              <a:t>42</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9FB3C8"/>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822960" y="1965960"/>
            <a:ext cx="2011680" cy="1737360"/>
          </a:xfrm>
          <a:prstGeom prst="rect">
            <a:avLst/>
          </a:prstGeom>
          <a:noFill/>
          <a:ln/>
        </p:spPr>
        <p:txBody>
          <a:bodyPr wrap="square" lIns="0" tIns="0" rIns="0" bIns="0" rtlCol="0" anchor="ctr"/>
          <a:lstStyle/>
          <a:p>
            <a:pPr algn="l" indent="0" marL="0">
              <a:buNone/>
            </a:pPr>
            <a:r>
              <a:rPr lang="en-US" sz="9600" b="1" dirty="0">
                <a:solidFill>
                  <a:srgbClr val="B3512F"/>
                </a:solidFill>
                <a:latin typeface="Calibri" pitchFamily="34" charset="0"/>
                <a:ea typeface="Calibri" pitchFamily="34" charset="-122"/>
                <a:cs typeface="Calibri" pitchFamily="34" charset="-120"/>
              </a:rPr>
              <a:t>8</a:t>
            </a:r>
            <a:endParaRPr lang="en-US" sz="9600" dirty="0"/>
          </a:p>
        </p:txBody>
      </p:sp>
      <p:sp>
        <p:nvSpPr>
          <p:cNvPr id="6" name="Text 4"/>
          <p:cNvSpPr txBox="1"/>
          <p:nvPr/>
        </p:nvSpPr>
        <p:spPr>
          <a:xfrm>
            <a:off x="2834640" y="1965960"/>
            <a:ext cx="8503920" cy="1737360"/>
          </a:xfrm>
          <a:prstGeom prst="rect">
            <a:avLst/>
          </a:prstGeom>
          <a:noFill/>
          <a:ln/>
        </p:spPr>
        <p:txBody>
          <a:bodyPr wrap="square" lIns="0" tIns="0" rIns="0" bIns="0" rtlCol="0" anchor="ctr"/>
          <a:lstStyle/>
          <a:p>
            <a:pPr algn="l" indent="0" marL="0">
              <a:buNone/>
            </a:pPr>
            <a:r>
              <a:rPr lang="en-US" sz="4400" b="1" dirty="0">
                <a:solidFill>
                  <a:srgbClr val="FFFFFF"/>
                </a:solidFill>
                <a:latin typeface="Calibri" pitchFamily="34" charset="0"/>
                <a:ea typeface="Calibri" pitchFamily="34" charset="-122"/>
                <a:cs typeface="Calibri" pitchFamily="34" charset="-120"/>
              </a:rPr>
              <a:t>Conclusion</a:t>
            </a:r>
            <a:endParaRPr lang="en-US" sz="4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43</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Gaps Closed and Objectives Met</a:t>
            </a:r>
            <a:endParaRPr lang="en-US" sz="3200" dirty="0"/>
          </a:p>
        </p:txBody>
      </p:sp>
      <p:sp>
        <p:nvSpPr>
          <p:cNvPr id="6" name="Shape 4"/>
          <p:cNvSpPr/>
          <p:nvPr/>
        </p:nvSpPr>
        <p:spPr>
          <a:xfrm>
            <a:off x="640080" y="1207008"/>
            <a:ext cx="5989320" cy="4517136"/>
          </a:xfrm>
          <a:prstGeom prst="roundRect">
            <a:avLst>
              <a:gd name="adj" fmla="val 1822"/>
            </a:avLst>
          </a:prstGeom>
          <a:solidFill>
            <a:srgbClr val="F4F7FA"/>
          </a:solidFill>
          <a:ln w="12700">
            <a:solidFill>
              <a:srgbClr val="D6DDE5"/>
            </a:solidFill>
            <a:prstDash val="solid"/>
          </a:ln>
        </p:spPr>
      </p:sp>
      <p:sp>
        <p:nvSpPr>
          <p:cNvPr id="7" name="Text 5"/>
          <p:cNvSpPr txBox="1"/>
          <p:nvPr/>
        </p:nvSpPr>
        <p:spPr>
          <a:xfrm>
            <a:off x="886968" y="1444752"/>
            <a:ext cx="5486400" cy="4023360"/>
          </a:xfrm>
          <a:prstGeom prst="rect">
            <a:avLst/>
          </a:prstGeom>
          <a:noFill/>
          <a:ln/>
        </p:spPr>
        <p:txBody>
          <a:bodyPr wrap="square" lIns="0" tIns="0" rIns="0" bIns="0" rtlCol="0" anchor="t"/>
          <a:lstStyle/>
          <a:p>
            <a:pPr indent="0" marL="0">
              <a:lnSpc>
                <a:spcPts val="2300"/>
              </a:lnSpc>
              <a:spcAft>
                <a:spcPts val="600"/>
              </a:spcAft>
              <a:buNone/>
            </a:pPr>
            <a:r>
              <a:rPr lang="en-US" sz="2300" b="1" dirty="0">
                <a:solidFill>
                  <a:srgbClr val="0C2340"/>
                </a:solidFill>
                <a:latin typeface="Calibri" pitchFamily="34" charset="0"/>
                <a:ea typeface="Calibri" pitchFamily="34" charset="-122"/>
                <a:cs typeface="Calibri" pitchFamily="34" charset="-120"/>
              </a:rPr>
              <a:t>Literature Gaps Closed</a:t>
            </a:r>
            <a:endParaRPr lang="en-US" sz="2300" dirty="0"/>
          </a:p>
          <a:p>
            <a:pPr indent="0" marL="0">
              <a:lnSpc>
                <a:spcPts val="2300"/>
              </a:lnSpc>
              <a:spcAft>
                <a:spcPts val="600"/>
              </a:spcAft>
              <a:buNone/>
            </a:pPr>
            <a:r>
              <a:rPr lang="en-US" sz="1900" b="1" dirty="0">
                <a:solidFill>
                  <a:srgbClr val="B3512F"/>
                </a:solidFill>
                <a:latin typeface="Calibri" pitchFamily="34" charset="0"/>
                <a:ea typeface="Calibri" pitchFamily="34" charset="-122"/>
                <a:cs typeface="Calibri" pitchFamily="34" charset="-120"/>
              </a:rPr>
              <a:t>Gap 1. </a:t>
            </a:r>
            <a:pPr indent="0" marL="0">
              <a:lnSpc>
                <a:spcPts val="2300"/>
              </a:lnSpc>
              <a:spcAft>
                <a:spcPts val="600"/>
              </a:spcAft>
              <a:buNone/>
            </a:pPr>
            <a:r>
              <a:rPr lang="en-US" sz="1900" dirty="0">
                <a:solidFill>
                  <a:srgbClr val="1A1A1A"/>
                </a:solidFill>
                <a:latin typeface="Calibri" pitchFamily="34" charset="0"/>
                <a:ea typeface="Calibri" pitchFamily="34" charset="-122"/>
                <a:cs typeface="Calibri" pitchFamily="34" charset="-120"/>
              </a:rPr>
              <a:t>The single fork isolates the emoji step, so the difference belongs to it alone.</a:t>
            </a:r>
            <a:endParaRPr lang="en-US" sz="2300" dirty="0"/>
          </a:p>
          <a:p>
            <a:pPr indent="0" marL="0">
              <a:lnSpc>
                <a:spcPts val="2300"/>
              </a:lnSpc>
              <a:spcAft>
                <a:spcPts val="600"/>
              </a:spcAft>
              <a:buNone/>
            </a:pPr>
            <a:r>
              <a:rPr lang="en-US" sz="1900" b="1" dirty="0">
                <a:solidFill>
                  <a:srgbClr val="B3512F"/>
                </a:solidFill>
                <a:latin typeface="Calibri" pitchFamily="34" charset="0"/>
                <a:ea typeface="Calibri" pitchFamily="34" charset="-122"/>
                <a:cs typeface="Calibri" pitchFamily="34" charset="-120"/>
              </a:rPr>
              <a:t>Gap 2. </a:t>
            </a:r>
            <a:pPr indent="0" marL="0">
              <a:lnSpc>
                <a:spcPts val="2300"/>
              </a:lnSpc>
              <a:spcAft>
                <a:spcPts val="600"/>
              </a:spcAft>
              <a:buNone/>
            </a:pPr>
            <a:r>
              <a:rPr lang="en-US" sz="1900" dirty="0">
                <a:solidFill>
                  <a:srgbClr val="1A1A1A"/>
                </a:solidFill>
                <a:latin typeface="Calibri" pitchFamily="34" charset="0"/>
                <a:ea typeface="Calibri" pitchFamily="34" charset="-122"/>
                <a:cs typeface="Calibri" pitchFamily="34" charset="-120"/>
              </a:rPr>
              <a:t>Per-emotion F1 is reported for all eleven labels, exposing a 15.9 point range.</a:t>
            </a:r>
            <a:endParaRPr lang="en-US" sz="2300" dirty="0"/>
          </a:p>
          <a:p>
            <a:pPr indent="0" marL="0">
              <a:lnSpc>
                <a:spcPts val="2300"/>
              </a:lnSpc>
              <a:spcAft>
                <a:spcPts val="600"/>
              </a:spcAft>
              <a:buNone/>
            </a:pPr>
            <a:r>
              <a:rPr lang="en-US" sz="1900" b="1" dirty="0">
                <a:solidFill>
                  <a:srgbClr val="B3512F"/>
                </a:solidFill>
                <a:latin typeface="Calibri" pitchFamily="34" charset="0"/>
                <a:ea typeface="Calibri" pitchFamily="34" charset="-122"/>
                <a:cs typeface="Calibri" pitchFamily="34" charset="-120"/>
              </a:rPr>
              <a:t>Gap 3. </a:t>
            </a:r>
            <a:pPr indent="0" marL="0">
              <a:lnSpc>
                <a:spcPts val="2300"/>
              </a:lnSpc>
              <a:spcAft>
                <a:spcPts val="600"/>
              </a:spcAft>
              <a:buNone/>
            </a:pPr>
            <a:r>
              <a:rPr lang="en-US" sz="1900" dirty="0">
                <a:solidFill>
                  <a:srgbClr val="1A1A1A"/>
                </a:solidFill>
                <a:latin typeface="Calibri" pitchFamily="34" charset="0"/>
                <a:ea typeface="Calibri" pitchFamily="34" charset="-122"/>
                <a:cs typeface="Calibri" pitchFamily="34" charset="-120"/>
              </a:rPr>
              <a:t>Both factors varied in one design, showing the effect is 80% larger for the Transformer.</a:t>
            </a:r>
            <a:endParaRPr lang="en-US" sz="2300" dirty="0"/>
          </a:p>
          <a:p>
            <a:pPr indent="0" marL="0">
              <a:lnSpc>
                <a:spcPts val="2300"/>
              </a:lnSpc>
              <a:spcAft>
                <a:spcPts val="600"/>
              </a:spcAft>
              <a:buNone/>
            </a:pPr>
            <a:r>
              <a:rPr lang="en-US" sz="1900" b="1" dirty="0">
                <a:solidFill>
                  <a:srgbClr val="B3512F"/>
                </a:solidFill>
                <a:latin typeface="Calibri" pitchFamily="34" charset="0"/>
                <a:ea typeface="Calibri" pitchFamily="34" charset="-122"/>
                <a:cs typeface="Calibri" pitchFamily="34" charset="-120"/>
              </a:rPr>
              <a:t>Gap 4. </a:t>
            </a:r>
            <a:pPr indent="0" marL="0">
              <a:lnSpc>
                <a:spcPts val="2300"/>
              </a:lnSpc>
              <a:spcAft>
                <a:spcPts val="600"/>
              </a:spcAft>
              <a:buNone/>
            </a:pPr>
            <a:r>
              <a:rPr lang="en-US" sz="1900" dirty="0">
                <a:solidFill>
                  <a:srgbClr val="1A1A1A"/>
                </a:solidFill>
                <a:latin typeface="Calibri" pitchFamily="34" charset="0"/>
                <a:ea typeface="Calibri" pitchFamily="34" charset="-122"/>
                <a:cs typeface="Calibri" pitchFamily="34" charset="-120"/>
              </a:rPr>
              <a:t>Emoji density measured before modelling: 11.3% of training and 24.8% of development rows.</a:t>
            </a:r>
            <a:endParaRPr lang="en-US" sz="2300" dirty="0"/>
          </a:p>
        </p:txBody>
      </p:sp>
      <p:sp>
        <p:nvSpPr>
          <p:cNvPr id="8" name="Text 6"/>
          <p:cNvSpPr txBox="1"/>
          <p:nvPr/>
        </p:nvSpPr>
        <p:spPr>
          <a:xfrm>
            <a:off x="6903720" y="1188720"/>
            <a:ext cx="4645152" cy="310896"/>
          </a:xfrm>
          <a:prstGeom prst="rect">
            <a:avLst/>
          </a:prstGeom>
          <a:noFill/>
          <a:ln/>
        </p:spPr>
        <p:txBody>
          <a:bodyPr wrap="square" lIns="0" tIns="0" rIns="0" bIns="0"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Table 7: Objective completion mapping. All six met.</a:t>
            </a:r>
            <a:endParaRPr lang="en-US" sz="14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903720" y="1536192"/>
          <a:ext cx="4645152" cy="914400"/>
        </p:xfrm>
        <a:graphic>
          <a:graphicData uri="http://schemas.openxmlformats.org/drawingml/2006/table">
            <a:tbl>
              <a:tblPr/>
              <a:tblGrid>
                <a:gridCol w="1874520"/>
                <a:gridCol w="2084832"/>
                <a:gridCol w="68580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Objective</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Outcome</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r>
              <a:tr h="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O1  Identify the gap</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Four gaps traced to design</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Met</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O2  Single-fork pipeline</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Fixture test proves no drift</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Met</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O3  Two architectures</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Identical protocol on both</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Met</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O4  Tune with imbalance</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Weighted loss plus sweep</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Met</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O5  Evaluate and compare</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Four conditions scored</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Met</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O6  Deliver an application</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Twelve test cases passed</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A1A1A"/>
                          </a:solidFill>
                          <a:latin typeface="Calibri" pitchFamily="34" charset="0"/>
                          <a:ea typeface="Calibri" pitchFamily="34" charset="-122"/>
                          <a:cs typeface="Calibri" pitchFamily="34" charset="-120"/>
                        </a:rPr>
                        <a:t>Met</a:t>
                      </a:r>
                      <a:endParaRPr lang="en-US" sz="15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44</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Contribution and Lessons Learned</a:t>
            </a:r>
            <a:endParaRPr lang="en-US" sz="3200" dirty="0"/>
          </a:p>
        </p:txBody>
      </p:sp>
      <p:sp>
        <p:nvSpPr>
          <p:cNvPr id="6" name="Shape 4"/>
          <p:cNvSpPr/>
          <p:nvPr/>
        </p:nvSpPr>
        <p:spPr>
          <a:xfrm>
            <a:off x="640080" y="1207008"/>
            <a:ext cx="10908792" cy="1024128"/>
          </a:xfrm>
          <a:prstGeom prst="roundRect">
            <a:avLst>
              <a:gd name="adj" fmla="val 8036"/>
            </a:avLst>
          </a:prstGeom>
          <a:solidFill>
            <a:srgbClr val="F4F7FA"/>
          </a:solidFill>
          <a:ln w="12700">
            <a:solidFill>
              <a:srgbClr val="D6DDE5"/>
            </a:solidFill>
            <a:prstDash val="solid"/>
          </a:ln>
        </p:spPr>
      </p:sp>
      <p:sp>
        <p:nvSpPr>
          <p:cNvPr id="7" name="Shape 5"/>
          <p:cNvSpPr/>
          <p:nvPr/>
        </p:nvSpPr>
        <p:spPr>
          <a:xfrm>
            <a:off x="868680" y="1426464"/>
            <a:ext cx="1691640" cy="585216"/>
          </a:xfrm>
          <a:prstGeom prst="roundRect">
            <a:avLst>
              <a:gd name="adj" fmla="val 12500"/>
            </a:avLst>
          </a:prstGeom>
          <a:solidFill>
            <a:srgbClr val="B3512F"/>
          </a:solidFill>
          <a:ln w="12700">
            <a:solidFill>
              <a:srgbClr val="B3512F"/>
            </a:solidFill>
            <a:prstDash val="solid"/>
          </a:ln>
        </p:spPr>
      </p:sp>
      <p:sp>
        <p:nvSpPr>
          <p:cNvPr id="8" name="Text 6"/>
          <p:cNvSpPr txBox="1"/>
          <p:nvPr/>
        </p:nvSpPr>
        <p:spPr>
          <a:xfrm>
            <a:off x="868680" y="1426464"/>
            <a:ext cx="1691640" cy="585216"/>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Method</a:t>
            </a:r>
            <a:endParaRPr lang="en-US" sz="1900" dirty="0"/>
          </a:p>
        </p:txBody>
      </p:sp>
      <p:sp>
        <p:nvSpPr>
          <p:cNvPr id="9" name="Text 7"/>
          <p:cNvSpPr txBox="1"/>
          <p:nvPr/>
        </p:nvSpPr>
        <p:spPr>
          <a:xfrm>
            <a:off x="2788920" y="1298448"/>
            <a:ext cx="8549640" cy="841248"/>
          </a:xfrm>
          <a:prstGeom prst="rect">
            <a:avLst/>
          </a:prstGeom>
          <a:noFill/>
          <a:ln/>
        </p:spPr>
        <p:txBody>
          <a:bodyPr wrap="square" lIns="0" tIns="0" rIns="0" bIns="0" rtlCol="0" anchor="ctr"/>
          <a:lstStyle/>
          <a:p>
            <a:pPr indent="0" marL="0">
              <a:lnSpc>
                <a:spcPts val="2400"/>
              </a:lnSpc>
              <a:buNone/>
            </a:pPr>
            <a:r>
              <a:rPr lang="en-US" sz="2100" dirty="0">
                <a:solidFill>
                  <a:srgbClr val="1A1A1A"/>
                </a:solidFill>
                <a:latin typeface="Calibri" pitchFamily="34" charset="0"/>
                <a:ea typeface="Calibri" pitchFamily="34" charset="-122"/>
                <a:cs typeface="Calibri" pitchFamily="34" charset="-120"/>
              </a:rPr>
              <a:t>A reusable way to test one preprocessing choice in isolation, which the reviewed literature does not provide.</a:t>
            </a:r>
            <a:endParaRPr lang="en-US" sz="2100" dirty="0"/>
          </a:p>
        </p:txBody>
      </p:sp>
      <p:sp>
        <p:nvSpPr>
          <p:cNvPr id="10" name="Shape 8"/>
          <p:cNvSpPr/>
          <p:nvPr/>
        </p:nvSpPr>
        <p:spPr>
          <a:xfrm>
            <a:off x="640080" y="2350008"/>
            <a:ext cx="10908792" cy="1024128"/>
          </a:xfrm>
          <a:prstGeom prst="roundRect">
            <a:avLst>
              <a:gd name="adj" fmla="val 8036"/>
            </a:avLst>
          </a:prstGeom>
          <a:solidFill>
            <a:srgbClr val="F4F7FA"/>
          </a:solidFill>
          <a:ln w="12700">
            <a:solidFill>
              <a:srgbClr val="D6DDE5"/>
            </a:solidFill>
            <a:prstDash val="solid"/>
          </a:ln>
        </p:spPr>
      </p:sp>
      <p:sp>
        <p:nvSpPr>
          <p:cNvPr id="11" name="Shape 9"/>
          <p:cNvSpPr/>
          <p:nvPr/>
        </p:nvSpPr>
        <p:spPr>
          <a:xfrm>
            <a:off x="868680" y="2569464"/>
            <a:ext cx="1691640" cy="585216"/>
          </a:xfrm>
          <a:prstGeom prst="roundRect">
            <a:avLst>
              <a:gd name="adj" fmla="val 12500"/>
            </a:avLst>
          </a:prstGeom>
          <a:solidFill>
            <a:srgbClr val="B3512F"/>
          </a:solidFill>
          <a:ln w="12700">
            <a:solidFill>
              <a:srgbClr val="B3512F"/>
            </a:solidFill>
            <a:prstDash val="solid"/>
          </a:ln>
        </p:spPr>
      </p:sp>
      <p:sp>
        <p:nvSpPr>
          <p:cNvPr id="12" name="Text 10"/>
          <p:cNvSpPr txBox="1"/>
          <p:nvPr/>
        </p:nvSpPr>
        <p:spPr>
          <a:xfrm>
            <a:off x="868680" y="2569464"/>
            <a:ext cx="1691640" cy="585216"/>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Finding</a:t>
            </a:r>
            <a:endParaRPr lang="en-US" sz="1900" dirty="0"/>
          </a:p>
        </p:txBody>
      </p:sp>
      <p:sp>
        <p:nvSpPr>
          <p:cNvPr id="13" name="Text 11"/>
          <p:cNvSpPr txBox="1"/>
          <p:nvPr/>
        </p:nvSpPr>
        <p:spPr>
          <a:xfrm>
            <a:off x="2788920" y="2441448"/>
            <a:ext cx="8549640" cy="841248"/>
          </a:xfrm>
          <a:prstGeom prst="rect">
            <a:avLst/>
          </a:prstGeom>
          <a:noFill/>
          <a:ln/>
        </p:spPr>
        <p:txBody>
          <a:bodyPr wrap="square" lIns="0" tIns="0" rIns="0" bIns="0" rtlCol="0" anchor="ctr"/>
          <a:lstStyle/>
          <a:p>
            <a:pPr indent="0" marL="0">
              <a:lnSpc>
                <a:spcPts val="2400"/>
              </a:lnSpc>
              <a:buNone/>
            </a:pPr>
            <a:r>
              <a:rPr lang="en-US" sz="2100" dirty="0">
                <a:solidFill>
                  <a:srgbClr val="1A1A1A"/>
                </a:solidFill>
                <a:latin typeface="Calibri" pitchFamily="34" charset="0"/>
                <a:ea typeface="Calibri" pitchFamily="34" charset="-122"/>
                <a:cs typeface="Calibri" pitchFamily="34" charset="-120"/>
              </a:rPr>
              <a:t>Evidence that the emoji effect is conditional on the emotion, rather than a single average number.</a:t>
            </a:r>
            <a:endParaRPr lang="en-US" sz="2100" dirty="0"/>
          </a:p>
        </p:txBody>
      </p:sp>
      <p:sp>
        <p:nvSpPr>
          <p:cNvPr id="14" name="Shape 12"/>
          <p:cNvSpPr/>
          <p:nvPr/>
        </p:nvSpPr>
        <p:spPr>
          <a:xfrm>
            <a:off x="640080" y="3493008"/>
            <a:ext cx="10908792" cy="1024128"/>
          </a:xfrm>
          <a:prstGeom prst="roundRect">
            <a:avLst>
              <a:gd name="adj" fmla="val 8036"/>
            </a:avLst>
          </a:prstGeom>
          <a:solidFill>
            <a:srgbClr val="F4F7FA"/>
          </a:solidFill>
          <a:ln w="12700">
            <a:solidFill>
              <a:srgbClr val="D6DDE5"/>
            </a:solidFill>
            <a:prstDash val="solid"/>
          </a:ln>
        </p:spPr>
      </p:sp>
      <p:sp>
        <p:nvSpPr>
          <p:cNvPr id="15" name="Shape 13"/>
          <p:cNvSpPr/>
          <p:nvPr/>
        </p:nvSpPr>
        <p:spPr>
          <a:xfrm>
            <a:off x="868680" y="3712464"/>
            <a:ext cx="1691640" cy="585216"/>
          </a:xfrm>
          <a:prstGeom prst="roundRect">
            <a:avLst>
              <a:gd name="adj" fmla="val 12500"/>
            </a:avLst>
          </a:prstGeom>
          <a:solidFill>
            <a:srgbClr val="B3512F"/>
          </a:solidFill>
          <a:ln w="12700">
            <a:solidFill>
              <a:srgbClr val="B3512F"/>
            </a:solidFill>
            <a:prstDash val="solid"/>
          </a:ln>
        </p:spPr>
      </p:sp>
      <p:sp>
        <p:nvSpPr>
          <p:cNvPr id="16" name="Text 14"/>
          <p:cNvSpPr txBox="1"/>
          <p:nvPr/>
        </p:nvSpPr>
        <p:spPr>
          <a:xfrm>
            <a:off x="868680" y="3712464"/>
            <a:ext cx="1691640" cy="585216"/>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Artefact</a:t>
            </a:r>
            <a:endParaRPr lang="en-US" sz="1900" dirty="0"/>
          </a:p>
        </p:txBody>
      </p:sp>
      <p:sp>
        <p:nvSpPr>
          <p:cNvPr id="17" name="Text 15"/>
          <p:cNvSpPr txBox="1"/>
          <p:nvPr/>
        </p:nvSpPr>
        <p:spPr>
          <a:xfrm>
            <a:off x="2788920" y="3584448"/>
            <a:ext cx="8549640" cy="841248"/>
          </a:xfrm>
          <a:prstGeom prst="rect">
            <a:avLst/>
          </a:prstGeom>
          <a:noFill/>
          <a:ln/>
        </p:spPr>
        <p:txBody>
          <a:bodyPr wrap="square" lIns="0" tIns="0" rIns="0" bIns="0" rtlCol="0" anchor="ctr"/>
          <a:lstStyle/>
          <a:p>
            <a:pPr indent="0" marL="0">
              <a:lnSpc>
                <a:spcPts val="2400"/>
              </a:lnSpc>
              <a:buNone/>
            </a:pPr>
            <a:r>
              <a:rPr lang="en-US" sz="2100" dirty="0">
                <a:solidFill>
                  <a:srgbClr val="1A1A1A"/>
                </a:solidFill>
                <a:latin typeface="Calibri" pitchFamily="34" charset="0"/>
                <a:ea typeface="Calibri" pitchFamily="34" charset="-122"/>
                <a:cs typeface="Calibri" pitchFamily="34" charset="-120"/>
              </a:rPr>
              <a:t>An application that lets anyone see, for their own text, exactly which labels the emoji changed.</a:t>
            </a:r>
            <a:endParaRPr lang="en-US" sz="2100" dirty="0"/>
          </a:p>
        </p:txBody>
      </p:sp>
      <p:sp>
        <p:nvSpPr>
          <p:cNvPr id="18" name="Shape 16"/>
          <p:cNvSpPr/>
          <p:nvPr/>
        </p:nvSpPr>
        <p:spPr>
          <a:xfrm>
            <a:off x="640080" y="4663440"/>
            <a:ext cx="10908792" cy="1060704"/>
          </a:xfrm>
          <a:prstGeom prst="roundRect">
            <a:avLst>
              <a:gd name="adj" fmla="val 7759"/>
            </a:avLst>
          </a:prstGeom>
          <a:solidFill>
            <a:srgbClr val="FDF1EC"/>
          </a:solidFill>
          <a:ln w="12700">
            <a:solidFill>
              <a:srgbClr val="D6DDE5"/>
            </a:solidFill>
            <a:prstDash val="solid"/>
          </a:ln>
        </p:spPr>
      </p:sp>
      <p:sp>
        <p:nvSpPr>
          <p:cNvPr id="19" name="Text 17"/>
          <p:cNvSpPr txBox="1"/>
          <p:nvPr/>
        </p:nvSpPr>
        <p:spPr>
          <a:xfrm>
            <a:off x="886968" y="4718304"/>
            <a:ext cx="10424160" cy="950976"/>
          </a:xfrm>
          <a:prstGeom prst="rect">
            <a:avLst/>
          </a:prstGeom>
          <a:noFill/>
          <a:ln/>
        </p:spPr>
        <p:txBody>
          <a:bodyPr wrap="square" lIns="0" tIns="0" rIns="0" bIns="0" rtlCol="0" anchor="ctr"/>
          <a:lstStyle/>
          <a:p>
            <a:pPr indent="0" marL="0">
              <a:lnSpc>
                <a:spcPts val="2300"/>
              </a:lnSpc>
              <a:buNone/>
            </a:pPr>
            <a:r>
              <a:rPr lang="en-US" sz="2000" b="1" dirty="0">
                <a:solidFill>
                  <a:srgbClr val="0C2340"/>
                </a:solidFill>
                <a:latin typeface="Calibri" pitchFamily="34" charset="0"/>
                <a:ea typeface="Calibri" pitchFamily="34" charset="-122"/>
                <a:cs typeface="Calibri" pitchFamily="34" charset="-120"/>
              </a:rPr>
              <a:t>Lessons Learned.  </a:t>
            </a:r>
            <a:pPr indent="0" marL="0">
              <a:lnSpc>
                <a:spcPts val="2300"/>
              </a:lnSpc>
              <a:buNone/>
            </a:pPr>
            <a:r>
              <a:rPr lang="en-US" sz="2000" dirty="0">
                <a:solidFill>
                  <a:srgbClr val="1A1A1A"/>
                </a:solidFill>
                <a:latin typeface="Calibri" pitchFamily="34" charset="0"/>
                <a:ea typeface="Calibri" pitchFamily="34" charset="-122"/>
                <a:cs typeface="Calibri" pitchFamily="34" charset="-120"/>
              </a:rPr>
              <a:t>A narrow, testable question produced stronger work than a broad one. Fixing the random seed earlier would have saved effort, since the first unseeded runs could not be reproduced, and checking library versions before changing environment would have avoided a model-loading failure.</a:t>
            </a:r>
            <a:endParaRPr 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45</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Recommendations and Future Work</a:t>
            </a:r>
            <a:endParaRPr lang="en-US" sz="3200" dirty="0"/>
          </a:p>
        </p:txBody>
      </p:sp>
      <p:sp>
        <p:nvSpPr>
          <p:cNvPr id="6" name="Shape 4"/>
          <p:cNvSpPr/>
          <p:nvPr/>
        </p:nvSpPr>
        <p:spPr>
          <a:xfrm>
            <a:off x="640080" y="1207008"/>
            <a:ext cx="4956048" cy="4517136"/>
          </a:xfrm>
          <a:prstGeom prst="roundRect">
            <a:avLst>
              <a:gd name="adj" fmla="val 1822"/>
            </a:avLst>
          </a:prstGeom>
          <a:solidFill>
            <a:srgbClr val="F4F7FA"/>
          </a:solidFill>
          <a:ln w="12700">
            <a:solidFill>
              <a:srgbClr val="D6DDE5"/>
            </a:solidFill>
            <a:prstDash val="solid"/>
          </a:ln>
        </p:spPr>
      </p:sp>
      <p:sp>
        <p:nvSpPr>
          <p:cNvPr id="7" name="Text 5"/>
          <p:cNvSpPr txBox="1"/>
          <p:nvPr/>
        </p:nvSpPr>
        <p:spPr>
          <a:xfrm>
            <a:off x="886968" y="1444752"/>
            <a:ext cx="4480560" cy="4023360"/>
          </a:xfrm>
          <a:prstGeom prst="rect">
            <a:avLst/>
          </a:prstGeom>
          <a:noFill/>
          <a:ln/>
        </p:spPr>
        <p:txBody>
          <a:bodyPr wrap="square" lIns="0" tIns="0" rIns="0" bIns="0" rtlCol="0" anchor="t"/>
          <a:lstStyle/>
          <a:p>
            <a:pPr indent="0" marL="0">
              <a:lnSpc>
                <a:spcPts val="2400"/>
              </a:lnSpc>
              <a:spcAft>
                <a:spcPts val="800"/>
              </a:spcAft>
              <a:buNone/>
            </a:pPr>
            <a:r>
              <a:rPr lang="en-US" sz="2200" b="1" dirty="0">
                <a:solidFill>
                  <a:srgbClr val="0C2340"/>
                </a:solidFill>
                <a:latin typeface="Calibri" pitchFamily="34" charset="0"/>
                <a:ea typeface="Calibri" pitchFamily="34" charset="-122"/>
                <a:cs typeface="Calibri" pitchFamily="34" charset="-120"/>
              </a:rPr>
              <a:t>Recommendations for Practice</a:t>
            </a:r>
            <a:endParaRPr lang="en-US" sz="2200" dirty="0"/>
          </a:p>
          <a:p>
            <a:pPr marL="342900" indent="-342900">
              <a:lnSpc>
                <a:spcPts val="2400"/>
              </a:lnSpc>
              <a:spcAft>
                <a:spcPts val="800"/>
              </a:spcAft>
              <a:buSzPct val="100000"/>
              <a:buChar char="•"/>
            </a:pPr>
            <a:r>
              <a:rPr lang="en-US" sz="2000" dirty="0">
                <a:solidFill>
                  <a:srgbClr val="1A1A1A"/>
                </a:solidFill>
                <a:latin typeface="Calibri" pitchFamily="34" charset="0"/>
                <a:ea typeface="Calibri" pitchFamily="34" charset="-122"/>
                <a:cs typeface="Calibri" pitchFamily="34" charset="-120"/>
              </a:rPr>
              <a:t>Test emoji handling on your own task and label set rather than applying a default.</a:t>
            </a:r>
            <a:endParaRPr lang="en-US" sz="2200" dirty="0"/>
          </a:p>
          <a:p>
            <a:pPr marL="342900" indent="-342900">
              <a:lnSpc>
                <a:spcPts val="2400"/>
              </a:lnSpc>
              <a:spcAft>
                <a:spcPts val="800"/>
              </a:spcAft>
              <a:buSzPct val="100000"/>
              <a:buChar char="•"/>
            </a:pPr>
            <a:r>
              <a:rPr lang="en-US" sz="2000" dirty="0">
                <a:solidFill>
                  <a:srgbClr val="1A1A1A"/>
                </a:solidFill>
                <a:latin typeface="Calibri" pitchFamily="34" charset="0"/>
                <a:ea typeface="Calibri" pitchFamily="34" charset="-122"/>
                <a:cs typeface="Calibri" pitchFamily="34" charset="-120"/>
              </a:rPr>
              <a:t>Check results per label, because gains on frequent emotions can hide losses on rarer ones.</a:t>
            </a:r>
            <a:endParaRPr lang="en-US" sz="2200" dirty="0"/>
          </a:p>
          <a:p>
            <a:pPr marL="342900" indent="-342900">
              <a:lnSpc>
                <a:spcPts val="2400"/>
              </a:lnSpc>
              <a:spcAft>
                <a:spcPts val="800"/>
              </a:spcAft>
              <a:buSzPct val="100000"/>
              <a:buChar char="•"/>
            </a:pPr>
            <a:r>
              <a:rPr lang="en-US" sz="2000" dirty="0">
                <a:solidFill>
                  <a:srgbClr val="1A1A1A"/>
                </a:solidFill>
                <a:latin typeface="Calibri" pitchFamily="34" charset="0"/>
                <a:ea typeface="Calibri" pitchFamily="34" charset="-122"/>
                <a:cs typeface="Calibri" pitchFamily="34" charset="-120"/>
              </a:rPr>
              <a:t>Report emoji density, so a reader can judge the size of any reported effect.</a:t>
            </a:r>
            <a:endParaRPr lang="en-US" sz="2200" dirty="0"/>
          </a:p>
        </p:txBody>
      </p:sp>
      <p:sp>
        <p:nvSpPr>
          <p:cNvPr id="8" name="Text 6"/>
          <p:cNvSpPr txBox="1"/>
          <p:nvPr/>
        </p:nvSpPr>
        <p:spPr>
          <a:xfrm>
            <a:off x="5870448" y="1188720"/>
            <a:ext cx="5678424" cy="310896"/>
          </a:xfrm>
          <a:prstGeom prst="rect">
            <a:avLst/>
          </a:prstGeom>
          <a:noFill/>
          <a:ln/>
        </p:spPr>
        <p:txBody>
          <a:bodyPr wrap="square" lIns="0" tIns="0" rIns="0" bIns="0"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Table 8: Five extensions, ordered by cost. The first needs no retraining.</a:t>
            </a:r>
            <a:endParaRPr lang="en-US" sz="14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870448" y="1536192"/>
          <a:ext cx="5678424" cy="914400"/>
        </p:xfrm>
        <a:graphic>
          <a:graphicData uri="http://schemas.openxmlformats.org/drawingml/2006/table">
            <a:tbl>
              <a:tblPr/>
              <a:tblGrid>
                <a:gridCol w="2880360"/>
                <a:gridCol w="2798064"/>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Future Work</a:t>
                      </a:r>
                      <a:endParaRPr lang="en-US" sz="16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Why It Matters</a:t>
                      </a:r>
                      <a:endParaRPr lang="en-US" sz="16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r>
              <a:tr h="0">
                <a:tc>
                  <a:txBody>
                    <a:bodyPr/>
                    <a:lstStyle/>
                    <a:p>
                      <a:pPr algn="l" indent="0" marL="0">
                        <a:buNone/>
                      </a:pPr>
                      <a:r>
                        <a:rPr lang="en-US" sz="1600" dirty="0">
                          <a:solidFill>
                            <a:srgbClr val="1A1A1A"/>
                          </a:solidFill>
                          <a:latin typeface="Calibri" pitchFamily="34" charset="0"/>
                          <a:ea typeface="Calibri" pitchFamily="34" charset="-122"/>
                          <a:cs typeface="Calibri" pitchFamily="34" charset="-120"/>
                        </a:rPr>
                        <a:t>1  Score the preserved test split</a:t>
                      </a:r>
                      <a:endParaRPr lang="en-US" sz="16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600" dirty="0">
                          <a:solidFill>
                            <a:srgbClr val="1A1A1A"/>
                          </a:solidFill>
                          <a:latin typeface="Calibri" pitchFamily="34" charset="0"/>
                          <a:ea typeface="Calibri" pitchFamily="34" charset="-122"/>
                          <a:cs typeface="Calibri" pitchFamily="34" charset="-120"/>
                        </a:rPr>
                        <a:t>Converts indicative results into confirmed ones</a:t>
                      </a:r>
                      <a:endParaRPr lang="en-US" sz="16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600" dirty="0">
                          <a:solidFill>
                            <a:srgbClr val="1A1A1A"/>
                          </a:solidFill>
                          <a:latin typeface="Calibri" pitchFamily="34" charset="0"/>
                          <a:ea typeface="Calibri" pitchFamily="34" charset="-122"/>
                          <a:cs typeface="Calibri" pitchFamily="34" charset="-120"/>
                        </a:rPr>
                        <a:t>2  Repeat across several seeds</a:t>
                      </a:r>
                      <a:endParaRPr lang="en-US" sz="16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A1A1A"/>
                          </a:solidFill>
                          <a:latin typeface="Calibri" pitchFamily="34" charset="0"/>
                          <a:ea typeface="Calibri" pitchFamily="34" charset="-122"/>
                          <a:cs typeface="Calibri" pitchFamily="34" charset="-120"/>
                        </a:rPr>
                        <a:t>Provides the variance estimate this study lacks</a:t>
                      </a:r>
                      <a:endParaRPr lang="en-US" sz="16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A1A1A"/>
                          </a:solidFill>
                          <a:latin typeface="Calibri" pitchFamily="34" charset="0"/>
                          <a:ea typeface="Calibri" pitchFamily="34" charset="-122"/>
                          <a:cs typeface="Calibri" pitchFamily="34" charset="-120"/>
                        </a:rPr>
                        <a:t>3  Fix the Transformer configuration</a:t>
                      </a:r>
                      <a:endParaRPr lang="en-US" sz="16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600" dirty="0">
                          <a:solidFill>
                            <a:srgbClr val="1A1A1A"/>
                          </a:solidFill>
                          <a:latin typeface="Calibri" pitchFamily="34" charset="0"/>
                          <a:ea typeface="Calibri" pitchFamily="34" charset="-122"/>
                          <a:cs typeface="Calibri" pitchFamily="34" charset="-120"/>
                        </a:rPr>
                        <a:t>Removes the one remaining confound</a:t>
                      </a:r>
                      <a:endParaRPr lang="en-US" sz="16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600" dirty="0">
                          <a:solidFill>
                            <a:srgbClr val="1A1A1A"/>
                          </a:solidFill>
                          <a:latin typeface="Calibri" pitchFamily="34" charset="0"/>
                          <a:ea typeface="Calibri" pitchFamily="34" charset="-122"/>
                          <a:cs typeface="Calibri" pitchFamily="34" charset="-120"/>
                        </a:rPr>
                        <a:t>4  Evaluate only emoji-bearing tweets</a:t>
                      </a:r>
                      <a:endParaRPr lang="en-US" sz="16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A1A1A"/>
                          </a:solidFill>
                          <a:latin typeface="Calibri" pitchFamily="34" charset="0"/>
                          <a:ea typeface="Calibri" pitchFamily="34" charset="-122"/>
                          <a:cs typeface="Calibri" pitchFamily="34" charset="-120"/>
                        </a:rPr>
                        <a:t>Gives a sharper estimate of the true effect</a:t>
                      </a:r>
                      <a:endParaRPr lang="en-US" sz="16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A1A1A"/>
                          </a:solidFill>
                          <a:latin typeface="Calibri" pitchFamily="34" charset="0"/>
                          <a:ea typeface="Calibri" pitchFamily="34" charset="-122"/>
                          <a:cs typeface="Calibri" pitchFamily="34" charset="-120"/>
                        </a:rPr>
                        <a:t>5  Repeat with a pre-trained encoder</a:t>
                      </a:r>
                      <a:endParaRPr lang="en-US" sz="16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600" dirty="0">
                          <a:solidFill>
                            <a:srgbClr val="1A1A1A"/>
                          </a:solidFill>
                          <a:latin typeface="Calibri" pitchFamily="34" charset="0"/>
                          <a:ea typeface="Calibri" pitchFamily="34" charset="-122"/>
                          <a:cs typeface="Calibri" pitchFamily="34" charset="-120"/>
                        </a:rPr>
                        <a:t>Tests whether the pattern survives pre-training</a:t>
                      </a:r>
                      <a:endParaRPr lang="en-US" sz="16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C2340"/>
        </a:solidFill>
      </p:bgPr>
    </p:bg>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9FB3C8"/>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9FB3C8"/>
                </a:solidFill>
                <a:latin typeface="Calibri" pitchFamily="34" charset="0"/>
                <a:ea typeface="Calibri" pitchFamily="34" charset="-122"/>
                <a:cs typeface="Calibri" pitchFamily="34" charset="-120"/>
              </a:rPr>
              <a:t>46</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9FB3C8"/>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822960" y="1965960"/>
            <a:ext cx="2011680" cy="1737360"/>
          </a:xfrm>
          <a:prstGeom prst="rect">
            <a:avLst/>
          </a:prstGeom>
          <a:noFill/>
          <a:ln/>
        </p:spPr>
        <p:txBody>
          <a:bodyPr wrap="square" lIns="0" tIns="0" rIns="0" bIns="0" rtlCol="0" anchor="ctr"/>
          <a:lstStyle/>
          <a:p>
            <a:pPr algn="l" indent="0" marL="0">
              <a:buNone/>
            </a:pPr>
            <a:r>
              <a:rPr lang="en-US" sz="9600" b="1" dirty="0">
                <a:solidFill>
                  <a:srgbClr val="B3512F"/>
                </a:solidFill>
                <a:latin typeface="Calibri" pitchFamily="34" charset="0"/>
                <a:ea typeface="Calibri" pitchFamily="34" charset="-122"/>
                <a:cs typeface="Calibri" pitchFamily="34" charset="-120"/>
              </a:rPr>
              <a:t>9</a:t>
            </a:r>
            <a:endParaRPr lang="en-US" sz="9600" dirty="0"/>
          </a:p>
        </p:txBody>
      </p:sp>
      <p:sp>
        <p:nvSpPr>
          <p:cNvPr id="6" name="Text 4"/>
          <p:cNvSpPr txBox="1"/>
          <p:nvPr/>
        </p:nvSpPr>
        <p:spPr>
          <a:xfrm>
            <a:off x="2834640" y="1965960"/>
            <a:ext cx="8503920" cy="1737360"/>
          </a:xfrm>
          <a:prstGeom prst="rect">
            <a:avLst/>
          </a:prstGeom>
          <a:noFill/>
          <a:ln/>
        </p:spPr>
        <p:txBody>
          <a:bodyPr wrap="square" lIns="0" tIns="0" rIns="0" bIns="0" rtlCol="0" anchor="ctr"/>
          <a:lstStyle/>
          <a:p>
            <a:pPr algn="l" indent="0" marL="0">
              <a:buNone/>
            </a:pPr>
            <a:r>
              <a:rPr lang="en-US" sz="4400" b="1" dirty="0">
                <a:solidFill>
                  <a:srgbClr val="FFFFFF"/>
                </a:solidFill>
                <a:latin typeface="Calibri" pitchFamily="34" charset="0"/>
                <a:ea typeface="Calibri" pitchFamily="34" charset="-122"/>
                <a:cs typeface="Calibri" pitchFamily="34" charset="-120"/>
              </a:rPr>
              <a:t>References</a:t>
            </a:r>
            <a:endParaRPr lang="en-US" sz="4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47</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References, APA 7th Edition  (I of V)</a:t>
            </a:r>
            <a:endParaRPr lang="en-US" sz="3200" dirty="0"/>
          </a:p>
        </p:txBody>
      </p:sp>
      <p:sp>
        <p:nvSpPr>
          <p:cNvPr id="6" name="Text 4"/>
          <p:cNvSpPr txBox="1"/>
          <p:nvPr/>
        </p:nvSpPr>
        <p:spPr>
          <a:xfrm>
            <a:off x="640080" y="1207008"/>
            <a:ext cx="10908792" cy="4526280"/>
          </a:xfrm>
          <a:prstGeom prst="rect">
            <a:avLst/>
          </a:prstGeom>
          <a:noFill/>
          <a:ln/>
        </p:spPr>
        <p:txBody>
          <a:bodyPr wrap="square" lIns="0" tIns="0" rIns="0" bIns="0" rtlCol="0" anchor="t"/>
          <a:lstStyle/>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Afriyie, Y., &amp; Weyori, B. A. (2026). Sentiment analysis based on deep learning approaches for text classification. Journal of Electrical Systems and Information Technology, 13(1), 14.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https://doi.org/10.1186/s43067-026-00322-4</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Bendl, A. M., Cunningham, R. M., Hill, L., &amp; Jarcho, J. M. (2025). Social anxiety and emoji use: Gender differences and the role of loneliness in digital communication among college students. Frontiers in Psychology, 16, 1626509.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https://doi.org/10.3389/fpsyg.2025.1626509</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Carroll, J. (2025). The role of prosocial behaviour, personality and general mental health in predicting emoji use and preference. Psychological Reports, 128(6), 4210-4226.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https://doi.org/10.1177/00332941231220304</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Chandra Sekhar, J. N., Kiran Mayee, M., Nadagoudar, R., Chinna Alluraiah, N., Dhanamjayulu, C., Chinthaginjala, R., Ramesh, K., Prakash, M., Mohanty, S., &amp; Khan, B. (2024). Classification and comparative evaluation of text and emoji-based tweets with deep neural network models. Journal of Electrical and Computer Engineering, 2024, 9652424.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https://doi.org/10.1155/2024/9652424</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Ghosh, S., Gupta, S., Bhattacharyya, S., Das, A. K., Nandi, A., Sarkar, A., Samanta, P. S., &amp; Polprasert, C. (2025). Multi-label imbalanced text handling using ensemble methodology with application to biomedical data classification. Iran Journal of Computer Science, 8(4), 2949-2963.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https://doi.org/10.1007/s42044-025-00332-x</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48</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References, APA 7th Edition  (II of V)</a:t>
            </a:r>
            <a:endParaRPr lang="en-US" sz="3200" dirty="0"/>
          </a:p>
        </p:txBody>
      </p:sp>
      <p:sp>
        <p:nvSpPr>
          <p:cNvPr id="6" name="Text 4"/>
          <p:cNvSpPr txBox="1"/>
          <p:nvPr/>
        </p:nvSpPr>
        <p:spPr>
          <a:xfrm>
            <a:off x="640080" y="1207008"/>
            <a:ext cx="10908792" cy="4526280"/>
          </a:xfrm>
          <a:prstGeom prst="rect">
            <a:avLst/>
          </a:prstGeom>
          <a:noFill/>
          <a:ln/>
        </p:spPr>
        <p:txBody>
          <a:bodyPr wrap="square" lIns="0" tIns="0" rIns="0" bIns="0" rtlCol="0" anchor="t"/>
          <a:lstStyle/>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Hameed, S., Nauman, M., Akhtar, N., Fayyaz, M. A. B., &amp; Nawaz, R. (2025). Explainable AI-driven depression detection from social media using natural language processing and black box machine learning models. Frontiers in Artificial Intelligence, 8, 1627078.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https://doi.org/10.3389/frai.2025.1627078</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Hanif, I. A., Yulianrifat, E. P., Ongris, J. G., Tjitrahardja, E., Azmi, M. F., Naufal, R. B., &amp; Wicaksono, A. F. (2025). University of Indonesia at SemEval-2025 Task 11: Evaluating state-of-the-art encoders for multi-label emotion detection. arXiv.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https://arxiv.org/abs/2505.16460</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Harrington, C. (2025). Making ethical judgement calls about qualitative social media research on sensitive issues. International Journal of Social Research Methodology, 28(4), 397-409.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https://doi.org/10.1080/13645579.2024.2393796</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Huang, J., Li, X., Li, Q., Du, Y., Fan, Y., Chen, X., Huang, D., &amp; Wang, S. (2024). Incorporating emoji sentiment information into a pre-trained language model for Chinese and English sentiment analysis. Intelligent Data Analysis, 28(6), 1601-1625.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https://doi.org/10.3233/IDA-230864</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Jim, J. R., Talukder, M. A. R., Malakar, P., Kabir, M. M., Nur, K., &amp; Mridha, M. F. (2024). Recent advancements and challenges of NLP-based sentiment analysis: A state-of-the-art review. Natural Language Processing Journal, 6, 100059.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https://doi.org/10.1016/j.nlp.2024.100059</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49</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References, APA 7th Edition  (III of V)</a:t>
            </a:r>
            <a:endParaRPr lang="en-US" sz="3200" dirty="0"/>
          </a:p>
        </p:txBody>
      </p:sp>
      <p:sp>
        <p:nvSpPr>
          <p:cNvPr id="6" name="Text 4"/>
          <p:cNvSpPr txBox="1"/>
          <p:nvPr/>
        </p:nvSpPr>
        <p:spPr>
          <a:xfrm>
            <a:off x="640080" y="1207008"/>
            <a:ext cx="10908792" cy="4526280"/>
          </a:xfrm>
          <a:prstGeom prst="rect">
            <a:avLst/>
          </a:prstGeom>
          <a:noFill/>
          <a:ln/>
        </p:spPr>
        <p:txBody>
          <a:bodyPr wrap="square" lIns="0" tIns="0" rIns="0" bIns="0" rtlCol="0" anchor="t"/>
          <a:lstStyle/>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Khan, A., Majumdar, D., &amp; Mondal, B. (2025). Sentiment analysis of emoji fused reviews using machine learning and BERT. Scientific Reports, 15, 7538.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https://doi.org/10.1038/s41598-025-92286-0</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Khan, B., Usman, M., &amp; Binsawad, M. (2026). A novel hybrid model for emotion detection in text through sequential and transformer-based approaches: LSTM enhanced RoBERTa (LER). Scientific Reports, 16, 2224.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https://doi.org/10.1038/s41598-025-31984-1</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Lou, Y., Zhou, J., Zhou, J., Ji, D., &amp; Zhang, Q. (2024). Emoji multimodal microblog sentiment analysis based on mutual attention mechanism. Scientific Reports, 14, 29314.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https://doi.org/10.1038/s41598-024-80167-x</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Mohammad, S., Bravo-Marquez, F., Salameh, M., &amp; Kiritchenko, S. (2018). SemEval-2018 Task 1: Affect in tweets. In Proceedings of the 12th International Workshop on Semantic Evaluation (pp. 1-17). Association for Computational Linguistics. Cited as the source of the dataset analysed in this project.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https://aclanthology.org/S18-1001/</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Muhammad, S. H., Ousidhoum, N., Abdulmumin, I., Yimam, S. M., Wahle, J. P., Ruas, T., Beloucif, M., De Kock, C., Belay, T. D., Ahmad, I. S., Surange, N., Teodorescu, A., Adelani, D. I., Aji, A. F., Ali, F., Araujo, V., Ayele, A. A., Ignat, O., Panchenko, A., ... Mohammad, S. M. (2025). SemEval-2025 Task 11: Bridging the gap in text-based emotion detection. arXiv.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https://arxiv.org/abs/2503.07269</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50</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References, APA 7th Edition  (IV of V)</a:t>
            </a:r>
            <a:endParaRPr lang="en-US" sz="3200" dirty="0"/>
          </a:p>
        </p:txBody>
      </p:sp>
      <p:sp>
        <p:nvSpPr>
          <p:cNvPr id="6" name="Text 4"/>
          <p:cNvSpPr txBox="1"/>
          <p:nvPr/>
        </p:nvSpPr>
        <p:spPr>
          <a:xfrm>
            <a:off x="640080" y="1207008"/>
            <a:ext cx="10908792" cy="4526280"/>
          </a:xfrm>
          <a:prstGeom prst="rect">
            <a:avLst/>
          </a:prstGeom>
          <a:noFill/>
          <a:ln/>
        </p:spPr>
        <p:txBody>
          <a:bodyPr wrap="square" lIns="0" tIns="0" rIns="0" bIns="0" rtlCol="0" anchor="t"/>
          <a:lstStyle/>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Nwaiwu, S. (2025). Parameter-efficient fine-tuning for low-resource text classification: A comparative study of LoRA, IA3, and ReFT. Frontiers in Big Data, 8, 1677331.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https://doi.org/10.3389/fdata.2025.1677331</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Rezapour, M. (2024). Emotion detection with transformers: A comparative study. arXiv.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https://arxiv.org/abs/2403.15454</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Shamatrin, D. (2025). Adaptive thresholding for multi-label classification via global-local signal fusion. arXiv.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https://arxiv.org/abs/2505.03118</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Shukla, D., &amp; Dwivedi, S. K. (2024). The study of the effect of preprocessing techniques for emotion detection on Amazon product review dataset. Social Network Analysis and Mining, 14, 191.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https://doi.org/10.1007/s13278-024-01352-4</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Singh, G. V., Ghosh, S., Firdaus, M., Ekbal, A., &amp; Bhattacharyya, P. (2024). Predicting multi-label emojis, emotions, and sentiments in code-mixed texts using an emojifying sentiments framework. Scientific Reports, 14, 12204.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https://doi.org/10.1038/s41598-024-58944-5</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51</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References, APA 7th Edition  (V of V)</a:t>
            </a:r>
            <a:endParaRPr lang="en-US" sz="3200" dirty="0"/>
          </a:p>
        </p:txBody>
      </p:sp>
      <p:sp>
        <p:nvSpPr>
          <p:cNvPr id="6" name="Text 4"/>
          <p:cNvSpPr txBox="1"/>
          <p:nvPr/>
        </p:nvSpPr>
        <p:spPr>
          <a:xfrm>
            <a:off x="640080" y="1207008"/>
            <a:ext cx="10908792" cy="4526280"/>
          </a:xfrm>
          <a:prstGeom prst="rect">
            <a:avLst/>
          </a:prstGeom>
          <a:noFill/>
          <a:ln/>
        </p:spPr>
        <p:txBody>
          <a:bodyPr wrap="square" lIns="0" tIns="0" rIns="0" bIns="0" rtlCol="0" anchor="t"/>
          <a:lstStyle/>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Xue, J., Nguyen, P. M., Nguyen, M. L., &amp; Liu, X. (2025). JNLP at SemEval-2025 Task 11: Cross-lingual multi-label emotion detection using generative models. arXiv.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https://arxiv.org/abs/2505.13244</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Zhang, S., Yang, Y., Chen, C., Zhang, X., Leng, Q., &amp; Zhao, X. (2024). Deep learning-based multimodal emotion recognition from audio, visual, and text modalities: A systematic review of recent advancements and future prospects. Expert Systems with Applications, 237, 121692.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https://doi.org/10.1016/j.eswa.2023.121692</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Zhang, Y., Fu, J., Lai, J., Deng, S., Guo, Z., Zhong, C., Tang, J., Cao, W., &amp; Wu, Y. (2024). Reporting of ethical considerations in qualitative research utilizing social media data on public health care: Scoping review. Journal of Medical Internet Research, 26, e51496.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https://doi.org/10.2196/51496</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Zhang, Z., Tan, D., Wang, J., Chen, Y., &amp; Xu, J. (2024). Unleashing the power of emojis in texts via self-supervised graph pre-training. In Proceedings of the 2024 Conference on Empirical Methods in Natural Language Processing (pp. 17851-17863). Association for Computational Linguistics.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https://doi.org/10.18653/v1/2024.emnlp-main.989</a:t>
            </a:r>
            <a:endParaRPr lang="en-US" sz="1500" dirty="0"/>
          </a:p>
          <a:p>
            <a:pPr indent="0" marL="0">
              <a:lnSpc>
                <a:spcPts val="1900"/>
              </a:lnSpc>
              <a:spcAft>
                <a:spcPts val="500"/>
              </a:spcAft>
              <a:buNone/>
            </a:pPr>
            <a:endParaRPr lang="en-US" sz="1500" dirty="0"/>
          </a:p>
          <a:p>
            <a:pPr indent="0" marL="0">
              <a:lnSpc>
                <a:spcPts val="1900"/>
              </a:lnSpc>
              <a:spcAft>
                <a:spcPts val="500"/>
              </a:spcAft>
              <a:buNone/>
            </a:pPr>
            <a:r>
              <a:rPr lang="en-US" sz="1500" dirty="0">
                <a:solidFill>
                  <a:srgbClr val="1A1A1A"/>
                </a:solidFill>
                <a:latin typeface="Calibri" pitchFamily="34" charset="0"/>
                <a:ea typeface="Calibri" pitchFamily="34" charset="-122"/>
                <a:cs typeface="Calibri" pitchFamily="34" charset="-120"/>
              </a:rPr>
              <a:t>Zhou, G., De Souza, S., Markham, E., Kwakpovwe, O., &amp; Zhao, S. (2024). Semantics and sentiment: Cross-lingual variations in emoji use. In Proceedings of the 2024 Conference on Empirical Methods in Natural Language Processing (pp. 18698-18712). Association for Computational Linguistics. </a:t>
            </a:r>
            <a:pPr indent="0" marL="0">
              <a:lnSpc>
                <a:spcPts val="1900"/>
              </a:lnSpc>
              <a:spcAft>
                <a:spcPts val="500"/>
              </a:spcAft>
              <a:buNone/>
            </a:pPr>
            <a:r>
              <a:rPr lang="en-US" sz="1500" u="sng" dirty="0">
                <a:solidFill>
                  <a:srgbClr val="3B6EA5"/>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https://doi.org/10.18653/v1/2024.emnlp-main.1041</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52</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A Note on the Reference List</a:t>
            </a:r>
            <a:endParaRPr lang="en-US" sz="3200" dirty="0"/>
          </a:p>
        </p:txBody>
      </p:sp>
      <p:sp>
        <p:nvSpPr>
          <p:cNvPr id="6" name="Text 4"/>
          <p:cNvSpPr txBox="1"/>
          <p:nvPr/>
        </p:nvSpPr>
        <p:spPr>
          <a:xfrm>
            <a:off x="640080" y="1234440"/>
            <a:ext cx="10908792" cy="4572000"/>
          </a:xfrm>
          <a:prstGeom prst="rect">
            <a:avLst/>
          </a:prstGeom>
          <a:noFill/>
          <a:ln/>
        </p:spPr>
        <p:txBody>
          <a:bodyPr wrap="square" lIns="0" tIns="0" rIns="0" bIns="0" rtlCol="0" anchor="t"/>
          <a:lstStyle/>
          <a:p>
            <a:pPr marL="342900" indent="-342900">
              <a:lnSpc>
                <a:spcPts val="3000"/>
              </a:lnSpc>
              <a:spcAft>
                <a:spcPts val="800"/>
              </a:spcAft>
              <a:buSzPct val="100000"/>
              <a:buChar char="•"/>
            </a:pPr>
            <a:r>
              <a:rPr lang="en-US" sz="2300" dirty="0">
                <a:solidFill>
                  <a:srgbClr val="1A1A1A"/>
                </a:solidFill>
                <a:latin typeface="Calibri" pitchFamily="34" charset="0"/>
                <a:ea typeface="Calibri" pitchFamily="34" charset="-122"/>
                <a:cs typeface="Calibri" pitchFamily="34" charset="-120"/>
              </a:rPr>
              <a:t>All 25 sources were published in 2023 or later.</a:t>
            </a:r>
            <a:endParaRPr lang="en-US" sz="2300" dirty="0"/>
          </a:p>
          <a:p>
            <a:pPr marL="342900" indent="-342900">
              <a:lnSpc>
                <a:spcPts val="3000"/>
              </a:lnSpc>
              <a:spcAft>
                <a:spcPts val="800"/>
              </a:spcAft>
              <a:buSzPct val="100000"/>
              <a:buChar char="•"/>
            </a:pPr>
            <a:r>
              <a:rPr lang="en-US" sz="2300" dirty="0">
                <a:solidFill>
                  <a:srgbClr val="1A1A1A"/>
                </a:solidFill>
                <a:latin typeface="Calibri" pitchFamily="34" charset="0"/>
                <a:ea typeface="Calibri" pitchFamily="34" charset="-122"/>
                <a:cs typeface="Calibri" pitchFamily="34" charset="-120"/>
              </a:rPr>
              <a:t>The one exception is the SemEval-2018 paper, cited because it is the origin of the dataset analysed here.</a:t>
            </a:r>
            <a:endParaRPr lang="en-US" sz="2300" dirty="0"/>
          </a:p>
          <a:p>
            <a:pPr marL="342900" indent="-342900">
              <a:lnSpc>
                <a:spcPts val="3000"/>
              </a:lnSpc>
              <a:spcAft>
                <a:spcPts val="800"/>
              </a:spcAft>
              <a:buSzPct val="100000"/>
              <a:buChar char="•"/>
            </a:pPr>
            <a:r>
              <a:rPr lang="en-US" sz="2300" dirty="0">
                <a:solidFill>
                  <a:srgbClr val="1A1A1A"/>
                </a:solidFill>
                <a:latin typeface="Calibri" pitchFamily="34" charset="0"/>
                <a:ea typeface="Calibri" pitchFamily="34" charset="-122"/>
                <a:cs typeface="Calibri" pitchFamily="34" charset="-120"/>
              </a:rPr>
              <a:t>Every DOI and URL was verified against Crossref, arXiv or the ACL Anthology.</a:t>
            </a:r>
            <a:endParaRPr lang="en-US" sz="2300" dirty="0"/>
          </a:p>
          <a:p>
            <a:pPr marL="342900" indent="-342900">
              <a:lnSpc>
                <a:spcPts val="3000"/>
              </a:lnSpc>
              <a:spcAft>
                <a:spcPts val="800"/>
              </a:spcAft>
              <a:buSzPct val="100000"/>
              <a:buChar char="•"/>
            </a:pPr>
            <a:r>
              <a:rPr lang="en-US" sz="2300" dirty="0">
                <a:solidFill>
                  <a:srgbClr val="1A1A1A"/>
                </a:solidFill>
                <a:latin typeface="Calibri" pitchFamily="34" charset="0"/>
                <a:ea typeface="Calibri" pitchFamily="34" charset="-122"/>
                <a:cs typeface="Calibri" pitchFamily="34" charset="-120"/>
              </a:rPr>
              <a:t>Every entry carries a live link. Click any underlined URL to open the source.</a:t>
            </a:r>
            <a:endParaRPr lang="en-US" sz="2300" dirty="0"/>
          </a:p>
          <a:p>
            <a:pPr marL="342900" indent="-342900">
              <a:lnSpc>
                <a:spcPts val="3000"/>
              </a:lnSpc>
              <a:spcAft>
                <a:spcPts val="800"/>
              </a:spcAft>
              <a:buSzPct val="100000"/>
              <a:buChar char="•"/>
            </a:pPr>
            <a:r>
              <a:rPr lang="en-US" sz="2300" dirty="0">
                <a:solidFill>
                  <a:srgbClr val="1A1A1A"/>
                </a:solidFill>
                <a:latin typeface="Calibri" pitchFamily="34" charset="0"/>
                <a:ea typeface="Calibri" pitchFamily="34" charset="-122"/>
                <a:cs typeface="Calibri" pitchFamily="34" charset="-120"/>
              </a:rPr>
              <a:t>Referencing follows APA 7th Edition, per the SHU library guidance at https://libguides.shu.ac.uk/referencing</a:t>
            </a:r>
            <a:endParaRPr lang="en-US" sz="2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C2340"/>
        </a:solidFill>
      </p:bgPr>
    </p:bg>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9FB3C8"/>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9FB3C8"/>
                </a:solidFill>
                <a:latin typeface="Calibri" pitchFamily="34" charset="0"/>
                <a:ea typeface="Calibri" pitchFamily="34" charset="-122"/>
                <a:cs typeface="Calibri" pitchFamily="34" charset="-120"/>
              </a:rPr>
              <a:t>53</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9FB3C8"/>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822960" y="1965960"/>
            <a:ext cx="2011680" cy="1737360"/>
          </a:xfrm>
          <a:prstGeom prst="rect">
            <a:avLst/>
          </a:prstGeom>
          <a:noFill/>
          <a:ln/>
        </p:spPr>
        <p:txBody>
          <a:bodyPr wrap="square" lIns="0" tIns="0" rIns="0" bIns="0" rtlCol="0" anchor="ctr"/>
          <a:lstStyle/>
          <a:p>
            <a:pPr algn="l" indent="0" marL="0">
              <a:buNone/>
            </a:pPr>
            <a:r>
              <a:rPr lang="en-US" sz="9600" b="1" dirty="0">
                <a:solidFill>
                  <a:srgbClr val="B3512F"/>
                </a:solidFill>
                <a:latin typeface="Calibri" pitchFamily="34" charset="0"/>
                <a:ea typeface="Calibri" pitchFamily="34" charset="-122"/>
                <a:cs typeface="Calibri" pitchFamily="34" charset="-120"/>
              </a:rPr>
              <a:t>10</a:t>
            </a:r>
            <a:endParaRPr lang="en-US" sz="9600" dirty="0"/>
          </a:p>
        </p:txBody>
      </p:sp>
      <p:sp>
        <p:nvSpPr>
          <p:cNvPr id="6" name="Text 4"/>
          <p:cNvSpPr txBox="1"/>
          <p:nvPr/>
        </p:nvSpPr>
        <p:spPr>
          <a:xfrm>
            <a:off x="2834640" y="1965960"/>
            <a:ext cx="8503920" cy="1737360"/>
          </a:xfrm>
          <a:prstGeom prst="rect">
            <a:avLst/>
          </a:prstGeom>
          <a:noFill/>
          <a:ln/>
        </p:spPr>
        <p:txBody>
          <a:bodyPr wrap="square" lIns="0" tIns="0" rIns="0" bIns="0" rtlCol="0" anchor="ctr"/>
          <a:lstStyle/>
          <a:p>
            <a:pPr algn="l" indent="0" marL="0">
              <a:buNone/>
            </a:pPr>
            <a:r>
              <a:rPr lang="en-US" sz="4400" b="1" dirty="0">
                <a:solidFill>
                  <a:srgbClr val="FFFFFF"/>
                </a:solidFill>
                <a:latin typeface="Calibri" pitchFamily="34" charset="0"/>
                <a:ea typeface="Calibri" pitchFamily="34" charset="-122"/>
                <a:cs typeface="Calibri" pitchFamily="34" charset="-120"/>
              </a:rPr>
              <a:t>AI Declaration</a:t>
            </a:r>
            <a:endParaRPr lang="en-US" sz="4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54</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AI Use Transparency Statement</a:t>
            </a:r>
            <a:endParaRPr lang="en-US" sz="3200" dirty="0"/>
          </a:p>
        </p:txBody>
      </p:sp>
      <p:sp>
        <p:nvSpPr>
          <p:cNvPr id="6" name="Shape 4"/>
          <p:cNvSpPr/>
          <p:nvPr/>
        </p:nvSpPr>
        <p:spPr>
          <a:xfrm>
            <a:off x="640080" y="1188720"/>
            <a:ext cx="10908792" cy="1051560"/>
          </a:xfrm>
          <a:prstGeom prst="roundRect">
            <a:avLst>
              <a:gd name="adj" fmla="val 7826"/>
            </a:avLst>
          </a:prstGeom>
          <a:solidFill>
            <a:srgbClr val="FDF1EC"/>
          </a:solidFill>
          <a:ln w="12700">
            <a:solidFill>
              <a:srgbClr val="D6DDE5"/>
            </a:solidFill>
            <a:prstDash val="solid"/>
          </a:ln>
        </p:spPr>
      </p:sp>
      <p:sp>
        <p:nvSpPr>
          <p:cNvPr id="7" name="Text 5"/>
          <p:cNvSpPr txBox="1"/>
          <p:nvPr/>
        </p:nvSpPr>
        <p:spPr>
          <a:xfrm>
            <a:off x="914400" y="1188720"/>
            <a:ext cx="10378440" cy="1051560"/>
          </a:xfrm>
          <a:prstGeom prst="rect">
            <a:avLst/>
          </a:prstGeom>
          <a:noFill/>
          <a:ln/>
        </p:spPr>
        <p:txBody>
          <a:bodyPr wrap="square" lIns="0" tIns="0" rIns="0" bIns="0" rtlCol="0" anchor="ctr"/>
          <a:lstStyle/>
          <a:p>
            <a:pPr indent="0" marL="0">
              <a:lnSpc>
                <a:spcPts val="2500"/>
              </a:lnSpc>
              <a:buNone/>
            </a:pPr>
            <a:r>
              <a:rPr lang="en-US" sz="2200" b="1" dirty="0">
                <a:solidFill>
                  <a:srgbClr val="B3512F"/>
                </a:solidFill>
                <a:latin typeface="Calibri" pitchFamily="34" charset="0"/>
                <a:ea typeface="Calibri" pitchFamily="34" charset="-122"/>
                <a:cs typeface="Calibri" pitchFamily="34" charset="-120"/>
              </a:rPr>
              <a:t>AITS Level 2, AI for Shaping.  </a:t>
            </a:r>
            <a:pPr indent="0" marL="0">
              <a:lnSpc>
                <a:spcPts val="2500"/>
              </a:lnSpc>
              <a:buNone/>
            </a:pPr>
            <a:r>
              <a:rPr lang="en-US" sz="2200" dirty="0">
                <a:solidFill>
                  <a:srgbClr val="1A1A1A"/>
                </a:solidFill>
                <a:latin typeface="Calibri" pitchFamily="34" charset="0"/>
                <a:ea typeface="Calibri" pitchFamily="34" charset="-122"/>
                <a:cs typeface="Calibri" pitchFamily="34" charset="-120"/>
              </a:rPr>
              <a:t>This assessment aligns with the Level 2 configuration permitted under University academic conduct policy.</a:t>
            </a:r>
            <a:endParaRPr lang="en-US" sz="2200" dirty="0"/>
          </a:p>
        </p:txBody>
      </p:sp>
      <p:sp>
        <p:nvSpPr>
          <p:cNvPr id="8" name="Shape 6"/>
          <p:cNvSpPr/>
          <p:nvPr/>
        </p:nvSpPr>
        <p:spPr>
          <a:xfrm>
            <a:off x="640080" y="2395728"/>
            <a:ext cx="5394960" cy="3328416"/>
          </a:xfrm>
          <a:prstGeom prst="roundRect">
            <a:avLst>
              <a:gd name="adj" fmla="val 2473"/>
            </a:avLst>
          </a:prstGeom>
          <a:solidFill>
            <a:srgbClr val="F4F7FA"/>
          </a:solidFill>
          <a:ln w="12700">
            <a:solidFill>
              <a:srgbClr val="D6DDE5"/>
            </a:solidFill>
            <a:prstDash val="solid"/>
          </a:ln>
        </p:spPr>
      </p:sp>
      <p:sp>
        <p:nvSpPr>
          <p:cNvPr id="9" name="Text 7"/>
          <p:cNvSpPr txBox="1"/>
          <p:nvPr/>
        </p:nvSpPr>
        <p:spPr>
          <a:xfrm>
            <a:off x="886968" y="2606040"/>
            <a:ext cx="4892040" cy="2926080"/>
          </a:xfrm>
          <a:prstGeom prst="rect">
            <a:avLst/>
          </a:prstGeom>
          <a:noFill/>
          <a:ln/>
        </p:spPr>
        <p:txBody>
          <a:bodyPr wrap="square" lIns="0" tIns="0" rIns="0" bIns="0" rtlCol="0" anchor="t"/>
          <a:lstStyle/>
          <a:p>
            <a:pPr indent="0" marL="0">
              <a:lnSpc>
                <a:spcPts val="2300"/>
              </a:lnSpc>
              <a:buNone/>
            </a:pPr>
            <a:r>
              <a:rPr lang="en-US" sz="2200" b="1" dirty="0">
                <a:solidFill>
                  <a:srgbClr val="0C2340"/>
                </a:solidFill>
                <a:latin typeface="Calibri" pitchFamily="34" charset="0"/>
                <a:ea typeface="Calibri" pitchFamily="34" charset="-122"/>
                <a:cs typeface="Calibri" pitchFamily="34" charset="-120"/>
              </a:rPr>
              <a:t>Tools Used</a:t>
            </a:r>
            <a:endParaRPr lang="en-US" sz="2200" dirty="0"/>
          </a:p>
          <a:p>
            <a:pPr indent="0" marL="0">
              <a:lnSpc>
                <a:spcPts val="2300"/>
              </a:lnSpc>
              <a:buNone/>
            </a:pPr>
            <a:r>
              <a:rPr lang="en-US" sz="1900" dirty="0">
                <a:solidFill>
                  <a:srgbClr val="1A1A1A"/>
                </a:solidFill>
                <a:latin typeface="Calibri" pitchFamily="34" charset="0"/>
                <a:ea typeface="Calibri" pitchFamily="34" charset="-122"/>
                <a:cs typeface="Calibri" pitchFamily="34" charset="-120"/>
              </a:rPr>
              <a:t>A general-purpose AI writing and coding assistant, used strictly for outline structure, clarity of drafted prose, reference-format checking, literature suggestions that were then verified independently, and code review.</a:t>
            </a:r>
            <a:endParaRPr lang="en-US" sz="2200" dirty="0"/>
          </a:p>
          <a:p>
            <a:pPr indent="0" marL="0">
              <a:lnSpc>
                <a:spcPts val="2300"/>
              </a:lnSpc>
              <a:buNone/>
            </a:pPr>
            <a:endParaRPr lang="en-US" sz="2200" dirty="0"/>
          </a:p>
          <a:p>
            <a:pPr indent="0" marL="0">
              <a:lnSpc>
                <a:spcPts val="2300"/>
              </a:lnSpc>
              <a:buNone/>
            </a:pPr>
            <a:r>
              <a:rPr lang="en-US" sz="1900" b="1" dirty="0">
                <a:solidFill>
                  <a:srgbClr val="1A1A1A"/>
                </a:solidFill>
                <a:latin typeface="Calibri" pitchFamily="34" charset="0"/>
                <a:ea typeface="Calibri" pitchFamily="34" charset="-122"/>
                <a:cs typeface="Calibri" pitchFamily="34" charset="-120"/>
              </a:rPr>
              <a:t>No AI tool generated results, and no AI output is presented as an experimental finding.</a:t>
            </a:r>
            <a:endParaRPr lang="en-US" sz="2200" dirty="0"/>
          </a:p>
        </p:txBody>
      </p:sp>
      <p:sp>
        <p:nvSpPr>
          <p:cNvPr id="10" name="Shape 8"/>
          <p:cNvSpPr/>
          <p:nvPr/>
        </p:nvSpPr>
        <p:spPr>
          <a:xfrm>
            <a:off x="6355080" y="2395728"/>
            <a:ext cx="5193792" cy="3328416"/>
          </a:xfrm>
          <a:prstGeom prst="roundRect">
            <a:avLst>
              <a:gd name="adj" fmla="val 2473"/>
            </a:avLst>
          </a:prstGeom>
          <a:solidFill>
            <a:srgbClr val="F4F7FA"/>
          </a:solidFill>
          <a:ln w="12700">
            <a:solidFill>
              <a:srgbClr val="D6DDE5"/>
            </a:solidFill>
            <a:prstDash val="solid"/>
          </a:ln>
        </p:spPr>
      </p:sp>
      <p:sp>
        <p:nvSpPr>
          <p:cNvPr id="11" name="Text 9"/>
          <p:cNvSpPr txBox="1"/>
          <p:nvPr/>
        </p:nvSpPr>
        <p:spPr>
          <a:xfrm>
            <a:off x="6601968" y="2606040"/>
            <a:ext cx="4709160" cy="2926080"/>
          </a:xfrm>
          <a:prstGeom prst="rect">
            <a:avLst/>
          </a:prstGeom>
          <a:noFill/>
          <a:ln/>
        </p:spPr>
        <p:txBody>
          <a:bodyPr wrap="square" lIns="0" tIns="0" rIns="0" bIns="0" rtlCol="0" anchor="t"/>
          <a:lstStyle/>
          <a:p>
            <a:pPr indent="0" marL="0">
              <a:lnSpc>
                <a:spcPts val="2300"/>
              </a:lnSpc>
              <a:buNone/>
            </a:pPr>
            <a:r>
              <a:rPr lang="en-US" sz="2200" b="1" dirty="0">
                <a:solidFill>
                  <a:srgbClr val="0C2340"/>
                </a:solidFill>
                <a:latin typeface="Calibri" pitchFamily="34" charset="0"/>
                <a:ea typeface="Calibri" pitchFamily="34" charset="-122"/>
                <a:cs typeface="Calibri" pitchFamily="34" charset="-120"/>
              </a:rPr>
              <a:t>Human Critical Contribution</a:t>
            </a:r>
            <a:endParaRPr lang="en-US" sz="2200" dirty="0"/>
          </a:p>
          <a:p>
            <a:pPr indent="0" marL="0">
              <a:lnSpc>
                <a:spcPts val="2300"/>
              </a:lnSpc>
              <a:buNone/>
            </a:pPr>
            <a:r>
              <a:rPr lang="en-US" sz="1900" dirty="0">
                <a:solidFill>
                  <a:srgbClr val="1A1A1A"/>
                </a:solidFill>
                <a:latin typeface="Calibri" pitchFamily="34" charset="0"/>
                <a:ea typeface="Calibri" pitchFamily="34" charset="-122"/>
                <a:cs typeface="Calibri" pitchFamily="34" charset="-120"/>
              </a:rPr>
              <a:t>The research question, experimental design, preprocessing pipeline, model implementations, tuning grids, evaluation protocol and all interpretation are my own work.</a:t>
            </a:r>
            <a:endParaRPr lang="en-US" sz="2200" dirty="0"/>
          </a:p>
          <a:p>
            <a:pPr indent="0" marL="0">
              <a:lnSpc>
                <a:spcPts val="2300"/>
              </a:lnSpc>
              <a:buNone/>
            </a:pPr>
            <a:endParaRPr lang="en-US" sz="2200" dirty="0"/>
          </a:p>
          <a:p>
            <a:pPr indent="0" marL="0">
              <a:lnSpc>
                <a:spcPts val="2300"/>
              </a:lnSpc>
              <a:buNone/>
            </a:pPr>
            <a:r>
              <a:rPr lang="en-US" sz="1900" b="1" dirty="0">
                <a:solidFill>
                  <a:srgbClr val="1A1A1A"/>
                </a:solidFill>
                <a:latin typeface="Calibri" pitchFamily="34" charset="0"/>
                <a:ea typeface="Calibri" pitchFamily="34" charset="-122"/>
                <a:cs typeface="Calibri" pitchFamily="34" charset="-120"/>
              </a:rPr>
              <a:t>Every number in this presentation was produced by executing my own code.</a:t>
            </a:r>
            <a:endParaRPr lang="en-US" sz="2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55</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AI Use: Purpose and Oversight</a:t>
            </a:r>
            <a:endParaRPr lang="en-US" sz="3200" dirty="0"/>
          </a:p>
        </p:txBody>
      </p:sp>
      <p:sp>
        <p:nvSpPr>
          <p:cNvPr id="6" name="Text 4"/>
          <p:cNvSpPr txBox="1"/>
          <p:nvPr/>
        </p:nvSpPr>
        <p:spPr>
          <a:xfrm>
            <a:off x="640080" y="1133856"/>
            <a:ext cx="10908792" cy="310896"/>
          </a:xfrm>
          <a:prstGeom prst="rect">
            <a:avLst/>
          </a:prstGeom>
          <a:noFill/>
          <a:ln/>
        </p:spPr>
        <p:txBody>
          <a:bodyPr wrap="square" lIns="0" tIns="0" rIns="0" bIns="0"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Table 9: Purpose of AI use against the human oversight applied in each case.</a:t>
            </a:r>
            <a:endParaRPr lang="en-US" sz="14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908792" cy="914400"/>
        </p:xfrm>
        <a:graphic>
          <a:graphicData uri="http://schemas.openxmlformats.org/drawingml/2006/table">
            <a:tbl>
              <a:tblPr/>
              <a:tblGrid>
                <a:gridCol w="5449824"/>
                <a:gridCol w="5458968"/>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Purpose of AI Use</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Human Oversight Applied</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r>
              <a:tr h="0">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Organising the report against the required structure</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Author decided all content and ordering</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Improving clarity of drafted prose</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Author wrote the substance and rejected overstated wording</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Checking reference formatting</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Author verified every entry against publisher records</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Suggesting candidate literature</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Author checked each suggestion; some rejected as irrelevant</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Reviewing code for defects</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Author diagnosed, fixed and retested every change</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bl>
          </a:graphicData>
        </a:graphic>
      </p:graphicFrame>
      <p:sp>
        <p:nvSpPr>
          <p:cNvPr id="8" name="Shape 5"/>
          <p:cNvSpPr/>
          <p:nvPr/>
        </p:nvSpPr>
        <p:spPr>
          <a:xfrm>
            <a:off x="640080" y="4617720"/>
            <a:ext cx="10908792" cy="1106424"/>
          </a:xfrm>
          <a:prstGeom prst="roundRect">
            <a:avLst>
              <a:gd name="adj" fmla="val 7438"/>
            </a:avLst>
          </a:prstGeom>
          <a:solidFill>
            <a:srgbClr val="FDF1EC"/>
          </a:solidFill>
          <a:ln w="12700">
            <a:solidFill>
              <a:srgbClr val="D6DDE5"/>
            </a:solidFill>
            <a:prstDash val="solid"/>
          </a:ln>
        </p:spPr>
      </p:sp>
      <p:sp>
        <p:nvSpPr>
          <p:cNvPr id="9" name="Text 6"/>
          <p:cNvSpPr txBox="1"/>
          <p:nvPr/>
        </p:nvSpPr>
        <p:spPr>
          <a:xfrm>
            <a:off x="886968" y="4672584"/>
            <a:ext cx="10424160" cy="996696"/>
          </a:xfrm>
          <a:prstGeom prst="rect">
            <a:avLst/>
          </a:prstGeom>
          <a:noFill/>
          <a:ln/>
        </p:spPr>
        <p:txBody>
          <a:bodyPr wrap="square" lIns="0" tIns="0" rIns="0" bIns="0" rtlCol="0" anchor="ctr"/>
          <a:lstStyle/>
          <a:p>
            <a:pPr indent="0" marL="0">
              <a:lnSpc>
                <a:spcPts val="2300"/>
              </a:lnSpc>
              <a:buNone/>
            </a:pPr>
            <a:r>
              <a:rPr lang="en-US" sz="2000" b="1" dirty="0">
                <a:solidFill>
                  <a:srgbClr val="0C2340"/>
                </a:solidFill>
                <a:latin typeface="Calibri" pitchFamily="34" charset="0"/>
                <a:ea typeface="Calibri" pitchFamily="34" charset="-122"/>
                <a:cs typeface="Calibri" pitchFamily="34" charset="-120"/>
              </a:rPr>
              <a:t>Reflection.  </a:t>
            </a:r>
            <a:pPr indent="0" marL="0">
              <a:lnSpc>
                <a:spcPts val="2300"/>
              </a:lnSpc>
              <a:buNone/>
            </a:pPr>
            <a:r>
              <a:rPr lang="en-US" sz="2000" dirty="0">
                <a:solidFill>
                  <a:srgbClr val="1A1A1A"/>
                </a:solidFill>
                <a:latin typeface="Calibri" pitchFamily="34" charset="0"/>
                <a:ea typeface="Calibri" pitchFamily="34" charset="-122"/>
                <a:cs typeface="Calibri" pitchFamily="34" charset="-120"/>
              </a:rPr>
              <a:t>Assistance was most useful for structure and for catching defects early, and least useful for judgement. Keeping verification manual was essential to the integrity of the work.</a:t>
            </a:r>
            <a:endParaRPr lang="en-US" sz="2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C2340"/>
        </a:solidFill>
      </p:bgPr>
    </p:bg>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9FB3C8"/>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9FB3C8"/>
                </a:solidFill>
                <a:latin typeface="Calibri" pitchFamily="34" charset="0"/>
                <a:ea typeface="Calibri" pitchFamily="34" charset="-122"/>
                <a:cs typeface="Calibri" pitchFamily="34" charset="-120"/>
              </a:rPr>
              <a:t>56</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9FB3C8"/>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822960" y="1691640"/>
            <a:ext cx="10515600" cy="91440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6" name="Shape 4"/>
          <p:cNvSpPr/>
          <p:nvPr/>
        </p:nvSpPr>
        <p:spPr>
          <a:xfrm>
            <a:off x="822960" y="2743200"/>
            <a:ext cx="2011680" cy="45720"/>
          </a:xfrm>
          <a:prstGeom prst="rect">
            <a:avLst/>
          </a:prstGeom>
          <a:solidFill>
            <a:srgbClr val="B3512F"/>
          </a:solidFill>
          <a:ln w="12700">
            <a:solidFill>
              <a:srgbClr val="B3512F"/>
            </a:solidFill>
            <a:prstDash val="solid"/>
          </a:ln>
        </p:spPr>
      </p:sp>
      <p:sp>
        <p:nvSpPr>
          <p:cNvPr id="7" name="Text 5"/>
          <p:cNvSpPr txBox="1"/>
          <p:nvPr/>
        </p:nvSpPr>
        <p:spPr>
          <a:xfrm>
            <a:off x="822960" y="2971800"/>
            <a:ext cx="10515600" cy="548640"/>
          </a:xfrm>
          <a:prstGeom prst="rect">
            <a:avLst/>
          </a:prstGeom>
          <a:noFill/>
          <a:ln/>
        </p:spPr>
        <p:txBody>
          <a:bodyPr wrap="square" lIns="0" tIns="0" rIns="0" bIns="0" rtlCol="0" anchor="ctr"/>
          <a:lstStyle/>
          <a:p>
            <a:pPr indent="0" marL="0">
              <a:buNone/>
            </a:pPr>
            <a:r>
              <a:rPr lang="en-US" sz="2600" dirty="0">
                <a:solidFill>
                  <a:srgbClr val="9FB3C8"/>
                </a:solidFill>
                <a:latin typeface="Calibri" pitchFamily="34" charset="0"/>
                <a:ea typeface="Calibri" pitchFamily="34" charset="-122"/>
                <a:cs typeface="Calibri" pitchFamily="34" charset="-120"/>
              </a:rPr>
              <a:t>Questions and Academic Discussion Welcome</a:t>
            </a:r>
            <a:endParaRPr lang="en-US" sz="2600" dirty="0"/>
          </a:p>
        </p:txBody>
      </p:sp>
      <p:sp>
        <p:nvSpPr>
          <p:cNvPr id="8" name="Text 6"/>
          <p:cNvSpPr txBox="1"/>
          <p:nvPr/>
        </p:nvSpPr>
        <p:spPr>
          <a:xfrm>
            <a:off x="822960" y="3794760"/>
            <a:ext cx="10515600" cy="1737360"/>
          </a:xfrm>
          <a:prstGeom prst="rect">
            <a:avLst/>
          </a:prstGeom>
          <a:noFill/>
          <a:ln/>
        </p:spPr>
        <p:txBody>
          <a:bodyPr wrap="square" lIns="0" tIns="0" rIns="0" bIns="0" rtlCol="0" anchor="t"/>
          <a:lstStyle/>
          <a:p>
            <a:pPr indent="0" marL="0">
              <a:lnSpc>
                <a:spcPts val="2800"/>
              </a:lnSpc>
              <a:buNone/>
            </a:pPr>
            <a:r>
              <a:rPr lang="en-US" sz="2400" b="1" dirty="0">
                <a:solidFill>
                  <a:srgbClr val="FFFFFF"/>
                </a:solidFill>
                <a:latin typeface="Calibri" pitchFamily="34" charset="0"/>
                <a:ea typeface="Calibri" pitchFamily="34" charset="-122"/>
                <a:cs typeface="Calibri" pitchFamily="34" charset="-120"/>
              </a:rPr>
              <a:t>Krishkumar Jatinbhai Sorathiya</a:t>
            </a:r>
            <a:endParaRPr lang="en-US" sz="2400" dirty="0"/>
          </a:p>
          <a:p>
            <a:pPr indent="0" marL="0">
              <a:lnSpc>
                <a:spcPts val="2800"/>
              </a:lnSpc>
              <a:buNone/>
            </a:pPr>
            <a:r>
              <a:rPr lang="en-US" sz="2000" dirty="0">
                <a:solidFill>
                  <a:srgbClr val="9FB3C8"/>
                </a:solidFill>
                <a:latin typeface="Calibri" pitchFamily="34" charset="0"/>
                <a:ea typeface="Calibri" pitchFamily="34" charset="-122"/>
                <a:cs typeface="Calibri" pitchFamily="34" charset="-120"/>
              </a:rPr>
              <a:t>Student Number 35042390</a:t>
            </a:r>
            <a:endParaRPr lang="en-US" sz="2400" dirty="0"/>
          </a:p>
          <a:p>
            <a:pPr indent="0" marL="0">
              <a:lnSpc>
                <a:spcPts val="2800"/>
              </a:lnSpc>
              <a:buNone/>
            </a:pPr>
            <a:r>
              <a:rPr lang="en-US" sz="2000" dirty="0">
                <a:solidFill>
                  <a:srgbClr val="9FB3C8"/>
                </a:solidFill>
                <a:latin typeface="Calibri" pitchFamily="34" charset="0"/>
                <a:ea typeface="Calibri" pitchFamily="34" charset="-122"/>
                <a:cs typeface="Calibri" pitchFamily="34" charset="-120"/>
              </a:rPr>
              <a:t>c5042390@hallam.shu.ac.uk</a:t>
            </a:r>
            <a:endParaRPr lang="en-US" sz="2400" dirty="0"/>
          </a:p>
          <a:p>
            <a:pPr indent="0" marL="0">
              <a:lnSpc>
                <a:spcPts val="2800"/>
              </a:lnSpc>
              <a:buNone/>
            </a:pPr>
            <a:r>
              <a:rPr lang="en-US" sz="2000" dirty="0">
                <a:solidFill>
                  <a:srgbClr val="9FB3C8"/>
                </a:solidFill>
                <a:latin typeface="Calibri" pitchFamily="34" charset="0"/>
                <a:ea typeface="Calibri" pitchFamily="34" charset="-122"/>
                <a:cs typeface="Calibri" pitchFamily="34" charset="-120"/>
              </a:rPr>
              <a:t>MSc Data Science and Artificial Intelligence, Sheffield Hallam University</a:t>
            </a:r>
            <a:endParaRPr 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C2340"/>
        </a:solidFill>
      </p:bgPr>
    </p:bg>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9FB3C8"/>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9FB3C8"/>
                </a:solidFill>
                <a:latin typeface="Calibri" pitchFamily="34" charset="0"/>
                <a:ea typeface="Calibri" pitchFamily="34" charset="-122"/>
                <a:cs typeface="Calibri" pitchFamily="34" charset="-120"/>
              </a:rPr>
              <a:t>57</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9FB3C8"/>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822960" y="237744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Appendix</a:t>
            </a:r>
            <a:endParaRPr lang="en-US" sz="4400" dirty="0"/>
          </a:p>
        </p:txBody>
      </p:sp>
      <p:sp>
        <p:nvSpPr>
          <p:cNvPr id="6" name="Text 4"/>
          <p:cNvSpPr txBox="1"/>
          <p:nvPr/>
        </p:nvSpPr>
        <p:spPr>
          <a:xfrm>
            <a:off x="822960" y="3291840"/>
            <a:ext cx="10515600" cy="548640"/>
          </a:xfrm>
          <a:prstGeom prst="rect">
            <a:avLst/>
          </a:prstGeom>
          <a:noFill/>
          <a:ln/>
        </p:spPr>
        <p:txBody>
          <a:bodyPr wrap="square" lIns="0" tIns="0" rIns="0" bIns="0" rtlCol="0" anchor="ctr"/>
          <a:lstStyle/>
          <a:p>
            <a:pPr indent="0" marL="0">
              <a:buNone/>
            </a:pPr>
            <a:r>
              <a:rPr lang="en-US" sz="2400" dirty="0">
                <a:solidFill>
                  <a:srgbClr val="9FB3C8"/>
                </a:solidFill>
                <a:latin typeface="Calibri" pitchFamily="34" charset="0"/>
                <a:ea typeface="Calibri" pitchFamily="34" charset="-122"/>
                <a:cs typeface="Calibri" pitchFamily="34" charset="-120"/>
              </a:rPr>
              <a:t>Supporting detail, held back for questions</a:t>
            </a:r>
            <a:endParaRPr lang="en-US"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58</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Appendix A: Aims, Benefits and Beneficiaries</a:t>
            </a:r>
            <a:endParaRPr lang="en-US" sz="3200" dirty="0"/>
          </a:p>
        </p:txBody>
      </p:sp>
      <p:sp>
        <p:nvSpPr>
          <p:cNvPr id="6" name="Shape 4"/>
          <p:cNvSpPr/>
          <p:nvPr/>
        </p:nvSpPr>
        <p:spPr>
          <a:xfrm>
            <a:off x="640080" y="1207008"/>
            <a:ext cx="5394960" cy="4517136"/>
          </a:xfrm>
          <a:prstGeom prst="roundRect">
            <a:avLst>
              <a:gd name="adj" fmla="val 1822"/>
            </a:avLst>
          </a:prstGeom>
          <a:solidFill>
            <a:srgbClr val="F4F7FA"/>
          </a:solidFill>
          <a:ln w="12700">
            <a:solidFill>
              <a:srgbClr val="D6DDE5"/>
            </a:solidFill>
            <a:prstDash val="solid"/>
          </a:ln>
        </p:spPr>
      </p:sp>
      <p:sp>
        <p:nvSpPr>
          <p:cNvPr id="7" name="Text 5"/>
          <p:cNvSpPr txBox="1"/>
          <p:nvPr/>
        </p:nvSpPr>
        <p:spPr>
          <a:xfrm>
            <a:off x="886968" y="1444752"/>
            <a:ext cx="4892040" cy="4023360"/>
          </a:xfrm>
          <a:prstGeom prst="rect">
            <a:avLst/>
          </a:prstGeom>
          <a:noFill/>
          <a:ln/>
        </p:spPr>
        <p:txBody>
          <a:bodyPr wrap="square" lIns="0" tIns="0" rIns="0" bIns="0" rtlCol="0" anchor="t"/>
          <a:lstStyle/>
          <a:p>
            <a:pPr indent="0" marL="0">
              <a:lnSpc>
                <a:spcPts val="2500"/>
              </a:lnSpc>
              <a:buNone/>
            </a:pPr>
            <a:r>
              <a:rPr lang="en-US" sz="2300" b="1" dirty="0">
                <a:solidFill>
                  <a:srgbClr val="0C2340"/>
                </a:solidFill>
                <a:latin typeface="Calibri" pitchFamily="34" charset="0"/>
                <a:ea typeface="Calibri" pitchFamily="34" charset="-122"/>
                <a:cs typeface="Calibri" pitchFamily="34" charset="-120"/>
              </a:rPr>
              <a:t>Aim</a:t>
            </a:r>
            <a:endParaRPr lang="en-US" sz="2300" dirty="0"/>
          </a:p>
          <a:p>
            <a:pPr indent="0" marL="0">
              <a:lnSpc>
                <a:spcPts val="2500"/>
              </a:lnSpc>
              <a:buNone/>
            </a:pPr>
            <a:r>
              <a:rPr lang="en-US" sz="2100" dirty="0">
                <a:solidFill>
                  <a:srgbClr val="1A1A1A"/>
                </a:solidFill>
                <a:latin typeface="Calibri" pitchFamily="34" charset="0"/>
                <a:ea typeface="Calibri" pitchFamily="34" charset="-122"/>
                <a:cs typeface="Calibri" pitchFamily="34" charset="-120"/>
              </a:rPr>
              <a:t>To measure, under controlled conditions, how emoji handling affects multi-label emotion classification, and whether the effect is the same across model types and emotions.</a:t>
            </a:r>
            <a:endParaRPr lang="en-US" sz="2300" dirty="0"/>
          </a:p>
        </p:txBody>
      </p:sp>
      <p:sp>
        <p:nvSpPr>
          <p:cNvPr id="8" name="Shape 6"/>
          <p:cNvSpPr/>
          <p:nvPr/>
        </p:nvSpPr>
        <p:spPr>
          <a:xfrm>
            <a:off x="6355080" y="1207008"/>
            <a:ext cx="5193792" cy="4517136"/>
          </a:xfrm>
          <a:prstGeom prst="roundRect">
            <a:avLst>
              <a:gd name="adj" fmla="val 1822"/>
            </a:avLst>
          </a:prstGeom>
          <a:solidFill>
            <a:srgbClr val="F4F7FA"/>
          </a:solidFill>
          <a:ln w="12700">
            <a:solidFill>
              <a:srgbClr val="D6DDE5"/>
            </a:solidFill>
            <a:prstDash val="solid"/>
          </a:ln>
        </p:spPr>
      </p:sp>
      <p:sp>
        <p:nvSpPr>
          <p:cNvPr id="9" name="Text 7"/>
          <p:cNvSpPr txBox="1"/>
          <p:nvPr/>
        </p:nvSpPr>
        <p:spPr>
          <a:xfrm>
            <a:off x="6601968" y="1444752"/>
            <a:ext cx="4709160" cy="4023360"/>
          </a:xfrm>
          <a:prstGeom prst="rect">
            <a:avLst/>
          </a:prstGeom>
          <a:noFill/>
          <a:ln/>
        </p:spPr>
        <p:txBody>
          <a:bodyPr wrap="square" lIns="0" tIns="0" rIns="0" bIns="0" rtlCol="0" anchor="t"/>
          <a:lstStyle/>
          <a:p>
            <a:pPr indent="0" marL="0">
              <a:lnSpc>
                <a:spcPts val="2500"/>
              </a:lnSpc>
              <a:spcAft>
                <a:spcPts val="800"/>
              </a:spcAft>
              <a:buNone/>
            </a:pPr>
            <a:r>
              <a:rPr lang="en-US" sz="2300" b="1" dirty="0">
                <a:solidFill>
                  <a:srgbClr val="0C2340"/>
                </a:solidFill>
                <a:latin typeface="Calibri" pitchFamily="34" charset="0"/>
                <a:ea typeface="Calibri" pitchFamily="34" charset="-122"/>
                <a:cs typeface="Calibri" pitchFamily="34" charset="-120"/>
              </a:rPr>
              <a:t>Benefits and Beneficiaries</a:t>
            </a:r>
            <a:endParaRPr lang="en-US" sz="2300" dirty="0"/>
          </a:p>
          <a:p>
            <a:pPr marL="342900" indent="-342900">
              <a:lnSpc>
                <a:spcPts val="2500"/>
              </a:lnSpc>
              <a:spcAft>
                <a:spcPts val="800"/>
              </a:spcAft>
              <a:buSzPct val="100000"/>
              <a:buChar char="•"/>
            </a:pPr>
            <a:r>
              <a:rPr lang="en-US" sz="2100" dirty="0">
                <a:solidFill>
                  <a:srgbClr val="1A1A1A"/>
                </a:solidFill>
                <a:latin typeface="Calibri" pitchFamily="34" charset="0"/>
                <a:ea typeface="Calibri" pitchFamily="34" charset="-122"/>
                <a:cs typeface="Calibri" pitchFamily="34" charset="-120"/>
              </a:rPr>
              <a:t>Practitioners gain evidence about a decision they must make anyway.</a:t>
            </a:r>
            <a:endParaRPr lang="en-US" sz="2300" dirty="0"/>
          </a:p>
          <a:p>
            <a:pPr marL="342900" indent="-342900">
              <a:lnSpc>
                <a:spcPts val="2500"/>
              </a:lnSpc>
              <a:spcAft>
                <a:spcPts val="800"/>
              </a:spcAft>
              <a:buSzPct val="100000"/>
              <a:buChar char="•"/>
            </a:pPr>
            <a:r>
              <a:rPr lang="en-US" sz="2100" dirty="0">
                <a:solidFill>
                  <a:srgbClr val="1A1A1A"/>
                </a:solidFill>
                <a:latin typeface="Calibri" pitchFamily="34" charset="0"/>
                <a:ea typeface="Calibri" pitchFamily="34" charset="-122"/>
                <a:cs typeface="Calibri" pitchFamily="34" charset="-120"/>
              </a:rPr>
              <a:t>Researchers gain a reusable method for isolating one preprocessing step.</a:t>
            </a:r>
            <a:endParaRPr lang="en-US" sz="2300" dirty="0"/>
          </a:p>
          <a:p>
            <a:pPr marL="342900" indent="-342900">
              <a:lnSpc>
                <a:spcPts val="2500"/>
              </a:lnSpc>
              <a:spcAft>
                <a:spcPts val="800"/>
              </a:spcAft>
              <a:buSzPct val="100000"/>
              <a:buChar char="•"/>
            </a:pPr>
            <a:r>
              <a:rPr lang="en-US" sz="2100" dirty="0">
                <a:solidFill>
                  <a:srgbClr val="1A1A1A"/>
                </a:solidFill>
                <a:latin typeface="Calibri" pitchFamily="34" charset="0"/>
                <a:ea typeface="Calibri" pitchFamily="34" charset="-122"/>
                <a:cs typeface="Calibri" pitchFamily="34" charset="-120"/>
              </a:rPr>
              <a:t>Organisations monitoring feedback gain a cleaner emotion signal.</a:t>
            </a:r>
            <a:endParaRPr lang="en-US" sz="2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59</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Appendix B: Held Constant Across All Four Conditions</a:t>
            </a:r>
            <a:endParaRPr lang="en-US" sz="3200" dirty="0"/>
          </a:p>
        </p:txBody>
      </p:sp>
      <p:sp>
        <p:nvSpPr>
          <p:cNvPr id="6" name="Text 4"/>
          <p:cNvSpPr txBox="1"/>
          <p:nvPr/>
        </p:nvSpPr>
        <p:spPr>
          <a:xfrm>
            <a:off x="640080" y="1234440"/>
            <a:ext cx="10908792" cy="4572000"/>
          </a:xfrm>
          <a:prstGeom prst="rect">
            <a:avLst/>
          </a:prstGeom>
          <a:noFill/>
          <a:ln/>
        </p:spPr>
        <p:txBody>
          <a:bodyPr wrap="square" lIns="0" tIns="0" rIns="0" bIns="0" rtlCol="0" anchor="t"/>
          <a:lstStyle/>
          <a:p>
            <a:pPr marL="342900" indent="-342900">
              <a:lnSpc>
                <a:spcPts val="3000"/>
              </a:lnSpc>
              <a:spcAft>
                <a:spcPts val="800"/>
              </a:spcAft>
              <a:buSzPct val="100000"/>
              <a:buChar char="•"/>
            </a:pPr>
            <a:r>
              <a:rPr lang="en-US" sz="2300" dirty="0">
                <a:solidFill>
                  <a:srgbClr val="1A1A1A"/>
                </a:solidFill>
                <a:latin typeface="Calibri" pitchFamily="34" charset="0"/>
                <a:ea typeface="Calibri" pitchFamily="34" charset="-122"/>
                <a:cs typeface="Calibri" pitchFamily="34" charset="-120"/>
              </a:rPr>
              <a:t>The same corpus and the same fixed splits.</a:t>
            </a:r>
            <a:endParaRPr lang="en-US" sz="2300" dirty="0"/>
          </a:p>
          <a:p>
            <a:pPr marL="342900" indent="-342900">
              <a:lnSpc>
                <a:spcPts val="3000"/>
              </a:lnSpc>
              <a:spcAft>
                <a:spcPts val="800"/>
              </a:spcAft>
              <a:buSzPct val="100000"/>
              <a:buChar char="•"/>
            </a:pPr>
            <a:r>
              <a:rPr lang="en-US" sz="2300" dirty="0">
                <a:solidFill>
                  <a:srgbClr val="1A1A1A"/>
                </a:solidFill>
                <a:latin typeface="Calibri" pitchFamily="34" charset="0"/>
                <a:ea typeface="Calibri" pitchFamily="34" charset="-122"/>
                <a:cs typeface="Calibri" pitchFamily="34" charset="-120"/>
              </a:rPr>
              <a:t>The same tokeniser, lemmatiser and 20,000 word vocabulary cap.</a:t>
            </a:r>
            <a:endParaRPr lang="en-US" sz="2300" dirty="0"/>
          </a:p>
          <a:p>
            <a:pPr marL="342900" indent="-342900">
              <a:lnSpc>
                <a:spcPts val="3000"/>
              </a:lnSpc>
              <a:spcAft>
                <a:spcPts val="800"/>
              </a:spcAft>
              <a:buSzPct val="100000"/>
              <a:buChar char="•"/>
            </a:pPr>
            <a:r>
              <a:rPr lang="en-US" sz="2300" dirty="0">
                <a:solidFill>
                  <a:srgbClr val="1A1A1A"/>
                </a:solidFill>
                <a:latin typeface="Calibri" pitchFamily="34" charset="0"/>
                <a:ea typeface="Calibri" pitchFamily="34" charset="-122"/>
                <a:cs typeface="Calibri" pitchFamily="34" charset="-120"/>
              </a:rPr>
              <a:t>The same three-configuration tuning grid per condition.</a:t>
            </a:r>
            <a:endParaRPr lang="en-US" sz="2300" dirty="0"/>
          </a:p>
          <a:p>
            <a:pPr marL="342900" indent="-342900">
              <a:lnSpc>
                <a:spcPts val="3000"/>
              </a:lnSpc>
              <a:spcAft>
                <a:spcPts val="800"/>
              </a:spcAft>
              <a:buSzPct val="100000"/>
              <a:buChar char="•"/>
            </a:pPr>
            <a:r>
              <a:rPr lang="en-US" sz="2300" dirty="0">
                <a:solidFill>
                  <a:srgbClr val="1A1A1A"/>
                </a:solidFill>
                <a:latin typeface="Calibri" pitchFamily="34" charset="0"/>
                <a:ea typeface="Calibri" pitchFamily="34" charset="-122"/>
                <a:cs typeface="Calibri" pitchFamily="34" charset="-120"/>
              </a:rPr>
              <a:t>The same positive-weighted loss for class imbalance.</a:t>
            </a:r>
            <a:endParaRPr lang="en-US" sz="2300" dirty="0"/>
          </a:p>
          <a:p>
            <a:pPr marL="342900" indent="-342900">
              <a:lnSpc>
                <a:spcPts val="3000"/>
              </a:lnSpc>
              <a:spcAft>
                <a:spcPts val="800"/>
              </a:spcAft>
              <a:buSzPct val="100000"/>
              <a:buChar char="•"/>
            </a:pPr>
            <a:r>
              <a:rPr lang="en-US" sz="2300" dirty="0">
                <a:solidFill>
                  <a:srgbClr val="1A1A1A"/>
                </a:solidFill>
                <a:latin typeface="Calibri" pitchFamily="34" charset="0"/>
                <a:ea typeface="Calibri" pitchFamily="34" charset="-122"/>
                <a:cs typeface="Calibri" pitchFamily="34" charset="-120"/>
              </a:rPr>
              <a:t>The same threshold sweep, 0.10 to 0.55, maximising Micro-F1.</a:t>
            </a:r>
            <a:endParaRPr lang="en-US" sz="2300" dirty="0"/>
          </a:p>
          <a:p>
            <a:pPr marL="342900" indent="-342900">
              <a:lnSpc>
                <a:spcPts val="3000"/>
              </a:lnSpc>
              <a:spcAft>
                <a:spcPts val="800"/>
              </a:spcAft>
              <a:buSzPct val="100000"/>
              <a:buChar char="•"/>
            </a:pPr>
            <a:r>
              <a:rPr lang="en-US" sz="2300" dirty="0">
                <a:solidFill>
                  <a:srgbClr val="1A1A1A"/>
                </a:solidFill>
                <a:latin typeface="Calibri" pitchFamily="34" charset="0"/>
                <a:ea typeface="Calibri" pitchFamily="34" charset="-122"/>
                <a:cs typeface="Calibri" pitchFamily="34" charset="-120"/>
              </a:rPr>
              <a:t>The same random seed, fixed at 42.</a:t>
            </a:r>
            <a:endParaRPr lang="en-US" sz="2300" dirty="0"/>
          </a:p>
        </p:txBody>
      </p:sp>
      <p:sp>
        <p:nvSpPr>
          <p:cNvPr id="7" name="Shape 5"/>
          <p:cNvSpPr/>
          <p:nvPr/>
        </p:nvSpPr>
        <p:spPr>
          <a:xfrm>
            <a:off x="640080" y="4892040"/>
            <a:ext cx="10908792" cy="822960"/>
          </a:xfrm>
          <a:prstGeom prst="roundRect">
            <a:avLst>
              <a:gd name="adj" fmla="val 10000"/>
            </a:avLst>
          </a:prstGeom>
          <a:solidFill>
            <a:srgbClr val="FDF1EC"/>
          </a:solidFill>
          <a:ln w="12700">
            <a:solidFill>
              <a:srgbClr val="D6DDE5"/>
            </a:solidFill>
            <a:prstDash val="solid"/>
          </a:ln>
        </p:spPr>
      </p:sp>
      <p:sp>
        <p:nvSpPr>
          <p:cNvPr id="8" name="Text 6"/>
          <p:cNvSpPr txBox="1"/>
          <p:nvPr/>
        </p:nvSpPr>
        <p:spPr>
          <a:xfrm>
            <a:off x="886968" y="4892040"/>
            <a:ext cx="10424160" cy="822960"/>
          </a:xfrm>
          <a:prstGeom prst="rect">
            <a:avLst/>
          </a:prstGeom>
          <a:noFill/>
          <a:ln/>
        </p:spPr>
        <p:txBody>
          <a:bodyPr wrap="square" lIns="0" tIns="0" rIns="0" bIns="0" rtlCol="0" anchor="ctr"/>
          <a:lstStyle/>
          <a:p>
            <a:pPr indent="0" marL="0">
              <a:buNone/>
            </a:pPr>
            <a:r>
              <a:rPr lang="en-US" sz="2100" b="1" dirty="0">
                <a:solidFill>
                  <a:srgbClr val="1A1A1A"/>
                </a:solidFill>
                <a:latin typeface="Calibri" pitchFamily="34" charset="0"/>
                <a:ea typeface="Calibri" pitchFamily="34" charset="-122"/>
                <a:cs typeface="Calibri" pitchFamily="34" charset="-120"/>
              </a:rPr>
              <a:t>Only the Stage 2 emoji operation changes, so any difference in score belongs to that step.</a:t>
            </a:r>
            <a:endParaRPr lang="en-US" sz="2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60</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Appendix C: Strengths and Weaknesses of Existing Research</a:t>
            </a:r>
            <a:endParaRPr lang="en-US" sz="32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640080" y="1207008"/>
          <a:ext cx="10908792" cy="914400"/>
        </p:xfrm>
        <a:graphic>
          <a:graphicData uri="http://schemas.openxmlformats.org/drawingml/2006/table">
            <a:tbl>
              <a:tblPr/>
              <a:tblGrid>
                <a:gridCol w="5449824"/>
                <a:gridCol w="5458968"/>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Strengths of Existing Research</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Weaknesses of Existing Research</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r>
              <a:tr h="0">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Large, well-annotated shared task corpora allow direct comparison</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Emoji effects are reported as a single average, hiding per-label variation</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Strong evidence that emoji carry usable affective signal</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Emoji handling is confounded with architectural changes</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Growing attention to explainability in sensitive settings</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Emoji density of the corpus is rarely reported, so effect size cannot be judged</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Established metric conventions for multi-label problems</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A1A1A"/>
                          </a:solidFill>
                          <a:latin typeface="Calibri" pitchFamily="34" charset="0"/>
                          <a:ea typeface="Calibri" pitchFamily="34" charset="-122"/>
                          <a:cs typeface="Calibri" pitchFamily="34" charset="-120"/>
                        </a:rPr>
                        <a:t>Small gains are often reported without repeated runs or variance estimates</a:t>
                      </a:r>
                      <a:endParaRPr lang="en-US" sz="19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61</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Appendix D: Hyper-parameter Search Log</a:t>
            </a:r>
            <a:endParaRPr lang="en-US" sz="3200" dirty="0"/>
          </a:p>
        </p:txBody>
      </p:sp>
      <p:sp>
        <p:nvSpPr>
          <p:cNvPr id="6" name="Text 4"/>
          <p:cNvSpPr txBox="1"/>
          <p:nvPr/>
        </p:nvSpPr>
        <p:spPr>
          <a:xfrm>
            <a:off x="640080" y="1133856"/>
            <a:ext cx="10908792" cy="310896"/>
          </a:xfrm>
          <a:prstGeom prst="rect">
            <a:avLst/>
          </a:prstGeom>
          <a:noFill/>
          <a:ln/>
        </p:spPr>
        <p:txBody>
          <a:bodyPr wrap="square" lIns="0" tIns="0" rIns="0" bIns="0"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Table 10: Development Micro-F1 for every configuration, in percent.</a:t>
            </a:r>
            <a:endParaRPr lang="en-US" sz="14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908792" cy="914400"/>
        </p:xfrm>
        <a:graphic>
          <a:graphicData uri="http://schemas.openxmlformats.org/drawingml/2006/table">
            <a:tbl>
              <a:tblPr/>
              <a:tblGrid>
                <a:gridCol w="2194560"/>
                <a:gridCol w="2606040"/>
                <a:gridCol w="1481328"/>
                <a:gridCol w="1481328"/>
                <a:gridCol w="1481328"/>
                <a:gridCol w="1664208"/>
              </a:tblGrid>
              <a:tr h="0">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Model</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Track</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cfg1</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cfg2</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cfg3</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Selected</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0C2340"/>
                    </a:solidFill>
                  </a:tcPr>
                </a:tc>
              </a:tr>
              <a:tr h="0">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BiLSTM</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Without Emoji</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52.31</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54.49</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54.66</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cfg3</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BiLSTM</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With Emoji</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51.42</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53.97</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54.17</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cfg3</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Transformer</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Without Emoji</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54.81</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49.38</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47.43</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cfg1</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4F7FA"/>
                    </a:solidFill>
                  </a:tcPr>
                </a:tc>
              </a:tr>
              <a:tr h="0">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Transformer</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With Emoji</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47.85</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47.59</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50.25</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A1A1A"/>
                          </a:solidFill>
                          <a:latin typeface="Calibri" pitchFamily="34" charset="0"/>
                          <a:ea typeface="Calibri" pitchFamily="34" charset="-122"/>
                          <a:cs typeface="Calibri" pitchFamily="34" charset="-120"/>
                        </a:rPr>
                        <a:t>cfg3</a:t>
                      </a:r>
                      <a:endParaRPr lang="en-US" sz="2000" dirty="0">
                        <a:latin typeface="Calibri" charset="0"/>
                        <a:ea typeface="Calibri" charset="0"/>
                        <a:cs typeface="Calibri" charset="0"/>
                      </a:endParaRPr>
                    </a:p>
                  </a:txBody>
                  <a:tcPr marL="101600" marR="101600" marT="63500" marB="63500" anchor="ctr">
                    <a:lnL w="12700" cap="flat" cmpd="sng" algn="ctr">
                      <a:solidFill>
                        <a:srgbClr val="D6DDE5"/>
                      </a:solidFill>
                      <a:prstDash val="solid"/>
                      <a:round/>
                      <a:headEnd type="none" w="med" len="med"/>
                      <a:tailEnd type="none" w="med" len="med"/>
                    </a:lnL>
                    <a:lnR w="12700" cap="flat" cmpd="sng" algn="ctr">
                      <a:solidFill>
                        <a:srgbClr val="D6DDE5"/>
                      </a:solidFill>
                      <a:prstDash val="solid"/>
                      <a:round/>
                      <a:headEnd type="none" w="med" len="med"/>
                      <a:tailEnd type="none" w="med" len="med"/>
                    </a:lnR>
                    <a:lnT w="12700" cap="flat" cmpd="sng" algn="ctr">
                      <a:solidFill>
                        <a:srgbClr val="D6DDE5"/>
                      </a:solidFill>
                      <a:prstDash val="solid"/>
                      <a:round/>
                      <a:headEnd type="none" w="med" len="med"/>
                      <a:tailEnd type="none" w="med" len="med"/>
                    </a:lnT>
                    <a:lnB w="12700" cap="flat" cmpd="sng" algn="ctr">
                      <a:solidFill>
                        <a:srgbClr val="D6DDE5"/>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40080" y="3657600"/>
            <a:ext cx="10908792" cy="2057400"/>
          </a:xfrm>
          <a:prstGeom prst="rect">
            <a:avLst/>
          </a:prstGeom>
          <a:noFill/>
          <a:ln/>
        </p:spPr>
        <p:txBody>
          <a:bodyPr wrap="square" lIns="0" tIns="0" rIns="0" bIns="0" rtlCol="0" anchor="t"/>
          <a:lstStyle/>
          <a:p>
            <a:pPr marL="342900" indent="-342900">
              <a:lnSpc>
                <a:spcPts val="3000"/>
              </a:lnSpc>
              <a:spcAft>
                <a:spcPts val="700"/>
              </a:spcAft>
              <a:buSzPct val="100000"/>
              <a:buChar char="•"/>
            </a:pPr>
            <a:r>
              <a:rPr lang="en-US" sz="2000" dirty="0">
                <a:solidFill>
                  <a:srgbClr val="1A1A1A"/>
                </a:solidFill>
                <a:latin typeface="Calibri" pitchFamily="34" charset="0"/>
                <a:ea typeface="Calibri" pitchFamily="34" charset="-122"/>
                <a:cs typeface="Calibri" pitchFamily="34" charset="-120"/>
              </a:rPr>
              <a:t>The spread across configurations is 7.38 points, from 47.43 to 54.81.</a:t>
            </a:r>
            <a:endParaRPr lang="en-US" sz="2000" dirty="0"/>
          </a:p>
          <a:p>
            <a:pPr marL="342900" indent="-342900">
              <a:lnSpc>
                <a:spcPts val="3000"/>
              </a:lnSpc>
              <a:spcAft>
                <a:spcPts val="700"/>
              </a:spcAft>
              <a:buSzPct val="100000"/>
              <a:buChar char="•"/>
            </a:pPr>
            <a:r>
              <a:rPr lang="en-US" sz="2000" dirty="0">
                <a:solidFill>
                  <a:srgbClr val="1A1A1A"/>
                </a:solidFill>
                <a:latin typeface="Calibri" pitchFamily="34" charset="0"/>
                <a:ea typeface="Calibri" pitchFamily="34" charset="-122"/>
                <a:cs typeface="Calibri" pitchFamily="34" charset="-120"/>
              </a:rPr>
              <a:t>That is larger than the biggest emoji effect measured, 3.71 points, which is why the aggregate result is reported as indicative rather than confirmed.</a:t>
            </a:r>
            <a:endParaRPr lang="en-US" sz="2000" dirty="0"/>
          </a:p>
          <a:p>
            <a:pPr marL="342900" indent="-342900">
              <a:lnSpc>
                <a:spcPts val="3000"/>
              </a:lnSpc>
              <a:spcAft>
                <a:spcPts val="700"/>
              </a:spcAft>
              <a:buSzPct val="100000"/>
              <a:buChar char="•"/>
            </a:pPr>
            <a:r>
              <a:rPr lang="en-US" sz="2000" dirty="0">
                <a:solidFill>
                  <a:srgbClr val="1A1A1A"/>
                </a:solidFill>
                <a:latin typeface="Calibri" pitchFamily="34" charset="0"/>
                <a:ea typeface="Calibri" pitchFamily="34" charset="-122"/>
                <a:cs typeface="Calibri" pitchFamily="34" charset="-120"/>
              </a:rPr>
              <a:t>The Transformer picked different winning configurations on the two tracks, which is the one remaining confound in its comparison.</a:t>
            </a:r>
            <a:endParaRPr lang="en-US" sz="2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457200" y="5991697"/>
            <a:ext cx="4663440" cy="2926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KJS   |   Krishkumar Jatinbhai Sorathiya   |   35042390</a:t>
            </a:r>
            <a:endParaRPr lang="en-US" sz="1100" dirty="0"/>
          </a:p>
        </p:txBody>
      </p:sp>
      <p:sp>
        <p:nvSpPr>
          <p:cNvPr id="3" name="Text 1"/>
          <p:cNvSpPr txBox="1"/>
          <p:nvPr/>
        </p:nvSpPr>
        <p:spPr>
          <a:xfrm>
            <a:off x="5181448" y="5991697"/>
            <a:ext cx="1828800" cy="292608"/>
          </a:xfrm>
          <a:prstGeom prst="rect">
            <a:avLst/>
          </a:prstGeom>
          <a:noFill/>
          <a:ln/>
        </p:spPr>
        <p:txBody>
          <a:bodyPr wrap="square" lIns="0" tIns="0" rIns="0" bIns="0" rtlCol="0" anchor="ctr"/>
          <a:lstStyle/>
          <a:p>
            <a:pPr algn="ctr" indent="0" marL="0">
              <a:buNone/>
            </a:pPr>
            <a:r>
              <a:rPr lang="en-US" sz="1500" b="1" dirty="0">
                <a:solidFill>
                  <a:srgbClr val="5A6472"/>
                </a:solidFill>
                <a:latin typeface="Calibri" pitchFamily="34" charset="0"/>
                <a:ea typeface="Calibri" pitchFamily="34" charset="-122"/>
                <a:cs typeface="Calibri" pitchFamily="34" charset="-120"/>
              </a:rPr>
              <a:t>62</a:t>
            </a:r>
            <a:endParaRPr lang="en-US" sz="1500" dirty="0"/>
          </a:p>
        </p:txBody>
      </p:sp>
      <p:sp>
        <p:nvSpPr>
          <p:cNvPr id="4" name="Text 2"/>
          <p:cNvSpPr txBox="1"/>
          <p:nvPr/>
        </p:nvSpPr>
        <p:spPr>
          <a:xfrm>
            <a:off x="7071055" y="5991697"/>
            <a:ext cx="4663440" cy="292608"/>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c5042390@hallam.shu.ac.uk</a:t>
            </a:r>
            <a:endParaRPr lang="en-US" sz="1100" dirty="0"/>
          </a:p>
        </p:txBody>
      </p:sp>
      <p:sp>
        <p:nvSpPr>
          <p:cNvPr id="5" name="Text 3"/>
          <p:cNvSpPr txBox="1"/>
          <p:nvPr/>
        </p:nvSpPr>
        <p:spPr>
          <a:xfrm>
            <a:off x="548640" y="329184"/>
            <a:ext cx="11091672" cy="749808"/>
          </a:xfrm>
          <a:prstGeom prst="rect">
            <a:avLst/>
          </a:prstGeom>
          <a:noFill/>
          <a:ln/>
        </p:spPr>
        <p:txBody>
          <a:bodyPr wrap="square" lIns="0" tIns="0" rIns="0" bIns="0" rtlCol="0" anchor="ctr"/>
          <a:lstStyle/>
          <a:p>
            <a:pPr indent="0" marL="0">
              <a:buNone/>
            </a:pPr>
            <a:r>
              <a:rPr lang="en-US" sz="3200" b="1" dirty="0">
                <a:solidFill>
                  <a:srgbClr val="0C2340"/>
                </a:solidFill>
                <a:latin typeface="Calibri" pitchFamily="34" charset="0"/>
                <a:ea typeface="Calibri" pitchFamily="34" charset="-122"/>
                <a:cs typeface="Calibri" pitchFamily="34" charset="-120"/>
              </a:rPr>
              <a:t>Appendix E: Robustness Evidence</a:t>
            </a:r>
            <a:endParaRPr lang="en-US" sz="3200" dirty="0"/>
          </a:p>
        </p:txBody>
      </p:sp>
      <p:pic>
        <p:nvPicPr>
          <p:cNvPr id="6" name="Image 0" descr="D:/assigments_7_students/krish/figures/roc_lstm_with_emoji.png">    </p:cNvPr>
          <p:cNvPicPr>
            <a:picLocks noChangeAspect="1"/>
          </p:cNvPicPr>
          <p:nvPr/>
        </p:nvPicPr>
        <p:blipFill>
          <a:blip r:embed="rId1"/>
          <a:srcRect l="0" r="0" t="0" b="0"/>
          <a:stretch/>
        </p:blipFill>
        <p:spPr>
          <a:xfrm>
            <a:off x="640080" y="1280160"/>
            <a:ext cx="5212080" cy="3840480"/>
          </a:xfrm>
          <a:prstGeom prst="rect">
            <a:avLst/>
          </a:prstGeom>
        </p:spPr>
      </p:pic>
      <p:sp>
        <p:nvSpPr>
          <p:cNvPr id="7" name="Text 4"/>
          <p:cNvSpPr txBox="1"/>
          <p:nvPr/>
        </p:nvSpPr>
        <p:spPr>
          <a:xfrm>
            <a:off x="640080" y="5166360"/>
            <a:ext cx="5212080" cy="384048"/>
          </a:xfrm>
          <a:prstGeom prst="rect">
            <a:avLst/>
          </a:prstGeom>
          <a:noFill/>
          <a:ln/>
        </p:spPr>
        <p:txBody>
          <a:bodyPr wrap="square" lIns="0" tIns="0" rIns="0" bIns="0" rtlCol="0" anchor="t"/>
          <a:lstStyle/>
          <a:p>
            <a:pPr algn="l" indent="0" marL="0">
              <a:buNone/>
            </a:pPr>
            <a:r>
              <a:rPr lang="en-US" sz="1300" i="1" dirty="0">
                <a:solidFill>
                  <a:srgbClr val="5A6472"/>
                </a:solidFill>
                <a:latin typeface="Calibri" pitchFamily="34" charset="0"/>
                <a:ea typeface="Calibri" pitchFamily="34" charset="-122"/>
                <a:cs typeface="Calibri" pitchFamily="34" charset="-120"/>
              </a:rPr>
              <a:t>Figure 11: ROC curves per emotion, BiLSTM with emoji.</a:t>
            </a:r>
            <a:endParaRPr lang="en-US" sz="1300" dirty="0"/>
          </a:p>
        </p:txBody>
      </p:sp>
      <p:pic>
        <p:nvPicPr>
          <p:cNvPr id="8" name="Image 1" descr="D:/assigments_7_students/krish/figures/confusion_lstm_with_emoji.png">    </p:cNvPr>
          <p:cNvPicPr>
            <a:picLocks noChangeAspect="1"/>
          </p:cNvPicPr>
          <p:nvPr/>
        </p:nvPicPr>
        <p:blipFill>
          <a:blip r:embed="rId2"/>
          <a:srcRect l="0" r="0" t="0" b="0"/>
          <a:stretch/>
        </p:blipFill>
        <p:spPr>
          <a:xfrm>
            <a:off x="6126480" y="1280160"/>
            <a:ext cx="5422392" cy="3840480"/>
          </a:xfrm>
          <a:prstGeom prst="rect">
            <a:avLst/>
          </a:prstGeom>
        </p:spPr>
      </p:pic>
      <p:sp>
        <p:nvSpPr>
          <p:cNvPr id="9" name="Text 5"/>
          <p:cNvSpPr txBox="1"/>
          <p:nvPr/>
        </p:nvSpPr>
        <p:spPr>
          <a:xfrm>
            <a:off x="6126480" y="5166360"/>
            <a:ext cx="5422392" cy="384048"/>
          </a:xfrm>
          <a:prstGeom prst="rect">
            <a:avLst/>
          </a:prstGeom>
          <a:noFill/>
          <a:ln/>
        </p:spPr>
        <p:txBody>
          <a:bodyPr wrap="square" lIns="0" tIns="0" rIns="0" bIns="0" rtlCol="0" anchor="t"/>
          <a:lstStyle/>
          <a:p>
            <a:pPr algn="l" indent="0" marL="0">
              <a:buNone/>
            </a:pPr>
            <a:r>
              <a:rPr lang="en-US" sz="1300" i="1" dirty="0">
                <a:solidFill>
                  <a:srgbClr val="5A6472"/>
                </a:solidFill>
                <a:latin typeface="Calibri" pitchFamily="34" charset="0"/>
                <a:ea typeface="Calibri" pitchFamily="34" charset="-122"/>
                <a:cs typeface="Calibri" pitchFamily="34" charset="-120"/>
              </a:rPr>
              <a:t>Figure 12: Confusion matrices per emotion, same condition.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Sheffield Hallam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the Emoji Matter?</dc:title>
  <dc:subject>PptxGenJS Presentation</dc:subject>
  <dc:creator>Krishkumar Jatinbhai Sorathiya</dc:creator>
  <cp:lastModifiedBy>Krishkumar Jatinbhai Sorathiya</cp:lastModifiedBy>
  <cp:revision>1</cp:revision>
  <dcterms:created xsi:type="dcterms:W3CDTF">2026-09-10T17:54:41Z</dcterms:created>
  <dcterms:modified xsi:type="dcterms:W3CDTF">2026-09-10T17:54:41Z</dcterms:modified>
</cp:coreProperties>
</file>