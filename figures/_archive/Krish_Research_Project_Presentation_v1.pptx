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theme/themeOverride1.xml" ContentType="application/vnd.openxmlformats-officedocument.themeOverride+xml"/>
  <Override PartName="/ppt/notesSlides/notesSlide35.xml" ContentType="application/vnd.openxmlformats-officedocument.presentationml.notesSlide+xml"/>
  <Override PartName="/ppt/theme/themeOverride2.xml" ContentType="application/vnd.openxmlformats-officedocument.themeOverr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45"/>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66" d="100"/>
          <a:sy n="66" d="100"/>
        </p:scale>
        <p:origin x="644" y="4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theme" Target="theme/theme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presProps" Target="presProps.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63670034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7.xml"/><Relationship Id="rId1" Type="http://schemas.openxmlformats.org/officeDocument/2006/relationships/slideLayout" Target="../slideLayouts/slideLayout1.xml"/><Relationship Id="rId4" Type="http://schemas.openxmlformats.org/officeDocument/2006/relationships/image" Target="../media/image11.png"/></Relationships>
</file>

<file path=ppt/slides/_rels/slide2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28.xml"/><Relationship Id="rId1" Type="http://schemas.openxmlformats.org/officeDocument/2006/relationships/slideLayout" Target="../slideLayouts/slideLayout1.xml"/><Relationship Id="rId4" Type="http://schemas.openxmlformats.org/officeDocument/2006/relationships/image" Target="../media/image13.png"/></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3" Type="http://schemas.openxmlformats.org/officeDocument/2006/relationships/notesSlide" Target="../notesSlides/notesSlide35.xml"/><Relationship Id="rId2" Type="http://schemas.openxmlformats.org/officeDocument/2006/relationships/slideLayout" Target="../slideLayouts/slideLayout1.xml"/><Relationship Id="rId1" Type="http://schemas.openxmlformats.org/officeDocument/2006/relationships/themeOverride" Target="../theme/themeOverride1.xml"/></Relationships>
</file>

<file path=ppt/slides/_rels/slide36.xml.rels><?xml version="1.0" encoding="UTF-8" standalone="yes"?>
<Relationships xmlns="http://schemas.openxmlformats.org/package/2006/relationships"><Relationship Id="rId3" Type="http://schemas.openxmlformats.org/officeDocument/2006/relationships/notesSlide" Target="../notesSlides/notesSlide36.xml"/><Relationship Id="rId2" Type="http://schemas.openxmlformats.org/officeDocument/2006/relationships/slideLayout" Target="../slideLayouts/slideLayout1.xml"/><Relationship Id="rId1" Type="http://schemas.openxmlformats.org/officeDocument/2006/relationships/themeOverride" Target="../theme/themeOverride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1.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02920" y="905256"/>
            <a:ext cx="11183112" cy="1673352"/>
          </a:xfrm>
          <a:prstGeom prst="rect">
            <a:avLst/>
          </a:prstGeom>
          <a:solidFill>
            <a:srgbClr val="9A003B"/>
          </a:solidFill>
          <a:ln w="12700">
            <a:solidFill>
              <a:srgbClr val="9A003B"/>
            </a:solidFill>
            <a:prstDash val="solid"/>
          </a:ln>
        </p:spPr>
      </p:sp>
      <p:sp>
        <p:nvSpPr>
          <p:cNvPr id="3" name="Text 1"/>
          <p:cNvSpPr txBox="1"/>
          <p:nvPr/>
        </p:nvSpPr>
        <p:spPr>
          <a:xfrm>
            <a:off x="822960" y="1024128"/>
            <a:ext cx="10543032" cy="960120"/>
          </a:xfrm>
          <a:prstGeom prst="rect">
            <a:avLst/>
          </a:prstGeom>
          <a:noFill/>
          <a:ln/>
        </p:spPr>
        <p:txBody>
          <a:bodyPr wrap="square" lIns="0" tIns="0" rIns="0" bIns="0" rtlCol="0" anchor="ctr"/>
          <a:lstStyle/>
          <a:p>
            <a:pPr marL="0" indent="0" algn="ctr">
              <a:lnSpc>
                <a:spcPct val="105000"/>
              </a:lnSpc>
              <a:buNone/>
            </a:pPr>
            <a:r>
              <a:rPr lang="en-US" sz="2200" dirty="0">
                <a:solidFill>
                  <a:srgbClr val="FFFFFF"/>
                </a:solidFill>
                <a:latin typeface="Calibri" pitchFamily="34" charset="0"/>
                <a:ea typeface="Calibri" pitchFamily="34" charset="-122"/>
                <a:cs typeface="Calibri" pitchFamily="34" charset="-120"/>
              </a:rPr>
              <a:t>Does the Emoji Matter? A Controlled Comparison of Emoji Removal and Emoji Verbalisation in Multi-Label Emotion Classification of Tweets</a:t>
            </a:r>
            <a:endParaRPr lang="en-US" sz="2200" dirty="0"/>
          </a:p>
        </p:txBody>
      </p:sp>
      <p:sp>
        <p:nvSpPr>
          <p:cNvPr id="4" name="Text 2"/>
          <p:cNvSpPr txBox="1"/>
          <p:nvPr/>
        </p:nvSpPr>
        <p:spPr>
          <a:xfrm>
            <a:off x="822960" y="2011680"/>
            <a:ext cx="10543032" cy="384048"/>
          </a:xfrm>
          <a:prstGeom prst="rect">
            <a:avLst/>
          </a:prstGeom>
          <a:noFill/>
          <a:ln/>
        </p:spPr>
        <p:txBody>
          <a:bodyPr wrap="square" lIns="0" tIns="0" rIns="0" bIns="0" rtlCol="0" anchor="ctr"/>
          <a:lstStyle/>
          <a:p>
            <a:pPr marL="0" indent="0" algn="ctr">
              <a:buNone/>
            </a:pPr>
            <a:r>
              <a:rPr lang="en-US" sz="1600" dirty="0">
                <a:solidFill>
                  <a:srgbClr val="FFFFFF"/>
                </a:solidFill>
                <a:latin typeface="Calibri" pitchFamily="34" charset="0"/>
                <a:ea typeface="Calibri" pitchFamily="34" charset="-122"/>
                <a:cs typeface="Calibri" pitchFamily="34" charset="-120"/>
              </a:rPr>
              <a:t>MSc Data Science and Artificial Intelligence: Research Project Presentation</a:t>
            </a:r>
            <a:endParaRPr lang="en-US" sz="1600" dirty="0"/>
          </a:p>
        </p:txBody>
      </p:sp>
      <p:sp>
        <p:nvSpPr>
          <p:cNvPr id="5" name="Text 3"/>
          <p:cNvSpPr txBox="1"/>
          <p:nvPr/>
        </p:nvSpPr>
        <p:spPr>
          <a:xfrm>
            <a:off x="914400" y="3008376"/>
            <a:ext cx="10360152" cy="365760"/>
          </a:xfrm>
          <a:prstGeom prst="rect">
            <a:avLst/>
          </a:prstGeom>
          <a:noFill/>
          <a:ln/>
        </p:spPr>
        <p:txBody>
          <a:bodyPr wrap="square" lIns="0" tIns="0" rIns="0" bIns="0" rtlCol="0" anchor="ctr"/>
          <a:lstStyle/>
          <a:p>
            <a:pPr marL="0" indent="0" algn="ctr">
              <a:buNone/>
            </a:pPr>
            <a:r>
              <a:rPr lang="en-US" sz="1800" dirty="0">
                <a:solidFill>
                  <a:srgbClr val="000000"/>
                </a:solidFill>
                <a:latin typeface="Calibri" pitchFamily="34" charset="0"/>
                <a:ea typeface="Calibri" pitchFamily="34" charset="-122"/>
                <a:cs typeface="Calibri" pitchFamily="34" charset="-120"/>
              </a:rPr>
              <a:t>[Student Full Name]</a:t>
            </a:r>
            <a:endParaRPr lang="en-US" sz="1800" dirty="0"/>
          </a:p>
        </p:txBody>
      </p:sp>
      <p:sp>
        <p:nvSpPr>
          <p:cNvPr id="6" name="Text 4"/>
          <p:cNvSpPr txBox="1"/>
          <p:nvPr/>
        </p:nvSpPr>
        <p:spPr>
          <a:xfrm>
            <a:off x="914400" y="3529584"/>
            <a:ext cx="10360152" cy="310896"/>
          </a:xfrm>
          <a:prstGeom prst="rect">
            <a:avLst/>
          </a:prstGeom>
          <a:noFill/>
          <a:ln/>
        </p:spPr>
        <p:txBody>
          <a:bodyPr wrap="square" lIns="0" tIns="0" rIns="0" bIns="0" rtlCol="0" anchor="ctr"/>
          <a:lstStyle/>
          <a:p>
            <a:pPr marL="0" indent="0" algn="ctr">
              <a:buNone/>
            </a:pPr>
            <a:r>
              <a:rPr lang="en-US" sz="1400" dirty="0">
                <a:solidFill>
                  <a:srgbClr val="000000"/>
                </a:solidFill>
                <a:latin typeface="Courier New" pitchFamily="34" charset="0"/>
                <a:ea typeface="Courier New" pitchFamily="34" charset="-122"/>
                <a:cs typeface="Courier New" pitchFamily="34" charset="-120"/>
              </a:rPr>
              <a:t>[student.email@student.shu.ac.uk]</a:t>
            </a:r>
            <a:endParaRPr lang="en-US" sz="1400" dirty="0"/>
          </a:p>
        </p:txBody>
      </p:sp>
      <p:sp>
        <p:nvSpPr>
          <p:cNvPr id="7" name="Text 5"/>
          <p:cNvSpPr txBox="1"/>
          <p:nvPr/>
        </p:nvSpPr>
        <p:spPr>
          <a:xfrm>
            <a:off x="914400" y="4160520"/>
            <a:ext cx="10360152" cy="1005840"/>
          </a:xfrm>
          <a:prstGeom prst="rect">
            <a:avLst/>
          </a:prstGeom>
          <a:noFill/>
          <a:ln/>
        </p:spPr>
        <p:txBody>
          <a:bodyPr wrap="square" lIns="0" tIns="0" rIns="0" bIns="0" rtlCol="0" anchor="t"/>
          <a:lstStyle/>
          <a:p>
            <a:pPr marL="0" indent="0" algn="ctr">
              <a:lnSpc>
                <a:spcPct val="135000"/>
              </a:lnSpc>
              <a:buNone/>
            </a:pPr>
            <a:r>
              <a:rPr lang="en-US" sz="1300" dirty="0">
                <a:solidFill>
                  <a:srgbClr val="000000"/>
                </a:solidFill>
                <a:latin typeface="Calibri" pitchFamily="34" charset="0"/>
                <a:ea typeface="Calibri" pitchFamily="34" charset="-122"/>
                <a:cs typeface="Calibri" pitchFamily="34" charset="-120"/>
              </a:rPr>
              <a:t>School of Computing and Digital Technologies</a:t>
            </a:r>
            <a:endParaRPr lang="en-US" sz="1300" dirty="0"/>
          </a:p>
          <a:p>
            <a:pPr marL="0" indent="0" algn="ctr">
              <a:lnSpc>
                <a:spcPct val="135000"/>
              </a:lnSpc>
              <a:buNone/>
            </a:pPr>
            <a:r>
              <a:rPr lang="en-US" sz="1300" dirty="0">
                <a:solidFill>
                  <a:srgbClr val="000000"/>
                </a:solidFill>
                <a:latin typeface="Calibri" pitchFamily="34" charset="0"/>
                <a:ea typeface="Calibri" pitchFamily="34" charset="-122"/>
                <a:cs typeface="Calibri" pitchFamily="34" charset="-120"/>
              </a:rPr>
              <a:t>College of Business, Technology and Engineering (BTE)</a:t>
            </a:r>
            <a:endParaRPr lang="en-US" sz="1300" dirty="0"/>
          </a:p>
          <a:p>
            <a:pPr marL="0" indent="0" algn="ctr">
              <a:lnSpc>
                <a:spcPct val="135000"/>
              </a:lnSpc>
              <a:buNone/>
            </a:pPr>
            <a:r>
              <a:rPr lang="en-US" sz="1300" b="1" dirty="0">
                <a:solidFill>
                  <a:srgbClr val="000000"/>
                </a:solidFill>
                <a:latin typeface="Calibri" pitchFamily="34" charset="0"/>
                <a:ea typeface="Calibri" pitchFamily="34" charset="-122"/>
                <a:cs typeface="Calibri" pitchFamily="34" charset="-120"/>
              </a:rPr>
              <a:t>Sheffield Hallam University</a:t>
            </a:r>
            <a:endParaRPr lang="en-US" sz="1300" dirty="0"/>
          </a:p>
        </p:txBody>
      </p:sp>
      <p:sp>
        <p:nvSpPr>
          <p:cNvPr id="8" name="Text 6"/>
          <p:cNvSpPr txBox="1"/>
          <p:nvPr/>
        </p:nvSpPr>
        <p:spPr>
          <a:xfrm>
            <a:off x="914400" y="5541264"/>
            <a:ext cx="10360152" cy="274320"/>
          </a:xfrm>
          <a:prstGeom prst="rect">
            <a:avLst/>
          </a:prstGeom>
          <a:noFill/>
          <a:ln/>
        </p:spPr>
        <p:txBody>
          <a:bodyPr wrap="square" lIns="0" tIns="0" rIns="0" bIns="0" rtlCol="0" anchor="ctr"/>
          <a:lstStyle/>
          <a:p>
            <a:pPr marL="0" indent="0" algn="ctr">
              <a:buNone/>
            </a:pPr>
            <a:r>
              <a:rPr lang="en-US" sz="1000" dirty="0">
                <a:solidFill>
                  <a:srgbClr val="000000"/>
                </a:solidFill>
                <a:latin typeface="Calibri" pitchFamily="34" charset="0"/>
                <a:ea typeface="Calibri" pitchFamily="34" charset="-122"/>
                <a:cs typeface="Calibri" pitchFamily="34" charset="-120"/>
              </a:rPr>
              <a:t>September 2026</a:t>
            </a:r>
            <a:endParaRPr lang="en-US" sz="1000" dirty="0"/>
          </a:p>
        </p:txBody>
      </p:sp>
      <p:sp>
        <p:nvSpPr>
          <p:cNvPr id="9" name="Text 7"/>
          <p:cNvSpPr txBox="1"/>
          <p:nvPr/>
        </p:nvSpPr>
        <p:spPr>
          <a:xfrm>
            <a:off x="10515600" y="5806440"/>
            <a:ext cx="1463040" cy="749808"/>
          </a:xfrm>
          <a:prstGeom prst="rect">
            <a:avLst/>
          </a:prstGeom>
          <a:noFill/>
          <a:ln/>
        </p:spPr>
        <p:txBody>
          <a:bodyPr wrap="square" lIns="0" tIns="0" rIns="0" bIns="0" rtlCol="0" anchor="b"/>
          <a:lstStyle/>
          <a:p>
            <a:pPr marL="0" indent="0" algn="r">
              <a:lnSpc>
                <a:spcPct val="85000"/>
              </a:lnSpc>
              <a:buNone/>
            </a:pPr>
            <a:r>
              <a:rPr lang="en-US" sz="1150" b="1" dirty="0">
                <a:solidFill>
                  <a:srgbClr val="9A003B"/>
                </a:solidFill>
                <a:latin typeface="Calibri" pitchFamily="34" charset="0"/>
                <a:ea typeface="Calibri" pitchFamily="34" charset="-122"/>
                <a:cs typeface="Calibri" pitchFamily="34" charset="-120"/>
              </a:rPr>
              <a:t>Sheffield</a:t>
            </a:r>
            <a:endParaRPr lang="en-US" sz="1150" dirty="0"/>
          </a:p>
          <a:p>
            <a:pPr marL="0" indent="0" algn="r">
              <a:lnSpc>
                <a:spcPct val="85000"/>
              </a:lnSpc>
              <a:buNone/>
            </a:pPr>
            <a:r>
              <a:rPr lang="en-US" sz="1150" b="1" dirty="0">
                <a:solidFill>
                  <a:srgbClr val="9A003B"/>
                </a:solidFill>
                <a:latin typeface="Calibri" pitchFamily="34" charset="0"/>
                <a:ea typeface="Calibri" pitchFamily="34" charset="-122"/>
                <a:cs typeface="Calibri" pitchFamily="34" charset="-120"/>
              </a:rPr>
              <a:t>Hallam</a:t>
            </a:r>
            <a:endParaRPr lang="en-US" sz="1150" dirty="0"/>
          </a:p>
          <a:p>
            <a:pPr marL="0" indent="0" algn="r">
              <a:lnSpc>
                <a:spcPct val="85000"/>
              </a:lnSpc>
              <a:buNone/>
            </a:pPr>
            <a:r>
              <a:rPr lang="en-US" sz="1150" b="1" dirty="0">
                <a:solidFill>
                  <a:srgbClr val="9A003B"/>
                </a:solidFill>
                <a:latin typeface="Calibri" pitchFamily="34" charset="0"/>
                <a:ea typeface="Calibri" pitchFamily="34" charset="-122"/>
                <a:cs typeface="Calibri" pitchFamily="34" charset="-120"/>
              </a:rPr>
              <a:t>University</a:t>
            </a:r>
            <a:endParaRPr lang="en-US" sz="1150" dirty="0"/>
          </a:p>
        </p:txBody>
      </p:sp>
      <p:sp>
        <p:nvSpPr>
          <p:cNvPr id="10" name="Shape 8"/>
          <p:cNvSpPr/>
          <p:nvPr/>
        </p:nvSpPr>
        <p:spPr>
          <a:xfrm>
            <a:off x="0" y="6624828"/>
            <a:ext cx="4063898" cy="233172"/>
          </a:xfrm>
          <a:prstGeom prst="rect">
            <a:avLst/>
          </a:prstGeom>
          <a:solidFill>
            <a:srgbClr val="4D001E"/>
          </a:solidFill>
          <a:ln w="12700">
            <a:solidFill>
              <a:srgbClr val="4D001E"/>
            </a:solidFill>
            <a:prstDash val="solid"/>
          </a:ln>
        </p:spPr>
      </p:sp>
      <p:sp>
        <p:nvSpPr>
          <p:cNvPr id="11" name="Shape 9"/>
          <p:cNvSpPr/>
          <p:nvPr/>
        </p:nvSpPr>
        <p:spPr>
          <a:xfrm>
            <a:off x="4063898" y="6624828"/>
            <a:ext cx="4063898" cy="233172"/>
          </a:xfrm>
          <a:prstGeom prst="rect">
            <a:avLst/>
          </a:prstGeom>
          <a:solidFill>
            <a:srgbClr val="74002C"/>
          </a:solidFill>
          <a:ln w="12700">
            <a:solidFill>
              <a:srgbClr val="74002C"/>
            </a:solidFill>
            <a:prstDash val="solid"/>
          </a:ln>
        </p:spPr>
      </p:sp>
      <p:sp>
        <p:nvSpPr>
          <p:cNvPr id="12" name="Shape 10"/>
          <p:cNvSpPr/>
          <p:nvPr/>
        </p:nvSpPr>
        <p:spPr>
          <a:xfrm>
            <a:off x="8127797" y="6624828"/>
            <a:ext cx="4063898" cy="233172"/>
          </a:xfrm>
          <a:prstGeom prst="rect">
            <a:avLst/>
          </a:prstGeom>
          <a:solidFill>
            <a:srgbClr val="9A003B"/>
          </a:solidFill>
          <a:ln w="12700">
            <a:solidFill>
              <a:srgbClr val="9A003B"/>
            </a:solidFill>
            <a:prstDash val="solid"/>
          </a:ln>
        </p:spPr>
      </p:sp>
      <p:sp>
        <p:nvSpPr>
          <p:cNvPr id="13" name="Text 11"/>
          <p:cNvSpPr txBox="1"/>
          <p:nvPr/>
        </p:nvSpPr>
        <p:spPr>
          <a:xfrm>
            <a:off x="1143000" y="6624828"/>
            <a:ext cx="2743200" cy="233172"/>
          </a:xfrm>
          <a:prstGeom prst="rect">
            <a:avLst/>
          </a:prstGeom>
          <a:noFill/>
          <a:ln/>
        </p:spPr>
        <p:txBody>
          <a:bodyPr wrap="square" lIns="0" tIns="0" rIns="0" bIns="0" rtlCol="0" anchor="ctr"/>
          <a:lstStyle/>
          <a:p>
            <a:pPr marL="0" indent="0">
              <a:buNone/>
            </a:pPr>
            <a:r>
              <a:rPr lang="en-US" sz="900" dirty="0">
                <a:solidFill>
                  <a:srgbClr val="FFFFFF"/>
                </a:solidFill>
                <a:latin typeface="Calibri" pitchFamily="34" charset="0"/>
                <a:ea typeface="Calibri" pitchFamily="34" charset="-122"/>
                <a:cs typeface="Calibri" pitchFamily="34" charset="-120"/>
              </a:rPr>
              <a:t>[Student Initials]  (SHU)</a:t>
            </a:r>
            <a:endParaRPr lang="en-US" sz="900" dirty="0"/>
          </a:p>
        </p:txBody>
      </p:sp>
      <p:sp>
        <p:nvSpPr>
          <p:cNvPr id="14" name="Text 12"/>
          <p:cNvSpPr txBox="1"/>
          <p:nvPr/>
        </p:nvSpPr>
        <p:spPr>
          <a:xfrm>
            <a:off x="5276088" y="6624828"/>
            <a:ext cx="2743200" cy="233172"/>
          </a:xfrm>
          <a:prstGeom prst="rect">
            <a:avLst/>
          </a:prstGeom>
          <a:noFill/>
          <a:ln/>
        </p:spPr>
        <p:txBody>
          <a:bodyPr wrap="square" lIns="0" tIns="0" rIns="0" bIns="0" rtlCol="0" anchor="ctr"/>
          <a:lstStyle/>
          <a:p>
            <a:pPr marL="0" indent="0">
              <a:buNone/>
            </a:pPr>
            <a:r>
              <a:rPr lang="en-US" sz="900" dirty="0">
                <a:solidFill>
                  <a:srgbClr val="FFFFFF"/>
                </a:solidFill>
                <a:latin typeface="Calibri" pitchFamily="34" charset="0"/>
                <a:ea typeface="Calibri" pitchFamily="34" charset="-122"/>
                <a:cs typeface="Calibri" pitchFamily="34" charset="-120"/>
              </a:rPr>
              <a:t>Does the Emoji Matter?</a:t>
            </a:r>
            <a:endParaRPr lang="en-US" sz="900" dirty="0"/>
          </a:p>
        </p:txBody>
      </p:sp>
      <p:sp>
        <p:nvSpPr>
          <p:cNvPr id="15" name="Text 13"/>
          <p:cNvSpPr txBox="1"/>
          <p:nvPr/>
        </p:nvSpPr>
        <p:spPr>
          <a:xfrm>
            <a:off x="9235440" y="6624828"/>
            <a:ext cx="1645920" cy="233172"/>
          </a:xfrm>
          <a:prstGeom prst="rect">
            <a:avLst/>
          </a:prstGeom>
          <a:noFill/>
          <a:ln/>
        </p:spPr>
        <p:txBody>
          <a:bodyPr wrap="square" lIns="0" tIns="0" rIns="0" bIns="0" rtlCol="0" anchor="ctr"/>
          <a:lstStyle/>
          <a:p>
            <a:pPr marL="0" indent="0">
              <a:buNone/>
            </a:pPr>
            <a:r>
              <a:rPr lang="en-US" sz="900" dirty="0">
                <a:solidFill>
                  <a:srgbClr val="FFFFFF"/>
                </a:solidFill>
                <a:latin typeface="Calibri" pitchFamily="34" charset="0"/>
                <a:ea typeface="Calibri" pitchFamily="34" charset="-122"/>
                <a:cs typeface="Calibri" pitchFamily="34" charset="-120"/>
              </a:rPr>
              <a:t>September 2026</a:t>
            </a:r>
            <a:endParaRPr lang="en-US" sz="900" dirty="0"/>
          </a:p>
        </p:txBody>
      </p:sp>
      <p:sp>
        <p:nvSpPr>
          <p:cNvPr id="16" name="Text 14"/>
          <p:cNvSpPr txBox="1"/>
          <p:nvPr/>
        </p:nvSpPr>
        <p:spPr>
          <a:xfrm>
            <a:off x="10881360" y="6624828"/>
            <a:ext cx="1161288" cy="233172"/>
          </a:xfrm>
          <a:prstGeom prst="rect">
            <a:avLst/>
          </a:prstGeom>
          <a:noFill/>
          <a:ln/>
        </p:spPr>
        <p:txBody>
          <a:bodyPr wrap="square" lIns="0" tIns="0" rIns="0" bIns="0" rtlCol="0" anchor="ctr"/>
          <a:lstStyle/>
          <a:p>
            <a:pPr marL="0" indent="0" algn="r">
              <a:buNone/>
            </a:pPr>
            <a:r>
              <a:rPr lang="en-US" sz="900" dirty="0">
                <a:solidFill>
                  <a:srgbClr val="FFFFFF"/>
                </a:solidFill>
                <a:latin typeface="Calibri" pitchFamily="34" charset="0"/>
                <a:ea typeface="Calibri" pitchFamily="34" charset="-122"/>
                <a:cs typeface="Calibri" pitchFamily="34" charset="-120"/>
              </a:rPr>
              <a:t>1 / 43</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1045159"/>
          </a:xfrm>
          <a:prstGeom prst="rect">
            <a:avLst/>
          </a:prstGeom>
          <a:solidFill>
            <a:srgbClr val="9A003B"/>
          </a:solidFill>
          <a:ln w="12700">
            <a:solidFill>
              <a:srgbClr val="9A003B"/>
            </a:solidFill>
            <a:prstDash val="solid"/>
          </a:ln>
        </p:spPr>
      </p:sp>
      <p:sp>
        <p:nvSpPr>
          <p:cNvPr id="3" name="Text 1"/>
          <p:cNvSpPr txBox="1"/>
          <p:nvPr/>
        </p:nvSpPr>
        <p:spPr>
          <a:xfrm>
            <a:off x="228600" y="109728"/>
            <a:ext cx="11704320" cy="825703"/>
          </a:xfrm>
          <a:prstGeom prst="rect">
            <a:avLst/>
          </a:prstGeom>
          <a:noFill/>
          <a:ln/>
        </p:spPr>
        <p:txBody>
          <a:bodyPr wrap="square" lIns="0" tIns="0" rIns="0" bIns="0" rtlCol="0" anchor="ctr"/>
          <a:lstStyle/>
          <a:p>
            <a:pPr marL="0" indent="0">
              <a:lnSpc>
                <a:spcPct val="95000"/>
              </a:lnSpc>
              <a:buNone/>
            </a:pPr>
            <a:r>
              <a:rPr lang="en-US" sz="2500" dirty="0">
                <a:solidFill>
                  <a:srgbClr val="FFFFFF"/>
                </a:solidFill>
                <a:latin typeface="Calibri" pitchFamily="34" charset="0"/>
                <a:ea typeface="Calibri" pitchFamily="34" charset="-122"/>
                <a:cs typeface="Calibri" pitchFamily="34" charset="-120"/>
              </a:rPr>
              <a:t>Acknowledgements</a:t>
            </a:r>
            <a:endParaRPr lang="en-US" sz="2500" dirty="0"/>
          </a:p>
        </p:txBody>
      </p:sp>
      <p:sp>
        <p:nvSpPr>
          <p:cNvPr id="4" name="Text 2"/>
          <p:cNvSpPr txBox="1"/>
          <p:nvPr/>
        </p:nvSpPr>
        <p:spPr>
          <a:xfrm>
            <a:off x="10515600" y="5806440"/>
            <a:ext cx="1463040" cy="749808"/>
          </a:xfrm>
          <a:prstGeom prst="rect">
            <a:avLst/>
          </a:prstGeom>
          <a:noFill/>
          <a:ln/>
        </p:spPr>
        <p:txBody>
          <a:bodyPr wrap="square" lIns="0" tIns="0" rIns="0" bIns="0" rtlCol="0" anchor="b"/>
          <a:lstStyle/>
          <a:p>
            <a:pPr marL="0" indent="0" algn="r">
              <a:lnSpc>
                <a:spcPct val="85000"/>
              </a:lnSpc>
              <a:buNone/>
            </a:pPr>
            <a:r>
              <a:rPr lang="en-US" sz="1150" b="1" dirty="0">
                <a:solidFill>
                  <a:srgbClr val="9A003B"/>
                </a:solidFill>
                <a:latin typeface="Calibri" pitchFamily="34" charset="0"/>
                <a:ea typeface="Calibri" pitchFamily="34" charset="-122"/>
                <a:cs typeface="Calibri" pitchFamily="34" charset="-120"/>
              </a:rPr>
              <a:t>Sheffield</a:t>
            </a:r>
            <a:endParaRPr lang="en-US" sz="1150" dirty="0"/>
          </a:p>
          <a:p>
            <a:pPr marL="0" indent="0" algn="r">
              <a:lnSpc>
                <a:spcPct val="85000"/>
              </a:lnSpc>
              <a:buNone/>
            </a:pPr>
            <a:r>
              <a:rPr lang="en-US" sz="1150" b="1" dirty="0">
                <a:solidFill>
                  <a:srgbClr val="9A003B"/>
                </a:solidFill>
                <a:latin typeface="Calibri" pitchFamily="34" charset="0"/>
                <a:ea typeface="Calibri" pitchFamily="34" charset="-122"/>
                <a:cs typeface="Calibri" pitchFamily="34" charset="-120"/>
              </a:rPr>
              <a:t>Hallam</a:t>
            </a:r>
            <a:endParaRPr lang="en-US" sz="1150" dirty="0"/>
          </a:p>
          <a:p>
            <a:pPr marL="0" indent="0" algn="r">
              <a:lnSpc>
                <a:spcPct val="85000"/>
              </a:lnSpc>
              <a:buNone/>
            </a:pPr>
            <a:r>
              <a:rPr lang="en-US" sz="1150" b="1" dirty="0">
                <a:solidFill>
                  <a:srgbClr val="9A003B"/>
                </a:solidFill>
                <a:latin typeface="Calibri" pitchFamily="34" charset="0"/>
                <a:ea typeface="Calibri" pitchFamily="34" charset="-122"/>
                <a:cs typeface="Calibri" pitchFamily="34" charset="-120"/>
              </a:rPr>
              <a:t>University</a:t>
            </a:r>
            <a:endParaRPr lang="en-US" sz="1150" dirty="0"/>
          </a:p>
        </p:txBody>
      </p:sp>
      <p:sp>
        <p:nvSpPr>
          <p:cNvPr id="5" name="Shape 3"/>
          <p:cNvSpPr/>
          <p:nvPr/>
        </p:nvSpPr>
        <p:spPr>
          <a:xfrm>
            <a:off x="0" y="6624828"/>
            <a:ext cx="4063898" cy="233172"/>
          </a:xfrm>
          <a:prstGeom prst="rect">
            <a:avLst/>
          </a:prstGeom>
          <a:solidFill>
            <a:srgbClr val="4D001E"/>
          </a:solidFill>
          <a:ln w="12700">
            <a:solidFill>
              <a:srgbClr val="4D001E"/>
            </a:solidFill>
            <a:prstDash val="solid"/>
          </a:ln>
        </p:spPr>
      </p:sp>
      <p:sp>
        <p:nvSpPr>
          <p:cNvPr id="6" name="Shape 4"/>
          <p:cNvSpPr/>
          <p:nvPr/>
        </p:nvSpPr>
        <p:spPr>
          <a:xfrm>
            <a:off x="4063898" y="6624828"/>
            <a:ext cx="4063898" cy="233172"/>
          </a:xfrm>
          <a:prstGeom prst="rect">
            <a:avLst/>
          </a:prstGeom>
          <a:solidFill>
            <a:srgbClr val="74002C"/>
          </a:solidFill>
          <a:ln w="12700">
            <a:solidFill>
              <a:srgbClr val="74002C"/>
            </a:solidFill>
            <a:prstDash val="solid"/>
          </a:ln>
        </p:spPr>
      </p:sp>
      <p:sp>
        <p:nvSpPr>
          <p:cNvPr id="7" name="Shape 5"/>
          <p:cNvSpPr/>
          <p:nvPr/>
        </p:nvSpPr>
        <p:spPr>
          <a:xfrm>
            <a:off x="8127797" y="6624828"/>
            <a:ext cx="4063898" cy="233172"/>
          </a:xfrm>
          <a:prstGeom prst="rect">
            <a:avLst/>
          </a:prstGeom>
          <a:solidFill>
            <a:srgbClr val="9A003B"/>
          </a:solidFill>
          <a:ln w="12700">
            <a:solidFill>
              <a:srgbClr val="9A003B"/>
            </a:solidFill>
            <a:prstDash val="solid"/>
          </a:ln>
        </p:spPr>
      </p:sp>
      <p:sp>
        <p:nvSpPr>
          <p:cNvPr id="8" name="Text 6"/>
          <p:cNvSpPr txBox="1"/>
          <p:nvPr/>
        </p:nvSpPr>
        <p:spPr>
          <a:xfrm>
            <a:off x="1143000" y="6624828"/>
            <a:ext cx="2743200" cy="233172"/>
          </a:xfrm>
          <a:prstGeom prst="rect">
            <a:avLst/>
          </a:prstGeom>
          <a:noFill/>
          <a:ln/>
        </p:spPr>
        <p:txBody>
          <a:bodyPr wrap="square" lIns="0" tIns="0" rIns="0" bIns="0" rtlCol="0" anchor="ctr"/>
          <a:lstStyle/>
          <a:p>
            <a:pPr marL="0" indent="0">
              <a:buNone/>
            </a:pPr>
            <a:r>
              <a:rPr lang="en-US" sz="900" dirty="0">
                <a:solidFill>
                  <a:srgbClr val="FFFFFF"/>
                </a:solidFill>
                <a:latin typeface="Calibri" pitchFamily="34" charset="0"/>
                <a:ea typeface="Calibri" pitchFamily="34" charset="-122"/>
                <a:cs typeface="Calibri" pitchFamily="34" charset="-120"/>
              </a:rPr>
              <a:t>[Student Initials]  (SHU)</a:t>
            </a:r>
            <a:endParaRPr lang="en-US" sz="900" dirty="0"/>
          </a:p>
        </p:txBody>
      </p:sp>
      <p:sp>
        <p:nvSpPr>
          <p:cNvPr id="9" name="Text 7"/>
          <p:cNvSpPr txBox="1"/>
          <p:nvPr/>
        </p:nvSpPr>
        <p:spPr>
          <a:xfrm>
            <a:off x="5276088" y="6624828"/>
            <a:ext cx="2743200" cy="233172"/>
          </a:xfrm>
          <a:prstGeom prst="rect">
            <a:avLst/>
          </a:prstGeom>
          <a:noFill/>
          <a:ln/>
        </p:spPr>
        <p:txBody>
          <a:bodyPr wrap="square" lIns="0" tIns="0" rIns="0" bIns="0" rtlCol="0" anchor="ctr"/>
          <a:lstStyle/>
          <a:p>
            <a:pPr marL="0" indent="0">
              <a:buNone/>
            </a:pPr>
            <a:r>
              <a:rPr lang="en-US" sz="900" dirty="0">
                <a:solidFill>
                  <a:srgbClr val="FFFFFF"/>
                </a:solidFill>
                <a:latin typeface="Calibri" pitchFamily="34" charset="0"/>
                <a:ea typeface="Calibri" pitchFamily="34" charset="-122"/>
                <a:cs typeface="Calibri" pitchFamily="34" charset="-120"/>
              </a:rPr>
              <a:t>Does the Emoji Matter?</a:t>
            </a:r>
            <a:endParaRPr lang="en-US" sz="900" dirty="0"/>
          </a:p>
        </p:txBody>
      </p:sp>
      <p:sp>
        <p:nvSpPr>
          <p:cNvPr id="10" name="Text 8"/>
          <p:cNvSpPr txBox="1"/>
          <p:nvPr/>
        </p:nvSpPr>
        <p:spPr>
          <a:xfrm>
            <a:off x="9235440" y="6624828"/>
            <a:ext cx="1645920" cy="233172"/>
          </a:xfrm>
          <a:prstGeom prst="rect">
            <a:avLst/>
          </a:prstGeom>
          <a:noFill/>
          <a:ln/>
        </p:spPr>
        <p:txBody>
          <a:bodyPr wrap="square" lIns="0" tIns="0" rIns="0" bIns="0" rtlCol="0" anchor="ctr"/>
          <a:lstStyle/>
          <a:p>
            <a:pPr marL="0" indent="0">
              <a:buNone/>
            </a:pPr>
            <a:r>
              <a:rPr lang="en-US" sz="900" dirty="0">
                <a:solidFill>
                  <a:srgbClr val="FFFFFF"/>
                </a:solidFill>
                <a:latin typeface="Calibri" pitchFamily="34" charset="0"/>
                <a:ea typeface="Calibri" pitchFamily="34" charset="-122"/>
                <a:cs typeface="Calibri" pitchFamily="34" charset="-120"/>
              </a:rPr>
              <a:t>September 2026</a:t>
            </a:r>
            <a:endParaRPr lang="en-US" sz="900" dirty="0"/>
          </a:p>
        </p:txBody>
      </p:sp>
      <p:sp>
        <p:nvSpPr>
          <p:cNvPr id="11" name="Text 9"/>
          <p:cNvSpPr txBox="1"/>
          <p:nvPr/>
        </p:nvSpPr>
        <p:spPr>
          <a:xfrm>
            <a:off x="10881360" y="6624828"/>
            <a:ext cx="1161288" cy="233172"/>
          </a:xfrm>
          <a:prstGeom prst="rect">
            <a:avLst/>
          </a:prstGeom>
          <a:noFill/>
          <a:ln/>
        </p:spPr>
        <p:txBody>
          <a:bodyPr wrap="square" lIns="0" tIns="0" rIns="0" bIns="0" rtlCol="0" anchor="ctr"/>
          <a:lstStyle/>
          <a:p>
            <a:pPr marL="0" indent="0" algn="r">
              <a:buNone/>
            </a:pPr>
            <a:r>
              <a:rPr lang="en-US" sz="900" dirty="0">
                <a:solidFill>
                  <a:srgbClr val="FFFFFF"/>
                </a:solidFill>
                <a:latin typeface="Calibri" pitchFamily="34" charset="0"/>
                <a:ea typeface="Calibri" pitchFamily="34" charset="-122"/>
                <a:cs typeface="Calibri" pitchFamily="34" charset="-120"/>
              </a:rPr>
              <a:t>2 / 43</a:t>
            </a:r>
            <a:endParaRPr lang="en-US" sz="900" dirty="0"/>
          </a:p>
        </p:txBody>
      </p:sp>
      <p:sp>
        <p:nvSpPr>
          <p:cNvPr id="12" name="Shape 10"/>
          <p:cNvSpPr/>
          <p:nvPr/>
        </p:nvSpPr>
        <p:spPr>
          <a:xfrm>
            <a:off x="566928" y="1298448"/>
            <a:ext cx="11055096" cy="384048"/>
          </a:xfrm>
          <a:prstGeom prst="rect">
            <a:avLst/>
          </a:prstGeom>
          <a:solidFill>
            <a:srgbClr val="C00000"/>
          </a:solidFill>
          <a:ln/>
        </p:spPr>
      </p:sp>
      <p:sp>
        <p:nvSpPr>
          <p:cNvPr id="13" name="Text 11"/>
          <p:cNvSpPr txBox="1"/>
          <p:nvPr/>
        </p:nvSpPr>
        <p:spPr>
          <a:xfrm>
            <a:off x="694944" y="1298448"/>
            <a:ext cx="10799064" cy="384048"/>
          </a:xfrm>
          <a:prstGeom prst="rect">
            <a:avLst/>
          </a:prstGeom>
          <a:noFill/>
          <a:ln/>
        </p:spPr>
        <p:txBody>
          <a:bodyPr wrap="square" lIns="0" tIns="0" rIns="0" bIns="0" rtlCol="0" anchor="ctr"/>
          <a:lstStyle/>
          <a:p>
            <a:pPr marL="0" indent="0">
              <a:buNone/>
            </a:pPr>
            <a:r>
              <a:rPr lang="en-US" sz="1500" b="1" dirty="0">
                <a:solidFill>
                  <a:srgbClr val="FFFFFF"/>
                </a:solidFill>
                <a:latin typeface="Calibri" pitchFamily="34" charset="0"/>
                <a:ea typeface="Calibri" pitchFamily="34" charset="-122"/>
                <a:cs typeface="Calibri" pitchFamily="34" charset="-120"/>
              </a:rPr>
              <a:t>Project Support Recognition</a:t>
            </a:r>
            <a:endParaRPr lang="en-US" sz="1500" dirty="0"/>
          </a:p>
        </p:txBody>
      </p:sp>
      <p:sp>
        <p:nvSpPr>
          <p:cNvPr id="14" name="Shape 12"/>
          <p:cNvSpPr/>
          <p:nvPr/>
        </p:nvSpPr>
        <p:spPr>
          <a:xfrm>
            <a:off x="566928" y="1682496"/>
            <a:ext cx="11055096" cy="2633472"/>
          </a:xfrm>
          <a:prstGeom prst="rect">
            <a:avLst/>
          </a:prstGeom>
          <a:solidFill>
            <a:srgbClr val="F4DDE6"/>
          </a:solidFill>
          <a:ln/>
        </p:spPr>
      </p:sp>
      <p:sp>
        <p:nvSpPr>
          <p:cNvPr id="15" name="Text 13"/>
          <p:cNvSpPr txBox="1"/>
          <p:nvPr/>
        </p:nvSpPr>
        <p:spPr>
          <a:xfrm>
            <a:off x="768096" y="1847088"/>
            <a:ext cx="10652760" cy="2286000"/>
          </a:xfrm>
          <a:prstGeom prst="rect">
            <a:avLst/>
          </a:prstGeom>
          <a:noFill/>
          <a:ln/>
        </p:spPr>
        <p:txBody>
          <a:bodyPr wrap="square" lIns="0" tIns="0" rIns="0" bIns="0" rtlCol="0" anchor="t"/>
          <a:lstStyle/>
          <a:p>
            <a:pPr marL="0" indent="0">
              <a:lnSpc>
                <a:spcPct val="106000"/>
              </a:lnSpc>
              <a:buNone/>
            </a:pPr>
            <a:r>
              <a:rPr lang="en-US" sz="1400" dirty="0">
                <a:solidFill>
                  <a:srgbClr val="000000"/>
                </a:solidFill>
                <a:latin typeface="Calibri" pitchFamily="34" charset="0"/>
                <a:ea typeface="Calibri" pitchFamily="34" charset="-122"/>
                <a:cs typeface="Calibri" pitchFamily="34" charset="-120"/>
              </a:rPr>
              <a:t>I thank my supervisor for the guidance given throughout this project. The most useful advice was to narrow a broad interest in emotion recognition down to one testable question about emoji, which is why this project has a controlled experiment rather than a general model-building exercise.</a:t>
            </a:r>
            <a:endParaRPr lang="en-US" sz="1400" dirty="0"/>
          </a:p>
          <a:p>
            <a:pPr marL="0" indent="0">
              <a:lnSpc>
                <a:spcPct val="106000"/>
              </a:lnSpc>
              <a:buNone/>
            </a:pPr>
            <a:endParaRPr lang="en-US" sz="1400" dirty="0"/>
          </a:p>
          <a:p>
            <a:pPr marL="0" indent="0">
              <a:lnSpc>
                <a:spcPct val="106000"/>
              </a:lnSpc>
              <a:buNone/>
            </a:pPr>
            <a:r>
              <a:rPr lang="en-US" sz="1400" dirty="0">
                <a:solidFill>
                  <a:srgbClr val="000000"/>
                </a:solidFill>
                <a:latin typeface="Calibri" pitchFamily="34" charset="0"/>
                <a:ea typeface="Calibri" pitchFamily="34" charset="-122"/>
                <a:cs typeface="Calibri" pitchFamily="34" charset="-120"/>
              </a:rPr>
              <a:t>I also thank the </a:t>
            </a:r>
            <a:r>
              <a:rPr lang="en-US" sz="1400" dirty="0" err="1">
                <a:solidFill>
                  <a:srgbClr val="000000"/>
                </a:solidFill>
                <a:latin typeface="Calibri" pitchFamily="34" charset="0"/>
                <a:ea typeface="Calibri" pitchFamily="34" charset="-122"/>
                <a:cs typeface="Calibri" pitchFamily="34" charset="-120"/>
              </a:rPr>
              <a:t>organisers</a:t>
            </a:r>
            <a:r>
              <a:rPr lang="en-US" sz="1400" dirty="0">
                <a:solidFill>
                  <a:srgbClr val="000000"/>
                </a:solidFill>
                <a:latin typeface="Calibri" pitchFamily="34" charset="0"/>
                <a:ea typeface="Calibri" pitchFamily="34" charset="-122"/>
                <a:cs typeface="Calibri" pitchFamily="34" charset="-120"/>
              </a:rPr>
              <a:t> of the SemEval-2018 Affect in Tweets shared task for releasing the annotated corpus used here, and the maintainers of the open-source Python libraries the implementation depends on: TensorFlow, </a:t>
            </a:r>
            <a:r>
              <a:rPr lang="en-US" sz="1400" dirty="0" err="1">
                <a:solidFill>
                  <a:srgbClr val="000000"/>
                </a:solidFill>
                <a:latin typeface="Calibri" pitchFamily="34" charset="0"/>
                <a:ea typeface="Calibri" pitchFamily="34" charset="-122"/>
                <a:cs typeface="Calibri" pitchFamily="34" charset="-120"/>
              </a:rPr>
              <a:t>Keras</a:t>
            </a:r>
            <a:r>
              <a:rPr lang="en-US" sz="1400" dirty="0">
                <a:solidFill>
                  <a:srgbClr val="000000"/>
                </a:solidFill>
                <a:latin typeface="Calibri" pitchFamily="34" charset="0"/>
                <a:ea typeface="Calibri" pitchFamily="34" charset="-122"/>
                <a:cs typeface="Calibri" pitchFamily="34" charset="-120"/>
              </a:rPr>
              <a:t>, scikit-learn, NLTK, emoji, </a:t>
            </a:r>
            <a:r>
              <a:rPr lang="en-US" sz="1400" dirty="0" err="1">
                <a:solidFill>
                  <a:srgbClr val="000000"/>
                </a:solidFill>
                <a:latin typeface="Calibri" pitchFamily="34" charset="0"/>
                <a:ea typeface="Calibri" pitchFamily="34" charset="-122"/>
                <a:cs typeface="Calibri" pitchFamily="34" charset="-120"/>
              </a:rPr>
              <a:t>demoji</a:t>
            </a:r>
            <a:r>
              <a:rPr lang="en-US" sz="1400" dirty="0">
                <a:solidFill>
                  <a:srgbClr val="000000"/>
                </a:solidFill>
                <a:latin typeface="Calibri" pitchFamily="34" charset="0"/>
                <a:ea typeface="Calibri" pitchFamily="34" charset="-122"/>
                <a:cs typeface="Calibri" pitchFamily="34" charset="-120"/>
              </a:rPr>
              <a:t> and </a:t>
            </a:r>
            <a:r>
              <a:rPr lang="en-US" sz="1400" dirty="0" err="1">
                <a:solidFill>
                  <a:srgbClr val="000000"/>
                </a:solidFill>
                <a:latin typeface="Calibri" pitchFamily="34" charset="0"/>
                <a:ea typeface="Calibri" pitchFamily="34" charset="-122"/>
                <a:cs typeface="Calibri" pitchFamily="34" charset="-120"/>
              </a:rPr>
              <a:t>Streamlit</a:t>
            </a:r>
            <a:r>
              <a:rPr lang="en-US" sz="1400" dirty="0">
                <a:solidFill>
                  <a:srgbClr val="000000"/>
                </a:solidFill>
                <a:latin typeface="Calibri" pitchFamily="34" charset="0"/>
                <a:ea typeface="Calibri" pitchFamily="34" charset="-122"/>
                <a:cs typeface="Calibri" pitchFamily="34" charset="-120"/>
              </a:rPr>
              <a:t>.</a:t>
            </a:r>
            <a:endParaRPr lang="en-US" sz="1400" dirty="0"/>
          </a:p>
          <a:p>
            <a:pPr marL="0" indent="0">
              <a:lnSpc>
                <a:spcPct val="106000"/>
              </a:lnSpc>
              <a:buNone/>
            </a:pPr>
            <a:endParaRPr lang="en-US" sz="1400" dirty="0"/>
          </a:p>
          <a:p>
            <a:pPr marL="0" indent="0">
              <a:lnSpc>
                <a:spcPct val="106000"/>
              </a:lnSpc>
              <a:buNone/>
            </a:pPr>
            <a:r>
              <a:rPr lang="en-US" sz="1400" dirty="0">
                <a:solidFill>
                  <a:srgbClr val="000000"/>
                </a:solidFill>
                <a:latin typeface="Calibri" pitchFamily="34" charset="0"/>
                <a:ea typeface="Calibri" pitchFamily="34" charset="-122"/>
                <a:cs typeface="Calibri" pitchFamily="34" charset="-120"/>
              </a:rPr>
              <a:t>GPU training was carried out on a personal compute account. No industry partner or host </a:t>
            </a:r>
            <a:r>
              <a:rPr lang="en-US" sz="1400" dirty="0" err="1">
                <a:solidFill>
                  <a:srgbClr val="000000"/>
                </a:solidFill>
                <a:latin typeface="Calibri" pitchFamily="34" charset="0"/>
                <a:ea typeface="Calibri" pitchFamily="34" charset="-122"/>
                <a:cs typeface="Calibri" pitchFamily="34" charset="-120"/>
              </a:rPr>
              <a:t>organisation</a:t>
            </a:r>
            <a:r>
              <a:rPr lang="en-US" sz="1400" dirty="0">
                <a:solidFill>
                  <a:srgbClr val="000000"/>
                </a:solidFill>
                <a:latin typeface="Calibri" pitchFamily="34" charset="0"/>
                <a:ea typeface="Calibri" pitchFamily="34" charset="-122"/>
                <a:cs typeface="Calibri" pitchFamily="34" charset="-120"/>
              </a:rPr>
              <a:t> was involved, and no third-party data was accessed.</a:t>
            </a:r>
            <a:endParaRPr lang="en-US" sz="1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1045159"/>
          </a:xfrm>
          <a:prstGeom prst="rect">
            <a:avLst/>
          </a:prstGeom>
          <a:solidFill>
            <a:srgbClr val="9A003B"/>
          </a:solidFill>
          <a:ln w="12700">
            <a:solidFill>
              <a:srgbClr val="9A003B"/>
            </a:solidFill>
            <a:prstDash val="solid"/>
          </a:ln>
        </p:spPr>
      </p:sp>
      <p:sp>
        <p:nvSpPr>
          <p:cNvPr id="3" name="Text 1"/>
          <p:cNvSpPr txBox="1"/>
          <p:nvPr/>
        </p:nvSpPr>
        <p:spPr>
          <a:xfrm>
            <a:off x="228600" y="109728"/>
            <a:ext cx="11704320" cy="825703"/>
          </a:xfrm>
          <a:prstGeom prst="rect">
            <a:avLst/>
          </a:prstGeom>
          <a:noFill/>
          <a:ln/>
        </p:spPr>
        <p:txBody>
          <a:bodyPr wrap="square" lIns="0" tIns="0" rIns="0" bIns="0" rtlCol="0" anchor="ctr"/>
          <a:lstStyle/>
          <a:p>
            <a:pPr marL="0" indent="0">
              <a:lnSpc>
                <a:spcPct val="95000"/>
              </a:lnSpc>
              <a:buNone/>
            </a:pPr>
            <a:r>
              <a:rPr lang="en-US" sz="2500" dirty="0">
                <a:solidFill>
                  <a:srgbClr val="FFFFFF"/>
                </a:solidFill>
                <a:latin typeface="Calibri" pitchFamily="34" charset="0"/>
                <a:ea typeface="Calibri" pitchFamily="34" charset="-122"/>
                <a:cs typeface="Calibri" pitchFamily="34" charset="-120"/>
              </a:rPr>
              <a:t>Presentation Agenda I</a:t>
            </a:r>
            <a:endParaRPr lang="en-US" sz="2500" dirty="0"/>
          </a:p>
        </p:txBody>
      </p:sp>
      <p:sp>
        <p:nvSpPr>
          <p:cNvPr id="4" name="Text 2"/>
          <p:cNvSpPr txBox="1"/>
          <p:nvPr/>
        </p:nvSpPr>
        <p:spPr>
          <a:xfrm>
            <a:off x="10515600" y="5806440"/>
            <a:ext cx="1463040" cy="749808"/>
          </a:xfrm>
          <a:prstGeom prst="rect">
            <a:avLst/>
          </a:prstGeom>
          <a:noFill/>
          <a:ln/>
        </p:spPr>
        <p:txBody>
          <a:bodyPr wrap="square" lIns="0" tIns="0" rIns="0" bIns="0" rtlCol="0" anchor="b"/>
          <a:lstStyle/>
          <a:p>
            <a:pPr marL="0" indent="0" algn="r">
              <a:lnSpc>
                <a:spcPct val="85000"/>
              </a:lnSpc>
              <a:buNone/>
            </a:pPr>
            <a:r>
              <a:rPr lang="en-US" sz="1150" b="1" dirty="0">
                <a:solidFill>
                  <a:srgbClr val="9A003B"/>
                </a:solidFill>
                <a:latin typeface="Calibri" pitchFamily="34" charset="0"/>
                <a:ea typeface="Calibri" pitchFamily="34" charset="-122"/>
                <a:cs typeface="Calibri" pitchFamily="34" charset="-120"/>
              </a:rPr>
              <a:t>Sheffield</a:t>
            </a:r>
            <a:endParaRPr lang="en-US" sz="1150" dirty="0"/>
          </a:p>
          <a:p>
            <a:pPr marL="0" indent="0" algn="r">
              <a:lnSpc>
                <a:spcPct val="85000"/>
              </a:lnSpc>
              <a:buNone/>
            </a:pPr>
            <a:r>
              <a:rPr lang="en-US" sz="1150" b="1" dirty="0">
                <a:solidFill>
                  <a:srgbClr val="9A003B"/>
                </a:solidFill>
                <a:latin typeface="Calibri" pitchFamily="34" charset="0"/>
                <a:ea typeface="Calibri" pitchFamily="34" charset="-122"/>
                <a:cs typeface="Calibri" pitchFamily="34" charset="-120"/>
              </a:rPr>
              <a:t>Hallam</a:t>
            </a:r>
            <a:endParaRPr lang="en-US" sz="1150" dirty="0"/>
          </a:p>
          <a:p>
            <a:pPr marL="0" indent="0" algn="r">
              <a:lnSpc>
                <a:spcPct val="85000"/>
              </a:lnSpc>
              <a:buNone/>
            </a:pPr>
            <a:r>
              <a:rPr lang="en-US" sz="1150" b="1" dirty="0">
                <a:solidFill>
                  <a:srgbClr val="9A003B"/>
                </a:solidFill>
                <a:latin typeface="Calibri" pitchFamily="34" charset="0"/>
                <a:ea typeface="Calibri" pitchFamily="34" charset="-122"/>
                <a:cs typeface="Calibri" pitchFamily="34" charset="-120"/>
              </a:rPr>
              <a:t>University</a:t>
            </a:r>
            <a:endParaRPr lang="en-US" sz="1150" dirty="0"/>
          </a:p>
        </p:txBody>
      </p:sp>
      <p:sp>
        <p:nvSpPr>
          <p:cNvPr id="5" name="Shape 3"/>
          <p:cNvSpPr/>
          <p:nvPr/>
        </p:nvSpPr>
        <p:spPr>
          <a:xfrm>
            <a:off x="0" y="6624828"/>
            <a:ext cx="4063898" cy="233172"/>
          </a:xfrm>
          <a:prstGeom prst="rect">
            <a:avLst/>
          </a:prstGeom>
          <a:solidFill>
            <a:srgbClr val="4D001E"/>
          </a:solidFill>
          <a:ln w="12700">
            <a:solidFill>
              <a:srgbClr val="4D001E"/>
            </a:solidFill>
            <a:prstDash val="solid"/>
          </a:ln>
        </p:spPr>
      </p:sp>
      <p:sp>
        <p:nvSpPr>
          <p:cNvPr id="6" name="Shape 4"/>
          <p:cNvSpPr/>
          <p:nvPr/>
        </p:nvSpPr>
        <p:spPr>
          <a:xfrm>
            <a:off x="4063898" y="6624828"/>
            <a:ext cx="4063898" cy="233172"/>
          </a:xfrm>
          <a:prstGeom prst="rect">
            <a:avLst/>
          </a:prstGeom>
          <a:solidFill>
            <a:srgbClr val="74002C"/>
          </a:solidFill>
          <a:ln w="12700">
            <a:solidFill>
              <a:srgbClr val="74002C"/>
            </a:solidFill>
            <a:prstDash val="solid"/>
          </a:ln>
        </p:spPr>
      </p:sp>
      <p:sp>
        <p:nvSpPr>
          <p:cNvPr id="7" name="Shape 5"/>
          <p:cNvSpPr/>
          <p:nvPr/>
        </p:nvSpPr>
        <p:spPr>
          <a:xfrm>
            <a:off x="8127797" y="6624828"/>
            <a:ext cx="4063898" cy="233172"/>
          </a:xfrm>
          <a:prstGeom prst="rect">
            <a:avLst/>
          </a:prstGeom>
          <a:solidFill>
            <a:srgbClr val="9A003B"/>
          </a:solidFill>
          <a:ln w="12700">
            <a:solidFill>
              <a:srgbClr val="9A003B"/>
            </a:solidFill>
            <a:prstDash val="solid"/>
          </a:ln>
        </p:spPr>
      </p:sp>
      <p:sp>
        <p:nvSpPr>
          <p:cNvPr id="8" name="Text 6"/>
          <p:cNvSpPr txBox="1"/>
          <p:nvPr/>
        </p:nvSpPr>
        <p:spPr>
          <a:xfrm>
            <a:off x="1143000" y="6624828"/>
            <a:ext cx="2743200" cy="233172"/>
          </a:xfrm>
          <a:prstGeom prst="rect">
            <a:avLst/>
          </a:prstGeom>
          <a:noFill/>
          <a:ln/>
        </p:spPr>
        <p:txBody>
          <a:bodyPr wrap="square" lIns="0" tIns="0" rIns="0" bIns="0" rtlCol="0" anchor="ctr"/>
          <a:lstStyle/>
          <a:p>
            <a:pPr marL="0" indent="0">
              <a:buNone/>
            </a:pPr>
            <a:r>
              <a:rPr lang="en-US" sz="900" dirty="0">
                <a:solidFill>
                  <a:srgbClr val="FFFFFF"/>
                </a:solidFill>
                <a:latin typeface="Calibri" pitchFamily="34" charset="0"/>
                <a:ea typeface="Calibri" pitchFamily="34" charset="-122"/>
                <a:cs typeface="Calibri" pitchFamily="34" charset="-120"/>
              </a:rPr>
              <a:t>[Student Initials]  (SHU)</a:t>
            </a:r>
            <a:endParaRPr lang="en-US" sz="900" dirty="0"/>
          </a:p>
        </p:txBody>
      </p:sp>
      <p:sp>
        <p:nvSpPr>
          <p:cNvPr id="9" name="Text 7"/>
          <p:cNvSpPr txBox="1"/>
          <p:nvPr/>
        </p:nvSpPr>
        <p:spPr>
          <a:xfrm>
            <a:off x="5276088" y="6624828"/>
            <a:ext cx="2743200" cy="233172"/>
          </a:xfrm>
          <a:prstGeom prst="rect">
            <a:avLst/>
          </a:prstGeom>
          <a:noFill/>
          <a:ln/>
        </p:spPr>
        <p:txBody>
          <a:bodyPr wrap="square" lIns="0" tIns="0" rIns="0" bIns="0" rtlCol="0" anchor="ctr"/>
          <a:lstStyle/>
          <a:p>
            <a:pPr marL="0" indent="0">
              <a:buNone/>
            </a:pPr>
            <a:r>
              <a:rPr lang="en-US" sz="900" dirty="0">
                <a:solidFill>
                  <a:srgbClr val="FFFFFF"/>
                </a:solidFill>
                <a:latin typeface="Calibri" pitchFamily="34" charset="0"/>
                <a:ea typeface="Calibri" pitchFamily="34" charset="-122"/>
                <a:cs typeface="Calibri" pitchFamily="34" charset="-120"/>
              </a:rPr>
              <a:t>Does the Emoji Matter?</a:t>
            </a:r>
            <a:endParaRPr lang="en-US" sz="900" dirty="0"/>
          </a:p>
        </p:txBody>
      </p:sp>
      <p:sp>
        <p:nvSpPr>
          <p:cNvPr id="10" name="Text 8"/>
          <p:cNvSpPr txBox="1"/>
          <p:nvPr/>
        </p:nvSpPr>
        <p:spPr>
          <a:xfrm>
            <a:off x="9235440" y="6624828"/>
            <a:ext cx="1645920" cy="233172"/>
          </a:xfrm>
          <a:prstGeom prst="rect">
            <a:avLst/>
          </a:prstGeom>
          <a:noFill/>
          <a:ln/>
        </p:spPr>
        <p:txBody>
          <a:bodyPr wrap="square" lIns="0" tIns="0" rIns="0" bIns="0" rtlCol="0" anchor="ctr"/>
          <a:lstStyle/>
          <a:p>
            <a:pPr marL="0" indent="0">
              <a:buNone/>
            </a:pPr>
            <a:r>
              <a:rPr lang="en-US" sz="900" dirty="0">
                <a:solidFill>
                  <a:srgbClr val="FFFFFF"/>
                </a:solidFill>
                <a:latin typeface="Calibri" pitchFamily="34" charset="0"/>
                <a:ea typeface="Calibri" pitchFamily="34" charset="-122"/>
                <a:cs typeface="Calibri" pitchFamily="34" charset="-120"/>
              </a:rPr>
              <a:t>September 2026</a:t>
            </a:r>
            <a:endParaRPr lang="en-US" sz="900" dirty="0"/>
          </a:p>
        </p:txBody>
      </p:sp>
      <p:sp>
        <p:nvSpPr>
          <p:cNvPr id="11" name="Text 9"/>
          <p:cNvSpPr txBox="1"/>
          <p:nvPr/>
        </p:nvSpPr>
        <p:spPr>
          <a:xfrm>
            <a:off x="10881360" y="6624828"/>
            <a:ext cx="1161288" cy="233172"/>
          </a:xfrm>
          <a:prstGeom prst="rect">
            <a:avLst/>
          </a:prstGeom>
          <a:noFill/>
          <a:ln/>
        </p:spPr>
        <p:txBody>
          <a:bodyPr wrap="square" lIns="0" tIns="0" rIns="0" bIns="0" rtlCol="0" anchor="ctr"/>
          <a:lstStyle/>
          <a:p>
            <a:pPr marL="0" indent="0" algn="r">
              <a:buNone/>
            </a:pPr>
            <a:r>
              <a:rPr lang="en-US" sz="900" dirty="0">
                <a:solidFill>
                  <a:srgbClr val="FFFFFF"/>
                </a:solidFill>
                <a:latin typeface="Calibri" pitchFamily="34" charset="0"/>
                <a:ea typeface="Calibri" pitchFamily="34" charset="-122"/>
                <a:cs typeface="Calibri" pitchFamily="34" charset="-120"/>
              </a:rPr>
              <a:t>3 / 43</a:t>
            </a:r>
            <a:endParaRPr lang="en-US" sz="900" dirty="0"/>
          </a:p>
        </p:txBody>
      </p:sp>
      <p:sp>
        <p:nvSpPr>
          <p:cNvPr id="12" name="Text 10"/>
          <p:cNvSpPr txBox="1"/>
          <p:nvPr/>
        </p:nvSpPr>
        <p:spPr>
          <a:xfrm>
            <a:off x="749808" y="1618488"/>
            <a:ext cx="11055096" cy="4206240"/>
          </a:xfrm>
          <a:prstGeom prst="rect">
            <a:avLst/>
          </a:prstGeom>
          <a:noFill/>
          <a:ln/>
        </p:spPr>
        <p:txBody>
          <a:bodyPr wrap="square" lIns="0" tIns="0" rIns="0" bIns="0" rtlCol="0" anchor="t"/>
          <a:lstStyle/>
          <a:p>
            <a:pPr marL="0" indent="0">
              <a:spcAft>
                <a:spcPts val="2200"/>
              </a:spcAft>
              <a:buNone/>
            </a:pPr>
            <a:r>
              <a:rPr lang="en-US" sz="1900" dirty="0">
                <a:solidFill>
                  <a:srgbClr val="000000"/>
                </a:solidFill>
                <a:latin typeface="Calibri" pitchFamily="34" charset="0"/>
                <a:ea typeface="Calibri" pitchFamily="34" charset="-122"/>
                <a:cs typeface="Calibri" pitchFamily="34" charset="-120"/>
              </a:rPr>
              <a:t>1.  Introduction</a:t>
            </a:r>
            <a:endParaRPr lang="en-US" sz="1900" dirty="0"/>
          </a:p>
          <a:p>
            <a:pPr marL="0" indent="0">
              <a:spcAft>
                <a:spcPts val="2200"/>
              </a:spcAft>
              <a:buNone/>
            </a:pPr>
            <a:r>
              <a:rPr lang="en-US" sz="1900" dirty="0">
                <a:solidFill>
                  <a:srgbClr val="000000"/>
                </a:solidFill>
                <a:latin typeface="Calibri" pitchFamily="34" charset="0"/>
                <a:ea typeface="Calibri" pitchFamily="34" charset="-122"/>
                <a:cs typeface="Calibri" pitchFamily="34" charset="-120"/>
              </a:rPr>
              <a:t>2.  Literature Review</a:t>
            </a:r>
            <a:endParaRPr lang="en-US" sz="1900" dirty="0"/>
          </a:p>
          <a:p>
            <a:pPr marL="0" indent="0">
              <a:spcAft>
                <a:spcPts val="2200"/>
              </a:spcAft>
              <a:buNone/>
            </a:pPr>
            <a:r>
              <a:rPr lang="en-US" sz="1900" dirty="0">
                <a:solidFill>
                  <a:srgbClr val="000000"/>
                </a:solidFill>
                <a:latin typeface="Calibri" pitchFamily="34" charset="0"/>
                <a:ea typeface="Calibri" pitchFamily="34" charset="-122"/>
                <a:cs typeface="Calibri" pitchFamily="34" charset="-120"/>
              </a:rPr>
              <a:t>3.  Research Methodology</a:t>
            </a:r>
            <a:endParaRPr lang="en-US" sz="1900" dirty="0"/>
          </a:p>
          <a:p>
            <a:pPr marL="0" indent="0">
              <a:spcAft>
                <a:spcPts val="2200"/>
              </a:spcAft>
              <a:buNone/>
            </a:pPr>
            <a:r>
              <a:rPr lang="en-US" sz="1900" dirty="0">
                <a:solidFill>
                  <a:srgbClr val="000000"/>
                </a:solidFill>
                <a:latin typeface="Calibri" pitchFamily="34" charset="0"/>
                <a:ea typeface="Calibri" pitchFamily="34" charset="-122"/>
                <a:cs typeface="Calibri" pitchFamily="34" charset="-120"/>
              </a:rPr>
              <a:t>4.  Ethics</a:t>
            </a:r>
            <a:endParaRPr lang="en-US" sz="1900" dirty="0"/>
          </a:p>
          <a:p>
            <a:pPr marL="0" indent="0">
              <a:spcAft>
                <a:spcPts val="2200"/>
              </a:spcAft>
              <a:buNone/>
            </a:pPr>
            <a:r>
              <a:rPr lang="en-US" sz="1900" dirty="0">
                <a:solidFill>
                  <a:srgbClr val="000000"/>
                </a:solidFill>
                <a:latin typeface="Calibri" pitchFamily="34" charset="0"/>
                <a:ea typeface="Calibri" pitchFamily="34" charset="-122"/>
                <a:cs typeface="Calibri" pitchFamily="34" charset="-120"/>
              </a:rPr>
              <a:t>5.  Implementation</a:t>
            </a:r>
            <a:endParaRPr lang="en-US" sz="1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1045159"/>
          </a:xfrm>
          <a:prstGeom prst="rect">
            <a:avLst/>
          </a:prstGeom>
          <a:solidFill>
            <a:srgbClr val="9A003B"/>
          </a:solidFill>
          <a:ln w="12700">
            <a:solidFill>
              <a:srgbClr val="9A003B"/>
            </a:solidFill>
            <a:prstDash val="solid"/>
          </a:ln>
        </p:spPr>
      </p:sp>
      <p:sp>
        <p:nvSpPr>
          <p:cNvPr id="3" name="Text 1"/>
          <p:cNvSpPr txBox="1"/>
          <p:nvPr/>
        </p:nvSpPr>
        <p:spPr>
          <a:xfrm>
            <a:off x="228600" y="109728"/>
            <a:ext cx="11704320" cy="825703"/>
          </a:xfrm>
          <a:prstGeom prst="rect">
            <a:avLst/>
          </a:prstGeom>
          <a:noFill/>
          <a:ln/>
        </p:spPr>
        <p:txBody>
          <a:bodyPr wrap="square" lIns="0" tIns="0" rIns="0" bIns="0" rtlCol="0" anchor="ctr"/>
          <a:lstStyle/>
          <a:p>
            <a:pPr marL="0" indent="0">
              <a:lnSpc>
                <a:spcPct val="95000"/>
              </a:lnSpc>
              <a:buNone/>
            </a:pPr>
            <a:r>
              <a:rPr lang="en-US" sz="2500" dirty="0">
                <a:solidFill>
                  <a:srgbClr val="FFFFFF"/>
                </a:solidFill>
                <a:latin typeface="Calibri" pitchFamily="34" charset="0"/>
                <a:ea typeface="Calibri" pitchFamily="34" charset="-122"/>
                <a:cs typeface="Calibri" pitchFamily="34" charset="-120"/>
              </a:rPr>
              <a:t>Presentation Agenda II</a:t>
            </a:r>
            <a:endParaRPr lang="en-US" sz="2500" dirty="0"/>
          </a:p>
        </p:txBody>
      </p:sp>
      <p:sp>
        <p:nvSpPr>
          <p:cNvPr id="4" name="Text 2"/>
          <p:cNvSpPr txBox="1"/>
          <p:nvPr/>
        </p:nvSpPr>
        <p:spPr>
          <a:xfrm>
            <a:off x="10515600" y="5806440"/>
            <a:ext cx="1463040" cy="749808"/>
          </a:xfrm>
          <a:prstGeom prst="rect">
            <a:avLst/>
          </a:prstGeom>
          <a:noFill/>
          <a:ln/>
        </p:spPr>
        <p:txBody>
          <a:bodyPr wrap="square" lIns="0" tIns="0" rIns="0" bIns="0" rtlCol="0" anchor="b"/>
          <a:lstStyle/>
          <a:p>
            <a:pPr marL="0" indent="0" algn="r">
              <a:lnSpc>
                <a:spcPct val="85000"/>
              </a:lnSpc>
              <a:buNone/>
            </a:pPr>
            <a:r>
              <a:rPr lang="en-US" sz="1150" b="1" dirty="0">
                <a:solidFill>
                  <a:srgbClr val="9A003B"/>
                </a:solidFill>
                <a:latin typeface="Calibri" pitchFamily="34" charset="0"/>
                <a:ea typeface="Calibri" pitchFamily="34" charset="-122"/>
                <a:cs typeface="Calibri" pitchFamily="34" charset="-120"/>
              </a:rPr>
              <a:t>Sheffield</a:t>
            </a:r>
            <a:endParaRPr lang="en-US" sz="1150" dirty="0"/>
          </a:p>
          <a:p>
            <a:pPr marL="0" indent="0" algn="r">
              <a:lnSpc>
                <a:spcPct val="85000"/>
              </a:lnSpc>
              <a:buNone/>
            </a:pPr>
            <a:r>
              <a:rPr lang="en-US" sz="1150" b="1" dirty="0">
                <a:solidFill>
                  <a:srgbClr val="9A003B"/>
                </a:solidFill>
                <a:latin typeface="Calibri" pitchFamily="34" charset="0"/>
                <a:ea typeface="Calibri" pitchFamily="34" charset="-122"/>
                <a:cs typeface="Calibri" pitchFamily="34" charset="-120"/>
              </a:rPr>
              <a:t>Hallam</a:t>
            </a:r>
            <a:endParaRPr lang="en-US" sz="1150" dirty="0"/>
          </a:p>
          <a:p>
            <a:pPr marL="0" indent="0" algn="r">
              <a:lnSpc>
                <a:spcPct val="85000"/>
              </a:lnSpc>
              <a:buNone/>
            </a:pPr>
            <a:r>
              <a:rPr lang="en-US" sz="1150" b="1" dirty="0">
                <a:solidFill>
                  <a:srgbClr val="9A003B"/>
                </a:solidFill>
                <a:latin typeface="Calibri" pitchFamily="34" charset="0"/>
                <a:ea typeface="Calibri" pitchFamily="34" charset="-122"/>
                <a:cs typeface="Calibri" pitchFamily="34" charset="-120"/>
              </a:rPr>
              <a:t>University</a:t>
            </a:r>
            <a:endParaRPr lang="en-US" sz="1150" dirty="0"/>
          </a:p>
        </p:txBody>
      </p:sp>
      <p:sp>
        <p:nvSpPr>
          <p:cNvPr id="5" name="Shape 3"/>
          <p:cNvSpPr/>
          <p:nvPr/>
        </p:nvSpPr>
        <p:spPr>
          <a:xfrm>
            <a:off x="0" y="6624828"/>
            <a:ext cx="4063898" cy="233172"/>
          </a:xfrm>
          <a:prstGeom prst="rect">
            <a:avLst/>
          </a:prstGeom>
          <a:solidFill>
            <a:srgbClr val="4D001E"/>
          </a:solidFill>
          <a:ln w="12700">
            <a:solidFill>
              <a:srgbClr val="4D001E"/>
            </a:solidFill>
            <a:prstDash val="solid"/>
          </a:ln>
        </p:spPr>
      </p:sp>
      <p:sp>
        <p:nvSpPr>
          <p:cNvPr id="6" name="Shape 4"/>
          <p:cNvSpPr/>
          <p:nvPr/>
        </p:nvSpPr>
        <p:spPr>
          <a:xfrm>
            <a:off x="4063898" y="6624828"/>
            <a:ext cx="4063898" cy="233172"/>
          </a:xfrm>
          <a:prstGeom prst="rect">
            <a:avLst/>
          </a:prstGeom>
          <a:solidFill>
            <a:srgbClr val="74002C"/>
          </a:solidFill>
          <a:ln w="12700">
            <a:solidFill>
              <a:srgbClr val="74002C"/>
            </a:solidFill>
            <a:prstDash val="solid"/>
          </a:ln>
        </p:spPr>
      </p:sp>
      <p:sp>
        <p:nvSpPr>
          <p:cNvPr id="7" name="Shape 5"/>
          <p:cNvSpPr/>
          <p:nvPr/>
        </p:nvSpPr>
        <p:spPr>
          <a:xfrm>
            <a:off x="8127797" y="6624828"/>
            <a:ext cx="4063898" cy="233172"/>
          </a:xfrm>
          <a:prstGeom prst="rect">
            <a:avLst/>
          </a:prstGeom>
          <a:solidFill>
            <a:srgbClr val="9A003B"/>
          </a:solidFill>
          <a:ln w="12700">
            <a:solidFill>
              <a:srgbClr val="9A003B"/>
            </a:solidFill>
            <a:prstDash val="solid"/>
          </a:ln>
        </p:spPr>
      </p:sp>
      <p:sp>
        <p:nvSpPr>
          <p:cNvPr id="8" name="Text 6"/>
          <p:cNvSpPr txBox="1"/>
          <p:nvPr/>
        </p:nvSpPr>
        <p:spPr>
          <a:xfrm>
            <a:off x="1143000" y="6624828"/>
            <a:ext cx="2743200" cy="233172"/>
          </a:xfrm>
          <a:prstGeom prst="rect">
            <a:avLst/>
          </a:prstGeom>
          <a:noFill/>
          <a:ln/>
        </p:spPr>
        <p:txBody>
          <a:bodyPr wrap="square" lIns="0" tIns="0" rIns="0" bIns="0" rtlCol="0" anchor="ctr"/>
          <a:lstStyle/>
          <a:p>
            <a:pPr marL="0" indent="0">
              <a:buNone/>
            </a:pPr>
            <a:r>
              <a:rPr lang="en-US" sz="900" dirty="0">
                <a:solidFill>
                  <a:srgbClr val="FFFFFF"/>
                </a:solidFill>
                <a:latin typeface="Calibri" pitchFamily="34" charset="0"/>
                <a:ea typeface="Calibri" pitchFamily="34" charset="-122"/>
                <a:cs typeface="Calibri" pitchFamily="34" charset="-120"/>
              </a:rPr>
              <a:t>[Student Initials]  (SHU)</a:t>
            </a:r>
            <a:endParaRPr lang="en-US" sz="900" dirty="0"/>
          </a:p>
        </p:txBody>
      </p:sp>
      <p:sp>
        <p:nvSpPr>
          <p:cNvPr id="9" name="Text 7"/>
          <p:cNvSpPr txBox="1"/>
          <p:nvPr/>
        </p:nvSpPr>
        <p:spPr>
          <a:xfrm>
            <a:off x="5276088" y="6624828"/>
            <a:ext cx="2743200" cy="233172"/>
          </a:xfrm>
          <a:prstGeom prst="rect">
            <a:avLst/>
          </a:prstGeom>
          <a:noFill/>
          <a:ln/>
        </p:spPr>
        <p:txBody>
          <a:bodyPr wrap="square" lIns="0" tIns="0" rIns="0" bIns="0" rtlCol="0" anchor="ctr"/>
          <a:lstStyle/>
          <a:p>
            <a:pPr marL="0" indent="0">
              <a:buNone/>
            </a:pPr>
            <a:r>
              <a:rPr lang="en-US" sz="900" dirty="0">
                <a:solidFill>
                  <a:srgbClr val="FFFFFF"/>
                </a:solidFill>
                <a:latin typeface="Calibri" pitchFamily="34" charset="0"/>
                <a:ea typeface="Calibri" pitchFamily="34" charset="-122"/>
                <a:cs typeface="Calibri" pitchFamily="34" charset="-120"/>
              </a:rPr>
              <a:t>Does the Emoji Matter?</a:t>
            </a:r>
            <a:endParaRPr lang="en-US" sz="900" dirty="0"/>
          </a:p>
        </p:txBody>
      </p:sp>
      <p:sp>
        <p:nvSpPr>
          <p:cNvPr id="10" name="Text 8"/>
          <p:cNvSpPr txBox="1"/>
          <p:nvPr/>
        </p:nvSpPr>
        <p:spPr>
          <a:xfrm>
            <a:off x="9235440" y="6624828"/>
            <a:ext cx="1645920" cy="233172"/>
          </a:xfrm>
          <a:prstGeom prst="rect">
            <a:avLst/>
          </a:prstGeom>
          <a:noFill/>
          <a:ln/>
        </p:spPr>
        <p:txBody>
          <a:bodyPr wrap="square" lIns="0" tIns="0" rIns="0" bIns="0" rtlCol="0" anchor="ctr"/>
          <a:lstStyle/>
          <a:p>
            <a:pPr marL="0" indent="0">
              <a:buNone/>
            </a:pPr>
            <a:r>
              <a:rPr lang="en-US" sz="900" dirty="0">
                <a:solidFill>
                  <a:srgbClr val="FFFFFF"/>
                </a:solidFill>
                <a:latin typeface="Calibri" pitchFamily="34" charset="0"/>
                <a:ea typeface="Calibri" pitchFamily="34" charset="-122"/>
                <a:cs typeface="Calibri" pitchFamily="34" charset="-120"/>
              </a:rPr>
              <a:t>September 2026</a:t>
            </a:r>
            <a:endParaRPr lang="en-US" sz="900" dirty="0"/>
          </a:p>
        </p:txBody>
      </p:sp>
      <p:sp>
        <p:nvSpPr>
          <p:cNvPr id="11" name="Text 9"/>
          <p:cNvSpPr txBox="1"/>
          <p:nvPr/>
        </p:nvSpPr>
        <p:spPr>
          <a:xfrm>
            <a:off x="10881360" y="6624828"/>
            <a:ext cx="1161288" cy="233172"/>
          </a:xfrm>
          <a:prstGeom prst="rect">
            <a:avLst/>
          </a:prstGeom>
          <a:noFill/>
          <a:ln/>
        </p:spPr>
        <p:txBody>
          <a:bodyPr wrap="square" lIns="0" tIns="0" rIns="0" bIns="0" rtlCol="0" anchor="ctr"/>
          <a:lstStyle/>
          <a:p>
            <a:pPr marL="0" indent="0" algn="r">
              <a:buNone/>
            </a:pPr>
            <a:r>
              <a:rPr lang="en-US" sz="900" dirty="0">
                <a:solidFill>
                  <a:srgbClr val="FFFFFF"/>
                </a:solidFill>
                <a:latin typeface="Calibri" pitchFamily="34" charset="0"/>
                <a:ea typeface="Calibri" pitchFamily="34" charset="-122"/>
                <a:cs typeface="Calibri" pitchFamily="34" charset="-120"/>
              </a:rPr>
              <a:t>4 / 43</a:t>
            </a:r>
            <a:endParaRPr lang="en-US" sz="900" dirty="0"/>
          </a:p>
        </p:txBody>
      </p:sp>
      <p:sp>
        <p:nvSpPr>
          <p:cNvPr id="12" name="Text 10"/>
          <p:cNvSpPr txBox="1"/>
          <p:nvPr/>
        </p:nvSpPr>
        <p:spPr>
          <a:xfrm>
            <a:off x="749808" y="1618488"/>
            <a:ext cx="11055096" cy="4206240"/>
          </a:xfrm>
          <a:prstGeom prst="rect">
            <a:avLst/>
          </a:prstGeom>
          <a:noFill/>
          <a:ln/>
        </p:spPr>
        <p:txBody>
          <a:bodyPr wrap="square" lIns="0" tIns="0" rIns="0" bIns="0" rtlCol="0" anchor="t"/>
          <a:lstStyle/>
          <a:p>
            <a:pPr marL="0" indent="0">
              <a:spcAft>
                <a:spcPts val="2200"/>
              </a:spcAft>
              <a:buNone/>
            </a:pPr>
            <a:r>
              <a:rPr lang="en-US" sz="1900" dirty="0">
                <a:solidFill>
                  <a:srgbClr val="000000"/>
                </a:solidFill>
                <a:latin typeface="Calibri" pitchFamily="34" charset="0"/>
                <a:ea typeface="Calibri" pitchFamily="34" charset="-122"/>
                <a:cs typeface="Calibri" pitchFamily="34" charset="-120"/>
              </a:rPr>
              <a:t>6.  Results</a:t>
            </a:r>
            <a:endParaRPr lang="en-US" sz="1900" dirty="0"/>
          </a:p>
          <a:p>
            <a:pPr marL="0" indent="0">
              <a:spcAft>
                <a:spcPts val="2200"/>
              </a:spcAft>
              <a:buNone/>
            </a:pPr>
            <a:r>
              <a:rPr lang="en-US" sz="1900" dirty="0">
                <a:solidFill>
                  <a:srgbClr val="000000"/>
                </a:solidFill>
                <a:latin typeface="Calibri" pitchFamily="34" charset="0"/>
                <a:ea typeface="Calibri" pitchFamily="34" charset="-122"/>
                <a:cs typeface="Calibri" pitchFamily="34" charset="-120"/>
              </a:rPr>
              <a:t>7.  Evaluation</a:t>
            </a:r>
            <a:endParaRPr lang="en-US" sz="1900" dirty="0"/>
          </a:p>
          <a:p>
            <a:pPr marL="0" indent="0">
              <a:spcAft>
                <a:spcPts val="2200"/>
              </a:spcAft>
              <a:buNone/>
            </a:pPr>
            <a:r>
              <a:rPr lang="en-US" sz="1900" dirty="0">
                <a:solidFill>
                  <a:srgbClr val="000000"/>
                </a:solidFill>
                <a:latin typeface="Calibri" pitchFamily="34" charset="0"/>
                <a:ea typeface="Calibri" pitchFamily="34" charset="-122"/>
                <a:cs typeface="Calibri" pitchFamily="34" charset="-120"/>
              </a:rPr>
              <a:t>8.  Conclusion</a:t>
            </a:r>
            <a:endParaRPr lang="en-US" sz="1900" dirty="0"/>
          </a:p>
          <a:p>
            <a:pPr marL="0" indent="0">
              <a:spcAft>
                <a:spcPts val="2200"/>
              </a:spcAft>
              <a:buNone/>
            </a:pPr>
            <a:r>
              <a:rPr lang="en-US" sz="1900" dirty="0">
                <a:solidFill>
                  <a:srgbClr val="000000"/>
                </a:solidFill>
                <a:latin typeface="Calibri" pitchFamily="34" charset="0"/>
                <a:ea typeface="Calibri" pitchFamily="34" charset="-122"/>
                <a:cs typeface="Calibri" pitchFamily="34" charset="-120"/>
              </a:rPr>
              <a:t>9.  References</a:t>
            </a:r>
            <a:endParaRPr lang="en-US" sz="1900" dirty="0"/>
          </a:p>
          <a:p>
            <a:pPr marL="0" indent="0">
              <a:spcAft>
                <a:spcPts val="2200"/>
              </a:spcAft>
              <a:buNone/>
            </a:pPr>
            <a:r>
              <a:rPr lang="en-US" sz="1900" dirty="0">
                <a:solidFill>
                  <a:srgbClr val="000000"/>
                </a:solidFill>
                <a:latin typeface="Calibri" pitchFamily="34" charset="0"/>
                <a:ea typeface="Calibri" pitchFamily="34" charset="-122"/>
                <a:cs typeface="Calibri" pitchFamily="34" charset="-120"/>
              </a:rPr>
              <a:t>10.  AI Declaration</a:t>
            </a:r>
            <a:endParaRPr lang="en-US" sz="1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914400" y="2514600"/>
            <a:ext cx="10360152" cy="658368"/>
          </a:xfrm>
          <a:prstGeom prst="rect">
            <a:avLst/>
          </a:prstGeom>
          <a:noFill/>
          <a:ln/>
        </p:spPr>
        <p:txBody>
          <a:bodyPr wrap="square" lIns="0" tIns="0" rIns="0" bIns="0" rtlCol="0" anchor="ctr"/>
          <a:lstStyle/>
          <a:p>
            <a:pPr marL="0" indent="0" algn="ctr">
              <a:buNone/>
            </a:pPr>
            <a:r>
              <a:rPr lang="en-US" sz="3400" dirty="0">
                <a:solidFill>
                  <a:srgbClr val="000000"/>
                </a:solidFill>
                <a:latin typeface="Calibri" pitchFamily="34" charset="0"/>
                <a:ea typeface="Calibri" pitchFamily="34" charset="-122"/>
                <a:cs typeface="Calibri" pitchFamily="34" charset="-120"/>
              </a:rPr>
              <a:t>1.  Introduction</a:t>
            </a:r>
            <a:endParaRPr lang="en-US" sz="3400" dirty="0"/>
          </a:p>
        </p:txBody>
      </p:sp>
      <p:sp>
        <p:nvSpPr>
          <p:cNvPr id="3" name="Shape 1"/>
          <p:cNvSpPr/>
          <p:nvPr/>
        </p:nvSpPr>
        <p:spPr>
          <a:xfrm>
            <a:off x="2258568" y="3502152"/>
            <a:ext cx="7680960" cy="32004"/>
          </a:xfrm>
          <a:prstGeom prst="rect">
            <a:avLst/>
          </a:prstGeom>
          <a:solidFill>
            <a:srgbClr val="CC0000"/>
          </a:solidFill>
          <a:ln w="12700">
            <a:solidFill>
              <a:srgbClr val="CC0000"/>
            </a:solidFill>
            <a:prstDash val="solid"/>
          </a:ln>
        </p:spPr>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1045159"/>
          </a:xfrm>
          <a:prstGeom prst="rect">
            <a:avLst/>
          </a:prstGeom>
          <a:solidFill>
            <a:srgbClr val="9A003B"/>
          </a:solidFill>
          <a:ln w="12700">
            <a:solidFill>
              <a:srgbClr val="9A003B"/>
            </a:solidFill>
            <a:prstDash val="solid"/>
          </a:ln>
        </p:spPr>
      </p:sp>
      <p:sp>
        <p:nvSpPr>
          <p:cNvPr id="3" name="Text 1"/>
          <p:cNvSpPr txBox="1"/>
          <p:nvPr/>
        </p:nvSpPr>
        <p:spPr>
          <a:xfrm>
            <a:off x="228600" y="109728"/>
            <a:ext cx="11704320" cy="825703"/>
          </a:xfrm>
          <a:prstGeom prst="rect">
            <a:avLst/>
          </a:prstGeom>
          <a:noFill/>
          <a:ln/>
        </p:spPr>
        <p:txBody>
          <a:bodyPr wrap="square" lIns="0" tIns="0" rIns="0" bIns="0" rtlCol="0" anchor="ctr"/>
          <a:lstStyle/>
          <a:p>
            <a:pPr marL="0" indent="0">
              <a:lnSpc>
                <a:spcPct val="95000"/>
              </a:lnSpc>
              <a:buNone/>
            </a:pPr>
            <a:r>
              <a:rPr lang="en-US" sz="2500" dirty="0">
                <a:solidFill>
                  <a:srgbClr val="FFFFFF"/>
                </a:solidFill>
                <a:latin typeface="Calibri" pitchFamily="34" charset="0"/>
                <a:ea typeface="Calibri" pitchFamily="34" charset="-122"/>
                <a:cs typeface="Calibri" pitchFamily="34" charset="-120"/>
              </a:rPr>
              <a:t>Introduction: Framework, Aims &amp; Course Alignment I</a:t>
            </a:r>
            <a:endParaRPr lang="en-US" sz="2500" dirty="0"/>
          </a:p>
        </p:txBody>
      </p:sp>
      <p:sp>
        <p:nvSpPr>
          <p:cNvPr id="4" name="Text 2"/>
          <p:cNvSpPr txBox="1"/>
          <p:nvPr/>
        </p:nvSpPr>
        <p:spPr>
          <a:xfrm>
            <a:off x="10515600" y="5806440"/>
            <a:ext cx="1463040" cy="749808"/>
          </a:xfrm>
          <a:prstGeom prst="rect">
            <a:avLst/>
          </a:prstGeom>
          <a:noFill/>
          <a:ln/>
        </p:spPr>
        <p:txBody>
          <a:bodyPr wrap="square" lIns="0" tIns="0" rIns="0" bIns="0" rtlCol="0" anchor="b"/>
          <a:lstStyle/>
          <a:p>
            <a:pPr marL="0" indent="0" algn="r">
              <a:lnSpc>
                <a:spcPct val="85000"/>
              </a:lnSpc>
              <a:buNone/>
            </a:pPr>
            <a:r>
              <a:rPr lang="en-US" sz="1150" b="1" dirty="0">
                <a:solidFill>
                  <a:srgbClr val="9A003B"/>
                </a:solidFill>
                <a:latin typeface="Calibri" pitchFamily="34" charset="0"/>
                <a:ea typeface="Calibri" pitchFamily="34" charset="-122"/>
                <a:cs typeface="Calibri" pitchFamily="34" charset="-120"/>
              </a:rPr>
              <a:t>Sheffield</a:t>
            </a:r>
            <a:endParaRPr lang="en-US" sz="1150" dirty="0"/>
          </a:p>
          <a:p>
            <a:pPr marL="0" indent="0" algn="r">
              <a:lnSpc>
                <a:spcPct val="85000"/>
              </a:lnSpc>
              <a:buNone/>
            </a:pPr>
            <a:r>
              <a:rPr lang="en-US" sz="1150" b="1" dirty="0">
                <a:solidFill>
                  <a:srgbClr val="9A003B"/>
                </a:solidFill>
                <a:latin typeface="Calibri" pitchFamily="34" charset="0"/>
                <a:ea typeface="Calibri" pitchFamily="34" charset="-122"/>
                <a:cs typeface="Calibri" pitchFamily="34" charset="-120"/>
              </a:rPr>
              <a:t>Hallam</a:t>
            </a:r>
            <a:endParaRPr lang="en-US" sz="1150" dirty="0"/>
          </a:p>
          <a:p>
            <a:pPr marL="0" indent="0" algn="r">
              <a:lnSpc>
                <a:spcPct val="85000"/>
              </a:lnSpc>
              <a:buNone/>
            </a:pPr>
            <a:r>
              <a:rPr lang="en-US" sz="1150" b="1" dirty="0">
                <a:solidFill>
                  <a:srgbClr val="9A003B"/>
                </a:solidFill>
                <a:latin typeface="Calibri" pitchFamily="34" charset="0"/>
                <a:ea typeface="Calibri" pitchFamily="34" charset="-122"/>
                <a:cs typeface="Calibri" pitchFamily="34" charset="-120"/>
              </a:rPr>
              <a:t>University</a:t>
            </a:r>
            <a:endParaRPr lang="en-US" sz="1150" dirty="0"/>
          </a:p>
        </p:txBody>
      </p:sp>
      <p:sp>
        <p:nvSpPr>
          <p:cNvPr id="5" name="Shape 3"/>
          <p:cNvSpPr/>
          <p:nvPr/>
        </p:nvSpPr>
        <p:spPr>
          <a:xfrm>
            <a:off x="0" y="6624828"/>
            <a:ext cx="4063898" cy="233172"/>
          </a:xfrm>
          <a:prstGeom prst="rect">
            <a:avLst/>
          </a:prstGeom>
          <a:solidFill>
            <a:srgbClr val="4D001E"/>
          </a:solidFill>
          <a:ln w="12700">
            <a:solidFill>
              <a:srgbClr val="4D001E"/>
            </a:solidFill>
            <a:prstDash val="solid"/>
          </a:ln>
        </p:spPr>
      </p:sp>
      <p:sp>
        <p:nvSpPr>
          <p:cNvPr id="6" name="Shape 4"/>
          <p:cNvSpPr/>
          <p:nvPr/>
        </p:nvSpPr>
        <p:spPr>
          <a:xfrm>
            <a:off x="4063898" y="6624828"/>
            <a:ext cx="4063898" cy="233172"/>
          </a:xfrm>
          <a:prstGeom prst="rect">
            <a:avLst/>
          </a:prstGeom>
          <a:solidFill>
            <a:srgbClr val="74002C"/>
          </a:solidFill>
          <a:ln w="12700">
            <a:solidFill>
              <a:srgbClr val="74002C"/>
            </a:solidFill>
            <a:prstDash val="solid"/>
          </a:ln>
        </p:spPr>
      </p:sp>
      <p:sp>
        <p:nvSpPr>
          <p:cNvPr id="7" name="Shape 5"/>
          <p:cNvSpPr/>
          <p:nvPr/>
        </p:nvSpPr>
        <p:spPr>
          <a:xfrm>
            <a:off x="8127797" y="6624828"/>
            <a:ext cx="4063898" cy="233172"/>
          </a:xfrm>
          <a:prstGeom prst="rect">
            <a:avLst/>
          </a:prstGeom>
          <a:solidFill>
            <a:srgbClr val="9A003B"/>
          </a:solidFill>
          <a:ln w="12700">
            <a:solidFill>
              <a:srgbClr val="9A003B"/>
            </a:solidFill>
            <a:prstDash val="solid"/>
          </a:ln>
        </p:spPr>
      </p:sp>
      <p:sp>
        <p:nvSpPr>
          <p:cNvPr id="8" name="Text 6"/>
          <p:cNvSpPr txBox="1"/>
          <p:nvPr/>
        </p:nvSpPr>
        <p:spPr>
          <a:xfrm>
            <a:off x="1143000" y="6624828"/>
            <a:ext cx="2743200" cy="233172"/>
          </a:xfrm>
          <a:prstGeom prst="rect">
            <a:avLst/>
          </a:prstGeom>
          <a:noFill/>
          <a:ln/>
        </p:spPr>
        <p:txBody>
          <a:bodyPr wrap="square" lIns="0" tIns="0" rIns="0" bIns="0" rtlCol="0" anchor="ctr"/>
          <a:lstStyle/>
          <a:p>
            <a:pPr marL="0" indent="0">
              <a:buNone/>
            </a:pPr>
            <a:r>
              <a:rPr lang="en-US" sz="900" dirty="0">
                <a:solidFill>
                  <a:srgbClr val="FFFFFF"/>
                </a:solidFill>
                <a:latin typeface="Calibri" pitchFamily="34" charset="0"/>
                <a:ea typeface="Calibri" pitchFamily="34" charset="-122"/>
                <a:cs typeface="Calibri" pitchFamily="34" charset="-120"/>
              </a:rPr>
              <a:t>[Student Initials]  (SHU)</a:t>
            </a:r>
            <a:endParaRPr lang="en-US" sz="900" dirty="0"/>
          </a:p>
        </p:txBody>
      </p:sp>
      <p:sp>
        <p:nvSpPr>
          <p:cNvPr id="9" name="Text 7"/>
          <p:cNvSpPr txBox="1"/>
          <p:nvPr/>
        </p:nvSpPr>
        <p:spPr>
          <a:xfrm>
            <a:off x="5276088" y="6624828"/>
            <a:ext cx="2743200" cy="233172"/>
          </a:xfrm>
          <a:prstGeom prst="rect">
            <a:avLst/>
          </a:prstGeom>
          <a:noFill/>
          <a:ln/>
        </p:spPr>
        <p:txBody>
          <a:bodyPr wrap="square" lIns="0" tIns="0" rIns="0" bIns="0" rtlCol="0" anchor="ctr"/>
          <a:lstStyle/>
          <a:p>
            <a:pPr marL="0" indent="0">
              <a:buNone/>
            </a:pPr>
            <a:r>
              <a:rPr lang="en-US" sz="900" dirty="0">
                <a:solidFill>
                  <a:srgbClr val="FFFFFF"/>
                </a:solidFill>
                <a:latin typeface="Calibri" pitchFamily="34" charset="0"/>
                <a:ea typeface="Calibri" pitchFamily="34" charset="-122"/>
                <a:cs typeface="Calibri" pitchFamily="34" charset="-120"/>
              </a:rPr>
              <a:t>Does the Emoji Matter?</a:t>
            </a:r>
            <a:endParaRPr lang="en-US" sz="900" dirty="0"/>
          </a:p>
        </p:txBody>
      </p:sp>
      <p:sp>
        <p:nvSpPr>
          <p:cNvPr id="10" name="Text 8"/>
          <p:cNvSpPr txBox="1"/>
          <p:nvPr/>
        </p:nvSpPr>
        <p:spPr>
          <a:xfrm>
            <a:off x="9235440" y="6624828"/>
            <a:ext cx="1645920" cy="233172"/>
          </a:xfrm>
          <a:prstGeom prst="rect">
            <a:avLst/>
          </a:prstGeom>
          <a:noFill/>
          <a:ln/>
        </p:spPr>
        <p:txBody>
          <a:bodyPr wrap="square" lIns="0" tIns="0" rIns="0" bIns="0" rtlCol="0" anchor="ctr"/>
          <a:lstStyle/>
          <a:p>
            <a:pPr marL="0" indent="0">
              <a:buNone/>
            </a:pPr>
            <a:r>
              <a:rPr lang="en-US" sz="900" dirty="0">
                <a:solidFill>
                  <a:srgbClr val="FFFFFF"/>
                </a:solidFill>
                <a:latin typeface="Calibri" pitchFamily="34" charset="0"/>
                <a:ea typeface="Calibri" pitchFamily="34" charset="-122"/>
                <a:cs typeface="Calibri" pitchFamily="34" charset="-120"/>
              </a:rPr>
              <a:t>September 2026</a:t>
            </a:r>
            <a:endParaRPr lang="en-US" sz="900" dirty="0"/>
          </a:p>
        </p:txBody>
      </p:sp>
      <p:sp>
        <p:nvSpPr>
          <p:cNvPr id="11" name="Text 9"/>
          <p:cNvSpPr txBox="1"/>
          <p:nvPr/>
        </p:nvSpPr>
        <p:spPr>
          <a:xfrm>
            <a:off x="10881360" y="6624828"/>
            <a:ext cx="1161288" cy="233172"/>
          </a:xfrm>
          <a:prstGeom prst="rect">
            <a:avLst/>
          </a:prstGeom>
          <a:noFill/>
          <a:ln/>
        </p:spPr>
        <p:txBody>
          <a:bodyPr wrap="square" lIns="0" tIns="0" rIns="0" bIns="0" rtlCol="0" anchor="ctr"/>
          <a:lstStyle/>
          <a:p>
            <a:pPr marL="0" indent="0" algn="r">
              <a:buNone/>
            </a:pPr>
            <a:r>
              <a:rPr lang="en-US" sz="900" dirty="0">
                <a:solidFill>
                  <a:srgbClr val="FFFFFF"/>
                </a:solidFill>
                <a:latin typeface="Calibri" pitchFamily="34" charset="0"/>
                <a:ea typeface="Calibri" pitchFamily="34" charset="-122"/>
                <a:cs typeface="Calibri" pitchFamily="34" charset="-120"/>
              </a:rPr>
              <a:t>6 / 43</a:t>
            </a:r>
            <a:endParaRPr lang="en-US" sz="900" dirty="0"/>
          </a:p>
        </p:txBody>
      </p:sp>
      <p:sp>
        <p:nvSpPr>
          <p:cNvPr id="12" name="Text 10"/>
          <p:cNvSpPr txBox="1"/>
          <p:nvPr/>
        </p:nvSpPr>
        <p:spPr>
          <a:xfrm>
            <a:off x="566928" y="1298448"/>
            <a:ext cx="11055096" cy="292608"/>
          </a:xfrm>
          <a:prstGeom prst="rect">
            <a:avLst/>
          </a:prstGeom>
          <a:noFill/>
          <a:ln/>
        </p:spPr>
        <p:txBody>
          <a:bodyPr wrap="square" lIns="0" tIns="0" rIns="0" bIns="0" rtlCol="0" anchor="t"/>
          <a:lstStyle/>
          <a:p>
            <a:pPr marL="0" indent="0">
              <a:lnSpc>
                <a:spcPct val="106000"/>
              </a:lnSpc>
              <a:buNone/>
            </a:pPr>
            <a:r>
              <a:rPr lang="en-US" sz="1600" b="1" dirty="0">
                <a:solidFill>
                  <a:srgbClr val="000000"/>
                </a:solidFill>
                <a:latin typeface="Calibri" pitchFamily="34" charset="0"/>
                <a:ea typeface="Calibri" pitchFamily="34" charset="-122"/>
                <a:cs typeface="Calibri" pitchFamily="34" charset="-120"/>
              </a:rPr>
              <a:t>Project Framework &amp; Scope:</a:t>
            </a:r>
            <a:endParaRPr lang="en-US" sz="1600" dirty="0"/>
          </a:p>
        </p:txBody>
      </p:sp>
      <p:sp>
        <p:nvSpPr>
          <p:cNvPr id="13" name="Text 11"/>
          <p:cNvSpPr txBox="1"/>
          <p:nvPr/>
        </p:nvSpPr>
        <p:spPr>
          <a:xfrm>
            <a:off x="749808" y="1682496"/>
            <a:ext cx="10872216" cy="4206240"/>
          </a:xfrm>
          <a:prstGeom prst="rect">
            <a:avLst/>
          </a:prstGeom>
          <a:noFill/>
          <a:ln/>
        </p:spPr>
        <p:txBody>
          <a:bodyPr wrap="square" lIns="0" tIns="0" rIns="0" bIns="0" rtlCol="0" anchor="t"/>
          <a:lstStyle/>
          <a:p>
            <a:pPr marL="177800" indent="-177800">
              <a:lnSpc>
                <a:spcPct val="106000"/>
              </a:lnSpc>
              <a:spcAft>
                <a:spcPts val="800"/>
              </a:spcAft>
              <a:buSzPct val="100000"/>
              <a:buChar char="•"/>
            </a:pPr>
            <a:r>
              <a:rPr lang="en-US" sz="1350" b="1" dirty="0">
                <a:solidFill>
                  <a:srgbClr val="000000"/>
                </a:solidFill>
                <a:latin typeface="Calibri" pitchFamily="34" charset="0"/>
                <a:ea typeface="Calibri" pitchFamily="34" charset="-122"/>
                <a:cs typeface="Calibri" pitchFamily="34" charset="-120"/>
              </a:rPr>
              <a:t>Situation-Complication-Resolution: </a:t>
            </a:r>
            <a:r>
              <a:rPr lang="en-US" sz="1350" dirty="0">
                <a:solidFill>
                  <a:srgbClr val="000000"/>
                </a:solidFill>
                <a:latin typeface="Calibri" pitchFamily="34" charset="0"/>
                <a:ea typeface="Calibri" pitchFamily="34" charset="-122"/>
                <a:cs typeface="Calibri" pitchFamily="34" charset="-120"/>
              </a:rPr>
              <a:t>Emotion recognition assigns feelings such as anger, joy or fear to text, and on social media much of that feeling is carried by emoji (Carroll, 2025). Before a model sees a tweet the pipeline must delete the emoji or convert them into words; both appear in the literature and the choice is largely untested, because studies that report a gain change several things at once (Z. Zhang et al., 2024). The resolution is one pipeline that splits at exactly one step.</a:t>
            </a:r>
            <a:endParaRPr lang="en-US" sz="1350" dirty="0"/>
          </a:p>
          <a:p>
            <a:pPr marL="177800" indent="-177800">
              <a:lnSpc>
                <a:spcPct val="106000"/>
              </a:lnSpc>
              <a:spcAft>
                <a:spcPts val="800"/>
              </a:spcAft>
              <a:buSzPct val="100000"/>
              <a:buChar char="•"/>
            </a:pPr>
            <a:r>
              <a:rPr lang="en-US" sz="1350" b="1" dirty="0">
                <a:solidFill>
                  <a:srgbClr val="000000"/>
                </a:solidFill>
                <a:latin typeface="Calibri" pitchFamily="34" charset="0"/>
                <a:ea typeface="Calibri" pitchFamily="34" charset="-122"/>
                <a:cs typeface="Calibri" pitchFamily="34" charset="-120"/>
              </a:rPr>
              <a:t>Research Question: </a:t>
            </a:r>
            <a:r>
              <a:rPr lang="en-US" sz="1350" dirty="0">
                <a:solidFill>
                  <a:srgbClr val="000000"/>
                </a:solidFill>
                <a:latin typeface="Calibri" pitchFamily="34" charset="0"/>
                <a:ea typeface="Calibri" pitchFamily="34" charset="-122"/>
                <a:cs typeface="Calibri" pitchFamily="34" charset="-120"/>
              </a:rPr>
              <a:t>RQ1 — to what extent does the treatment of emoji during preprocessing, specifically removal compared with conversion into textual descriptions, affect the performance of deep learning models on multi-label emotion classification of tweets? RQ2 — does that effect depend on the model architecture used and on the specific emotion being classified?</a:t>
            </a:r>
            <a:endParaRPr lang="en-US" sz="1350" dirty="0"/>
          </a:p>
          <a:p>
            <a:pPr marL="177800" indent="-177800">
              <a:lnSpc>
                <a:spcPct val="106000"/>
              </a:lnSpc>
              <a:spcAft>
                <a:spcPts val="800"/>
              </a:spcAft>
              <a:buSzPct val="100000"/>
              <a:buChar char="•"/>
            </a:pPr>
            <a:r>
              <a:rPr lang="en-US" sz="1350" b="1" dirty="0">
                <a:solidFill>
                  <a:srgbClr val="000000"/>
                </a:solidFill>
                <a:latin typeface="Calibri" pitchFamily="34" charset="0"/>
                <a:ea typeface="Calibri" pitchFamily="34" charset="-122"/>
                <a:cs typeface="Calibri" pitchFamily="34" charset="-120"/>
              </a:rPr>
              <a:t>Aims &amp; Objectives: </a:t>
            </a:r>
            <a:r>
              <a:rPr lang="en-US" sz="1350" dirty="0">
                <a:solidFill>
                  <a:srgbClr val="000000"/>
                </a:solidFill>
                <a:latin typeface="Calibri" pitchFamily="34" charset="0"/>
                <a:ea typeface="Calibri" pitchFamily="34" charset="-122"/>
                <a:cs typeface="Calibri" pitchFamily="34" charset="-120"/>
              </a:rPr>
              <a:t>To measure, under controlled conditions, how emoji handling affects multi-label emotion classification, and whether the effect is the same across model types and emotions. Six objectives follow, from identifying the gap to delivering and testing an application.</a:t>
            </a:r>
            <a:endParaRPr lang="en-US" sz="1350" dirty="0"/>
          </a:p>
          <a:p>
            <a:pPr marL="177800" indent="-177800">
              <a:lnSpc>
                <a:spcPct val="106000"/>
              </a:lnSpc>
              <a:spcAft>
                <a:spcPts val="800"/>
              </a:spcAft>
              <a:buSzPct val="100000"/>
              <a:buChar char="•"/>
            </a:pPr>
            <a:r>
              <a:rPr lang="en-US" sz="1350" b="1" dirty="0">
                <a:solidFill>
                  <a:srgbClr val="000000"/>
                </a:solidFill>
                <a:latin typeface="Calibri" pitchFamily="34" charset="0"/>
                <a:ea typeface="Calibri" pitchFamily="34" charset="-122"/>
                <a:cs typeface="Calibri" pitchFamily="34" charset="-120"/>
              </a:rPr>
              <a:t>Benefits &amp; Beneficiaries: </a:t>
            </a:r>
            <a:r>
              <a:rPr lang="en-US" sz="1350" dirty="0">
                <a:solidFill>
                  <a:srgbClr val="000000"/>
                </a:solidFill>
                <a:latin typeface="Calibri" pitchFamily="34" charset="0"/>
                <a:ea typeface="Calibri" pitchFamily="34" charset="-122"/>
                <a:cs typeface="Calibri" pitchFamily="34" charset="-120"/>
              </a:rPr>
              <a:t>Practitioners gain evidence about a decision they must make anyway; researchers gain a reusable method for isolating one preprocessing step; organisations monitoring feedback gain a cleaner emotion signal.</a:t>
            </a:r>
            <a:endParaRPr lang="en-US" sz="13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1045159"/>
          </a:xfrm>
          <a:prstGeom prst="rect">
            <a:avLst/>
          </a:prstGeom>
          <a:solidFill>
            <a:srgbClr val="9A003B"/>
          </a:solidFill>
          <a:ln w="12700">
            <a:solidFill>
              <a:srgbClr val="9A003B"/>
            </a:solidFill>
            <a:prstDash val="solid"/>
          </a:ln>
        </p:spPr>
      </p:sp>
      <p:sp>
        <p:nvSpPr>
          <p:cNvPr id="3" name="Text 1"/>
          <p:cNvSpPr txBox="1"/>
          <p:nvPr/>
        </p:nvSpPr>
        <p:spPr>
          <a:xfrm>
            <a:off x="228600" y="109728"/>
            <a:ext cx="11704320" cy="825703"/>
          </a:xfrm>
          <a:prstGeom prst="rect">
            <a:avLst/>
          </a:prstGeom>
          <a:noFill/>
          <a:ln/>
        </p:spPr>
        <p:txBody>
          <a:bodyPr wrap="square" lIns="0" tIns="0" rIns="0" bIns="0" rtlCol="0" anchor="ctr"/>
          <a:lstStyle/>
          <a:p>
            <a:pPr marL="0" indent="0">
              <a:lnSpc>
                <a:spcPct val="95000"/>
              </a:lnSpc>
              <a:buNone/>
            </a:pPr>
            <a:r>
              <a:rPr lang="en-US" sz="2500" dirty="0">
                <a:solidFill>
                  <a:srgbClr val="FFFFFF"/>
                </a:solidFill>
                <a:latin typeface="Calibri" pitchFamily="34" charset="0"/>
                <a:ea typeface="Calibri" pitchFamily="34" charset="-122"/>
                <a:cs typeface="Calibri" pitchFamily="34" charset="-120"/>
              </a:rPr>
              <a:t>Introduction: Framework, Aims &amp; Course Alignment II</a:t>
            </a:r>
            <a:endParaRPr lang="en-US" sz="2500" dirty="0"/>
          </a:p>
        </p:txBody>
      </p:sp>
      <p:sp>
        <p:nvSpPr>
          <p:cNvPr id="4" name="Text 2"/>
          <p:cNvSpPr txBox="1"/>
          <p:nvPr/>
        </p:nvSpPr>
        <p:spPr>
          <a:xfrm>
            <a:off x="10515600" y="5806440"/>
            <a:ext cx="1463040" cy="749808"/>
          </a:xfrm>
          <a:prstGeom prst="rect">
            <a:avLst/>
          </a:prstGeom>
          <a:noFill/>
          <a:ln/>
        </p:spPr>
        <p:txBody>
          <a:bodyPr wrap="square" lIns="0" tIns="0" rIns="0" bIns="0" rtlCol="0" anchor="b"/>
          <a:lstStyle/>
          <a:p>
            <a:pPr marL="0" indent="0" algn="r">
              <a:lnSpc>
                <a:spcPct val="85000"/>
              </a:lnSpc>
              <a:buNone/>
            </a:pPr>
            <a:r>
              <a:rPr lang="en-US" sz="1150" b="1" dirty="0">
                <a:solidFill>
                  <a:srgbClr val="9A003B"/>
                </a:solidFill>
                <a:latin typeface="Calibri" pitchFamily="34" charset="0"/>
                <a:ea typeface="Calibri" pitchFamily="34" charset="-122"/>
                <a:cs typeface="Calibri" pitchFamily="34" charset="-120"/>
              </a:rPr>
              <a:t>Sheffield</a:t>
            </a:r>
            <a:endParaRPr lang="en-US" sz="1150" dirty="0"/>
          </a:p>
          <a:p>
            <a:pPr marL="0" indent="0" algn="r">
              <a:lnSpc>
                <a:spcPct val="85000"/>
              </a:lnSpc>
              <a:buNone/>
            </a:pPr>
            <a:r>
              <a:rPr lang="en-US" sz="1150" b="1" dirty="0">
                <a:solidFill>
                  <a:srgbClr val="9A003B"/>
                </a:solidFill>
                <a:latin typeface="Calibri" pitchFamily="34" charset="0"/>
                <a:ea typeface="Calibri" pitchFamily="34" charset="-122"/>
                <a:cs typeface="Calibri" pitchFamily="34" charset="-120"/>
              </a:rPr>
              <a:t>Hallam</a:t>
            </a:r>
            <a:endParaRPr lang="en-US" sz="1150" dirty="0"/>
          </a:p>
          <a:p>
            <a:pPr marL="0" indent="0" algn="r">
              <a:lnSpc>
                <a:spcPct val="85000"/>
              </a:lnSpc>
              <a:buNone/>
            </a:pPr>
            <a:r>
              <a:rPr lang="en-US" sz="1150" b="1" dirty="0">
                <a:solidFill>
                  <a:srgbClr val="9A003B"/>
                </a:solidFill>
                <a:latin typeface="Calibri" pitchFamily="34" charset="0"/>
                <a:ea typeface="Calibri" pitchFamily="34" charset="-122"/>
                <a:cs typeface="Calibri" pitchFamily="34" charset="-120"/>
              </a:rPr>
              <a:t>University</a:t>
            </a:r>
            <a:endParaRPr lang="en-US" sz="1150" dirty="0"/>
          </a:p>
        </p:txBody>
      </p:sp>
      <p:sp>
        <p:nvSpPr>
          <p:cNvPr id="5" name="Shape 3"/>
          <p:cNvSpPr/>
          <p:nvPr/>
        </p:nvSpPr>
        <p:spPr>
          <a:xfrm>
            <a:off x="0" y="6624828"/>
            <a:ext cx="4063898" cy="233172"/>
          </a:xfrm>
          <a:prstGeom prst="rect">
            <a:avLst/>
          </a:prstGeom>
          <a:solidFill>
            <a:srgbClr val="4D001E"/>
          </a:solidFill>
          <a:ln w="12700">
            <a:solidFill>
              <a:srgbClr val="4D001E"/>
            </a:solidFill>
            <a:prstDash val="solid"/>
          </a:ln>
        </p:spPr>
      </p:sp>
      <p:sp>
        <p:nvSpPr>
          <p:cNvPr id="6" name="Shape 4"/>
          <p:cNvSpPr/>
          <p:nvPr/>
        </p:nvSpPr>
        <p:spPr>
          <a:xfrm>
            <a:off x="4063898" y="6624828"/>
            <a:ext cx="4063898" cy="233172"/>
          </a:xfrm>
          <a:prstGeom prst="rect">
            <a:avLst/>
          </a:prstGeom>
          <a:solidFill>
            <a:srgbClr val="74002C"/>
          </a:solidFill>
          <a:ln w="12700">
            <a:solidFill>
              <a:srgbClr val="74002C"/>
            </a:solidFill>
            <a:prstDash val="solid"/>
          </a:ln>
        </p:spPr>
      </p:sp>
      <p:sp>
        <p:nvSpPr>
          <p:cNvPr id="7" name="Shape 5"/>
          <p:cNvSpPr/>
          <p:nvPr/>
        </p:nvSpPr>
        <p:spPr>
          <a:xfrm>
            <a:off x="8127797" y="6624828"/>
            <a:ext cx="4063898" cy="233172"/>
          </a:xfrm>
          <a:prstGeom prst="rect">
            <a:avLst/>
          </a:prstGeom>
          <a:solidFill>
            <a:srgbClr val="9A003B"/>
          </a:solidFill>
          <a:ln w="12700">
            <a:solidFill>
              <a:srgbClr val="9A003B"/>
            </a:solidFill>
            <a:prstDash val="solid"/>
          </a:ln>
        </p:spPr>
      </p:sp>
      <p:sp>
        <p:nvSpPr>
          <p:cNvPr id="8" name="Text 6"/>
          <p:cNvSpPr txBox="1"/>
          <p:nvPr/>
        </p:nvSpPr>
        <p:spPr>
          <a:xfrm>
            <a:off x="1143000" y="6624828"/>
            <a:ext cx="2743200" cy="233172"/>
          </a:xfrm>
          <a:prstGeom prst="rect">
            <a:avLst/>
          </a:prstGeom>
          <a:noFill/>
          <a:ln/>
        </p:spPr>
        <p:txBody>
          <a:bodyPr wrap="square" lIns="0" tIns="0" rIns="0" bIns="0" rtlCol="0" anchor="ctr"/>
          <a:lstStyle/>
          <a:p>
            <a:pPr marL="0" indent="0">
              <a:buNone/>
            </a:pPr>
            <a:r>
              <a:rPr lang="en-US" sz="900" dirty="0">
                <a:solidFill>
                  <a:srgbClr val="FFFFFF"/>
                </a:solidFill>
                <a:latin typeface="Calibri" pitchFamily="34" charset="0"/>
                <a:ea typeface="Calibri" pitchFamily="34" charset="-122"/>
                <a:cs typeface="Calibri" pitchFamily="34" charset="-120"/>
              </a:rPr>
              <a:t>[Student Initials]  (SHU)</a:t>
            </a:r>
            <a:endParaRPr lang="en-US" sz="900" dirty="0"/>
          </a:p>
        </p:txBody>
      </p:sp>
      <p:sp>
        <p:nvSpPr>
          <p:cNvPr id="9" name="Text 7"/>
          <p:cNvSpPr txBox="1"/>
          <p:nvPr/>
        </p:nvSpPr>
        <p:spPr>
          <a:xfrm>
            <a:off x="5276088" y="6624828"/>
            <a:ext cx="2743200" cy="233172"/>
          </a:xfrm>
          <a:prstGeom prst="rect">
            <a:avLst/>
          </a:prstGeom>
          <a:noFill/>
          <a:ln/>
        </p:spPr>
        <p:txBody>
          <a:bodyPr wrap="square" lIns="0" tIns="0" rIns="0" bIns="0" rtlCol="0" anchor="ctr"/>
          <a:lstStyle/>
          <a:p>
            <a:pPr marL="0" indent="0">
              <a:buNone/>
            </a:pPr>
            <a:r>
              <a:rPr lang="en-US" sz="900" dirty="0">
                <a:solidFill>
                  <a:srgbClr val="FFFFFF"/>
                </a:solidFill>
                <a:latin typeface="Calibri" pitchFamily="34" charset="0"/>
                <a:ea typeface="Calibri" pitchFamily="34" charset="-122"/>
                <a:cs typeface="Calibri" pitchFamily="34" charset="-120"/>
              </a:rPr>
              <a:t>Does the Emoji Matter?</a:t>
            </a:r>
            <a:endParaRPr lang="en-US" sz="900" dirty="0"/>
          </a:p>
        </p:txBody>
      </p:sp>
      <p:sp>
        <p:nvSpPr>
          <p:cNvPr id="10" name="Text 8"/>
          <p:cNvSpPr txBox="1"/>
          <p:nvPr/>
        </p:nvSpPr>
        <p:spPr>
          <a:xfrm>
            <a:off x="9235440" y="6624828"/>
            <a:ext cx="1645920" cy="233172"/>
          </a:xfrm>
          <a:prstGeom prst="rect">
            <a:avLst/>
          </a:prstGeom>
          <a:noFill/>
          <a:ln/>
        </p:spPr>
        <p:txBody>
          <a:bodyPr wrap="square" lIns="0" tIns="0" rIns="0" bIns="0" rtlCol="0" anchor="ctr"/>
          <a:lstStyle/>
          <a:p>
            <a:pPr marL="0" indent="0">
              <a:buNone/>
            </a:pPr>
            <a:r>
              <a:rPr lang="en-US" sz="900" dirty="0">
                <a:solidFill>
                  <a:srgbClr val="FFFFFF"/>
                </a:solidFill>
                <a:latin typeface="Calibri" pitchFamily="34" charset="0"/>
                <a:ea typeface="Calibri" pitchFamily="34" charset="-122"/>
                <a:cs typeface="Calibri" pitchFamily="34" charset="-120"/>
              </a:rPr>
              <a:t>September 2026</a:t>
            </a:r>
            <a:endParaRPr lang="en-US" sz="900" dirty="0"/>
          </a:p>
        </p:txBody>
      </p:sp>
      <p:sp>
        <p:nvSpPr>
          <p:cNvPr id="11" name="Text 9"/>
          <p:cNvSpPr txBox="1"/>
          <p:nvPr/>
        </p:nvSpPr>
        <p:spPr>
          <a:xfrm>
            <a:off x="10881360" y="6624828"/>
            <a:ext cx="1161288" cy="233172"/>
          </a:xfrm>
          <a:prstGeom prst="rect">
            <a:avLst/>
          </a:prstGeom>
          <a:noFill/>
          <a:ln/>
        </p:spPr>
        <p:txBody>
          <a:bodyPr wrap="square" lIns="0" tIns="0" rIns="0" bIns="0" rtlCol="0" anchor="ctr"/>
          <a:lstStyle/>
          <a:p>
            <a:pPr marL="0" indent="0" algn="r">
              <a:buNone/>
            </a:pPr>
            <a:r>
              <a:rPr lang="en-US" sz="900" dirty="0">
                <a:solidFill>
                  <a:srgbClr val="FFFFFF"/>
                </a:solidFill>
                <a:latin typeface="Calibri" pitchFamily="34" charset="0"/>
                <a:ea typeface="Calibri" pitchFamily="34" charset="-122"/>
                <a:cs typeface="Calibri" pitchFamily="34" charset="-120"/>
              </a:rPr>
              <a:t>7 / 43</a:t>
            </a:r>
            <a:endParaRPr lang="en-US" sz="900" dirty="0"/>
          </a:p>
        </p:txBody>
      </p:sp>
      <p:sp>
        <p:nvSpPr>
          <p:cNvPr id="12" name="Text 10"/>
          <p:cNvSpPr txBox="1"/>
          <p:nvPr/>
        </p:nvSpPr>
        <p:spPr>
          <a:xfrm>
            <a:off x="566928" y="1298448"/>
            <a:ext cx="5486400" cy="292608"/>
          </a:xfrm>
          <a:prstGeom prst="rect">
            <a:avLst/>
          </a:prstGeom>
          <a:noFill/>
          <a:ln/>
        </p:spPr>
        <p:txBody>
          <a:bodyPr wrap="square" lIns="0" tIns="0" rIns="0" bIns="0" rtlCol="0" anchor="t"/>
          <a:lstStyle/>
          <a:p>
            <a:pPr marL="0" indent="0">
              <a:lnSpc>
                <a:spcPct val="106000"/>
              </a:lnSpc>
              <a:buNone/>
            </a:pPr>
            <a:r>
              <a:rPr lang="en-US" sz="1500" b="1" dirty="0">
                <a:solidFill>
                  <a:srgbClr val="000000"/>
                </a:solidFill>
                <a:latin typeface="Calibri" pitchFamily="34" charset="0"/>
                <a:ea typeface="Calibri" pitchFamily="34" charset="-122"/>
                <a:cs typeface="Calibri" pitchFamily="34" charset="-120"/>
              </a:rPr>
              <a:t>Research Objectives:</a:t>
            </a:r>
            <a:endParaRPr lang="en-US" sz="1500" dirty="0"/>
          </a:p>
        </p:txBody>
      </p:sp>
      <p:sp>
        <p:nvSpPr>
          <p:cNvPr id="13" name="Text 11"/>
          <p:cNvSpPr txBox="1"/>
          <p:nvPr/>
        </p:nvSpPr>
        <p:spPr>
          <a:xfrm>
            <a:off x="749808" y="1664208"/>
            <a:ext cx="5257800" cy="2286000"/>
          </a:xfrm>
          <a:prstGeom prst="rect">
            <a:avLst/>
          </a:prstGeom>
          <a:noFill/>
          <a:ln/>
        </p:spPr>
        <p:txBody>
          <a:bodyPr wrap="square" lIns="0" tIns="0" rIns="0" bIns="0" rtlCol="0" anchor="t"/>
          <a:lstStyle/>
          <a:p>
            <a:pPr marL="177800" indent="-177800">
              <a:lnSpc>
                <a:spcPct val="106000"/>
              </a:lnSpc>
              <a:spcAft>
                <a:spcPts val="800"/>
              </a:spcAft>
              <a:buSzPct val="100000"/>
              <a:buChar char="•"/>
            </a:pPr>
            <a:r>
              <a:rPr lang="en-US" sz="1350" dirty="0">
                <a:solidFill>
                  <a:srgbClr val="000000"/>
                </a:solidFill>
                <a:latin typeface="Calibri" pitchFamily="34" charset="0"/>
                <a:ea typeface="Calibri" pitchFamily="34" charset="-122"/>
                <a:cs typeface="Calibri" pitchFamily="34" charset="-120"/>
              </a:rPr>
              <a:t>O1  Review recent literature and identify the gap</a:t>
            </a:r>
            <a:endParaRPr lang="en-US" sz="1350" dirty="0"/>
          </a:p>
          <a:p>
            <a:pPr marL="177800" indent="-177800">
              <a:lnSpc>
                <a:spcPct val="106000"/>
              </a:lnSpc>
              <a:spcAft>
                <a:spcPts val="800"/>
              </a:spcAft>
              <a:buSzPct val="100000"/>
              <a:buChar char="•"/>
            </a:pPr>
            <a:r>
              <a:rPr lang="en-US" sz="1350" dirty="0">
                <a:solidFill>
                  <a:srgbClr val="000000"/>
                </a:solidFill>
                <a:latin typeface="Calibri" pitchFamily="34" charset="0"/>
                <a:ea typeface="Calibri" pitchFamily="34" charset="-122"/>
                <a:cs typeface="Calibri" pitchFamily="34" charset="-120"/>
              </a:rPr>
              <a:t>O2  Build one preprocessing pipeline that splits at a single step</a:t>
            </a:r>
            <a:endParaRPr lang="en-US" sz="1350" dirty="0"/>
          </a:p>
          <a:p>
            <a:pPr marL="177800" indent="-177800">
              <a:lnSpc>
                <a:spcPct val="106000"/>
              </a:lnSpc>
              <a:spcAft>
                <a:spcPts val="800"/>
              </a:spcAft>
              <a:buSzPct val="100000"/>
              <a:buChar char="•"/>
            </a:pPr>
            <a:r>
              <a:rPr lang="en-US" sz="1350" dirty="0">
                <a:solidFill>
                  <a:srgbClr val="000000"/>
                </a:solidFill>
                <a:latin typeface="Calibri" pitchFamily="34" charset="0"/>
                <a:ea typeface="Calibri" pitchFamily="34" charset="-122"/>
                <a:cs typeface="Calibri" pitchFamily="34" charset="-120"/>
              </a:rPr>
              <a:t>O3  Implement two architectures trainable identically on either track</a:t>
            </a:r>
            <a:endParaRPr lang="en-US" sz="1350" dirty="0"/>
          </a:p>
          <a:p>
            <a:pPr marL="177800" indent="-177800">
              <a:lnSpc>
                <a:spcPct val="106000"/>
              </a:lnSpc>
              <a:spcAft>
                <a:spcPts val="800"/>
              </a:spcAft>
              <a:buSzPct val="100000"/>
              <a:buChar char="•"/>
            </a:pPr>
            <a:r>
              <a:rPr lang="en-US" sz="1350" dirty="0">
                <a:solidFill>
                  <a:srgbClr val="000000"/>
                </a:solidFill>
                <a:latin typeface="Calibri" pitchFamily="34" charset="0"/>
                <a:ea typeface="Calibri" pitchFamily="34" charset="-122"/>
                <a:cs typeface="Calibri" pitchFamily="34" charset="-120"/>
              </a:rPr>
              <a:t>O4  Tune each condition, handling label imbalance</a:t>
            </a:r>
            <a:endParaRPr lang="en-US" sz="1350" dirty="0"/>
          </a:p>
          <a:p>
            <a:pPr marL="177800" indent="-177800">
              <a:lnSpc>
                <a:spcPct val="106000"/>
              </a:lnSpc>
              <a:spcAft>
                <a:spcPts val="800"/>
              </a:spcAft>
              <a:buSzPct val="100000"/>
              <a:buChar char="•"/>
            </a:pPr>
            <a:r>
              <a:rPr lang="en-US" sz="1350" dirty="0">
                <a:solidFill>
                  <a:srgbClr val="000000"/>
                </a:solidFill>
                <a:latin typeface="Calibri" pitchFamily="34" charset="0"/>
                <a:ea typeface="Calibri" pitchFamily="34" charset="-122"/>
                <a:cs typeface="Calibri" pitchFamily="34" charset="-120"/>
              </a:rPr>
              <a:t>O5  Evaluate all four conditions and compute the difference between tracks</a:t>
            </a:r>
            <a:endParaRPr lang="en-US" sz="1350" dirty="0"/>
          </a:p>
          <a:p>
            <a:pPr marL="177800" indent="-177800">
              <a:lnSpc>
                <a:spcPct val="106000"/>
              </a:lnSpc>
              <a:spcAft>
                <a:spcPts val="800"/>
              </a:spcAft>
              <a:buSzPct val="100000"/>
              <a:buChar char="•"/>
            </a:pPr>
            <a:r>
              <a:rPr lang="en-US" sz="1350" dirty="0">
                <a:solidFill>
                  <a:srgbClr val="000000"/>
                </a:solidFill>
                <a:latin typeface="Calibri" pitchFamily="34" charset="0"/>
                <a:ea typeface="Calibri" pitchFamily="34" charset="-122"/>
                <a:cs typeface="Calibri" pitchFamily="34" charset="-120"/>
              </a:rPr>
              <a:t>O6  Deliver a working application and verify it by system testing</a:t>
            </a:r>
            <a:endParaRPr lang="en-US" sz="1350" dirty="0"/>
          </a:p>
        </p:txBody>
      </p:sp>
      <p:sp>
        <p:nvSpPr>
          <p:cNvPr id="14" name="Shape 12"/>
          <p:cNvSpPr/>
          <p:nvPr/>
        </p:nvSpPr>
        <p:spPr>
          <a:xfrm>
            <a:off x="566928" y="4087368"/>
            <a:ext cx="5532120" cy="384048"/>
          </a:xfrm>
          <a:prstGeom prst="rect">
            <a:avLst/>
          </a:prstGeom>
          <a:solidFill>
            <a:srgbClr val="2764B4"/>
          </a:solidFill>
          <a:ln w="12700">
            <a:solidFill>
              <a:srgbClr val="2764B4"/>
            </a:solidFill>
            <a:prstDash val="solid"/>
          </a:ln>
        </p:spPr>
      </p:sp>
      <p:sp>
        <p:nvSpPr>
          <p:cNvPr id="15" name="Text 13"/>
          <p:cNvSpPr txBox="1"/>
          <p:nvPr/>
        </p:nvSpPr>
        <p:spPr>
          <a:xfrm>
            <a:off x="694944" y="4087368"/>
            <a:ext cx="5276088" cy="384048"/>
          </a:xfrm>
          <a:prstGeom prst="rect">
            <a:avLst/>
          </a:prstGeom>
          <a:noFill/>
          <a:ln/>
        </p:spPr>
        <p:txBody>
          <a:bodyPr wrap="square" lIns="0" tIns="0" rIns="0" bIns="0" rtlCol="0" anchor="ctr"/>
          <a:lstStyle/>
          <a:p>
            <a:pPr marL="0" indent="0">
              <a:buNone/>
            </a:pPr>
            <a:r>
              <a:rPr lang="en-US" sz="1500" b="1" dirty="0">
                <a:solidFill>
                  <a:srgbClr val="FFFFFF"/>
                </a:solidFill>
                <a:latin typeface="Calibri" pitchFamily="34" charset="0"/>
                <a:ea typeface="Calibri" pitchFamily="34" charset="-122"/>
                <a:cs typeface="Calibri" pitchFamily="34" charset="-120"/>
              </a:rPr>
              <a:t>Corpus under test</a:t>
            </a:r>
            <a:endParaRPr lang="en-US" sz="1500" dirty="0"/>
          </a:p>
        </p:txBody>
      </p:sp>
      <p:sp>
        <p:nvSpPr>
          <p:cNvPr id="16" name="Shape 14"/>
          <p:cNvSpPr/>
          <p:nvPr/>
        </p:nvSpPr>
        <p:spPr>
          <a:xfrm>
            <a:off x="566928" y="4471416"/>
            <a:ext cx="5532120" cy="1627632"/>
          </a:xfrm>
          <a:prstGeom prst="rect">
            <a:avLst/>
          </a:prstGeom>
          <a:solidFill>
            <a:srgbClr val="F4DDE6"/>
          </a:solidFill>
          <a:ln/>
        </p:spPr>
      </p:sp>
      <p:sp>
        <p:nvSpPr>
          <p:cNvPr id="17" name="Text 15"/>
          <p:cNvSpPr txBox="1"/>
          <p:nvPr/>
        </p:nvSpPr>
        <p:spPr>
          <a:xfrm>
            <a:off x="768096" y="4572000"/>
            <a:ext cx="5120640" cy="1417320"/>
          </a:xfrm>
          <a:prstGeom prst="rect">
            <a:avLst/>
          </a:prstGeom>
          <a:noFill/>
          <a:ln/>
        </p:spPr>
        <p:txBody>
          <a:bodyPr wrap="square" lIns="0" tIns="0" rIns="0" bIns="0" rtlCol="0" anchor="t"/>
          <a:lstStyle/>
          <a:p>
            <a:pPr marL="177800" indent="-177800">
              <a:lnSpc>
                <a:spcPct val="106000"/>
              </a:lnSpc>
              <a:spcAft>
                <a:spcPts val="800"/>
              </a:spcAft>
              <a:buSzPct val="100000"/>
              <a:buChar char="•"/>
            </a:pPr>
            <a:r>
              <a:rPr lang="en-US" sz="1250" dirty="0">
                <a:solidFill>
                  <a:srgbClr val="000000"/>
                </a:solidFill>
                <a:latin typeface="Calibri" pitchFamily="34" charset="0"/>
                <a:ea typeface="Calibri" pitchFamily="34" charset="-122"/>
                <a:cs typeface="Calibri" pitchFamily="34" charset="-120"/>
              </a:rPr>
              <a:t>SemEval-2018 Task 1, Task E-c, English subtask</a:t>
            </a:r>
            <a:endParaRPr lang="en-US" sz="1250" dirty="0"/>
          </a:p>
          <a:p>
            <a:pPr marL="177800" indent="-177800">
              <a:lnSpc>
                <a:spcPct val="106000"/>
              </a:lnSpc>
              <a:spcAft>
                <a:spcPts val="800"/>
              </a:spcAft>
              <a:buSzPct val="100000"/>
              <a:buChar char="•"/>
            </a:pPr>
            <a:r>
              <a:rPr lang="en-US" sz="1250" dirty="0">
                <a:solidFill>
                  <a:srgbClr val="000000"/>
                </a:solidFill>
                <a:latin typeface="Calibri" pitchFamily="34" charset="0"/>
                <a:ea typeface="Calibri" pitchFamily="34" charset="-122"/>
                <a:cs typeface="Calibri" pitchFamily="34" charset="-120"/>
              </a:rPr>
              <a:t>6,838 training / 886 development / 3,259 test tweets</a:t>
            </a:r>
            <a:endParaRPr lang="en-US" sz="1250" dirty="0"/>
          </a:p>
          <a:p>
            <a:pPr marL="177800" indent="-177800">
              <a:lnSpc>
                <a:spcPct val="106000"/>
              </a:lnSpc>
              <a:spcAft>
                <a:spcPts val="800"/>
              </a:spcAft>
              <a:buSzPct val="100000"/>
              <a:buChar char="•"/>
            </a:pPr>
            <a:r>
              <a:rPr lang="en-US" sz="1250" dirty="0">
                <a:solidFill>
                  <a:srgbClr val="000000"/>
                </a:solidFill>
                <a:latin typeface="Calibri" pitchFamily="34" charset="0"/>
                <a:ea typeface="Calibri" pitchFamily="34" charset="-122"/>
                <a:cs typeface="Calibri" pitchFamily="34" charset="-120"/>
              </a:rPr>
              <a:t>Eleven emotion labels; a tweet may carry several at once</a:t>
            </a:r>
            <a:endParaRPr lang="en-US" sz="1250" dirty="0"/>
          </a:p>
          <a:p>
            <a:pPr marL="177800" indent="-177800">
              <a:lnSpc>
                <a:spcPct val="106000"/>
              </a:lnSpc>
              <a:spcAft>
                <a:spcPts val="800"/>
              </a:spcAft>
              <a:buSzPct val="100000"/>
              <a:buChar char="•"/>
            </a:pPr>
            <a:r>
              <a:rPr lang="en-US" sz="1250" dirty="0">
                <a:solidFill>
                  <a:srgbClr val="000000"/>
                </a:solidFill>
                <a:latin typeface="Calibri" pitchFamily="34" charset="0"/>
                <a:ea typeface="Calibri" pitchFamily="34" charset="-122"/>
                <a:cs typeface="Calibri" pitchFamily="34" charset="-120"/>
              </a:rPr>
              <a:t>Emoji present in 11.3% of training and 24.8% of development rows</a:t>
            </a:r>
            <a:endParaRPr lang="en-US" sz="1250" dirty="0"/>
          </a:p>
        </p:txBody>
      </p:sp>
      <p:sp>
        <p:nvSpPr>
          <p:cNvPr id="18" name="Text 16"/>
          <p:cNvSpPr txBox="1"/>
          <p:nvPr/>
        </p:nvSpPr>
        <p:spPr>
          <a:xfrm>
            <a:off x="6400800" y="1298448"/>
            <a:ext cx="5221224" cy="292608"/>
          </a:xfrm>
          <a:prstGeom prst="rect">
            <a:avLst/>
          </a:prstGeom>
          <a:noFill/>
          <a:ln/>
        </p:spPr>
        <p:txBody>
          <a:bodyPr wrap="square" lIns="0" tIns="0" rIns="0" bIns="0" rtlCol="0" anchor="t"/>
          <a:lstStyle/>
          <a:p>
            <a:pPr marL="0" indent="0">
              <a:lnSpc>
                <a:spcPct val="106000"/>
              </a:lnSpc>
              <a:buNone/>
            </a:pPr>
            <a:r>
              <a:rPr lang="en-US" sz="1500" b="1" dirty="0">
                <a:solidFill>
                  <a:srgbClr val="000000"/>
                </a:solidFill>
                <a:latin typeface="Calibri" pitchFamily="34" charset="0"/>
                <a:ea typeface="Calibri" pitchFamily="34" charset="-122"/>
                <a:cs typeface="Calibri" pitchFamily="34" charset="-120"/>
              </a:rPr>
              <a:t>Deliverable Delivery &amp; MSc Course Matrix:</a:t>
            </a:r>
            <a:endParaRPr lang="en-US" sz="1500" dirty="0"/>
          </a:p>
        </p:txBody>
      </p:sp>
      <p:sp>
        <p:nvSpPr>
          <p:cNvPr id="19" name="Text 17"/>
          <p:cNvSpPr txBox="1"/>
          <p:nvPr/>
        </p:nvSpPr>
        <p:spPr>
          <a:xfrm>
            <a:off x="6583680" y="1664208"/>
            <a:ext cx="5038344" cy="4206240"/>
          </a:xfrm>
          <a:prstGeom prst="rect">
            <a:avLst/>
          </a:prstGeom>
          <a:noFill/>
          <a:ln/>
        </p:spPr>
        <p:txBody>
          <a:bodyPr wrap="square" lIns="0" tIns="0" rIns="0" bIns="0" rtlCol="0" anchor="t"/>
          <a:lstStyle/>
          <a:p>
            <a:pPr marL="177800" indent="-177800">
              <a:lnSpc>
                <a:spcPct val="106000"/>
              </a:lnSpc>
              <a:spcAft>
                <a:spcPts val="800"/>
              </a:spcAft>
              <a:buSzPct val="100000"/>
              <a:buChar char="•"/>
            </a:pPr>
            <a:r>
              <a:rPr lang="en-US" sz="1350" b="1" dirty="0">
                <a:solidFill>
                  <a:srgbClr val="000000"/>
                </a:solidFill>
                <a:latin typeface="Calibri" pitchFamily="34" charset="0"/>
                <a:ea typeface="Calibri" pitchFamily="34" charset="-122"/>
                <a:cs typeface="Calibri" pitchFamily="34" charset="-120"/>
              </a:rPr>
              <a:t>Project Deliverable: </a:t>
            </a:r>
            <a:r>
              <a:rPr lang="en-US" sz="1350" dirty="0">
                <a:solidFill>
                  <a:srgbClr val="000000"/>
                </a:solidFill>
                <a:latin typeface="Calibri" pitchFamily="34" charset="0"/>
                <a:ea typeface="Calibri" pitchFamily="34" charset="-122"/>
                <a:cs typeface="Calibri" pitchFamily="34" charset="-120"/>
              </a:rPr>
              <a:t>a Streamlit application. The user types a comment, the model classifies it into eleven emotions, and the same text is run through the other preprocessing track so the user can see which labels the emoji changed. Four notebooks and four trained models sit behind it.</a:t>
            </a:r>
            <a:endParaRPr lang="en-US" sz="1350" dirty="0"/>
          </a:p>
          <a:p>
            <a:pPr marL="177800" indent="-177800">
              <a:lnSpc>
                <a:spcPct val="106000"/>
              </a:lnSpc>
              <a:spcAft>
                <a:spcPts val="800"/>
              </a:spcAft>
              <a:buSzPct val="100000"/>
              <a:buChar char="•"/>
            </a:pPr>
            <a:r>
              <a:rPr lang="en-US" sz="1350" b="1" dirty="0">
                <a:solidFill>
                  <a:srgbClr val="000000"/>
                </a:solidFill>
                <a:latin typeface="Calibri" pitchFamily="34" charset="0"/>
                <a:ea typeface="Calibri" pitchFamily="34" charset="-122"/>
                <a:cs typeface="Calibri" pitchFamily="34" charset="-120"/>
              </a:rPr>
              <a:t>Course Alignment: </a:t>
            </a:r>
            <a:r>
              <a:rPr lang="en-US" sz="1350" dirty="0">
                <a:solidFill>
                  <a:srgbClr val="000000"/>
                </a:solidFill>
                <a:latin typeface="Calibri" pitchFamily="34" charset="0"/>
                <a:ea typeface="Calibri" pitchFamily="34" charset="-122"/>
                <a:cs typeface="Calibri" pitchFamily="34" charset="-120"/>
              </a:rPr>
              <a:t>an applied, quantitative project delivering a full machine learning pipeline — data preparation, modelling and evaluation — in Python with TensorFlow / Keras, scikit-learn and NLTK, plus a user-facing prototype. This is what the MSc Data Science and Artificial Intelligence handbook expects.</a:t>
            </a:r>
            <a:endParaRPr lang="en-US" sz="13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1045159"/>
          </a:xfrm>
          <a:prstGeom prst="rect">
            <a:avLst/>
          </a:prstGeom>
          <a:solidFill>
            <a:srgbClr val="9A003B"/>
          </a:solidFill>
          <a:ln w="12700">
            <a:solidFill>
              <a:srgbClr val="9A003B"/>
            </a:solidFill>
            <a:prstDash val="solid"/>
          </a:ln>
        </p:spPr>
      </p:sp>
      <p:sp>
        <p:nvSpPr>
          <p:cNvPr id="3" name="Text 1"/>
          <p:cNvSpPr txBox="1"/>
          <p:nvPr/>
        </p:nvSpPr>
        <p:spPr>
          <a:xfrm>
            <a:off x="228600" y="109728"/>
            <a:ext cx="11704320" cy="825703"/>
          </a:xfrm>
          <a:prstGeom prst="rect">
            <a:avLst/>
          </a:prstGeom>
          <a:noFill/>
          <a:ln/>
        </p:spPr>
        <p:txBody>
          <a:bodyPr wrap="square" lIns="0" tIns="0" rIns="0" bIns="0" rtlCol="0" anchor="ctr"/>
          <a:lstStyle/>
          <a:p>
            <a:pPr marL="0" indent="0">
              <a:lnSpc>
                <a:spcPct val="95000"/>
              </a:lnSpc>
              <a:buNone/>
            </a:pPr>
            <a:r>
              <a:rPr lang="en-US" sz="2500" dirty="0">
                <a:solidFill>
                  <a:srgbClr val="FFFFFF"/>
                </a:solidFill>
                <a:latin typeface="Calibri" pitchFamily="34" charset="0"/>
                <a:ea typeface="Calibri" pitchFamily="34" charset="-122"/>
                <a:cs typeface="Calibri" pitchFamily="34" charset="-120"/>
              </a:rPr>
              <a:t>Introduction: The Deliverable in Use</a:t>
            </a:r>
            <a:endParaRPr lang="en-US" sz="2500" dirty="0"/>
          </a:p>
        </p:txBody>
      </p:sp>
      <p:sp>
        <p:nvSpPr>
          <p:cNvPr id="4" name="Text 2"/>
          <p:cNvSpPr txBox="1"/>
          <p:nvPr/>
        </p:nvSpPr>
        <p:spPr>
          <a:xfrm>
            <a:off x="10515600" y="5806440"/>
            <a:ext cx="1463040" cy="749808"/>
          </a:xfrm>
          <a:prstGeom prst="rect">
            <a:avLst/>
          </a:prstGeom>
          <a:noFill/>
          <a:ln/>
        </p:spPr>
        <p:txBody>
          <a:bodyPr wrap="square" lIns="0" tIns="0" rIns="0" bIns="0" rtlCol="0" anchor="b"/>
          <a:lstStyle/>
          <a:p>
            <a:pPr marL="0" indent="0" algn="r">
              <a:lnSpc>
                <a:spcPct val="85000"/>
              </a:lnSpc>
              <a:buNone/>
            </a:pPr>
            <a:r>
              <a:rPr lang="en-US" sz="1150" b="1" dirty="0">
                <a:solidFill>
                  <a:srgbClr val="9A003B"/>
                </a:solidFill>
                <a:latin typeface="Calibri" pitchFamily="34" charset="0"/>
                <a:ea typeface="Calibri" pitchFamily="34" charset="-122"/>
                <a:cs typeface="Calibri" pitchFamily="34" charset="-120"/>
              </a:rPr>
              <a:t>Sheffield</a:t>
            </a:r>
            <a:endParaRPr lang="en-US" sz="1150" dirty="0"/>
          </a:p>
          <a:p>
            <a:pPr marL="0" indent="0" algn="r">
              <a:lnSpc>
                <a:spcPct val="85000"/>
              </a:lnSpc>
              <a:buNone/>
            </a:pPr>
            <a:r>
              <a:rPr lang="en-US" sz="1150" b="1" dirty="0">
                <a:solidFill>
                  <a:srgbClr val="9A003B"/>
                </a:solidFill>
                <a:latin typeface="Calibri" pitchFamily="34" charset="0"/>
                <a:ea typeface="Calibri" pitchFamily="34" charset="-122"/>
                <a:cs typeface="Calibri" pitchFamily="34" charset="-120"/>
              </a:rPr>
              <a:t>Hallam</a:t>
            </a:r>
            <a:endParaRPr lang="en-US" sz="1150" dirty="0"/>
          </a:p>
          <a:p>
            <a:pPr marL="0" indent="0" algn="r">
              <a:lnSpc>
                <a:spcPct val="85000"/>
              </a:lnSpc>
              <a:buNone/>
            </a:pPr>
            <a:r>
              <a:rPr lang="en-US" sz="1150" b="1" dirty="0">
                <a:solidFill>
                  <a:srgbClr val="9A003B"/>
                </a:solidFill>
                <a:latin typeface="Calibri" pitchFamily="34" charset="0"/>
                <a:ea typeface="Calibri" pitchFamily="34" charset="-122"/>
                <a:cs typeface="Calibri" pitchFamily="34" charset="-120"/>
              </a:rPr>
              <a:t>University</a:t>
            </a:r>
            <a:endParaRPr lang="en-US" sz="1150" dirty="0"/>
          </a:p>
        </p:txBody>
      </p:sp>
      <p:sp>
        <p:nvSpPr>
          <p:cNvPr id="5" name="Shape 3"/>
          <p:cNvSpPr/>
          <p:nvPr/>
        </p:nvSpPr>
        <p:spPr>
          <a:xfrm>
            <a:off x="0" y="6624828"/>
            <a:ext cx="4063898" cy="233172"/>
          </a:xfrm>
          <a:prstGeom prst="rect">
            <a:avLst/>
          </a:prstGeom>
          <a:solidFill>
            <a:srgbClr val="4D001E"/>
          </a:solidFill>
          <a:ln w="12700">
            <a:solidFill>
              <a:srgbClr val="4D001E"/>
            </a:solidFill>
            <a:prstDash val="solid"/>
          </a:ln>
        </p:spPr>
      </p:sp>
      <p:sp>
        <p:nvSpPr>
          <p:cNvPr id="6" name="Shape 4"/>
          <p:cNvSpPr/>
          <p:nvPr/>
        </p:nvSpPr>
        <p:spPr>
          <a:xfrm>
            <a:off x="4063898" y="6624828"/>
            <a:ext cx="4063898" cy="233172"/>
          </a:xfrm>
          <a:prstGeom prst="rect">
            <a:avLst/>
          </a:prstGeom>
          <a:solidFill>
            <a:srgbClr val="74002C"/>
          </a:solidFill>
          <a:ln w="12700">
            <a:solidFill>
              <a:srgbClr val="74002C"/>
            </a:solidFill>
            <a:prstDash val="solid"/>
          </a:ln>
        </p:spPr>
      </p:sp>
      <p:sp>
        <p:nvSpPr>
          <p:cNvPr id="7" name="Shape 5"/>
          <p:cNvSpPr/>
          <p:nvPr/>
        </p:nvSpPr>
        <p:spPr>
          <a:xfrm>
            <a:off x="8127797" y="6624828"/>
            <a:ext cx="4063898" cy="233172"/>
          </a:xfrm>
          <a:prstGeom prst="rect">
            <a:avLst/>
          </a:prstGeom>
          <a:solidFill>
            <a:srgbClr val="9A003B"/>
          </a:solidFill>
          <a:ln w="12700">
            <a:solidFill>
              <a:srgbClr val="9A003B"/>
            </a:solidFill>
            <a:prstDash val="solid"/>
          </a:ln>
        </p:spPr>
      </p:sp>
      <p:sp>
        <p:nvSpPr>
          <p:cNvPr id="8" name="Text 6"/>
          <p:cNvSpPr txBox="1"/>
          <p:nvPr/>
        </p:nvSpPr>
        <p:spPr>
          <a:xfrm>
            <a:off x="1143000" y="6624828"/>
            <a:ext cx="2743200" cy="233172"/>
          </a:xfrm>
          <a:prstGeom prst="rect">
            <a:avLst/>
          </a:prstGeom>
          <a:noFill/>
          <a:ln/>
        </p:spPr>
        <p:txBody>
          <a:bodyPr wrap="square" lIns="0" tIns="0" rIns="0" bIns="0" rtlCol="0" anchor="ctr"/>
          <a:lstStyle/>
          <a:p>
            <a:pPr marL="0" indent="0">
              <a:buNone/>
            </a:pPr>
            <a:r>
              <a:rPr lang="en-US" sz="900" dirty="0">
                <a:solidFill>
                  <a:srgbClr val="FFFFFF"/>
                </a:solidFill>
                <a:latin typeface="Calibri" pitchFamily="34" charset="0"/>
                <a:ea typeface="Calibri" pitchFamily="34" charset="-122"/>
                <a:cs typeface="Calibri" pitchFamily="34" charset="-120"/>
              </a:rPr>
              <a:t>[Student Initials]  (SHU)</a:t>
            </a:r>
            <a:endParaRPr lang="en-US" sz="900" dirty="0"/>
          </a:p>
        </p:txBody>
      </p:sp>
      <p:sp>
        <p:nvSpPr>
          <p:cNvPr id="9" name="Text 7"/>
          <p:cNvSpPr txBox="1"/>
          <p:nvPr/>
        </p:nvSpPr>
        <p:spPr>
          <a:xfrm>
            <a:off x="5276088" y="6624828"/>
            <a:ext cx="2743200" cy="233172"/>
          </a:xfrm>
          <a:prstGeom prst="rect">
            <a:avLst/>
          </a:prstGeom>
          <a:noFill/>
          <a:ln/>
        </p:spPr>
        <p:txBody>
          <a:bodyPr wrap="square" lIns="0" tIns="0" rIns="0" bIns="0" rtlCol="0" anchor="ctr"/>
          <a:lstStyle/>
          <a:p>
            <a:pPr marL="0" indent="0">
              <a:buNone/>
            </a:pPr>
            <a:r>
              <a:rPr lang="en-US" sz="900" dirty="0">
                <a:solidFill>
                  <a:srgbClr val="FFFFFF"/>
                </a:solidFill>
                <a:latin typeface="Calibri" pitchFamily="34" charset="0"/>
                <a:ea typeface="Calibri" pitchFamily="34" charset="-122"/>
                <a:cs typeface="Calibri" pitchFamily="34" charset="-120"/>
              </a:rPr>
              <a:t>Does the Emoji Matter?</a:t>
            </a:r>
            <a:endParaRPr lang="en-US" sz="900" dirty="0"/>
          </a:p>
        </p:txBody>
      </p:sp>
      <p:sp>
        <p:nvSpPr>
          <p:cNvPr id="10" name="Text 8"/>
          <p:cNvSpPr txBox="1"/>
          <p:nvPr/>
        </p:nvSpPr>
        <p:spPr>
          <a:xfrm>
            <a:off x="9235440" y="6624828"/>
            <a:ext cx="1645920" cy="233172"/>
          </a:xfrm>
          <a:prstGeom prst="rect">
            <a:avLst/>
          </a:prstGeom>
          <a:noFill/>
          <a:ln/>
        </p:spPr>
        <p:txBody>
          <a:bodyPr wrap="square" lIns="0" tIns="0" rIns="0" bIns="0" rtlCol="0" anchor="ctr"/>
          <a:lstStyle/>
          <a:p>
            <a:pPr marL="0" indent="0">
              <a:buNone/>
            </a:pPr>
            <a:r>
              <a:rPr lang="en-US" sz="900" dirty="0">
                <a:solidFill>
                  <a:srgbClr val="FFFFFF"/>
                </a:solidFill>
                <a:latin typeface="Calibri" pitchFamily="34" charset="0"/>
                <a:ea typeface="Calibri" pitchFamily="34" charset="-122"/>
                <a:cs typeface="Calibri" pitchFamily="34" charset="-120"/>
              </a:rPr>
              <a:t>September 2026</a:t>
            </a:r>
            <a:endParaRPr lang="en-US" sz="900" dirty="0"/>
          </a:p>
        </p:txBody>
      </p:sp>
      <p:sp>
        <p:nvSpPr>
          <p:cNvPr id="11" name="Text 9"/>
          <p:cNvSpPr txBox="1"/>
          <p:nvPr/>
        </p:nvSpPr>
        <p:spPr>
          <a:xfrm>
            <a:off x="10881360" y="6624828"/>
            <a:ext cx="1161288" cy="233172"/>
          </a:xfrm>
          <a:prstGeom prst="rect">
            <a:avLst/>
          </a:prstGeom>
          <a:noFill/>
          <a:ln/>
        </p:spPr>
        <p:txBody>
          <a:bodyPr wrap="square" lIns="0" tIns="0" rIns="0" bIns="0" rtlCol="0" anchor="ctr"/>
          <a:lstStyle/>
          <a:p>
            <a:pPr marL="0" indent="0" algn="r">
              <a:buNone/>
            </a:pPr>
            <a:r>
              <a:rPr lang="en-US" sz="900" dirty="0">
                <a:solidFill>
                  <a:srgbClr val="FFFFFF"/>
                </a:solidFill>
                <a:latin typeface="Calibri" pitchFamily="34" charset="0"/>
                <a:ea typeface="Calibri" pitchFamily="34" charset="-122"/>
                <a:cs typeface="Calibri" pitchFamily="34" charset="-120"/>
              </a:rPr>
              <a:t>8 / 43</a:t>
            </a:r>
            <a:endParaRPr lang="en-US" sz="900" dirty="0"/>
          </a:p>
        </p:txBody>
      </p:sp>
      <p:pic>
        <p:nvPicPr>
          <p:cNvPr id="12" name="Image 0" descr="D:\assigments_7_students\krish\figures\app_classify.png"/>
          <p:cNvPicPr>
            <a:picLocks noChangeAspect="1"/>
          </p:cNvPicPr>
          <p:nvPr/>
        </p:nvPicPr>
        <p:blipFill>
          <a:blip r:embed="rId3"/>
          <a:stretch>
            <a:fillRect/>
          </a:stretch>
        </p:blipFill>
        <p:spPr>
          <a:xfrm>
            <a:off x="658368" y="1298448"/>
            <a:ext cx="6693408" cy="4462272"/>
          </a:xfrm>
          <a:prstGeom prst="rect">
            <a:avLst/>
          </a:prstGeom>
        </p:spPr>
      </p:pic>
      <p:sp>
        <p:nvSpPr>
          <p:cNvPr id="13" name="Text 10"/>
          <p:cNvSpPr txBox="1"/>
          <p:nvPr/>
        </p:nvSpPr>
        <p:spPr>
          <a:xfrm>
            <a:off x="658368" y="5815584"/>
            <a:ext cx="6693408" cy="365760"/>
          </a:xfrm>
          <a:prstGeom prst="rect">
            <a:avLst/>
          </a:prstGeom>
          <a:noFill/>
          <a:ln/>
        </p:spPr>
        <p:txBody>
          <a:bodyPr wrap="square" lIns="0" tIns="0" rIns="0" bIns="0" rtlCol="0" anchor="t"/>
          <a:lstStyle/>
          <a:p>
            <a:pPr marL="0" indent="0" algn="ctr">
              <a:lnSpc>
                <a:spcPct val="100000"/>
              </a:lnSpc>
              <a:buNone/>
            </a:pPr>
            <a:r>
              <a:rPr lang="en-US" sz="1050" dirty="0">
                <a:solidFill>
                  <a:srgbClr val="5C5C5C"/>
                </a:solidFill>
                <a:latin typeface="Calibri" pitchFamily="34" charset="0"/>
                <a:ea typeface="Calibri" pitchFamily="34" charset="-122"/>
                <a:cs typeface="Calibri" pitchFamily="34" charset="-120"/>
              </a:rPr>
              <a:t>The delivered application, classifying a real comment with the BiLSTM trained in this project.</a:t>
            </a:r>
            <a:endParaRPr lang="en-US" sz="1050" dirty="0"/>
          </a:p>
        </p:txBody>
      </p:sp>
      <p:sp>
        <p:nvSpPr>
          <p:cNvPr id="14" name="Shape 11"/>
          <p:cNvSpPr/>
          <p:nvPr/>
        </p:nvSpPr>
        <p:spPr>
          <a:xfrm>
            <a:off x="7772400" y="1298448"/>
            <a:ext cx="3840480" cy="384048"/>
          </a:xfrm>
          <a:prstGeom prst="rect">
            <a:avLst/>
          </a:prstGeom>
          <a:solidFill>
            <a:srgbClr val="2764B4"/>
          </a:solidFill>
          <a:ln w="12700">
            <a:solidFill>
              <a:srgbClr val="2764B4"/>
            </a:solidFill>
            <a:prstDash val="solid"/>
          </a:ln>
        </p:spPr>
      </p:sp>
      <p:sp>
        <p:nvSpPr>
          <p:cNvPr id="15" name="Text 12"/>
          <p:cNvSpPr txBox="1"/>
          <p:nvPr/>
        </p:nvSpPr>
        <p:spPr>
          <a:xfrm>
            <a:off x="7900416" y="1298448"/>
            <a:ext cx="3584448" cy="384048"/>
          </a:xfrm>
          <a:prstGeom prst="rect">
            <a:avLst/>
          </a:prstGeom>
          <a:noFill/>
          <a:ln/>
        </p:spPr>
        <p:txBody>
          <a:bodyPr wrap="square" lIns="0" tIns="0" rIns="0" bIns="0" rtlCol="0" anchor="ctr"/>
          <a:lstStyle/>
          <a:p>
            <a:pPr marL="0" indent="0">
              <a:buNone/>
            </a:pPr>
            <a:r>
              <a:rPr lang="en-US" sz="1500" b="1" dirty="0">
                <a:solidFill>
                  <a:srgbClr val="FFFFFF"/>
                </a:solidFill>
                <a:latin typeface="Calibri" pitchFamily="34" charset="0"/>
                <a:ea typeface="Calibri" pitchFamily="34" charset="-122"/>
                <a:cs typeface="Calibri" pitchFamily="34" charset="-120"/>
              </a:rPr>
              <a:t>What the user sees</a:t>
            </a:r>
            <a:endParaRPr lang="en-US" sz="1500" dirty="0"/>
          </a:p>
        </p:txBody>
      </p:sp>
      <p:sp>
        <p:nvSpPr>
          <p:cNvPr id="16" name="Shape 13"/>
          <p:cNvSpPr/>
          <p:nvPr/>
        </p:nvSpPr>
        <p:spPr>
          <a:xfrm>
            <a:off x="7772400" y="1682496"/>
            <a:ext cx="3840480" cy="1764792"/>
          </a:xfrm>
          <a:prstGeom prst="rect">
            <a:avLst/>
          </a:prstGeom>
          <a:solidFill>
            <a:srgbClr val="F4DDE6"/>
          </a:solidFill>
          <a:ln/>
        </p:spPr>
      </p:sp>
      <p:sp>
        <p:nvSpPr>
          <p:cNvPr id="17" name="Text 14"/>
          <p:cNvSpPr txBox="1"/>
          <p:nvPr/>
        </p:nvSpPr>
        <p:spPr>
          <a:xfrm>
            <a:off x="7973568" y="1801368"/>
            <a:ext cx="3438144" cy="1554480"/>
          </a:xfrm>
          <a:prstGeom prst="rect">
            <a:avLst/>
          </a:prstGeom>
          <a:noFill/>
          <a:ln/>
        </p:spPr>
        <p:txBody>
          <a:bodyPr wrap="square" lIns="0" tIns="0" rIns="0" bIns="0" rtlCol="0" anchor="t"/>
          <a:lstStyle/>
          <a:p>
            <a:pPr marL="177800" indent="-177800">
              <a:lnSpc>
                <a:spcPct val="106000"/>
              </a:lnSpc>
              <a:spcAft>
                <a:spcPts val="800"/>
              </a:spcAft>
              <a:buSzPct val="100000"/>
              <a:buChar char="•"/>
            </a:pPr>
            <a:r>
              <a:rPr lang="en-US" sz="1200" dirty="0">
                <a:solidFill>
                  <a:srgbClr val="000000"/>
                </a:solidFill>
                <a:latin typeface="Calibri" pitchFamily="34" charset="0"/>
                <a:ea typeface="Calibri" pitchFamily="34" charset="-122"/>
                <a:cs typeface="Calibri" pitchFamily="34" charset="-120"/>
              </a:rPr>
              <a:t>One text box; paste any comment or single word</a:t>
            </a:r>
            <a:endParaRPr lang="en-US" sz="1200" dirty="0"/>
          </a:p>
          <a:p>
            <a:pPr marL="177800" indent="-177800">
              <a:lnSpc>
                <a:spcPct val="106000"/>
              </a:lnSpc>
              <a:spcAft>
                <a:spcPts val="800"/>
              </a:spcAft>
              <a:buSzPct val="100000"/>
              <a:buChar char="•"/>
            </a:pPr>
            <a:r>
              <a:rPr lang="en-US" sz="1200" dirty="0">
                <a:solidFill>
                  <a:srgbClr val="000000"/>
                </a:solidFill>
                <a:latin typeface="Calibri" pitchFamily="34" charset="0"/>
                <a:ea typeface="Calibri" pitchFamily="34" charset="-122"/>
                <a:cs typeface="Calibri" pitchFamily="34" charset="-120"/>
              </a:rPr>
              <a:t>Eleven emotions with confidences, above and below threshold</a:t>
            </a:r>
            <a:endParaRPr lang="en-US" sz="1200" dirty="0"/>
          </a:p>
          <a:p>
            <a:pPr marL="177800" indent="-177800">
              <a:lnSpc>
                <a:spcPct val="106000"/>
              </a:lnSpc>
              <a:spcAft>
                <a:spcPts val="800"/>
              </a:spcAft>
              <a:buSzPct val="100000"/>
              <a:buChar char="•"/>
            </a:pPr>
            <a:r>
              <a:rPr lang="en-US" sz="1200" dirty="0">
                <a:solidFill>
                  <a:srgbClr val="000000"/>
                </a:solidFill>
                <a:latin typeface="Calibri" pitchFamily="34" charset="0"/>
                <a:ea typeface="Calibri" pitchFamily="34" charset="-122"/>
                <a:cs typeface="Calibri" pitchFamily="34" charset="-120"/>
              </a:rPr>
              <a:t>Which labels the emoji added or removed</a:t>
            </a:r>
            <a:endParaRPr lang="en-US" sz="1200" dirty="0"/>
          </a:p>
          <a:p>
            <a:pPr marL="177800" indent="-177800">
              <a:lnSpc>
                <a:spcPct val="106000"/>
              </a:lnSpc>
              <a:spcAft>
                <a:spcPts val="800"/>
              </a:spcAft>
              <a:buSzPct val="100000"/>
              <a:buChar char="•"/>
            </a:pPr>
            <a:r>
              <a:rPr lang="en-US" sz="1200" dirty="0">
                <a:solidFill>
                  <a:srgbClr val="000000"/>
                </a:solidFill>
                <a:latin typeface="Calibri" pitchFamily="34" charset="0"/>
                <a:ea typeface="Calibri" pitchFamily="34" charset="-122"/>
                <a:cs typeface="Calibri" pitchFamily="34" charset="-120"/>
              </a:rPr>
              <a:t>The preprocessing pipeline, stage by stage</a:t>
            </a:r>
            <a:endParaRPr lang="en-US" sz="1200" dirty="0"/>
          </a:p>
        </p:txBody>
      </p:sp>
      <p:sp>
        <p:nvSpPr>
          <p:cNvPr id="18" name="Shape 15"/>
          <p:cNvSpPr/>
          <p:nvPr/>
        </p:nvSpPr>
        <p:spPr>
          <a:xfrm>
            <a:off x="7772400" y="3675888"/>
            <a:ext cx="3840480" cy="384048"/>
          </a:xfrm>
          <a:prstGeom prst="rect">
            <a:avLst/>
          </a:prstGeom>
          <a:solidFill>
            <a:srgbClr val="2764B4"/>
          </a:solidFill>
          <a:ln w="12700">
            <a:solidFill>
              <a:srgbClr val="2764B4"/>
            </a:solidFill>
            <a:prstDash val="solid"/>
          </a:ln>
        </p:spPr>
      </p:sp>
      <p:sp>
        <p:nvSpPr>
          <p:cNvPr id="19" name="Text 16"/>
          <p:cNvSpPr txBox="1"/>
          <p:nvPr/>
        </p:nvSpPr>
        <p:spPr>
          <a:xfrm>
            <a:off x="7900416" y="3675888"/>
            <a:ext cx="3584448" cy="384048"/>
          </a:xfrm>
          <a:prstGeom prst="rect">
            <a:avLst/>
          </a:prstGeom>
          <a:noFill/>
          <a:ln/>
        </p:spPr>
        <p:txBody>
          <a:bodyPr wrap="square" lIns="0" tIns="0" rIns="0" bIns="0" rtlCol="0" anchor="ctr"/>
          <a:lstStyle/>
          <a:p>
            <a:pPr marL="0" indent="0">
              <a:buNone/>
            </a:pPr>
            <a:r>
              <a:rPr lang="en-US" sz="1500" b="1" dirty="0">
                <a:solidFill>
                  <a:srgbClr val="FFFFFF"/>
                </a:solidFill>
                <a:latin typeface="Calibri" pitchFamily="34" charset="0"/>
                <a:ea typeface="Calibri" pitchFamily="34" charset="-122"/>
                <a:cs typeface="Calibri" pitchFamily="34" charset="-120"/>
              </a:rPr>
              <a:t>Deployment model</a:t>
            </a:r>
            <a:endParaRPr lang="en-US" sz="1500" dirty="0"/>
          </a:p>
        </p:txBody>
      </p:sp>
      <p:sp>
        <p:nvSpPr>
          <p:cNvPr id="20" name="Shape 17"/>
          <p:cNvSpPr/>
          <p:nvPr/>
        </p:nvSpPr>
        <p:spPr>
          <a:xfrm>
            <a:off x="7772400" y="4059936"/>
            <a:ext cx="3840480" cy="1581912"/>
          </a:xfrm>
          <a:prstGeom prst="rect">
            <a:avLst/>
          </a:prstGeom>
          <a:solidFill>
            <a:srgbClr val="F4DDE6"/>
          </a:solidFill>
          <a:ln/>
        </p:spPr>
      </p:sp>
      <p:sp>
        <p:nvSpPr>
          <p:cNvPr id="21" name="Text 18"/>
          <p:cNvSpPr txBox="1"/>
          <p:nvPr/>
        </p:nvSpPr>
        <p:spPr>
          <a:xfrm>
            <a:off x="7973568" y="4178808"/>
            <a:ext cx="3438144" cy="1554480"/>
          </a:xfrm>
          <a:prstGeom prst="rect">
            <a:avLst/>
          </a:prstGeom>
          <a:noFill/>
          <a:ln/>
        </p:spPr>
        <p:txBody>
          <a:bodyPr wrap="square" lIns="0" tIns="0" rIns="0" bIns="0" rtlCol="0" anchor="t"/>
          <a:lstStyle/>
          <a:p>
            <a:pPr marL="177800" indent="-177800">
              <a:lnSpc>
                <a:spcPct val="106000"/>
              </a:lnSpc>
              <a:spcAft>
                <a:spcPts val="800"/>
              </a:spcAft>
              <a:buSzPct val="100000"/>
              <a:buChar char="•"/>
            </a:pPr>
            <a:r>
              <a:rPr lang="en-US" sz="1200" dirty="0">
                <a:solidFill>
                  <a:srgbClr val="000000"/>
                </a:solidFill>
                <a:latin typeface="Calibri" pitchFamily="34" charset="0"/>
                <a:ea typeface="Calibri" pitchFamily="34" charset="-122"/>
                <a:cs typeface="Calibri" pitchFamily="34" charset="-120"/>
              </a:rPr>
              <a:t>One command: streamlit run app/streamlit_app.py</a:t>
            </a:r>
            <a:endParaRPr lang="en-US" sz="1200" dirty="0"/>
          </a:p>
          <a:p>
            <a:pPr marL="177800" indent="-177800">
              <a:lnSpc>
                <a:spcPct val="106000"/>
              </a:lnSpc>
              <a:spcAft>
                <a:spcPts val="800"/>
              </a:spcAft>
              <a:buSzPct val="100000"/>
              <a:buChar char="•"/>
            </a:pPr>
            <a:r>
              <a:rPr lang="en-US" sz="1200" dirty="0">
                <a:solidFill>
                  <a:srgbClr val="000000"/>
                </a:solidFill>
                <a:latin typeface="Calibri" pitchFamily="34" charset="0"/>
                <a:ea typeface="Calibri" pitchFamily="34" charset="-122"/>
                <a:cs typeface="Calibri" pitchFamily="34" charset="-120"/>
              </a:rPr>
              <a:t>Models and thresholds load automatically; no manual setup</a:t>
            </a:r>
            <a:endParaRPr lang="en-US" sz="1200" dirty="0"/>
          </a:p>
          <a:p>
            <a:pPr marL="177800" indent="-177800">
              <a:lnSpc>
                <a:spcPct val="106000"/>
              </a:lnSpc>
              <a:spcAft>
                <a:spcPts val="800"/>
              </a:spcAft>
              <a:buSzPct val="100000"/>
              <a:buChar char="•"/>
            </a:pPr>
            <a:r>
              <a:rPr lang="en-US" sz="1200" dirty="0">
                <a:solidFill>
                  <a:srgbClr val="000000"/>
                </a:solidFill>
                <a:latin typeface="Calibri" pitchFamily="34" charset="0"/>
                <a:ea typeface="Calibri" pitchFamily="34" charset="-122"/>
                <a:cs typeface="Calibri" pitchFamily="34" charset="-120"/>
              </a:rPr>
              <a:t>Runs on CPU; a GPU only shortens training</a:t>
            </a:r>
            <a:endParaRPr lang="en-US" sz="1200" dirty="0"/>
          </a:p>
          <a:p>
            <a:pPr marL="177800" indent="-177800">
              <a:lnSpc>
                <a:spcPct val="106000"/>
              </a:lnSpc>
              <a:spcAft>
                <a:spcPts val="800"/>
              </a:spcAft>
              <a:buSzPct val="100000"/>
              <a:buChar char="•"/>
            </a:pPr>
            <a:r>
              <a:rPr lang="en-US" sz="1200" dirty="0">
                <a:solidFill>
                  <a:srgbClr val="000000"/>
                </a:solidFill>
                <a:latin typeface="Calibri" pitchFamily="34" charset="0"/>
                <a:ea typeface="Calibri" pitchFamily="34" charset="-122"/>
                <a:cs typeface="Calibri" pitchFamily="34" charset="-120"/>
              </a:rPr>
              <a:t>Library versions pinned in requirements.txt</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914400" y="2514600"/>
            <a:ext cx="10360152" cy="658368"/>
          </a:xfrm>
          <a:prstGeom prst="rect">
            <a:avLst/>
          </a:prstGeom>
          <a:noFill/>
          <a:ln/>
        </p:spPr>
        <p:txBody>
          <a:bodyPr wrap="square" lIns="0" tIns="0" rIns="0" bIns="0" rtlCol="0" anchor="ctr"/>
          <a:lstStyle/>
          <a:p>
            <a:pPr marL="0" indent="0" algn="ctr">
              <a:buNone/>
            </a:pPr>
            <a:r>
              <a:rPr lang="en-US" sz="3400" dirty="0">
                <a:solidFill>
                  <a:srgbClr val="000000"/>
                </a:solidFill>
                <a:latin typeface="Calibri" pitchFamily="34" charset="0"/>
                <a:ea typeface="Calibri" pitchFamily="34" charset="-122"/>
                <a:cs typeface="Calibri" pitchFamily="34" charset="-120"/>
              </a:rPr>
              <a:t>2.  Literature Review</a:t>
            </a:r>
            <a:endParaRPr lang="en-US" sz="3400" dirty="0"/>
          </a:p>
        </p:txBody>
      </p:sp>
      <p:sp>
        <p:nvSpPr>
          <p:cNvPr id="3" name="Shape 1"/>
          <p:cNvSpPr/>
          <p:nvPr/>
        </p:nvSpPr>
        <p:spPr>
          <a:xfrm>
            <a:off x="2258568" y="3502152"/>
            <a:ext cx="7680960" cy="32004"/>
          </a:xfrm>
          <a:prstGeom prst="rect">
            <a:avLst/>
          </a:prstGeom>
          <a:solidFill>
            <a:srgbClr val="CC0000"/>
          </a:solidFill>
          <a:ln w="12700">
            <a:solidFill>
              <a:srgbClr val="CC0000"/>
            </a:solidFill>
            <a:prstDash val="solid"/>
          </a:ln>
        </p:spPr>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1045159"/>
          </a:xfrm>
          <a:prstGeom prst="rect">
            <a:avLst/>
          </a:prstGeom>
          <a:solidFill>
            <a:srgbClr val="9A003B"/>
          </a:solidFill>
          <a:ln w="12700">
            <a:solidFill>
              <a:srgbClr val="9A003B"/>
            </a:solidFill>
            <a:prstDash val="solid"/>
          </a:ln>
        </p:spPr>
      </p:sp>
      <p:sp>
        <p:nvSpPr>
          <p:cNvPr id="3" name="Text 1"/>
          <p:cNvSpPr txBox="1"/>
          <p:nvPr/>
        </p:nvSpPr>
        <p:spPr>
          <a:xfrm>
            <a:off x="228600" y="109728"/>
            <a:ext cx="11704320" cy="825703"/>
          </a:xfrm>
          <a:prstGeom prst="rect">
            <a:avLst/>
          </a:prstGeom>
          <a:noFill/>
          <a:ln/>
        </p:spPr>
        <p:txBody>
          <a:bodyPr wrap="square" lIns="0" tIns="0" rIns="0" bIns="0" rtlCol="0" anchor="ctr"/>
          <a:lstStyle/>
          <a:p>
            <a:pPr marL="0" indent="0">
              <a:lnSpc>
                <a:spcPct val="95000"/>
              </a:lnSpc>
              <a:buNone/>
            </a:pPr>
            <a:r>
              <a:rPr lang="en-US" sz="2500" dirty="0">
                <a:solidFill>
                  <a:srgbClr val="FFFFFF"/>
                </a:solidFill>
                <a:latin typeface="Calibri" pitchFamily="34" charset="0"/>
                <a:ea typeface="Calibri" pitchFamily="34" charset="-122"/>
                <a:cs typeface="Calibri" pitchFamily="34" charset="-120"/>
              </a:rPr>
              <a:t>Literature Review: Analysis, Contrasts &amp; Gaps I</a:t>
            </a:r>
            <a:endParaRPr lang="en-US" sz="2500" dirty="0"/>
          </a:p>
        </p:txBody>
      </p:sp>
      <p:sp>
        <p:nvSpPr>
          <p:cNvPr id="4" name="Text 2"/>
          <p:cNvSpPr txBox="1"/>
          <p:nvPr/>
        </p:nvSpPr>
        <p:spPr>
          <a:xfrm>
            <a:off x="10515600" y="5806440"/>
            <a:ext cx="1463040" cy="749808"/>
          </a:xfrm>
          <a:prstGeom prst="rect">
            <a:avLst/>
          </a:prstGeom>
          <a:noFill/>
          <a:ln/>
        </p:spPr>
        <p:txBody>
          <a:bodyPr wrap="square" lIns="0" tIns="0" rIns="0" bIns="0" rtlCol="0" anchor="b"/>
          <a:lstStyle/>
          <a:p>
            <a:pPr marL="0" indent="0" algn="r">
              <a:lnSpc>
                <a:spcPct val="85000"/>
              </a:lnSpc>
              <a:buNone/>
            </a:pPr>
            <a:r>
              <a:rPr lang="en-US" sz="1150" b="1" dirty="0">
                <a:solidFill>
                  <a:srgbClr val="9A003B"/>
                </a:solidFill>
                <a:latin typeface="Calibri" pitchFamily="34" charset="0"/>
                <a:ea typeface="Calibri" pitchFamily="34" charset="-122"/>
                <a:cs typeface="Calibri" pitchFamily="34" charset="-120"/>
              </a:rPr>
              <a:t>Sheffield</a:t>
            </a:r>
            <a:endParaRPr lang="en-US" sz="1150" dirty="0"/>
          </a:p>
          <a:p>
            <a:pPr marL="0" indent="0" algn="r">
              <a:lnSpc>
                <a:spcPct val="85000"/>
              </a:lnSpc>
              <a:buNone/>
            </a:pPr>
            <a:r>
              <a:rPr lang="en-US" sz="1150" b="1" dirty="0">
                <a:solidFill>
                  <a:srgbClr val="9A003B"/>
                </a:solidFill>
                <a:latin typeface="Calibri" pitchFamily="34" charset="0"/>
                <a:ea typeface="Calibri" pitchFamily="34" charset="-122"/>
                <a:cs typeface="Calibri" pitchFamily="34" charset="-120"/>
              </a:rPr>
              <a:t>Hallam</a:t>
            </a:r>
            <a:endParaRPr lang="en-US" sz="1150" dirty="0"/>
          </a:p>
          <a:p>
            <a:pPr marL="0" indent="0" algn="r">
              <a:lnSpc>
                <a:spcPct val="85000"/>
              </a:lnSpc>
              <a:buNone/>
            </a:pPr>
            <a:r>
              <a:rPr lang="en-US" sz="1150" b="1" dirty="0">
                <a:solidFill>
                  <a:srgbClr val="9A003B"/>
                </a:solidFill>
                <a:latin typeface="Calibri" pitchFamily="34" charset="0"/>
                <a:ea typeface="Calibri" pitchFamily="34" charset="-122"/>
                <a:cs typeface="Calibri" pitchFamily="34" charset="-120"/>
              </a:rPr>
              <a:t>University</a:t>
            </a:r>
            <a:endParaRPr lang="en-US" sz="1150" dirty="0"/>
          </a:p>
        </p:txBody>
      </p:sp>
      <p:sp>
        <p:nvSpPr>
          <p:cNvPr id="5" name="Shape 3"/>
          <p:cNvSpPr/>
          <p:nvPr/>
        </p:nvSpPr>
        <p:spPr>
          <a:xfrm>
            <a:off x="0" y="6624828"/>
            <a:ext cx="4063898" cy="233172"/>
          </a:xfrm>
          <a:prstGeom prst="rect">
            <a:avLst/>
          </a:prstGeom>
          <a:solidFill>
            <a:srgbClr val="4D001E"/>
          </a:solidFill>
          <a:ln w="12700">
            <a:solidFill>
              <a:srgbClr val="4D001E"/>
            </a:solidFill>
            <a:prstDash val="solid"/>
          </a:ln>
        </p:spPr>
      </p:sp>
      <p:sp>
        <p:nvSpPr>
          <p:cNvPr id="6" name="Shape 4"/>
          <p:cNvSpPr/>
          <p:nvPr/>
        </p:nvSpPr>
        <p:spPr>
          <a:xfrm>
            <a:off x="4063898" y="6624828"/>
            <a:ext cx="4063898" cy="233172"/>
          </a:xfrm>
          <a:prstGeom prst="rect">
            <a:avLst/>
          </a:prstGeom>
          <a:solidFill>
            <a:srgbClr val="74002C"/>
          </a:solidFill>
          <a:ln w="12700">
            <a:solidFill>
              <a:srgbClr val="74002C"/>
            </a:solidFill>
            <a:prstDash val="solid"/>
          </a:ln>
        </p:spPr>
      </p:sp>
      <p:sp>
        <p:nvSpPr>
          <p:cNvPr id="7" name="Shape 5"/>
          <p:cNvSpPr/>
          <p:nvPr/>
        </p:nvSpPr>
        <p:spPr>
          <a:xfrm>
            <a:off x="8127797" y="6624828"/>
            <a:ext cx="4063898" cy="233172"/>
          </a:xfrm>
          <a:prstGeom prst="rect">
            <a:avLst/>
          </a:prstGeom>
          <a:solidFill>
            <a:srgbClr val="9A003B"/>
          </a:solidFill>
          <a:ln w="12700">
            <a:solidFill>
              <a:srgbClr val="9A003B"/>
            </a:solidFill>
            <a:prstDash val="solid"/>
          </a:ln>
        </p:spPr>
      </p:sp>
      <p:sp>
        <p:nvSpPr>
          <p:cNvPr id="8" name="Text 6"/>
          <p:cNvSpPr txBox="1"/>
          <p:nvPr/>
        </p:nvSpPr>
        <p:spPr>
          <a:xfrm>
            <a:off x="1143000" y="6624828"/>
            <a:ext cx="2743200" cy="233172"/>
          </a:xfrm>
          <a:prstGeom prst="rect">
            <a:avLst/>
          </a:prstGeom>
          <a:noFill/>
          <a:ln/>
        </p:spPr>
        <p:txBody>
          <a:bodyPr wrap="square" lIns="0" tIns="0" rIns="0" bIns="0" rtlCol="0" anchor="ctr"/>
          <a:lstStyle/>
          <a:p>
            <a:pPr marL="0" indent="0">
              <a:buNone/>
            </a:pPr>
            <a:r>
              <a:rPr lang="en-US" sz="900" dirty="0">
                <a:solidFill>
                  <a:srgbClr val="FFFFFF"/>
                </a:solidFill>
                <a:latin typeface="Calibri" pitchFamily="34" charset="0"/>
                <a:ea typeface="Calibri" pitchFamily="34" charset="-122"/>
                <a:cs typeface="Calibri" pitchFamily="34" charset="-120"/>
              </a:rPr>
              <a:t>[Student Initials]  (SHU)</a:t>
            </a:r>
            <a:endParaRPr lang="en-US" sz="900" dirty="0"/>
          </a:p>
        </p:txBody>
      </p:sp>
      <p:sp>
        <p:nvSpPr>
          <p:cNvPr id="9" name="Text 7"/>
          <p:cNvSpPr txBox="1"/>
          <p:nvPr/>
        </p:nvSpPr>
        <p:spPr>
          <a:xfrm>
            <a:off x="5276088" y="6624828"/>
            <a:ext cx="2743200" cy="233172"/>
          </a:xfrm>
          <a:prstGeom prst="rect">
            <a:avLst/>
          </a:prstGeom>
          <a:noFill/>
          <a:ln/>
        </p:spPr>
        <p:txBody>
          <a:bodyPr wrap="square" lIns="0" tIns="0" rIns="0" bIns="0" rtlCol="0" anchor="ctr"/>
          <a:lstStyle/>
          <a:p>
            <a:pPr marL="0" indent="0">
              <a:buNone/>
            </a:pPr>
            <a:r>
              <a:rPr lang="en-US" sz="900" dirty="0">
                <a:solidFill>
                  <a:srgbClr val="FFFFFF"/>
                </a:solidFill>
                <a:latin typeface="Calibri" pitchFamily="34" charset="0"/>
                <a:ea typeface="Calibri" pitchFamily="34" charset="-122"/>
                <a:cs typeface="Calibri" pitchFamily="34" charset="-120"/>
              </a:rPr>
              <a:t>Does the Emoji Matter?</a:t>
            </a:r>
            <a:endParaRPr lang="en-US" sz="900" dirty="0"/>
          </a:p>
        </p:txBody>
      </p:sp>
      <p:sp>
        <p:nvSpPr>
          <p:cNvPr id="10" name="Text 8"/>
          <p:cNvSpPr txBox="1"/>
          <p:nvPr/>
        </p:nvSpPr>
        <p:spPr>
          <a:xfrm>
            <a:off x="9235440" y="6624828"/>
            <a:ext cx="1645920" cy="233172"/>
          </a:xfrm>
          <a:prstGeom prst="rect">
            <a:avLst/>
          </a:prstGeom>
          <a:noFill/>
          <a:ln/>
        </p:spPr>
        <p:txBody>
          <a:bodyPr wrap="square" lIns="0" tIns="0" rIns="0" bIns="0" rtlCol="0" anchor="ctr"/>
          <a:lstStyle/>
          <a:p>
            <a:pPr marL="0" indent="0">
              <a:buNone/>
            </a:pPr>
            <a:r>
              <a:rPr lang="en-US" sz="900" dirty="0">
                <a:solidFill>
                  <a:srgbClr val="FFFFFF"/>
                </a:solidFill>
                <a:latin typeface="Calibri" pitchFamily="34" charset="0"/>
                <a:ea typeface="Calibri" pitchFamily="34" charset="-122"/>
                <a:cs typeface="Calibri" pitchFamily="34" charset="-120"/>
              </a:rPr>
              <a:t>September 2026</a:t>
            </a:r>
            <a:endParaRPr lang="en-US" sz="900" dirty="0"/>
          </a:p>
        </p:txBody>
      </p:sp>
      <p:sp>
        <p:nvSpPr>
          <p:cNvPr id="11" name="Text 9"/>
          <p:cNvSpPr txBox="1"/>
          <p:nvPr/>
        </p:nvSpPr>
        <p:spPr>
          <a:xfrm>
            <a:off x="10881360" y="6624828"/>
            <a:ext cx="1161288" cy="233172"/>
          </a:xfrm>
          <a:prstGeom prst="rect">
            <a:avLst/>
          </a:prstGeom>
          <a:noFill/>
          <a:ln/>
        </p:spPr>
        <p:txBody>
          <a:bodyPr wrap="square" lIns="0" tIns="0" rIns="0" bIns="0" rtlCol="0" anchor="ctr"/>
          <a:lstStyle/>
          <a:p>
            <a:pPr marL="0" indent="0" algn="r">
              <a:buNone/>
            </a:pPr>
            <a:r>
              <a:rPr lang="en-US" sz="900" dirty="0">
                <a:solidFill>
                  <a:srgbClr val="FFFFFF"/>
                </a:solidFill>
                <a:latin typeface="Calibri" pitchFamily="34" charset="0"/>
                <a:ea typeface="Calibri" pitchFamily="34" charset="-122"/>
                <a:cs typeface="Calibri" pitchFamily="34" charset="-120"/>
              </a:rPr>
              <a:t>10 / 43</a:t>
            </a:r>
            <a:endParaRPr lang="en-US" sz="900" dirty="0"/>
          </a:p>
        </p:txBody>
      </p:sp>
      <p:sp>
        <p:nvSpPr>
          <p:cNvPr id="12" name="Text 10"/>
          <p:cNvSpPr txBox="1"/>
          <p:nvPr/>
        </p:nvSpPr>
        <p:spPr>
          <a:xfrm>
            <a:off x="749808" y="1389888"/>
            <a:ext cx="10872216" cy="4480560"/>
          </a:xfrm>
          <a:prstGeom prst="rect">
            <a:avLst/>
          </a:prstGeom>
          <a:noFill/>
          <a:ln/>
        </p:spPr>
        <p:txBody>
          <a:bodyPr wrap="square" lIns="0" tIns="0" rIns="0" bIns="0" rtlCol="0" anchor="t"/>
          <a:lstStyle/>
          <a:p>
            <a:pPr marL="177800" indent="-177800">
              <a:lnSpc>
                <a:spcPct val="106000"/>
              </a:lnSpc>
              <a:spcAft>
                <a:spcPts val="800"/>
              </a:spcAft>
              <a:buSzPct val="100000"/>
              <a:buChar char="•"/>
            </a:pPr>
            <a:r>
              <a:rPr lang="en-US" sz="1350" b="1" dirty="0">
                <a:solidFill>
                  <a:srgbClr val="000000"/>
                </a:solidFill>
                <a:latin typeface="Calibri" pitchFamily="34" charset="0"/>
                <a:ea typeface="Calibri" pitchFamily="34" charset="-122"/>
                <a:cs typeface="Calibri" pitchFamily="34" charset="-120"/>
              </a:rPr>
              <a:t>Themes of the Literature: </a:t>
            </a:r>
            <a:r>
              <a:rPr lang="en-US" sz="1350" dirty="0">
                <a:solidFill>
                  <a:srgbClr val="000000"/>
                </a:solidFill>
                <a:latin typeface="Calibri" pitchFamily="34" charset="0"/>
                <a:ea typeface="Calibri" pitchFamily="34" charset="-122"/>
                <a:cs typeface="Calibri" pitchFamily="34" charset="-120"/>
              </a:rPr>
              <a:t>three themes cover every part of the experiment. Theme 1, emotion recognition as a multi-label task: labels overlap, so per-label thresholds and Micro-F1 / Macro-F1 are needed rather than accuracy (Jim et al., 2024; Muhammad et al., 2025). Theme 2, model architectures: recurrent networks remain in use in hybrids, and Transformers give consistent gains, but the advantage is credited largely to pre-training (Rezapour, 2024; B. Khan et al., 2026). Theme 3, emoji as a carrier of feeling: emoji carry usable signal, yet their meaning shifts between communities and writers (Huang et al., 2024; Zhou et al., 2024).</a:t>
            </a:r>
            <a:endParaRPr lang="en-US" sz="1350" dirty="0"/>
          </a:p>
          <a:p>
            <a:pPr marL="177800" indent="-177800">
              <a:lnSpc>
                <a:spcPct val="106000"/>
              </a:lnSpc>
              <a:spcAft>
                <a:spcPts val="800"/>
              </a:spcAft>
              <a:buSzPct val="100000"/>
              <a:buChar char="•"/>
            </a:pPr>
            <a:r>
              <a:rPr lang="en-US" sz="1350" b="1" dirty="0">
                <a:solidFill>
                  <a:srgbClr val="000000"/>
                </a:solidFill>
                <a:latin typeface="Calibri" pitchFamily="34" charset="0"/>
                <a:ea typeface="Calibri" pitchFamily="34" charset="-122"/>
                <a:cs typeface="Calibri" pitchFamily="34" charset="-120"/>
              </a:rPr>
              <a:t>Critical Analysis: </a:t>
            </a:r>
            <a:r>
              <a:rPr lang="en-US" sz="1350" dirty="0">
                <a:solidFill>
                  <a:srgbClr val="000000"/>
                </a:solidFill>
                <a:latin typeface="Calibri" pitchFamily="34" charset="0"/>
                <a:ea typeface="Calibri" pitchFamily="34" charset="-122"/>
                <a:cs typeface="Calibri" pitchFamily="34" charset="-120"/>
              </a:rPr>
              <a:t>studies reporting emoji benefits are convincing about their own systems, but none is designed to isolate the preprocessing decision. In each case a new representation is introduced alongside the emoji information and compared against an emoji-free baseline, so the reported improvement is a combined effect. None tells a practitioner what happens if only the preprocessing line changes.</a:t>
            </a:r>
            <a:endParaRPr lang="en-US" sz="1350" dirty="0"/>
          </a:p>
          <a:p>
            <a:pPr marL="177800" indent="-177800">
              <a:lnSpc>
                <a:spcPct val="106000"/>
              </a:lnSpc>
              <a:spcAft>
                <a:spcPts val="800"/>
              </a:spcAft>
              <a:buSzPct val="100000"/>
              <a:buChar char="•"/>
            </a:pPr>
            <a:r>
              <a:rPr lang="en-US" sz="1350" b="1" dirty="0">
                <a:solidFill>
                  <a:srgbClr val="000000"/>
                </a:solidFill>
                <a:latin typeface="Calibri" pitchFamily="34" charset="0"/>
                <a:ea typeface="Calibri" pitchFamily="34" charset="-122"/>
                <a:cs typeface="Calibri" pitchFamily="34" charset="-120"/>
              </a:rPr>
              <a:t>Search and screening: </a:t>
            </a:r>
            <a:r>
              <a:rPr lang="en-US" sz="1350" dirty="0">
                <a:solidFill>
                  <a:srgbClr val="000000"/>
                </a:solidFill>
                <a:latin typeface="Calibri" pitchFamily="34" charset="0"/>
                <a:ea typeface="Calibri" pitchFamily="34" charset="-122"/>
                <a:cs typeface="Calibri" pitchFamily="34" charset="-120"/>
              </a:rPr>
              <a:t>around 180 records were returned, reduced to about 70 after de-duplication and about 40 after abstract screening, with 25 read in full and retained, plus one dataset source. Searched via SHU Library Search, Google Scholar, ACL Anthology, arXiv, ScienceDirect and SpringerLink; every reference was then verified against the Crossref API.</a:t>
            </a:r>
            <a:endParaRPr lang="en-US" sz="13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1045159"/>
          </a:xfrm>
          <a:prstGeom prst="rect">
            <a:avLst/>
          </a:prstGeom>
          <a:solidFill>
            <a:srgbClr val="9A003B"/>
          </a:solidFill>
          <a:ln w="12700">
            <a:solidFill>
              <a:srgbClr val="9A003B"/>
            </a:solidFill>
            <a:prstDash val="solid"/>
          </a:ln>
        </p:spPr>
      </p:sp>
      <p:sp>
        <p:nvSpPr>
          <p:cNvPr id="3" name="Text 1"/>
          <p:cNvSpPr txBox="1"/>
          <p:nvPr/>
        </p:nvSpPr>
        <p:spPr>
          <a:xfrm>
            <a:off x="228600" y="109728"/>
            <a:ext cx="11704320" cy="825703"/>
          </a:xfrm>
          <a:prstGeom prst="rect">
            <a:avLst/>
          </a:prstGeom>
          <a:noFill/>
          <a:ln/>
        </p:spPr>
        <p:txBody>
          <a:bodyPr wrap="square" lIns="0" tIns="0" rIns="0" bIns="0" rtlCol="0" anchor="ctr"/>
          <a:lstStyle/>
          <a:p>
            <a:pPr marL="0" indent="0">
              <a:lnSpc>
                <a:spcPct val="95000"/>
              </a:lnSpc>
              <a:buNone/>
            </a:pPr>
            <a:r>
              <a:rPr lang="en-US" sz="2500" dirty="0">
                <a:solidFill>
                  <a:srgbClr val="FFFFFF"/>
                </a:solidFill>
                <a:latin typeface="Calibri" pitchFamily="34" charset="0"/>
                <a:ea typeface="Calibri" pitchFamily="34" charset="-122"/>
                <a:cs typeface="Calibri" pitchFamily="34" charset="-120"/>
              </a:rPr>
              <a:t>Literature Review: Analysis, Contrasts &amp; Gaps II</a:t>
            </a:r>
            <a:endParaRPr lang="en-US" sz="2500" dirty="0"/>
          </a:p>
        </p:txBody>
      </p:sp>
      <p:sp>
        <p:nvSpPr>
          <p:cNvPr id="4" name="Text 2"/>
          <p:cNvSpPr txBox="1"/>
          <p:nvPr/>
        </p:nvSpPr>
        <p:spPr>
          <a:xfrm>
            <a:off x="10515600" y="5806440"/>
            <a:ext cx="1463040" cy="749808"/>
          </a:xfrm>
          <a:prstGeom prst="rect">
            <a:avLst/>
          </a:prstGeom>
          <a:noFill/>
          <a:ln/>
        </p:spPr>
        <p:txBody>
          <a:bodyPr wrap="square" lIns="0" tIns="0" rIns="0" bIns="0" rtlCol="0" anchor="b"/>
          <a:lstStyle/>
          <a:p>
            <a:pPr marL="0" indent="0" algn="r">
              <a:lnSpc>
                <a:spcPct val="85000"/>
              </a:lnSpc>
              <a:buNone/>
            </a:pPr>
            <a:r>
              <a:rPr lang="en-US" sz="1150" b="1" dirty="0">
                <a:solidFill>
                  <a:srgbClr val="9A003B"/>
                </a:solidFill>
                <a:latin typeface="Calibri" pitchFamily="34" charset="0"/>
                <a:ea typeface="Calibri" pitchFamily="34" charset="-122"/>
                <a:cs typeface="Calibri" pitchFamily="34" charset="-120"/>
              </a:rPr>
              <a:t>Sheffield</a:t>
            </a:r>
            <a:endParaRPr lang="en-US" sz="1150" dirty="0"/>
          </a:p>
          <a:p>
            <a:pPr marL="0" indent="0" algn="r">
              <a:lnSpc>
                <a:spcPct val="85000"/>
              </a:lnSpc>
              <a:buNone/>
            </a:pPr>
            <a:r>
              <a:rPr lang="en-US" sz="1150" b="1" dirty="0">
                <a:solidFill>
                  <a:srgbClr val="9A003B"/>
                </a:solidFill>
                <a:latin typeface="Calibri" pitchFamily="34" charset="0"/>
                <a:ea typeface="Calibri" pitchFamily="34" charset="-122"/>
                <a:cs typeface="Calibri" pitchFamily="34" charset="-120"/>
              </a:rPr>
              <a:t>Hallam</a:t>
            </a:r>
            <a:endParaRPr lang="en-US" sz="1150" dirty="0"/>
          </a:p>
          <a:p>
            <a:pPr marL="0" indent="0" algn="r">
              <a:lnSpc>
                <a:spcPct val="85000"/>
              </a:lnSpc>
              <a:buNone/>
            </a:pPr>
            <a:r>
              <a:rPr lang="en-US" sz="1150" b="1" dirty="0">
                <a:solidFill>
                  <a:srgbClr val="9A003B"/>
                </a:solidFill>
                <a:latin typeface="Calibri" pitchFamily="34" charset="0"/>
                <a:ea typeface="Calibri" pitchFamily="34" charset="-122"/>
                <a:cs typeface="Calibri" pitchFamily="34" charset="-120"/>
              </a:rPr>
              <a:t>University</a:t>
            </a:r>
            <a:endParaRPr lang="en-US" sz="1150" dirty="0"/>
          </a:p>
        </p:txBody>
      </p:sp>
      <p:sp>
        <p:nvSpPr>
          <p:cNvPr id="5" name="Shape 3"/>
          <p:cNvSpPr/>
          <p:nvPr/>
        </p:nvSpPr>
        <p:spPr>
          <a:xfrm>
            <a:off x="0" y="6624828"/>
            <a:ext cx="4063898" cy="233172"/>
          </a:xfrm>
          <a:prstGeom prst="rect">
            <a:avLst/>
          </a:prstGeom>
          <a:solidFill>
            <a:srgbClr val="4D001E"/>
          </a:solidFill>
          <a:ln w="12700">
            <a:solidFill>
              <a:srgbClr val="4D001E"/>
            </a:solidFill>
            <a:prstDash val="solid"/>
          </a:ln>
        </p:spPr>
      </p:sp>
      <p:sp>
        <p:nvSpPr>
          <p:cNvPr id="6" name="Shape 4"/>
          <p:cNvSpPr/>
          <p:nvPr/>
        </p:nvSpPr>
        <p:spPr>
          <a:xfrm>
            <a:off x="4063898" y="6624828"/>
            <a:ext cx="4063898" cy="233172"/>
          </a:xfrm>
          <a:prstGeom prst="rect">
            <a:avLst/>
          </a:prstGeom>
          <a:solidFill>
            <a:srgbClr val="74002C"/>
          </a:solidFill>
          <a:ln w="12700">
            <a:solidFill>
              <a:srgbClr val="74002C"/>
            </a:solidFill>
            <a:prstDash val="solid"/>
          </a:ln>
        </p:spPr>
      </p:sp>
      <p:sp>
        <p:nvSpPr>
          <p:cNvPr id="7" name="Shape 5"/>
          <p:cNvSpPr/>
          <p:nvPr/>
        </p:nvSpPr>
        <p:spPr>
          <a:xfrm>
            <a:off x="8127797" y="6624828"/>
            <a:ext cx="4063898" cy="233172"/>
          </a:xfrm>
          <a:prstGeom prst="rect">
            <a:avLst/>
          </a:prstGeom>
          <a:solidFill>
            <a:srgbClr val="9A003B"/>
          </a:solidFill>
          <a:ln w="12700">
            <a:solidFill>
              <a:srgbClr val="9A003B"/>
            </a:solidFill>
            <a:prstDash val="solid"/>
          </a:ln>
        </p:spPr>
      </p:sp>
      <p:sp>
        <p:nvSpPr>
          <p:cNvPr id="8" name="Text 6"/>
          <p:cNvSpPr txBox="1"/>
          <p:nvPr/>
        </p:nvSpPr>
        <p:spPr>
          <a:xfrm>
            <a:off x="1143000" y="6624828"/>
            <a:ext cx="2743200" cy="233172"/>
          </a:xfrm>
          <a:prstGeom prst="rect">
            <a:avLst/>
          </a:prstGeom>
          <a:noFill/>
          <a:ln/>
        </p:spPr>
        <p:txBody>
          <a:bodyPr wrap="square" lIns="0" tIns="0" rIns="0" bIns="0" rtlCol="0" anchor="ctr"/>
          <a:lstStyle/>
          <a:p>
            <a:pPr marL="0" indent="0">
              <a:buNone/>
            </a:pPr>
            <a:r>
              <a:rPr lang="en-US" sz="900" dirty="0">
                <a:solidFill>
                  <a:srgbClr val="FFFFFF"/>
                </a:solidFill>
                <a:latin typeface="Calibri" pitchFamily="34" charset="0"/>
                <a:ea typeface="Calibri" pitchFamily="34" charset="-122"/>
                <a:cs typeface="Calibri" pitchFamily="34" charset="-120"/>
              </a:rPr>
              <a:t>[Student Initials]  (SHU)</a:t>
            </a:r>
            <a:endParaRPr lang="en-US" sz="900" dirty="0"/>
          </a:p>
        </p:txBody>
      </p:sp>
      <p:sp>
        <p:nvSpPr>
          <p:cNvPr id="9" name="Text 7"/>
          <p:cNvSpPr txBox="1"/>
          <p:nvPr/>
        </p:nvSpPr>
        <p:spPr>
          <a:xfrm>
            <a:off x="5276088" y="6624828"/>
            <a:ext cx="2743200" cy="233172"/>
          </a:xfrm>
          <a:prstGeom prst="rect">
            <a:avLst/>
          </a:prstGeom>
          <a:noFill/>
          <a:ln/>
        </p:spPr>
        <p:txBody>
          <a:bodyPr wrap="square" lIns="0" tIns="0" rIns="0" bIns="0" rtlCol="0" anchor="ctr"/>
          <a:lstStyle/>
          <a:p>
            <a:pPr marL="0" indent="0">
              <a:buNone/>
            </a:pPr>
            <a:r>
              <a:rPr lang="en-US" sz="900" dirty="0">
                <a:solidFill>
                  <a:srgbClr val="FFFFFF"/>
                </a:solidFill>
                <a:latin typeface="Calibri" pitchFamily="34" charset="0"/>
                <a:ea typeface="Calibri" pitchFamily="34" charset="-122"/>
                <a:cs typeface="Calibri" pitchFamily="34" charset="-120"/>
              </a:rPr>
              <a:t>Does the Emoji Matter?</a:t>
            </a:r>
            <a:endParaRPr lang="en-US" sz="900" dirty="0"/>
          </a:p>
        </p:txBody>
      </p:sp>
      <p:sp>
        <p:nvSpPr>
          <p:cNvPr id="10" name="Text 8"/>
          <p:cNvSpPr txBox="1"/>
          <p:nvPr/>
        </p:nvSpPr>
        <p:spPr>
          <a:xfrm>
            <a:off x="9235440" y="6624828"/>
            <a:ext cx="1645920" cy="233172"/>
          </a:xfrm>
          <a:prstGeom prst="rect">
            <a:avLst/>
          </a:prstGeom>
          <a:noFill/>
          <a:ln/>
        </p:spPr>
        <p:txBody>
          <a:bodyPr wrap="square" lIns="0" tIns="0" rIns="0" bIns="0" rtlCol="0" anchor="ctr"/>
          <a:lstStyle/>
          <a:p>
            <a:pPr marL="0" indent="0">
              <a:buNone/>
            </a:pPr>
            <a:r>
              <a:rPr lang="en-US" sz="900" dirty="0">
                <a:solidFill>
                  <a:srgbClr val="FFFFFF"/>
                </a:solidFill>
                <a:latin typeface="Calibri" pitchFamily="34" charset="0"/>
                <a:ea typeface="Calibri" pitchFamily="34" charset="-122"/>
                <a:cs typeface="Calibri" pitchFamily="34" charset="-120"/>
              </a:rPr>
              <a:t>September 2026</a:t>
            </a:r>
            <a:endParaRPr lang="en-US" sz="900" dirty="0"/>
          </a:p>
        </p:txBody>
      </p:sp>
      <p:sp>
        <p:nvSpPr>
          <p:cNvPr id="11" name="Text 9"/>
          <p:cNvSpPr txBox="1"/>
          <p:nvPr/>
        </p:nvSpPr>
        <p:spPr>
          <a:xfrm>
            <a:off x="10881360" y="6624828"/>
            <a:ext cx="1161288" cy="233172"/>
          </a:xfrm>
          <a:prstGeom prst="rect">
            <a:avLst/>
          </a:prstGeom>
          <a:noFill/>
          <a:ln/>
        </p:spPr>
        <p:txBody>
          <a:bodyPr wrap="square" lIns="0" tIns="0" rIns="0" bIns="0" rtlCol="0" anchor="ctr"/>
          <a:lstStyle/>
          <a:p>
            <a:pPr marL="0" indent="0" algn="r">
              <a:buNone/>
            </a:pPr>
            <a:r>
              <a:rPr lang="en-US" sz="900" dirty="0">
                <a:solidFill>
                  <a:srgbClr val="FFFFFF"/>
                </a:solidFill>
                <a:latin typeface="Calibri" pitchFamily="34" charset="0"/>
                <a:ea typeface="Calibri" pitchFamily="34" charset="-122"/>
                <a:cs typeface="Calibri" pitchFamily="34" charset="-120"/>
              </a:rPr>
              <a:t>11 / 43</a:t>
            </a:r>
            <a:endParaRPr lang="en-US" sz="900" dirty="0"/>
          </a:p>
        </p:txBody>
      </p:sp>
      <p:sp>
        <p:nvSpPr>
          <p:cNvPr id="12" name="Text 10"/>
          <p:cNvSpPr txBox="1"/>
          <p:nvPr/>
        </p:nvSpPr>
        <p:spPr>
          <a:xfrm>
            <a:off x="566928" y="1298448"/>
            <a:ext cx="11055096" cy="274320"/>
          </a:xfrm>
          <a:prstGeom prst="rect">
            <a:avLst/>
          </a:prstGeom>
          <a:noFill/>
          <a:ln/>
        </p:spPr>
        <p:txBody>
          <a:bodyPr wrap="square" lIns="0" tIns="0" rIns="0" bIns="0" rtlCol="0" anchor="t"/>
          <a:lstStyle/>
          <a:p>
            <a:pPr marL="0" indent="0">
              <a:lnSpc>
                <a:spcPct val="106000"/>
              </a:lnSpc>
              <a:buNone/>
            </a:pPr>
            <a:r>
              <a:rPr lang="en-US" sz="1500" b="1" dirty="0">
                <a:solidFill>
                  <a:srgbClr val="000000"/>
                </a:solidFill>
                <a:latin typeface="Calibri" pitchFamily="34" charset="0"/>
                <a:ea typeface="Calibri" pitchFamily="34" charset="-122"/>
                <a:cs typeface="Calibri" pitchFamily="34" charset="-120"/>
              </a:rPr>
              <a:t>Strengths &amp; Weaknesses:</a:t>
            </a:r>
            <a:endParaRPr lang="en-US" sz="150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566928" y="1645920"/>
          <a:ext cx="11055096" cy="914400"/>
        </p:xfrm>
        <a:graphic>
          <a:graphicData uri="http://schemas.openxmlformats.org/drawingml/2006/table">
            <a:tbl>
              <a:tblPr/>
              <a:tblGrid>
                <a:gridCol w="5527548">
                  <a:extLst>
                    <a:ext uri="{9D8B030D-6E8A-4147-A177-3AD203B41FA5}">
                      <a16:colId xmlns:a16="http://schemas.microsoft.com/office/drawing/2014/main" val="20000"/>
                    </a:ext>
                  </a:extLst>
                </a:gridCol>
                <a:gridCol w="5527548">
                  <a:extLst>
                    <a:ext uri="{9D8B030D-6E8A-4147-A177-3AD203B41FA5}">
                      <a16:colId xmlns:a16="http://schemas.microsoft.com/office/drawing/2014/main" val="20001"/>
                    </a:ext>
                  </a:extLst>
                </a:gridCol>
              </a:tblGrid>
              <a:tr h="402336">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Strengths of existing research</a:t>
                      </a:r>
                      <a:endParaRPr lang="en-US" sz="1200" dirty="0">
                        <a:latin typeface="Calibri" charset="0"/>
                        <a:ea typeface="Calibri" charset="0"/>
                        <a:cs typeface="Calibri" charset="0"/>
                      </a:endParaRPr>
                    </a:p>
                  </a:txBody>
                  <a:tcPr anchor="ctr">
                    <a:lnL w="9525" cap="flat" cmpd="sng" algn="ctr">
                      <a:solidFill>
                        <a:srgbClr val="C9CDD4"/>
                      </a:solidFill>
                      <a:prstDash val="solid"/>
                      <a:round/>
                      <a:headEnd type="none" w="med" len="med"/>
                      <a:tailEnd type="none" w="med" len="med"/>
                    </a:lnL>
                    <a:lnR w="9525" cap="flat" cmpd="sng" algn="ctr">
                      <a:solidFill>
                        <a:srgbClr val="C9CDD4"/>
                      </a:solidFill>
                      <a:prstDash val="solid"/>
                      <a:round/>
                      <a:headEnd type="none" w="med" len="med"/>
                      <a:tailEnd type="none" w="med" len="med"/>
                    </a:lnR>
                    <a:lnT w="9525" cap="flat" cmpd="sng" algn="ctr">
                      <a:solidFill>
                        <a:srgbClr val="C9CDD4"/>
                      </a:solidFill>
                      <a:prstDash val="solid"/>
                      <a:round/>
                      <a:headEnd type="none" w="med" len="med"/>
                      <a:tailEnd type="none" w="med" len="med"/>
                    </a:lnT>
                    <a:lnB w="9525" cap="flat" cmpd="sng" algn="ctr">
                      <a:solidFill>
                        <a:srgbClr val="C9CDD4"/>
                      </a:solidFill>
                      <a:prstDash val="solid"/>
                      <a:round/>
                      <a:headEnd type="none" w="med" len="med"/>
                      <a:tailEnd type="none" w="med" len="med"/>
                    </a:lnB>
                    <a:solidFill>
                      <a:srgbClr val="9A003B"/>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Weaknesses of existing research</a:t>
                      </a:r>
                      <a:endParaRPr lang="en-US" sz="1200" dirty="0">
                        <a:latin typeface="Calibri" charset="0"/>
                        <a:ea typeface="Calibri" charset="0"/>
                        <a:cs typeface="Calibri" charset="0"/>
                      </a:endParaRPr>
                    </a:p>
                  </a:txBody>
                  <a:tcPr anchor="ctr">
                    <a:lnL w="9525" cap="flat" cmpd="sng" algn="ctr">
                      <a:solidFill>
                        <a:srgbClr val="C9CDD4"/>
                      </a:solidFill>
                      <a:prstDash val="solid"/>
                      <a:round/>
                      <a:headEnd type="none" w="med" len="med"/>
                      <a:tailEnd type="none" w="med" len="med"/>
                    </a:lnL>
                    <a:lnR w="9525" cap="flat" cmpd="sng" algn="ctr">
                      <a:solidFill>
                        <a:srgbClr val="C9CDD4"/>
                      </a:solidFill>
                      <a:prstDash val="solid"/>
                      <a:round/>
                      <a:headEnd type="none" w="med" len="med"/>
                      <a:tailEnd type="none" w="med" len="med"/>
                    </a:lnR>
                    <a:lnT w="9525" cap="flat" cmpd="sng" algn="ctr">
                      <a:solidFill>
                        <a:srgbClr val="C9CDD4"/>
                      </a:solidFill>
                      <a:prstDash val="solid"/>
                      <a:round/>
                      <a:headEnd type="none" w="med" len="med"/>
                      <a:tailEnd type="none" w="med" len="med"/>
                    </a:lnT>
                    <a:lnB w="9525" cap="flat" cmpd="sng" algn="ctr">
                      <a:solidFill>
                        <a:srgbClr val="C9CDD4"/>
                      </a:solidFill>
                      <a:prstDash val="solid"/>
                      <a:round/>
                      <a:headEnd type="none" w="med" len="med"/>
                      <a:tailEnd type="none" w="med" len="med"/>
                    </a:lnB>
                    <a:solidFill>
                      <a:srgbClr val="9A003B"/>
                    </a:solidFill>
                  </a:tcPr>
                </a:tc>
                <a:extLst>
                  <a:ext uri="{0D108BD9-81ED-4DB2-BD59-A6C34878D82A}">
                    <a16:rowId xmlns:a16="http://schemas.microsoft.com/office/drawing/2014/main" val="10000"/>
                  </a:ext>
                </a:extLst>
              </a:tr>
              <a:tr h="402336">
                <a:tc>
                  <a:txBody>
                    <a:bodyPr/>
                    <a:lstStyle/>
                    <a:p>
                      <a:pPr marL="0" indent="0">
                        <a:buNone/>
                      </a:pPr>
                      <a:r>
                        <a:rPr lang="en-US" sz="1200" dirty="0">
                          <a:solidFill>
                            <a:srgbClr val="000000"/>
                          </a:solidFill>
                          <a:latin typeface="Calibri" pitchFamily="34" charset="0"/>
                          <a:ea typeface="Calibri" pitchFamily="34" charset="-122"/>
                          <a:cs typeface="Calibri" pitchFamily="34" charset="-120"/>
                        </a:rPr>
                        <a:t>Large, well-annotated shared task corpora allow direct comparison</a:t>
                      </a:r>
                      <a:endParaRPr lang="en-US" sz="1200" dirty="0">
                        <a:latin typeface="Calibri" charset="0"/>
                        <a:ea typeface="Calibri" charset="0"/>
                        <a:cs typeface="Calibri" charset="0"/>
                      </a:endParaRPr>
                    </a:p>
                  </a:txBody>
                  <a:tcPr anchor="ctr">
                    <a:lnL w="9525" cap="flat" cmpd="sng" algn="ctr">
                      <a:solidFill>
                        <a:srgbClr val="C9CDD4"/>
                      </a:solidFill>
                      <a:prstDash val="solid"/>
                      <a:round/>
                      <a:headEnd type="none" w="med" len="med"/>
                      <a:tailEnd type="none" w="med" len="med"/>
                    </a:lnL>
                    <a:lnR w="9525" cap="flat" cmpd="sng" algn="ctr">
                      <a:solidFill>
                        <a:srgbClr val="C9CDD4"/>
                      </a:solidFill>
                      <a:prstDash val="solid"/>
                      <a:round/>
                      <a:headEnd type="none" w="med" len="med"/>
                      <a:tailEnd type="none" w="med" len="med"/>
                    </a:lnR>
                    <a:lnT w="9525" cap="flat" cmpd="sng" algn="ctr">
                      <a:solidFill>
                        <a:srgbClr val="C9CDD4"/>
                      </a:solidFill>
                      <a:prstDash val="solid"/>
                      <a:round/>
                      <a:headEnd type="none" w="med" len="med"/>
                      <a:tailEnd type="none" w="med" len="med"/>
                    </a:lnT>
                    <a:lnB w="9525" cap="flat" cmpd="sng" algn="ctr">
                      <a:solidFill>
                        <a:srgbClr val="C9CDD4"/>
                      </a:solidFill>
                      <a:prstDash val="solid"/>
                      <a:round/>
                      <a:headEnd type="none" w="med" len="med"/>
                      <a:tailEnd type="none" w="med" len="med"/>
                    </a:lnB>
                  </a:tcPr>
                </a:tc>
                <a:tc>
                  <a:txBody>
                    <a:bodyPr/>
                    <a:lstStyle/>
                    <a:p>
                      <a:pPr marL="0" indent="0">
                        <a:buNone/>
                      </a:pPr>
                      <a:r>
                        <a:rPr lang="en-US" sz="1200" dirty="0">
                          <a:solidFill>
                            <a:srgbClr val="000000"/>
                          </a:solidFill>
                          <a:latin typeface="Calibri" pitchFamily="34" charset="0"/>
                          <a:ea typeface="Calibri" pitchFamily="34" charset="-122"/>
                          <a:cs typeface="Calibri" pitchFamily="34" charset="-120"/>
                        </a:rPr>
                        <a:t>Emoji effects are reported as a single average, hiding per-label variation</a:t>
                      </a:r>
                      <a:endParaRPr lang="en-US" sz="1200" dirty="0">
                        <a:latin typeface="Calibri" charset="0"/>
                        <a:ea typeface="Calibri" charset="0"/>
                        <a:cs typeface="Calibri" charset="0"/>
                      </a:endParaRPr>
                    </a:p>
                  </a:txBody>
                  <a:tcPr anchor="ctr">
                    <a:lnL w="9525" cap="flat" cmpd="sng" algn="ctr">
                      <a:solidFill>
                        <a:srgbClr val="C9CDD4"/>
                      </a:solidFill>
                      <a:prstDash val="solid"/>
                      <a:round/>
                      <a:headEnd type="none" w="med" len="med"/>
                      <a:tailEnd type="none" w="med" len="med"/>
                    </a:lnL>
                    <a:lnR w="9525" cap="flat" cmpd="sng" algn="ctr">
                      <a:solidFill>
                        <a:srgbClr val="C9CDD4"/>
                      </a:solidFill>
                      <a:prstDash val="solid"/>
                      <a:round/>
                      <a:headEnd type="none" w="med" len="med"/>
                      <a:tailEnd type="none" w="med" len="med"/>
                    </a:lnR>
                    <a:lnT w="9525" cap="flat" cmpd="sng" algn="ctr">
                      <a:solidFill>
                        <a:srgbClr val="C9CDD4"/>
                      </a:solidFill>
                      <a:prstDash val="solid"/>
                      <a:round/>
                      <a:headEnd type="none" w="med" len="med"/>
                      <a:tailEnd type="none" w="med" len="med"/>
                    </a:lnT>
                    <a:lnB w="9525" cap="flat" cmpd="sng" algn="ctr">
                      <a:solidFill>
                        <a:srgbClr val="C9CDD4"/>
                      </a:solidFill>
                      <a:prstDash val="solid"/>
                      <a:round/>
                      <a:headEnd type="none" w="med" len="med"/>
                      <a:tailEnd type="none" w="med" len="med"/>
                    </a:lnB>
                  </a:tcPr>
                </a:tc>
                <a:extLst>
                  <a:ext uri="{0D108BD9-81ED-4DB2-BD59-A6C34878D82A}">
                    <a16:rowId xmlns:a16="http://schemas.microsoft.com/office/drawing/2014/main" val="10001"/>
                  </a:ext>
                </a:extLst>
              </a:tr>
              <a:tr h="402336">
                <a:tc>
                  <a:txBody>
                    <a:bodyPr/>
                    <a:lstStyle/>
                    <a:p>
                      <a:pPr marL="0" indent="0">
                        <a:buNone/>
                      </a:pPr>
                      <a:r>
                        <a:rPr lang="en-US" sz="1200" dirty="0">
                          <a:solidFill>
                            <a:srgbClr val="000000"/>
                          </a:solidFill>
                          <a:latin typeface="Calibri" pitchFamily="34" charset="0"/>
                          <a:ea typeface="Calibri" pitchFamily="34" charset="-122"/>
                          <a:cs typeface="Calibri" pitchFamily="34" charset="-120"/>
                        </a:rPr>
                        <a:t>Strong evidence that emoji carry usable affective signal</a:t>
                      </a:r>
                      <a:endParaRPr lang="en-US" sz="1200" dirty="0">
                        <a:latin typeface="Calibri" charset="0"/>
                        <a:ea typeface="Calibri" charset="0"/>
                        <a:cs typeface="Calibri" charset="0"/>
                      </a:endParaRPr>
                    </a:p>
                  </a:txBody>
                  <a:tcPr anchor="ctr">
                    <a:lnL w="9525" cap="flat" cmpd="sng" algn="ctr">
                      <a:solidFill>
                        <a:srgbClr val="C9CDD4"/>
                      </a:solidFill>
                      <a:prstDash val="solid"/>
                      <a:round/>
                      <a:headEnd type="none" w="med" len="med"/>
                      <a:tailEnd type="none" w="med" len="med"/>
                    </a:lnL>
                    <a:lnR w="9525" cap="flat" cmpd="sng" algn="ctr">
                      <a:solidFill>
                        <a:srgbClr val="C9CDD4"/>
                      </a:solidFill>
                      <a:prstDash val="solid"/>
                      <a:round/>
                      <a:headEnd type="none" w="med" len="med"/>
                      <a:tailEnd type="none" w="med" len="med"/>
                    </a:lnR>
                    <a:lnT w="9525" cap="flat" cmpd="sng" algn="ctr">
                      <a:solidFill>
                        <a:srgbClr val="C9CDD4"/>
                      </a:solidFill>
                      <a:prstDash val="solid"/>
                      <a:round/>
                      <a:headEnd type="none" w="med" len="med"/>
                      <a:tailEnd type="none" w="med" len="med"/>
                    </a:lnT>
                    <a:lnB w="9525" cap="flat" cmpd="sng" algn="ctr">
                      <a:solidFill>
                        <a:srgbClr val="C9CDD4"/>
                      </a:solidFill>
                      <a:prstDash val="solid"/>
                      <a:round/>
                      <a:headEnd type="none" w="med" len="med"/>
                      <a:tailEnd type="none" w="med" len="med"/>
                    </a:lnB>
                  </a:tcPr>
                </a:tc>
                <a:tc>
                  <a:txBody>
                    <a:bodyPr/>
                    <a:lstStyle/>
                    <a:p>
                      <a:pPr marL="0" indent="0">
                        <a:buNone/>
                      </a:pPr>
                      <a:r>
                        <a:rPr lang="en-US" sz="1200" dirty="0">
                          <a:solidFill>
                            <a:srgbClr val="000000"/>
                          </a:solidFill>
                          <a:latin typeface="Calibri" pitchFamily="34" charset="0"/>
                          <a:ea typeface="Calibri" pitchFamily="34" charset="-122"/>
                          <a:cs typeface="Calibri" pitchFamily="34" charset="-120"/>
                        </a:rPr>
                        <a:t>Emoji handling is confounded with architectural changes</a:t>
                      </a:r>
                      <a:endParaRPr lang="en-US" sz="1200" dirty="0">
                        <a:latin typeface="Calibri" charset="0"/>
                        <a:ea typeface="Calibri" charset="0"/>
                        <a:cs typeface="Calibri" charset="0"/>
                      </a:endParaRPr>
                    </a:p>
                  </a:txBody>
                  <a:tcPr anchor="ctr">
                    <a:lnL w="9525" cap="flat" cmpd="sng" algn="ctr">
                      <a:solidFill>
                        <a:srgbClr val="C9CDD4"/>
                      </a:solidFill>
                      <a:prstDash val="solid"/>
                      <a:round/>
                      <a:headEnd type="none" w="med" len="med"/>
                      <a:tailEnd type="none" w="med" len="med"/>
                    </a:lnL>
                    <a:lnR w="9525" cap="flat" cmpd="sng" algn="ctr">
                      <a:solidFill>
                        <a:srgbClr val="C9CDD4"/>
                      </a:solidFill>
                      <a:prstDash val="solid"/>
                      <a:round/>
                      <a:headEnd type="none" w="med" len="med"/>
                      <a:tailEnd type="none" w="med" len="med"/>
                    </a:lnR>
                    <a:lnT w="9525" cap="flat" cmpd="sng" algn="ctr">
                      <a:solidFill>
                        <a:srgbClr val="C9CDD4"/>
                      </a:solidFill>
                      <a:prstDash val="solid"/>
                      <a:round/>
                      <a:headEnd type="none" w="med" len="med"/>
                      <a:tailEnd type="none" w="med" len="med"/>
                    </a:lnT>
                    <a:lnB w="9525" cap="flat" cmpd="sng" algn="ctr">
                      <a:solidFill>
                        <a:srgbClr val="C9CDD4"/>
                      </a:solidFill>
                      <a:prstDash val="solid"/>
                      <a:round/>
                      <a:headEnd type="none" w="med" len="med"/>
                      <a:tailEnd type="none" w="med" len="med"/>
                    </a:lnB>
                  </a:tcPr>
                </a:tc>
                <a:extLst>
                  <a:ext uri="{0D108BD9-81ED-4DB2-BD59-A6C34878D82A}">
                    <a16:rowId xmlns:a16="http://schemas.microsoft.com/office/drawing/2014/main" val="10002"/>
                  </a:ext>
                </a:extLst>
              </a:tr>
              <a:tr h="402336">
                <a:tc>
                  <a:txBody>
                    <a:bodyPr/>
                    <a:lstStyle/>
                    <a:p>
                      <a:pPr marL="0" indent="0">
                        <a:buNone/>
                      </a:pPr>
                      <a:r>
                        <a:rPr lang="en-US" sz="1200" dirty="0">
                          <a:solidFill>
                            <a:srgbClr val="000000"/>
                          </a:solidFill>
                          <a:latin typeface="Calibri" pitchFamily="34" charset="0"/>
                          <a:ea typeface="Calibri" pitchFamily="34" charset="-122"/>
                          <a:cs typeface="Calibri" pitchFamily="34" charset="-120"/>
                        </a:rPr>
                        <a:t>Growing attention to explainability in sensitive settings</a:t>
                      </a:r>
                      <a:endParaRPr lang="en-US" sz="1200" dirty="0">
                        <a:latin typeface="Calibri" charset="0"/>
                        <a:ea typeface="Calibri" charset="0"/>
                        <a:cs typeface="Calibri" charset="0"/>
                      </a:endParaRPr>
                    </a:p>
                  </a:txBody>
                  <a:tcPr anchor="ctr">
                    <a:lnL w="9525" cap="flat" cmpd="sng" algn="ctr">
                      <a:solidFill>
                        <a:srgbClr val="C9CDD4"/>
                      </a:solidFill>
                      <a:prstDash val="solid"/>
                      <a:round/>
                      <a:headEnd type="none" w="med" len="med"/>
                      <a:tailEnd type="none" w="med" len="med"/>
                    </a:lnL>
                    <a:lnR w="9525" cap="flat" cmpd="sng" algn="ctr">
                      <a:solidFill>
                        <a:srgbClr val="C9CDD4"/>
                      </a:solidFill>
                      <a:prstDash val="solid"/>
                      <a:round/>
                      <a:headEnd type="none" w="med" len="med"/>
                      <a:tailEnd type="none" w="med" len="med"/>
                    </a:lnR>
                    <a:lnT w="9525" cap="flat" cmpd="sng" algn="ctr">
                      <a:solidFill>
                        <a:srgbClr val="C9CDD4"/>
                      </a:solidFill>
                      <a:prstDash val="solid"/>
                      <a:round/>
                      <a:headEnd type="none" w="med" len="med"/>
                      <a:tailEnd type="none" w="med" len="med"/>
                    </a:lnT>
                    <a:lnB w="9525" cap="flat" cmpd="sng" algn="ctr">
                      <a:solidFill>
                        <a:srgbClr val="C9CDD4"/>
                      </a:solidFill>
                      <a:prstDash val="solid"/>
                      <a:round/>
                      <a:headEnd type="none" w="med" len="med"/>
                      <a:tailEnd type="none" w="med" len="med"/>
                    </a:lnB>
                  </a:tcPr>
                </a:tc>
                <a:tc>
                  <a:txBody>
                    <a:bodyPr/>
                    <a:lstStyle/>
                    <a:p>
                      <a:pPr marL="0" indent="0">
                        <a:buNone/>
                      </a:pPr>
                      <a:r>
                        <a:rPr lang="en-US" sz="1200" dirty="0">
                          <a:solidFill>
                            <a:srgbClr val="000000"/>
                          </a:solidFill>
                          <a:latin typeface="Calibri" pitchFamily="34" charset="0"/>
                          <a:ea typeface="Calibri" pitchFamily="34" charset="-122"/>
                          <a:cs typeface="Calibri" pitchFamily="34" charset="-120"/>
                        </a:rPr>
                        <a:t>Emoji density of the corpus is rarely reported, so effect size cannot be judged</a:t>
                      </a:r>
                      <a:endParaRPr lang="en-US" sz="1200" dirty="0">
                        <a:latin typeface="Calibri" charset="0"/>
                        <a:ea typeface="Calibri" charset="0"/>
                        <a:cs typeface="Calibri" charset="0"/>
                      </a:endParaRPr>
                    </a:p>
                  </a:txBody>
                  <a:tcPr anchor="ctr">
                    <a:lnL w="9525" cap="flat" cmpd="sng" algn="ctr">
                      <a:solidFill>
                        <a:srgbClr val="C9CDD4"/>
                      </a:solidFill>
                      <a:prstDash val="solid"/>
                      <a:round/>
                      <a:headEnd type="none" w="med" len="med"/>
                      <a:tailEnd type="none" w="med" len="med"/>
                    </a:lnL>
                    <a:lnR w="9525" cap="flat" cmpd="sng" algn="ctr">
                      <a:solidFill>
                        <a:srgbClr val="C9CDD4"/>
                      </a:solidFill>
                      <a:prstDash val="solid"/>
                      <a:round/>
                      <a:headEnd type="none" w="med" len="med"/>
                      <a:tailEnd type="none" w="med" len="med"/>
                    </a:lnR>
                    <a:lnT w="9525" cap="flat" cmpd="sng" algn="ctr">
                      <a:solidFill>
                        <a:srgbClr val="C9CDD4"/>
                      </a:solidFill>
                      <a:prstDash val="solid"/>
                      <a:round/>
                      <a:headEnd type="none" w="med" len="med"/>
                      <a:tailEnd type="none" w="med" len="med"/>
                    </a:lnT>
                    <a:lnB w="9525" cap="flat" cmpd="sng" algn="ctr">
                      <a:solidFill>
                        <a:srgbClr val="C9CDD4"/>
                      </a:solidFill>
                      <a:prstDash val="solid"/>
                      <a:round/>
                      <a:headEnd type="none" w="med" len="med"/>
                      <a:tailEnd type="none" w="med" len="med"/>
                    </a:lnB>
                  </a:tcPr>
                </a:tc>
                <a:extLst>
                  <a:ext uri="{0D108BD9-81ED-4DB2-BD59-A6C34878D82A}">
                    <a16:rowId xmlns:a16="http://schemas.microsoft.com/office/drawing/2014/main" val="10003"/>
                  </a:ext>
                </a:extLst>
              </a:tr>
              <a:tr h="402336">
                <a:tc>
                  <a:txBody>
                    <a:bodyPr/>
                    <a:lstStyle/>
                    <a:p>
                      <a:pPr marL="0" indent="0">
                        <a:buNone/>
                      </a:pPr>
                      <a:r>
                        <a:rPr lang="en-US" sz="1200" dirty="0">
                          <a:solidFill>
                            <a:srgbClr val="000000"/>
                          </a:solidFill>
                          <a:latin typeface="Calibri" pitchFamily="34" charset="0"/>
                          <a:ea typeface="Calibri" pitchFamily="34" charset="-122"/>
                          <a:cs typeface="Calibri" pitchFamily="34" charset="-120"/>
                        </a:rPr>
                        <a:t>Established metric conventions for multi-label problems</a:t>
                      </a:r>
                      <a:endParaRPr lang="en-US" sz="1200" dirty="0">
                        <a:latin typeface="Calibri" charset="0"/>
                        <a:ea typeface="Calibri" charset="0"/>
                        <a:cs typeface="Calibri" charset="0"/>
                      </a:endParaRPr>
                    </a:p>
                  </a:txBody>
                  <a:tcPr anchor="ctr">
                    <a:lnL w="9525" cap="flat" cmpd="sng" algn="ctr">
                      <a:solidFill>
                        <a:srgbClr val="C9CDD4"/>
                      </a:solidFill>
                      <a:prstDash val="solid"/>
                      <a:round/>
                      <a:headEnd type="none" w="med" len="med"/>
                      <a:tailEnd type="none" w="med" len="med"/>
                    </a:lnL>
                    <a:lnR w="9525" cap="flat" cmpd="sng" algn="ctr">
                      <a:solidFill>
                        <a:srgbClr val="C9CDD4"/>
                      </a:solidFill>
                      <a:prstDash val="solid"/>
                      <a:round/>
                      <a:headEnd type="none" w="med" len="med"/>
                      <a:tailEnd type="none" w="med" len="med"/>
                    </a:lnR>
                    <a:lnT w="9525" cap="flat" cmpd="sng" algn="ctr">
                      <a:solidFill>
                        <a:srgbClr val="C9CDD4"/>
                      </a:solidFill>
                      <a:prstDash val="solid"/>
                      <a:round/>
                      <a:headEnd type="none" w="med" len="med"/>
                      <a:tailEnd type="none" w="med" len="med"/>
                    </a:lnT>
                    <a:lnB w="9525" cap="flat" cmpd="sng" algn="ctr">
                      <a:solidFill>
                        <a:srgbClr val="C9CDD4"/>
                      </a:solidFill>
                      <a:prstDash val="solid"/>
                      <a:round/>
                      <a:headEnd type="none" w="med" len="med"/>
                      <a:tailEnd type="none" w="med" len="med"/>
                    </a:lnB>
                  </a:tcPr>
                </a:tc>
                <a:tc>
                  <a:txBody>
                    <a:bodyPr/>
                    <a:lstStyle/>
                    <a:p>
                      <a:pPr marL="0" indent="0">
                        <a:buNone/>
                      </a:pPr>
                      <a:r>
                        <a:rPr lang="en-US" sz="1200" dirty="0">
                          <a:solidFill>
                            <a:srgbClr val="000000"/>
                          </a:solidFill>
                          <a:latin typeface="Calibri" pitchFamily="34" charset="0"/>
                          <a:ea typeface="Calibri" pitchFamily="34" charset="-122"/>
                          <a:cs typeface="Calibri" pitchFamily="34" charset="-120"/>
                        </a:rPr>
                        <a:t>Small gains are often reported without repeated runs or variance estimates</a:t>
                      </a:r>
                      <a:endParaRPr lang="en-US" sz="1200" dirty="0">
                        <a:latin typeface="Calibri" charset="0"/>
                        <a:ea typeface="Calibri" charset="0"/>
                        <a:cs typeface="Calibri" charset="0"/>
                      </a:endParaRPr>
                    </a:p>
                  </a:txBody>
                  <a:tcPr anchor="ctr">
                    <a:lnL w="9525" cap="flat" cmpd="sng" algn="ctr">
                      <a:solidFill>
                        <a:srgbClr val="C9CDD4"/>
                      </a:solidFill>
                      <a:prstDash val="solid"/>
                      <a:round/>
                      <a:headEnd type="none" w="med" len="med"/>
                      <a:tailEnd type="none" w="med" len="med"/>
                    </a:lnL>
                    <a:lnR w="9525" cap="flat" cmpd="sng" algn="ctr">
                      <a:solidFill>
                        <a:srgbClr val="C9CDD4"/>
                      </a:solidFill>
                      <a:prstDash val="solid"/>
                      <a:round/>
                      <a:headEnd type="none" w="med" len="med"/>
                      <a:tailEnd type="none" w="med" len="med"/>
                    </a:lnR>
                    <a:lnT w="9525" cap="flat" cmpd="sng" algn="ctr">
                      <a:solidFill>
                        <a:srgbClr val="C9CDD4"/>
                      </a:solidFill>
                      <a:prstDash val="solid"/>
                      <a:round/>
                      <a:headEnd type="none" w="med" len="med"/>
                      <a:tailEnd type="none" w="med" len="med"/>
                    </a:lnT>
                    <a:lnB w="9525" cap="flat" cmpd="sng" algn="ctr">
                      <a:solidFill>
                        <a:srgbClr val="C9CDD4"/>
                      </a:solidFill>
                      <a:prstDash val="solid"/>
                      <a:round/>
                      <a:headEnd type="none" w="med" len="med"/>
                      <a:tailEnd type="none" w="med" len="med"/>
                    </a:lnB>
                  </a:tcPr>
                </a:tc>
                <a:extLst>
                  <a:ext uri="{0D108BD9-81ED-4DB2-BD59-A6C34878D82A}">
                    <a16:rowId xmlns:a16="http://schemas.microsoft.com/office/drawing/2014/main" val="10004"/>
                  </a:ext>
                </a:extLst>
              </a:tr>
            </a:tbl>
          </a:graphicData>
        </a:graphic>
      </p:graphicFrame>
      <p:sp>
        <p:nvSpPr>
          <p:cNvPr id="14" name="Text 11"/>
          <p:cNvSpPr txBox="1"/>
          <p:nvPr/>
        </p:nvSpPr>
        <p:spPr>
          <a:xfrm>
            <a:off x="749808" y="4041648"/>
            <a:ext cx="10872216" cy="2331720"/>
          </a:xfrm>
          <a:prstGeom prst="rect">
            <a:avLst/>
          </a:prstGeom>
          <a:noFill/>
          <a:ln/>
        </p:spPr>
        <p:txBody>
          <a:bodyPr wrap="square" lIns="0" tIns="0" rIns="0" bIns="0" rtlCol="0" anchor="t"/>
          <a:lstStyle/>
          <a:p>
            <a:pPr marL="177800" indent="-177800">
              <a:lnSpc>
                <a:spcPct val="106000"/>
              </a:lnSpc>
              <a:spcAft>
                <a:spcPts val="800"/>
              </a:spcAft>
              <a:buSzPct val="100000"/>
              <a:buChar char="•"/>
            </a:pPr>
            <a:r>
              <a:rPr lang="en-US" sz="1300" b="1" dirty="0">
                <a:solidFill>
                  <a:srgbClr val="000000"/>
                </a:solidFill>
                <a:latin typeface="Calibri" pitchFamily="34" charset="0"/>
                <a:ea typeface="Calibri" pitchFamily="34" charset="-122"/>
                <a:cs typeface="Calibri" pitchFamily="34" charset="-120"/>
              </a:rPr>
              <a:t>Well-Rounded Contrasts: </a:t>
            </a:r>
            <a:r>
              <a:rPr lang="en-US" sz="1300" dirty="0">
                <a:solidFill>
                  <a:srgbClr val="000000"/>
                </a:solidFill>
                <a:latin typeface="Calibri" pitchFamily="34" charset="0"/>
                <a:ea typeface="Calibri" pitchFamily="34" charset="-122"/>
                <a:cs typeface="Calibri" pitchFamily="34" charset="-120"/>
              </a:rPr>
              <a:t>one view holds that large pre-trained models have already seen noisy web text, so careful cleaning adds little; controlled study still finds measurable effects (Shukla &amp; Dwivedi, 2024). The disagreement is partly definitional, because the claim is much stronger for pre-trained models than for models trained from scratch, which is the case here.</a:t>
            </a:r>
            <a:endParaRPr lang="en-US" sz="1300" dirty="0"/>
          </a:p>
          <a:p>
            <a:pPr marL="177800" indent="-177800">
              <a:lnSpc>
                <a:spcPct val="106000"/>
              </a:lnSpc>
              <a:spcAft>
                <a:spcPts val="800"/>
              </a:spcAft>
              <a:buSzPct val="100000"/>
              <a:buChar char="•"/>
            </a:pPr>
            <a:r>
              <a:rPr lang="en-US" sz="1300" b="1" dirty="0">
                <a:solidFill>
                  <a:srgbClr val="000000"/>
                </a:solidFill>
                <a:latin typeface="Calibri" pitchFamily="34" charset="0"/>
                <a:ea typeface="Calibri" pitchFamily="34" charset="-122"/>
                <a:cs typeface="Calibri" pitchFamily="34" charset="-120"/>
              </a:rPr>
              <a:t>Gaps from the Literature: </a:t>
            </a:r>
            <a:r>
              <a:rPr lang="en-US" sz="1300" dirty="0">
                <a:solidFill>
                  <a:srgbClr val="000000"/>
                </a:solidFill>
                <a:latin typeface="Calibri" pitchFamily="34" charset="0"/>
                <a:ea typeface="Calibri" pitchFamily="34" charset="-122"/>
                <a:cs typeface="Calibri" pitchFamily="34" charset="-120"/>
              </a:rPr>
              <a:t>Gap 1 — the emoji decision is confounded with other changes, so its own contribution cannot be measured. Gap 2 — emoji effects are not reported per emotion. Gap 3 — the interaction between emoji handling and architecture has not been tested by varying both factors in one design. Gap 4 — emoji density is rarely stated, so a reader cannot judge whether a gain is large relative to the opportunity.</a:t>
            </a:r>
            <a:endParaRPr lang="en-US" sz="13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914400" y="2514600"/>
            <a:ext cx="10360152" cy="658368"/>
          </a:xfrm>
          <a:prstGeom prst="rect">
            <a:avLst/>
          </a:prstGeom>
          <a:noFill/>
          <a:ln/>
        </p:spPr>
        <p:txBody>
          <a:bodyPr wrap="square" lIns="0" tIns="0" rIns="0" bIns="0" rtlCol="0" anchor="ctr"/>
          <a:lstStyle/>
          <a:p>
            <a:pPr marL="0" indent="0" algn="ctr">
              <a:buNone/>
            </a:pPr>
            <a:r>
              <a:rPr lang="en-US" sz="3400" dirty="0">
                <a:solidFill>
                  <a:srgbClr val="000000"/>
                </a:solidFill>
                <a:latin typeface="Calibri" pitchFamily="34" charset="0"/>
                <a:ea typeface="Calibri" pitchFamily="34" charset="-122"/>
                <a:cs typeface="Calibri" pitchFamily="34" charset="-120"/>
              </a:rPr>
              <a:t>3.  Research Methodology</a:t>
            </a:r>
            <a:endParaRPr lang="en-US" sz="3400" dirty="0"/>
          </a:p>
        </p:txBody>
      </p:sp>
      <p:sp>
        <p:nvSpPr>
          <p:cNvPr id="3" name="Shape 1"/>
          <p:cNvSpPr/>
          <p:nvPr/>
        </p:nvSpPr>
        <p:spPr>
          <a:xfrm>
            <a:off x="2258568" y="3502152"/>
            <a:ext cx="7680960" cy="32004"/>
          </a:xfrm>
          <a:prstGeom prst="rect">
            <a:avLst/>
          </a:prstGeom>
          <a:solidFill>
            <a:srgbClr val="CC0000"/>
          </a:solidFill>
          <a:ln w="12700">
            <a:solidFill>
              <a:srgbClr val="CC0000"/>
            </a:solidFill>
            <a:prstDash val="solid"/>
          </a:ln>
        </p:spPr>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1045159"/>
          </a:xfrm>
          <a:prstGeom prst="rect">
            <a:avLst/>
          </a:prstGeom>
          <a:solidFill>
            <a:srgbClr val="9A003B"/>
          </a:solidFill>
          <a:ln w="12700">
            <a:solidFill>
              <a:srgbClr val="9A003B"/>
            </a:solidFill>
            <a:prstDash val="solid"/>
          </a:ln>
        </p:spPr>
      </p:sp>
      <p:sp>
        <p:nvSpPr>
          <p:cNvPr id="3" name="Text 1"/>
          <p:cNvSpPr txBox="1"/>
          <p:nvPr/>
        </p:nvSpPr>
        <p:spPr>
          <a:xfrm>
            <a:off x="228600" y="109728"/>
            <a:ext cx="11704320" cy="825703"/>
          </a:xfrm>
          <a:prstGeom prst="rect">
            <a:avLst/>
          </a:prstGeom>
          <a:noFill/>
          <a:ln/>
        </p:spPr>
        <p:txBody>
          <a:bodyPr wrap="square" lIns="0" tIns="0" rIns="0" bIns="0" rtlCol="0" anchor="ctr"/>
          <a:lstStyle/>
          <a:p>
            <a:pPr marL="0" indent="0">
              <a:lnSpc>
                <a:spcPct val="95000"/>
              </a:lnSpc>
              <a:buNone/>
            </a:pPr>
            <a:r>
              <a:rPr lang="en-US" sz="2500" dirty="0">
                <a:solidFill>
                  <a:srgbClr val="FFFFFF"/>
                </a:solidFill>
                <a:latin typeface="Calibri" pitchFamily="34" charset="0"/>
                <a:ea typeface="Calibri" pitchFamily="34" charset="-122"/>
                <a:cs typeface="Calibri" pitchFamily="34" charset="-120"/>
              </a:rPr>
              <a:t>Research Methodology: The Research Onion Integration I</a:t>
            </a:r>
            <a:endParaRPr lang="en-US" sz="2500" dirty="0"/>
          </a:p>
        </p:txBody>
      </p:sp>
      <p:sp>
        <p:nvSpPr>
          <p:cNvPr id="4" name="Text 2"/>
          <p:cNvSpPr txBox="1"/>
          <p:nvPr/>
        </p:nvSpPr>
        <p:spPr>
          <a:xfrm>
            <a:off x="10515600" y="5806440"/>
            <a:ext cx="1463040" cy="749808"/>
          </a:xfrm>
          <a:prstGeom prst="rect">
            <a:avLst/>
          </a:prstGeom>
          <a:noFill/>
          <a:ln/>
        </p:spPr>
        <p:txBody>
          <a:bodyPr wrap="square" lIns="0" tIns="0" rIns="0" bIns="0" rtlCol="0" anchor="b"/>
          <a:lstStyle/>
          <a:p>
            <a:pPr marL="0" indent="0" algn="r">
              <a:lnSpc>
                <a:spcPct val="85000"/>
              </a:lnSpc>
              <a:buNone/>
            </a:pPr>
            <a:r>
              <a:rPr lang="en-US" sz="1150" b="1" dirty="0">
                <a:solidFill>
                  <a:srgbClr val="9A003B"/>
                </a:solidFill>
                <a:latin typeface="Calibri" pitchFamily="34" charset="0"/>
                <a:ea typeface="Calibri" pitchFamily="34" charset="-122"/>
                <a:cs typeface="Calibri" pitchFamily="34" charset="-120"/>
              </a:rPr>
              <a:t>Sheffield</a:t>
            </a:r>
            <a:endParaRPr lang="en-US" sz="1150" dirty="0"/>
          </a:p>
          <a:p>
            <a:pPr marL="0" indent="0" algn="r">
              <a:lnSpc>
                <a:spcPct val="85000"/>
              </a:lnSpc>
              <a:buNone/>
            </a:pPr>
            <a:r>
              <a:rPr lang="en-US" sz="1150" b="1" dirty="0">
                <a:solidFill>
                  <a:srgbClr val="9A003B"/>
                </a:solidFill>
                <a:latin typeface="Calibri" pitchFamily="34" charset="0"/>
                <a:ea typeface="Calibri" pitchFamily="34" charset="-122"/>
                <a:cs typeface="Calibri" pitchFamily="34" charset="-120"/>
              </a:rPr>
              <a:t>Hallam</a:t>
            </a:r>
            <a:endParaRPr lang="en-US" sz="1150" dirty="0"/>
          </a:p>
          <a:p>
            <a:pPr marL="0" indent="0" algn="r">
              <a:lnSpc>
                <a:spcPct val="85000"/>
              </a:lnSpc>
              <a:buNone/>
            </a:pPr>
            <a:r>
              <a:rPr lang="en-US" sz="1150" b="1" dirty="0">
                <a:solidFill>
                  <a:srgbClr val="9A003B"/>
                </a:solidFill>
                <a:latin typeface="Calibri" pitchFamily="34" charset="0"/>
                <a:ea typeface="Calibri" pitchFamily="34" charset="-122"/>
                <a:cs typeface="Calibri" pitchFamily="34" charset="-120"/>
              </a:rPr>
              <a:t>University</a:t>
            </a:r>
            <a:endParaRPr lang="en-US" sz="1150" dirty="0"/>
          </a:p>
        </p:txBody>
      </p:sp>
      <p:sp>
        <p:nvSpPr>
          <p:cNvPr id="5" name="Shape 3"/>
          <p:cNvSpPr/>
          <p:nvPr/>
        </p:nvSpPr>
        <p:spPr>
          <a:xfrm>
            <a:off x="0" y="6624828"/>
            <a:ext cx="4063898" cy="233172"/>
          </a:xfrm>
          <a:prstGeom prst="rect">
            <a:avLst/>
          </a:prstGeom>
          <a:solidFill>
            <a:srgbClr val="4D001E"/>
          </a:solidFill>
          <a:ln w="12700">
            <a:solidFill>
              <a:srgbClr val="4D001E"/>
            </a:solidFill>
            <a:prstDash val="solid"/>
          </a:ln>
        </p:spPr>
      </p:sp>
      <p:sp>
        <p:nvSpPr>
          <p:cNvPr id="6" name="Shape 4"/>
          <p:cNvSpPr/>
          <p:nvPr/>
        </p:nvSpPr>
        <p:spPr>
          <a:xfrm>
            <a:off x="4063898" y="6624828"/>
            <a:ext cx="4063898" cy="233172"/>
          </a:xfrm>
          <a:prstGeom prst="rect">
            <a:avLst/>
          </a:prstGeom>
          <a:solidFill>
            <a:srgbClr val="74002C"/>
          </a:solidFill>
          <a:ln w="12700">
            <a:solidFill>
              <a:srgbClr val="74002C"/>
            </a:solidFill>
            <a:prstDash val="solid"/>
          </a:ln>
        </p:spPr>
      </p:sp>
      <p:sp>
        <p:nvSpPr>
          <p:cNvPr id="7" name="Shape 5"/>
          <p:cNvSpPr/>
          <p:nvPr/>
        </p:nvSpPr>
        <p:spPr>
          <a:xfrm>
            <a:off x="8127797" y="6624828"/>
            <a:ext cx="4063898" cy="233172"/>
          </a:xfrm>
          <a:prstGeom prst="rect">
            <a:avLst/>
          </a:prstGeom>
          <a:solidFill>
            <a:srgbClr val="9A003B"/>
          </a:solidFill>
          <a:ln w="12700">
            <a:solidFill>
              <a:srgbClr val="9A003B"/>
            </a:solidFill>
            <a:prstDash val="solid"/>
          </a:ln>
        </p:spPr>
      </p:sp>
      <p:sp>
        <p:nvSpPr>
          <p:cNvPr id="8" name="Text 6"/>
          <p:cNvSpPr txBox="1"/>
          <p:nvPr/>
        </p:nvSpPr>
        <p:spPr>
          <a:xfrm>
            <a:off x="1143000" y="6624828"/>
            <a:ext cx="2743200" cy="233172"/>
          </a:xfrm>
          <a:prstGeom prst="rect">
            <a:avLst/>
          </a:prstGeom>
          <a:noFill/>
          <a:ln/>
        </p:spPr>
        <p:txBody>
          <a:bodyPr wrap="square" lIns="0" tIns="0" rIns="0" bIns="0" rtlCol="0" anchor="ctr"/>
          <a:lstStyle/>
          <a:p>
            <a:pPr marL="0" indent="0">
              <a:buNone/>
            </a:pPr>
            <a:r>
              <a:rPr lang="en-US" sz="900" dirty="0">
                <a:solidFill>
                  <a:srgbClr val="FFFFFF"/>
                </a:solidFill>
                <a:latin typeface="Calibri" pitchFamily="34" charset="0"/>
                <a:ea typeface="Calibri" pitchFamily="34" charset="-122"/>
                <a:cs typeface="Calibri" pitchFamily="34" charset="-120"/>
              </a:rPr>
              <a:t>[Student Initials]  (SHU)</a:t>
            </a:r>
            <a:endParaRPr lang="en-US" sz="900" dirty="0"/>
          </a:p>
        </p:txBody>
      </p:sp>
      <p:sp>
        <p:nvSpPr>
          <p:cNvPr id="9" name="Text 7"/>
          <p:cNvSpPr txBox="1"/>
          <p:nvPr/>
        </p:nvSpPr>
        <p:spPr>
          <a:xfrm>
            <a:off x="5276088" y="6624828"/>
            <a:ext cx="2743200" cy="233172"/>
          </a:xfrm>
          <a:prstGeom prst="rect">
            <a:avLst/>
          </a:prstGeom>
          <a:noFill/>
          <a:ln/>
        </p:spPr>
        <p:txBody>
          <a:bodyPr wrap="square" lIns="0" tIns="0" rIns="0" bIns="0" rtlCol="0" anchor="ctr"/>
          <a:lstStyle/>
          <a:p>
            <a:pPr marL="0" indent="0">
              <a:buNone/>
            </a:pPr>
            <a:r>
              <a:rPr lang="en-US" sz="900" dirty="0">
                <a:solidFill>
                  <a:srgbClr val="FFFFFF"/>
                </a:solidFill>
                <a:latin typeface="Calibri" pitchFamily="34" charset="0"/>
                <a:ea typeface="Calibri" pitchFamily="34" charset="-122"/>
                <a:cs typeface="Calibri" pitchFamily="34" charset="-120"/>
              </a:rPr>
              <a:t>Does the Emoji Matter?</a:t>
            </a:r>
            <a:endParaRPr lang="en-US" sz="900" dirty="0"/>
          </a:p>
        </p:txBody>
      </p:sp>
      <p:sp>
        <p:nvSpPr>
          <p:cNvPr id="10" name="Text 8"/>
          <p:cNvSpPr txBox="1"/>
          <p:nvPr/>
        </p:nvSpPr>
        <p:spPr>
          <a:xfrm>
            <a:off x="9235440" y="6624828"/>
            <a:ext cx="1645920" cy="233172"/>
          </a:xfrm>
          <a:prstGeom prst="rect">
            <a:avLst/>
          </a:prstGeom>
          <a:noFill/>
          <a:ln/>
        </p:spPr>
        <p:txBody>
          <a:bodyPr wrap="square" lIns="0" tIns="0" rIns="0" bIns="0" rtlCol="0" anchor="ctr"/>
          <a:lstStyle/>
          <a:p>
            <a:pPr marL="0" indent="0">
              <a:buNone/>
            </a:pPr>
            <a:r>
              <a:rPr lang="en-US" sz="900" dirty="0">
                <a:solidFill>
                  <a:srgbClr val="FFFFFF"/>
                </a:solidFill>
                <a:latin typeface="Calibri" pitchFamily="34" charset="0"/>
                <a:ea typeface="Calibri" pitchFamily="34" charset="-122"/>
                <a:cs typeface="Calibri" pitchFamily="34" charset="-120"/>
              </a:rPr>
              <a:t>September 2026</a:t>
            </a:r>
            <a:endParaRPr lang="en-US" sz="900" dirty="0"/>
          </a:p>
        </p:txBody>
      </p:sp>
      <p:sp>
        <p:nvSpPr>
          <p:cNvPr id="11" name="Text 9"/>
          <p:cNvSpPr txBox="1"/>
          <p:nvPr/>
        </p:nvSpPr>
        <p:spPr>
          <a:xfrm>
            <a:off x="10881360" y="6624828"/>
            <a:ext cx="1161288" cy="233172"/>
          </a:xfrm>
          <a:prstGeom prst="rect">
            <a:avLst/>
          </a:prstGeom>
          <a:noFill/>
          <a:ln/>
        </p:spPr>
        <p:txBody>
          <a:bodyPr wrap="square" lIns="0" tIns="0" rIns="0" bIns="0" rtlCol="0" anchor="ctr"/>
          <a:lstStyle/>
          <a:p>
            <a:pPr marL="0" indent="0" algn="r">
              <a:buNone/>
            </a:pPr>
            <a:r>
              <a:rPr lang="en-US" sz="900" dirty="0">
                <a:solidFill>
                  <a:srgbClr val="FFFFFF"/>
                </a:solidFill>
                <a:latin typeface="Calibri" pitchFamily="34" charset="0"/>
                <a:ea typeface="Calibri" pitchFamily="34" charset="-122"/>
                <a:cs typeface="Calibri" pitchFamily="34" charset="-120"/>
              </a:rPr>
              <a:t>13 / 43</a:t>
            </a:r>
            <a:endParaRPr lang="en-US" sz="900" dirty="0"/>
          </a:p>
        </p:txBody>
      </p:sp>
      <p:sp>
        <p:nvSpPr>
          <p:cNvPr id="12" name="Text 10"/>
          <p:cNvSpPr txBox="1"/>
          <p:nvPr/>
        </p:nvSpPr>
        <p:spPr>
          <a:xfrm>
            <a:off x="566928" y="1298448"/>
            <a:ext cx="11055096" cy="274320"/>
          </a:xfrm>
          <a:prstGeom prst="rect">
            <a:avLst/>
          </a:prstGeom>
          <a:noFill/>
          <a:ln/>
        </p:spPr>
        <p:txBody>
          <a:bodyPr wrap="square" lIns="0" tIns="0" rIns="0" bIns="0" rtlCol="0" anchor="t"/>
          <a:lstStyle/>
          <a:p>
            <a:pPr marL="0" indent="0">
              <a:lnSpc>
                <a:spcPct val="106000"/>
              </a:lnSpc>
              <a:buNone/>
            </a:pPr>
            <a:r>
              <a:rPr lang="en-US" sz="1500" b="1" dirty="0">
                <a:solidFill>
                  <a:srgbClr val="000000"/>
                </a:solidFill>
                <a:latin typeface="Calibri" pitchFamily="34" charset="0"/>
                <a:ea typeface="Calibri" pitchFamily="34" charset="-122"/>
                <a:cs typeface="Calibri" pitchFamily="34" charset="-120"/>
              </a:rPr>
              <a:t>Research Onion Layers:</a:t>
            </a:r>
            <a:endParaRPr lang="en-US" sz="1500" dirty="0"/>
          </a:p>
        </p:txBody>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566928" y="1645920"/>
          <a:ext cx="11055096" cy="3968496"/>
        </p:xfrm>
        <a:graphic>
          <a:graphicData uri="http://schemas.openxmlformats.org/drawingml/2006/table">
            <a:tbl>
              <a:tblPr/>
              <a:tblGrid>
                <a:gridCol w="2103120">
                  <a:extLst>
                    <a:ext uri="{9D8B030D-6E8A-4147-A177-3AD203B41FA5}">
                      <a16:colId xmlns:a16="http://schemas.microsoft.com/office/drawing/2014/main" val="20000"/>
                    </a:ext>
                  </a:extLst>
                </a:gridCol>
                <a:gridCol w="2377440">
                  <a:extLst>
                    <a:ext uri="{9D8B030D-6E8A-4147-A177-3AD203B41FA5}">
                      <a16:colId xmlns:a16="http://schemas.microsoft.com/office/drawing/2014/main" val="20001"/>
                    </a:ext>
                  </a:extLst>
                </a:gridCol>
                <a:gridCol w="6574536">
                  <a:extLst>
                    <a:ext uri="{9D8B030D-6E8A-4147-A177-3AD203B41FA5}">
                      <a16:colId xmlns:a16="http://schemas.microsoft.com/office/drawing/2014/main" val="20002"/>
                    </a:ext>
                  </a:extLst>
                </a:gridCol>
              </a:tblGrid>
              <a:tr h="566928">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Layer</a:t>
                      </a:r>
                      <a:endParaRPr lang="en-US" sz="1200" dirty="0">
                        <a:latin typeface="Calibri" charset="0"/>
                        <a:ea typeface="Calibri" charset="0"/>
                        <a:cs typeface="Calibri" charset="0"/>
                      </a:endParaRPr>
                    </a:p>
                  </a:txBody>
                  <a:tcPr anchor="ctr">
                    <a:lnL w="9525" cap="flat" cmpd="sng" algn="ctr">
                      <a:solidFill>
                        <a:srgbClr val="C9CDD4"/>
                      </a:solidFill>
                      <a:prstDash val="solid"/>
                      <a:round/>
                      <a:headEnd type="none" w="med" len="med"/>
                      <a:tailEnd type="none" w="med" len="med"/>
                    </a:lnL>
                    <a:lnR w="9525" cap="flat" cmpd="sng" algn="ctr">
                      <a:solidFill>
                        <a:srgbClr val="C9CDD4"/>
                      </a:solidFill>
                      <a:prstDash val="solid"/>
                      <a:round/>
                      <a:headEnd type="none" w="med" len="med"/>
                      <a:tailEnd type="none" w="med" len="med"/>
                    </a:lnR>
                    <a:lnT w="9525" cap="flat" cmpd="sng" algn="ctr">
                      <a:solidFill>
                        <a:srgbClr val="C9CDD4"/>
                      </a:solidFill>
                      <a:prstDash val="solid"/>
                      <a:round/>
                      <a:headEnd type="none" w="med" len="med"/>
                      <a:tailEnd type="none" w="med" len="med"/>
                    </a:lnT>
                    <a:lnB w="9525" cap="flat" cmpd="sng" algn="ctr">
                      <a:solidFill>
                        <a:srgbClr val="C9CDD4"/>
                      </a:solidFill>
                      <a:prstDash val="solid"/>
                      <a:round/>
                      <a:headEnd type="none" w="med" len="med"/>
                      <a:tailEnd type="none" w="med" len="med"/>
                    </a:lnB>
                    <a:solidFill>
                      <a:srgbClr val="9A003B"/>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Choice made</a:t>
                      </a:r>
                      <a:endParaRPr lang="en-US" sz="1200" dirty="0">
                        <a:latin typeface="Calibri" charset="0"/>
                        <a:ea typeface="Calibri" charset="0"/>
                        <a:cs typeface="Calibri" charset="0"/>
                      </a:endParaRPr>
                    </a:p>
                  </a:txBody>
                  <a:tcPr anchor="ctr">
                    <a:lnL w="9525" cap="flat" cmpd="sng" algn="ctr">
                      <a:solidFill>
                        <a:srgbClr val="C9CDD4"/>
                      </a:solidFill>
                      <a:prstDash val="solid"/>
                      <a:round/>
                      <a:headEnd type="none" w="med" len="med"/>
                      <a:tailEnd type="none" w="med" len="med"/>
                    </a:lnL>
                    <a:lnR w="9525" cap="flat" cmpd="sng" algn="ctr">
                      <a:solidFill>
                        <a:srgbClr val="C9CDD4"/>
                      </a:solidFill>
                      <a:prstDash val="solid"/>
                      <a:round/>
                      <a:headEnd type="none" w="med" len="med"/>
                      <a:tailEnd type="none" w="med" len="med"/>
                    </a:lnR>
                    <a:lnT w="9525" cap="flat" cmpd="sng" algn="ctr">
                      <a:solidFill>
                        <a:srgbClr val="C9CDD4"/>
                      </a:solidFill>
                      <a:prstDash val="solid"/>
                      <a:round/>
                      <a:headEnd type="none" w="med" len="med"/>
                      <a:tailEnd type="none" w="med" len="med"/>
                    </a:lnT>
                    <a:lnB w="9525" cap="flat" cmpd="sng" algn="ctr">
                      <a:solidFill>
                        <a:srgbClr val="C9CDD4"/>
                      </a:solidFill>
                      <a:prstDash val="solid"/>
                      <a:round/>
                      <a:headEnd type="none" w="med" len="med"/>
                      <a:tailEnd type="none" w="med" len="med"/>
                    </a:lnB>
                    <a:solidFill>
                      <a:srgbClr val="9A003B"/>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Why it fits this project</a:t>
                      </a:r>
                      <a:endParaRPr lang="en-US" sz="1200" dirty="0">
                        <a:latin typeface="Calibri" charset="0"/>
                        <a:ea typeface="Calibri" charset="0"/>
                        <a:cs typeface="Calibri" charset="0"/>
                      </a:endParaRPr>
                    </a:p>
                  </a:txBody>
                  <a:tcPr anchor="ctr">
                    <a:lnL w="9525" cap="flat" cmpd="sng" algn="ctr">
                      <a:solidFill>
                        <a:srgbClr val="C9CDD4"/>
                      </a:solidFill>
                      <a:prstDash val="solid"/>
                      <a:round/>
                      <a:headEnd type="none" w="med" len="med"/>
                      <a:tailEnd type="none" w="med" len="med"/>
                    </a:lnL>
                    <a:lnR w="9525" cap="flat" cmpd="sng" algn="ctr">
                      <a:solidFill>
                        <a:srgbClr val="C9CDD4"/>
                      </a:solidFill>
                      <a:prstDash val="solid"/>
                      <a:round/>
                      <a:headEnd type="none" w="med" len="med"/>
                      <a:tailEnd type="none" w="med" len="med"/>
                    </a:lnR>
                    <a:lnT w="9525" cap="flat" cmpd="sng" algn="ctr">
                      <a:solidFill>
                        <a:srgbClr val="C9CDD4"/>
                      </a:solidFill>
                      <a:prstDash val="solid"/>
                      <a:round/>
                      <a:headEnd type="none" w="med" len="med"/>
                      <a:tailEnd type="none" w="med" len="med"/>
                    </a:lnT>
                    <a:lnB w="9525" cap="flat" cmpd="sng" algn="ctr">
                      <a:solidFill>
                        <a:srgbClr val="C9CDD4"/>
                      </a:solidFill>
                      <a:prstDash val="solid"/>
                      <a:round/>
                      <a:headEnd type="none" w="med" len="med"/>
                      <a:tailEnd type="none" w="med" len="med"/>
                    </a:lnB>
                    <a:solidFill>
                      <a:srgbClr val="9A003B"/>
                    </a:solidFill>
                  </a:tcPr>
                </a:tc>
                <a:extLst>
                  <a:ext uri="{0D108BD9-81ED-4DB2-BD59-A6C34878D82A}">
                    <a16:rowId xmlns:a16="http://schemas.microsoft.com/office/drawing/2014/main" val="10000"/>
                  </a:ext>
                </a:extLst>
              </a:tr>
              <a:tr h="566928">
                <a:tc>
                  <a:txBody>
                    <a:bodyPr/>
                    <a:lstStyle/>
                    <a:p>
                      <a:pPr marL="0" indent="0">
                        <a:buNone/>
                      </a:pPr>
                      <a:r>
                        <a:rPr lang="en-US" sz="1200" dirty="0">
                          <a:solidFill>
                            <a:srgbClr val="000000"/>
                          </a:solidFill>
                          <a:latin typeface="Calibri" pitchFamily="34" charset="0"/>
                          <a:ea typeface="Calibri" pitchFamily="34" charset="-122"/>
                          <a:cs typeface="Calibri" pitchFamily="34" charset="-120"/>
                        </a:rPr>
                        <a:t>Philosophy</a:t>
                      </a:r>
                      <a:endParaRPr lang="en-US" sz="1200" dirty="0">
                        <a:latin typeface="Calibri" charset="0"/>
                        <a:ea typeface="Calibri" charset="0"/>
                        <a:cs typeface="Calibri" charset="0"/>
                      </a:endParaRPr>
                    </a:p>
                  </a:txBody>
                  <a:tcPr anchor="ctr">
                    <a:lnL w="9525" cap="flat" cmpd="sng" algn="ctr">
                      <a:solidFill>
                        <a:srgbClr val="C9CDD4"/>
                      </a:solidFill>
                      <a:prstDash val="solid"/>
                      <a:round/>
                      <a:headEnd type="none" w="med" len="med"/>
                      <a:tailEnd type="none" w="med" len="med"/>
                    </a:lnL>
                    <a:lnR w="9525" cap="flat" cmpd="sng" algn="ctr">
                      <a:solidFill>
                        <a:srgbClr val="C9CDD4"/>
                      </a:solidFill>
                      <a:prstDash val="solid"/>
                      <a:round/>
                      <a:headEnd type="none" w="med" len="med"/>
                      <a:tailEnd type="none" w="med" len="med"/>
                    </a:lnR>
                    <a:lnT w="9525" cap="flat" cmpd="sng" algn="ctr">
                      <a:solidFill>
                        <a:srgbClr val="C9CDD4"/>
                      </a:solidFill>
                      <a:prstDash val="solid"/>
                      <a:round/>
                      <a:headEnd type="none" w="med" len="med"/>
                      <a:tailEnd type="none" w="med" len="med"/>
                    </a:lnT>
                    <a:lnB w="9525" cap="flat" cmpd="sng" algn="ctr">
                      <a:solidFill>
                        <a:srgbClr val="C9CDD4"/>
                      </a:solidFill>
                      <a:prstDash val="solid"/>
                      <a:round/>
                      <a:headEnd type="none" w="med" len="med"/>
                      <a:tailEnd type="none" w="med" len="med"/>
                    </a:lnB>
                  </a:tcPr>
                </a:tc>
                <a:tc>
                  <a:txBody>
                    <a:bodyPr/>
                    <a:lstStyle/>
                    <a:p>
                      <a:pPr marL="0" indent="0">
                        <a:buNone/>
                      </a:pPr>
                      <a:r>
                        <a:rPr lang="en-US" sz="1200" dirty="0">
                          <a:solidFill>
                            <a:srgbClr val="000000"/>
                          </a:solidFill>
                          <a:latin typeface="Calibri" pitchFamily="34" charset="0"/>
                          <a:ea typeface="Calibri" pitchFamily="34" charset="-122"/>
                          <a:cs typeface="Calibri" pitchFamily="34" charset="-120"/>
                        </a:rPr>
                        <a:t>Positivism</a:t>
                      </a:r>
                      <a:endParaRPr lang="en-US" sz="1200" dirty="0">
                        <a:latin typeface="Calibri" charset="0"/>
                        <a:ea typeface="Calibri" charset="0"/>
                        <a:cs typeface="Calibri" charset="0"/>
                      </a:endParaRPr>
                    </a:p>
                  </a:txBody>
                  <a:tcPr anchor="ctr">
                    <a:lnL w="9525" cap="flat" cmpd="sng" algn="ctr">
                      <a:solidFill>
                        <a:srgbClr val="C9CDD4"/>
                      </a:solidFill>
                      <a:prstDash val="solid"/>
                      <a:round/>
                      <a:headEnd type="none" w="med" len="med"/>
                      <a:tailEnd type="none" w="med" len="med"/>
                    </a:lnL>
                    <a:lnR w="9525" cap="flat" cmpd="sng" algn="ctr">
                      <a:solidFill>
                        <a:srgbClr val="C9CDD4"/>
                      </a:solidFill>
                      <a:prstDash val="solid"/>
                      <a:round/>
                      <a:headEnd type="none" w="med" len="med"/>
                      <a:tailEnd type="none" w="med" len="med"/>
                    </a:lnR>
                    <a:lnT w="9525" cap="flat" cmpd="sng" algn="ctr">
                      <a:solidFill>
                        <a:srgbClr val="C9CDD4"/>
                      </a:solidFill>
                      <a:prstDash val="solid"/>
                      <a:round/>
                      <a:headEnd type="none" w="med" len="med"/>
                      <a:tailEnd type="none" w="med" len="med"/>
                    </a:lnT>
                    <a:lnB w="9525" cap="flat" cmpd="sng" algn="ctr">
                      <a:solidFill>
                        <a:srgbClr val="C9CDD4"/>
                      </a:solidFill>
                      <a:prstDash val="solid"/>
                      <a:round/>
                      <a:headEnd type="none" w="med" len="med"/>
                      <a:tailEnd type="none" w="med" len="med"/>
                    </a:lnB>
                  </a:tcPr>
                </a:tc>
                <a:tc>
                  <a:txBody>
                    <a:bodyPr/>
                    <a:lstStyle/>
                    <a:p>
                      <a:pPr marL="0" indent="0">
                        <a:buNone/>
                      </a:pPr>
                      <a:r>
                        <a:rPr lang="en-US" sz="1200" dirty="0">
                          <a:solidFill>
                            <a:srgbClr val="000000"/>
                          </a:solidFill>
                          <a:latin typeface="Calibri" pitchFamily="34" charset="0"/>
                          <a:ea typeface="Calibri" pitchFamily="34" charset="-122"/>
                          <a:cs typeface="Calibri" pitchFamily="34" charset="-120"/>
                        </a:rPr>
                        <a:t>The question is about a measurable difference in model performance; observations are numeric and independent of the observer</a:t>
                      </a:r>
                      <a:endParaRPr lang="en-US" sz="1200" dirty="0">
                        <a:latin typeface="Calibri" charset="0"/>
                        <a:ea typeface="Calibri" charset="0"/>
                        <a:cs typeface="Calibri" charset="0"/>
                      </a:endParaRPr>
                    </a:p>
                  </a:txBody>
                  <a:tcPr anchor="ctr">
                    <a:lnL w="9525" cap="flat" cmpd="sng" algn="ctr">
                      <a:solidFill>
                        <a:srgbClr val="C9CDD4"/>
                      </a:solidFill>
                      <a:prstDash val="solid"/>
                      <a:round/>
                      <a:headEnd type="none" w="med" len="med"/>
                      <a:tailEnd type="none" w="med" len="med"/>
                    </a:lnL>
                    <a:lnR w="9525" cap="flat" cmpd="sng" algn="ctr">
                      <a:solidFill>
                        <a:srgbClr val="C9CDD4"/>
                      </a:solidFill>
                      <a:prstDash val="solid"/>
                      <a:round/>
                      <a:headEnd type="none" w="med" len="med"/>
                      <a:tailEnd type="none" w="med" len="med"/>
                    </a:lnR>
                    <a:lnT w="9525" cap="flat" cmpd="sng" algn="ctr">
                      <a:solidFill>
                        <a:srgbClr val="C9CDD4"/>
                      </a:solidFill>
                      <a:prstDash val="solid"/>
                      <a:round/>
                      <a:headEnd type="none" w="med" len="med"/>
                      <a:tailEnd type="none" w="med" len="med"/>
                    </a:lnT>
                    <a:lnB w="9525" cap="flat" cmpd="sng" algn="ctr">
                      <a:solidFill>
                        <a:srgbClr val="C9CDD4"/>
                      </a:solidFill>
                      <a:prstDash val="solid"/>
                      <a:round/>
                      <a:headEnd type="none" w="med" len="med"/>
                      <a:tailEnd type="none" w="med" len="med"/>
                    </a:lnB>
                  </a:tcPr>
                </a:tc>
                <a:extLst>
                  <a:ext uri="{0D108BD9-81ED-4DB2-BD59-A6C34878D82A}">
                    <a16:rowId xmlns:a16="http://schemas.microsoft.com/office/drawing/2014/main" val="10001"/>
                  </a:ext>
                </a:extLst>
              </a:tr>
              <a:tr h="566928">
                <a:tc>
                  <a:txBody>
                    <a:bodyPr/>
                    <a:lstStyle/>
                    <a:p>
                      <a:pPr marL="0" indent="0">
                        <a:buNone/>
                      </a:pPr>
                      <a:r>
                        <a:rPr lang="en-US" sz="1200" dirty="0">
                          <a:solidFill>
                            <a:srgbClr val="000000"/>
                          </a:solidFill>
                          <a:latin typeface="Calibri" pitchFamily="34" charset="0"/>
                          <a:ea typeface="Calibri" pitchFamily="34" charset="-122"/>
                          <a:cs typeface="Calibri" pitchFamily="34" charset="-120"/>
                        </a:rPr>
                        <a:t>Approach</a:t>
                      </a:r>
                      <a:endParaRPr lang="en-US" sz="1200" dirty="0">
                        <a:latin typeface="Calibri" charset="0"/>
                        <a:ea typeface="Calibri" charset="0"/>
                        <a:cs typeface="Calibri" charset="0"/>
                      </a:endParaRPr>
                    </a:p>
                  </a:txBody>
                  <a:tcPr anchor="ctr">
                    <a:lnL w="9525" cap="flat" cmpd="sng" algn="ctr">
                      <a:solidFill>
                        <a:srgbClr val="C9CDD4"/>
                      </a:solidFill>
                      <a:prstDash val="solid"/>
                      <a:round/>
                      <a:headEnd type="none" w="med" len="med"/>
                      <a:tailEnd type="none" w="med" len="med"/>
                    </a:lnL>
                    <a:lnR w="9525" cap="flat" cmpd="sng" algn="ctr">
                      <a:solidFill>
                        <a:srgbClr val="C9CDD4"/>
                      </a:solidFill>
                      <a:prstDash val="solid"/>
                      <a:round/>
                      <a:headEnd type="none" w="med" len="med"/>
                      <a:tailEnd type="none" w="med" len="med"/>
                    </a:lnR>
                    <a:lnT w="9525" cap="flat" cmpd="sng" algn="ctr">
                      <a:solidFill>
                        <a:srgbClr val="C9CDD4"/>
                      </a:solidFill>
                      <a:prstDash val="solid"/>
                      <a:round/>
                      <a:headEnd type="none" w="med" len="med"/>
                      <a:tailEnd type="none" w="med" len="med"/>
                    </a:lnT>
                    <a:lnB w="9525" cap="flat" cmpd="sng" algn="ctr">
                      <a:solidFill>
                        <a:srgbClr val="C9CDD4"/>
                      </a:solidFill>
                      <a:prstDash val="solid"/>
                      <a:round/>
                      <a:headEnd type="none" w="med" len="med"/>
                      <a:tailEnd type="none" w="med" len="med"/>
                    </a:lnB>
                  </a:tcPr>
                </a:tc>
                <a:tc>
                  <a:txBody>
                    <a:bodyPr/>
                    <a:lstStyle/>
                    <a:p>
                      <a:pPr marL="0" indent="0">
                        <a:buNone/>
                      </a:pPr>
                      <a:r>
                        <a:rPr lang="en-US" sz="1200" dirty="0">
                          <a:solidFill>
                            <a:srgbClr val="000000"/>
                          </a:solidFill>
                          <a:latin typeface="Calibri" pitchFamily="34" charset="0"/>
                          <a:ea typeface="Calibri" pitchFamily="34" charset="-122"/>
                          <a:cs typeface="Calibri" pitchFamily="34" charset="-120"/>
                        </a:rPr>
                        <a:t>Deductive</a:t>
                      </a:r>
                      <a:endParaRPr lang="en-US" sz="1200" dirty="0">
                        <a:latin typeface="Calibri" charset="0"/>
                        <a:ea typeface="Calibri" charset="0"/>
                        <a:cs typeface="Calibri" charset="0"/>
                      </a:endParaRPr>
                    </a:p>
                  </a:txBody>
                  <a:tcPr anchor="ctr">
                    <a:lnL w="9525" cap="flat" cmpd="sng" algn="ctr">
                      <a:solidFill>
                        <a:srgbClr val="C9CDD4"/>
                      </a:solidFill>
                      <a:prstDash val="solid"/>
                      <a:round/>
                      <a:headEnd type="none" w="med" len="med"/>
                      <a:tailEnd type="none" w="med" len="med"/>
                    </a:lnL>
                    <a:lnR w="9525" cap="flat" cmpd="sng" algn="ctr">
                      <a:solidFill>
                        <a:srgbClr val="C9CDD4"/>
                      </a:solidFill>
                      <a:prstDash val="solid"/>
                      <a:round/>
                      <a:headEnd type="none" w="med" len="med"/>
                      <a:tailEnd type="none" w="med" len="med"/>
                    </a:lnR>
                    <a:lnT w="9525" cap="flat" cmpd="sng" algn="ctr">
                      <a:solidFill>
                        <a:srgbClr val="C9CDD4"/>
                      </a:solidFill>
                      <a:prstDash val="solid"/>
                      <a:round/>
                      <a:headEnd type="none" w="med" len="med"/>
                      <a:tailEnd type="none" w="med" len="med"/>
                    </a:lnT>
                    <a:lnB w="9525" cap="flat" cmpd="sng" algn="ctr">
                      <a:solidFill>
                        <a:srgbClr val="C9CDD4"/>
                      </a:solidFill>
                      <a:prstDash val="solid"/>
                      <a:round/>
                      <a:headEnd type="none" w="med" len="med"/>
                      <a:tailEnd type="none" w="med" len="med"/>
                    </a:lnB>
                  </a:tcPr>
                </a:tc>
                <a:tc>
                  <a:txBody>
                    <a:bodyPr/>
                    <a:lstStyle/>
                    <a:p>
                      <a:pPr marL="0" indent="0">
                        <a:buNone/>
                      </a:pPr>
                      <a:r>
                        <a:rPr lang="en-US" sz="1200" dirty="0">
                          <a:solidFill>
                            <a:srgbClr val="000000"/>
                          </a:solidFill>
                          <a:latin typeface="Calibri" pitchFamily="34" charset="0"/>
                          <a:ea typeface="Calibri" pitchFamily="34" charset="-122"/>
                          <a:cs typeface="Calibri" pitchFamily="34" charset="-120"/>
                        </a:rPr>
                        <a:t>Theory from the literature predicts that emoji carry affective signal; that expectation is tested, not generated</a:t>
                      </a:r>
                      <a:endParaRPr lang="en-US" sz="1200" dirty="0">
                        <a:latin typeface="Calibri" charset="0"/>
                        <a:ea typeface="Calibri" charset="0"/>
                        <a:cs typeface="Calibri" charset="0"/>
                      </a:endParaRPr>
                    </a:p>
                  </a:txBody>
                  <a:tcPr anchor="ctr">
                    <a:lnL w="9525" cap="flat" cmpd="sng" algn="ctr">
                      <a:solidFill>
                        <a:srgbClr val="C9CDD4"/>
                      </a:solidFill>
                      <a:prstDash val="solid"/>
                      <a:round/>
                      <a:headEnd type="none" w="med" len="med"/>
                      <a:tailEnd type="none" w="med" len="med"/>
                    </a:lnL>
                    <a:lnR w="9525" cap="flat" cmpd="sng" algn="ctr">
                      <a:solidFill>
                        <a:srgbClr val="C9CDD4"/>
                      </a:solidFill>
                      <a:prstDash val="solid"/>
                      <a:round/>
                      <a:headEnd type="none" w="med" len="med"/>
                      <a:tailEnd type="none" w="med" len="med"/>
                    </a:lnR>
                    <a:lnT w="9525" cap="flat" cmpd="sng" algn="ctr">
                      <a:solidFill>
                        <a:srgbClr val="C9CDD4"/>
                      </a:solidFill>
                      <a:prstDash val="solid"/>
                      <a:round/>
                      <a:headEnd type="none" w="med" len="med"/>
                      <a:tailEnd type="none" w="med" len="med"/>
                    </a:lnT>
                    <a:lnB w="9525" cap="flat" cmpd="sng" algn="ctr">
                      <a:solidFill>
                        <a:srgbClr val="C9CDD4"/>
                      </a:solidFill>
                      <a:prstDash val="solid"/>
                      <a:round/>
                      <a:headEnd type="none" w="med" len="med"/>
                      <a:tailEnd type="none" w="med" len="med"/>
                    </a:lnB>
                  </a:tcPr>
                </a:tc>
                <a:extLst>
                  <a:ext uri="{0D108BD9-81ED-4DB2-BD59-A6C34878D82A}">
                    <a16:rowId xmlns:a16="http://schemas.microsoft.com/office/drawing/2014/main" val="10002"/>
                  </a:ext>
                </a:extLst>
              </a:tr>
              <a:tr h="566928">
                <a:tc>
                  <a:txBody>
                    <a:bodyPr/>
                    <a:lstStyle/>
                    <a:p>
                      <a:pPr marL="0" indent="0">
                        <a:buNone/>
                      </a:pPr>
                      <a:r>
                        <a:rPr lang="en-US" sz="1200" dirty="0">
                          <a:solidFill>
                            <a:srgbClr val="000000"/>
                          </a:solidFill>
                          <a:latin typeface="Calibri" pitchFamily="34" charset="0"/>
                          <a:ea typeface="Calibri" pitchFamily="34" charset="-122"/>
                          <a:cs typeface="Calibri" pitchFamily="34" charset="-120"/>
                        </a:rPr>
                        <a:t>Strategy</a:t>
                      </a:r>
                      <a:endParaRPr lang="en-US" sz="1200" dirty="0">
                        <a:latin typeface="Calibri" charset="0"/>
                        <a:ea typeface="Calibri" charset="0"/>
                        <a:cs typeface="Calibri" charset="0"/>
                      </a:endParaRPr>
                    </a:p>
                  </a:txBody>
                  <a:tcPr anchor="ctr">
                    <a:lnL w="9525" cap="flat" cmpd="sng" algn="ctr">
                      <a:solidFill>
                        <a:srgbClr val="C9CDD4"/>
                      </a:solidFill>
                      <a:prstDash val="solid"/>
                      <a:round/>
                      <a:headEnd type="none" w="med" len="med"/>
                      <a:tailEnd type="none" w="med" len="med"/>
                    </a:lnL>
                    <a:lnR w="9525" cap="flat" cmpd="sng" algn="ctr">
                      <a:solidFill>
                        <a:srgbClr val="C9CDD4"/>
                      </a:solidFill>
                      <a:prstDash val="solid"/>
                      <a:round/>
                      <a:headEnd type="none" w="med" len="med"/>
                      <a:tailEnd type="none" w="med" len="med"/>
                    </a:lnR>
                    <a:lnT w="9525" cap="flat" cmpd="sng" algn="ctr">
                      <a:solidFill>
                        <a:srgbClr val="C9CDD4"/>
                      </a:solidFill>
                      <a:prstDash val="solid"/>
                      <a:round/>
                      <a:headEnd type="none" w="med" len="med"/>
                      <a:tailEnd type="none" w="med" len="med"/>
                    </a:lnT>
                    <a:lnB w="9525" cap="flat" cmpd="sng" algn="ctr">
                      <a:solidFill>
                        <a:srgbClr val="C9CDD4"/>
                      </a:solidFill>
                      <a:prstDash val="solid"/>
                      <a:round/>
                      <a:headEnd type="none" w="med" len="med"/>
                      <a:tailEnd type="none" w="med" len="med"/>
                    </a:lnB>
                  </a:tcPr>
                </a:tc>
                <a:tc>
                  <a:txBody>
                    <a:bodyPr/>
                    <a:lstStyle/>
                    <a:p>
                      <a:pPr marL="0" indent="0">
                        <a:buNone/>
                      </a:pPr>
                      <a:r>
                        <a:rPr lang="en-US" sz="1200" dirty="0">
                          <a:solidFill>
                            <a:srgbClr val="000000"/>
                          </a:solidFill>
                          <a:latin typeface="Calibri" pitchFamily="34" charset="0"/>
                          <a:ea typeface="Calibri" pitchFamily="34" charset="-122"/>
                          <a:cs typeface="Calibri" pitchFamily="34" charset="-120"/>
                        </a:rPr>
                        <a:t>Experiment</a:t>
                      </a:r>
                      <a:endParaRPr lang="en-US" sz="1200" dirty="0">
                        <a:latin typeface="Calibri" charset="0"/>
                        <a:ea typeface="Calibri" charset="0"/>
                        <a:cs typeface="Calibri" charset="0"/>
                      </a:endParaRPr>
                    </a:p>
                  </a:txBody>
                  <a:tcPr anchor="ctr">
                    <a:lnL w="9525" cap="flat" cmpd="sng" algn="ctr">
                      <a:solidFill>
                        <a:srgbClr val="C9CDD4"/>
                      </a:solidFill>
                      <a:prstDash val="solid"/>
                      <a:round/>
                      <a:headEnd type="none" w="med" len="med"/>
                      <a:tailEnd type="none" w="med" len="med"/>
                    </a:lnL>
                    <a:lnR w="9525" cap="flat" cmpd="sng" algn="ctr">
                      <a:solidFill>
                        <a:srgbClr val="C9CDD4"/>
                      </a:solidFill>
                      <a:prstDash val="solid"/>
                      <a:round/>
                      <a:headEnd type="none" w="med" len="med"/>
                      <a:tailEnd type="none" w="med" len="med"/>
                    </a:lnR>
                    <a:lnT w="9525" cap="flat" cmpd="sng" algn="ctr">
                      <a:solidFill>
                        <a:srgbClr val="C9CDD4"/>
                      </a:solidFill>
                      <a:prstDash val="solid"/>
                      <a:round/>
                      <a:headEnd type="none" w="med" len="med"/>
                      <a:tailEnd type="none" w="med" len="med"/>
                    </a:lnT>
                    <a:lnB w="9525" cap="flat" cmpd="sng" algn="ctr">
                      <a:solidFill>
                        <a:srgbClr val="C9CDD4"/>
                      </a:solidFill>
                      <a:prstDash val="solid"/>
                      <a:round/>
                      <a:headEnd type="none" w="med" len="med"/>
                      <a:tailEnd type="none" w="med" len="med"/>
                    </a:lnB>
                  </a:tcPr>
                </a:tc>
                <a:tc>
                  <a:txBody>
                    <a:bodyPr/>
                    <a:lstStyle/>
                    <a:p>
                      <a:pPr marL="0" indent="0">
                        <a:buNone/>
                      </a:pPr>
                      <a:r>
                        <a:rPr lang="en-US" sz="1200" dirty="0">
                          <a:solidFill>
                            <a:srgbClr val="000000"/>
                          </a:solidFill>
                          <a:latin typeface="Calibri" pitchFamily="34" charset="0"/>
                          <a:ea typeface="Calibri" pitchFamily="34" charset="-122"/>
                          <a:cs typeface="Calibri" pitchFamily="34" charset="-120"/>
                        </a:rPr>
                        <a:t>Two tracks crossed with two architectures gives four conditions, with everything except the emoji step held constant</a:t>
                      </a:r>
                      <a:endParaRPr lang="en-US" sz="1200" dirty="0">
                        <a:latin typeface="Calibri" charset="0"/>
                        <a:ea typeface="Calibri" charset="0"/>
                        <a:cs typeface="Calibri" charset="0"/>
                      </a:endParaRPr>
                    </a:p>
                  </a:txBody>
                  <a:tcPr anchor="ctr">
                    <a:lnL w="9525" cap="flat" cmpd="sng" algn="ctr">
                      <a:solidFill>
                        <a:srgbClr val="C9CDD4"/>
                      </a:solidFill>
                      <a:prstDash val="solid"/>
                      <a:round/>
                      <a:headEnd type="none" w="med" len="med"/>
                      <a:tailEnd type="none" w="med" len="med"/>
                    </a:lnL>
                    <a:lnR w="9525" cap="flat" cmpd="sng" algn="ctr">
                      <a:solidFill>
                        <a:srgbClr val="C9CDD4"/>
                      </a:solidFill>
                      <a:prstDash val="solid"/>
                      <a:round/>
                      <a:headEnd type="none" w="med" len="med"/>
                      <a:tailEnd type="none" w="med" len="med"/>
                    </a:lnR>
                    <a:lnT w="9525" cap="flat" cmpd="sng" algn="ctr">
                      <a:solidFill>
                        <a:srgbClr val="C9CDD4"/>
                      </a:solidFill>
                      <a:prstDash val="solid"/>
                      <a:round/>
                      <a:headEnd type="none" w="med" len="med"/>
                      <a:tailEnd type="none" w="med" len="med"/>
                    </a:lnT>
                    <a:lnB w="9525" cap="flat" cmpd="sng" algn="ctr">
                      <a:solidFill>
                        <a:srgbClr val="C9CDD4"/>
                      </a:solidFill>
                      <a:prstDash val="solid"/>
                      <a:round/>
                      <a:headEnd type="none" w="med" len="med"/>
                      <a:tailEnd type="none" w="med" len="med"/>
                    </a:lnB>
                  </a:tcPr>
                </a:tc>
                <a:extLst>
                  <a:ext uri="{0D108BD9-81ED-4DB2-BD59-A6C34878D82A}">
                    <a16:rowId xmlns:a16="http://schemas.microsoft.com/office/drawing/2014/main" val="10003"/>
                  </a:ext>
                </a:extLst>
              </a:tr>
              <a:tr h="566928">
                <a:tc>
                  <a:txBody>
                    <a:bodyPr/>
                    <a:lstStyle/>
                    <a:p>
                      <a:pPr marL="0" indent="0">
                        <a:buNone/>
                      </a:pPr>
                      <a:r>
                        <a:rPr lang="en-US" sz="1200" dirty="0">
                          <a:solidFill>
                            <a:srgbClr val="000000"/>
                          </a:solidFill>
                          <a:latin typeface="Calibri" pitchFamily="34" charset="0"/>
                          <a:ea typeface="Calibri" pitchFamily="34" charset="-122"/>
                          <a:cs typeface="Calibri" pitchFamily="34" charset="-120"/>
                        </a:rPr>
                        <a:t>Methodological choice</a:t>
                      </a:r>
                      <a:endParaRPr lang="en-US" sz="1200" dirty="0">
                        <a:latin typeface="Calibri" charset="0"/>
                        <a:ea typeface="Calibri" charset="0"/>
                        <a:cs typeface="Calibri" charset="0"/>
                      </a:endParaRPr>
                    </a:p>
                  </a:txBody>
                  <a:tcPr anchor="ctr">
                    <a:lnL w="9525" cap="flat" cmpd="sng" algn="ctr">
                      <a:solidFill>
                        <a:srgbClr val="C9CDD4"/>
                      </a:solidFill>
                      <a:prstDash val="solid"/>
                      <a:round/>
                      <a:headEnd type="none" w="med" len="med"/>
                      <a:tailEnd type="none" w="med" len="med"/>
                    </a:lnL>
                    <a:lnR w="9525" cap="flat" cmpd="sng" algn="ctr">
                      <a:solidFill>
                        <a:srgbClr val="C9CDD4"/>
                      </a:solidFill>
                      <a:prstDash val="solid"/>
                      <a:round/>
                      <a:headEnd type="none" w="med" len="med"/>
                      <a:tailEnd type="none" w="med" len="med"/>
                    </a:lnR>
                    <a:lnT w="9525" cap="flat" cmpd="sng" algn="ctr">
                      <a:solidFill>
                        <a:srgbClr val="C9CDD4"/>
                      </a:solidFill>
                      <a:prstDash val="solid"/>
                      <a:round/>
                      <a:headEnd type="none" w="med" len="med"/>
                      <a:tailEnd type="none" w="med" len="med"/>
                    </a:lnT>
                    <a:lnB w="9525" cap="flat" cmpd="sng" algn="ctr">
                      <a:solidFill>
                        <a:srgbClr val="C9CDD4"/>
                      </a:solidFill>
                      <a:prstDash val="solid"/>
                      <a:round/>
                      <a:headEnd type="none" w="med" len="med"/>
                      <a:tailEnd type="none" w="med" len="med"/>
                    </a:lnB>
                  </a:tcPr>
                </a:tc>
                <a:tc>
                  <a:txBody>
                    <a:bodyPr/>
                    <a:lstStyle/>
                    <a:p>
                      <a:pPr marL="0" indent="0">
                        <a:buNone/>
                      </a:pPr>
                      <a:r>
                        <a:rPr lang="en-US" sz="1200" dirty="0">
                          <a:solidFill>
                            <a:srgbClr val="000000"/>
                          </a:solidFill>
                          <a:latin typeface="Calibri" pitchFamily="34" charset="0"/>
                          <a:ea typeface="Calibri" pitchFamily="34" charset="-122"/>
                          <a:cs typeface="Calibri" pitchFamily="34" charset="-120"/>
                        </a:rPr>
                        <a:t>Mono-method quantitative</a:t>
                      </a:r>
                      <a:endParaRPr lang="en-US" sz="1200" dirty="0">
                        <a:latin typeface="Calibri" charset="0"/>
                        <a:ea typeface="Calibri" charset="0"/>
                        <a:cs typeface="Calibri" charset="0"/>
                      </a:endParaRPr>
                    </a:p>
                  </a:txBody>
                  <a:tcPr anchor="ctr">
                    <a:lnL w="9525" cap="flat" cmpd="sng" algn="ctr">
                      <a:solidFill>
                        <a:srgbClr val="C9CDD4"/>
                      </a:solidFill>
                      <a:prstDash val="solid"/>
                      <a:round/>
                      <a:headEnd type="none" w="med" len="med"/>
                      <a:tailEnd type="none" w="med" len="med"/>
                    </a:lnL>
                    <a:lnR w="9525" cap="flat" cmpd="sng" algn="ctr">
                      <a:solidFill>
                        <a:srgbClr val="C9CDD4"/>
                      </a:solidFill>
                      <a:prstDash val="solid"/>
                      <a:round/>
                      <a:headEnd type="none" w="med" len="med"/>
                      <a:tailEnd type="none" w="med" len="med"/>
                    </a:lnR>
                    <a:lnT w="9525" cap="flat" cmpd="sng" algn="ctr">
                      <a:solidFill>
                        <a:srgbClr val="C9CDD4"/>
                      </a:solidFill>
                      <a:prstDash val="solid"/>
                      <a:round/>
                      <a:headEnd type="none" w="med" len="med"/>
                      <a:tailEnd type="none" w="med" len="med"/>
                    </a:lnT>
                    <a:lnB w="9525" cap="flat" cmpd="sng" algn="ctr">
                      <a:solidFill>
                        <a:srgbClr val="C9CDD4"/>
                      </a:solidFill>
                      <a:prstDash val="solid"/>
                      <a:round/>
                      <a:headEnd type="none" w="med" len="med"/>
                      <a:tailEnd type="none" w="med" len="med"/>
                    </a:lnB>
                  </a:tcPr>
                </a:tc>
                <a:tc>
                  <a:txBody>
                    <a:bodyPr/>
                    <a:lstStyle/>
                    <a:p>
                      <a:pPr marL="0" indent="0">
                        <a:buNone/>
                      </a:pPr>
                      <a:r>
                        <a:rPr lang="en-US" sz="1200" dirty="0">
                          <a:solidFill>
                            <a:srgbClr val="000000"/>
                          </a:solidFill>
                          <a:latin typeface="Calibri" pitchFamily="34" charset="0"/>
                          <a:ea typeface="Calibri" pitchFamily="34" charset="-122"/>
                          <a:cs typeface="Calibri" pitchFamily="34" charset="-120"/>
                        </a:rPr>
                        <a:t>One kind of data and one kind of analysis: F1, label accuracy and ROC-AUC computed from model output</a:t>
                      </a:r>
                      <a:endParaRPr lang="en-US" sz="1200" dirty="0">
                        <a:latin typeface="Calibri" charset="0"/>
                        <a:ea typeface="Calibri" charset="0"/>
                        <a:cs typeface="Calibri" charset="0"/>
                      </a:endParaRPr>
                    </a:p>
                  </a:txBody>
                  <a:tcPr anchor="ctr">
                    <a:lnL w="9525" cap="flat" cmpd="sng" algn="ctr">
                      <a:solidFill>
                        <a:srgbClr val="C9CDD4"/>
                      </a:solidFill>
                      <a:prstDash val="solid"/>
                      <a:round/>
                      <a:headEnd type="none" w="med" len="med"/>
                      <a:tailEnd type="none" w="med" len="med"/>
                    </a:lnL>
                    <a:lnR w="9525" cap="flat" cmpd="sng" algn="ctr">
                      <a:solidFill>
                        <a:srgbClr val="C9CDD4"/>
                      </a:solidFill>
                      <a:prstDash val="solid"/>
                      <a:round/>
                      <a:headEnd type="none" w="med" len="med"/>
                      <a:tailEnd type="none" w="med" len="med"/>
                    </a:lnR>
                    <a:lnT w="9525" cap="flat" cmpd="sng" algn="ctr">
                      <a:solidFill>
                        <a:srgbClr val="C9CDD4"/>
                      </a:solidFill>
                      <a:prstDash val="solid"/>
                      <a:round/>
                      <a:headEnd type="none" w="med" len="med"/>
                      <a:tailEnd type="none" w="med" len="med"/>
                    </a:lnT>
                    <a:lnB w="9525" cap="flat" cmpd="sng" algn="ctr">
                      <a:solidFill>
                        <a:srgbClr val="C9CDD4"/>
                      </a:solidFill>
                      <a:prstDash val="solid"/>
                      <a:round/>
                      <a:headEnd type="none" w="med" len="med"/>
                      <a:tailEnd type="none" w="med" len="med"/>
                    </a:lnB>
                  </a:tcPr>
                </a:tc>
                <a:extLst>
                  <a:ext uri="{0D108BD9-81ED-4DB2-BD59-A6C34878D82A}">
                    <a16:rowId xmlns:a16="http://schemas.microsoft.com/office/drawing/2014/main" val="10004"/>
                  </a:ext>
                </a:extLst>
              </a:tr>
              <a:tr h="566928">
                <a:tc>
                  <a:txBody>
                    <a:bodyPr/>
                    <a:lstStyle/>
                    <a:p>
                      <a:pPr marL="0" indent="0">
                        <a:buNone/>
                      </a:pPr>
                      <a:r>
                        <a:rPr lang="en-US" sz="1200" dirty="0">
                          <a:solidFill>
                            <a:srgbClr val="000000"/>
                          </a:solidFill>
                          <a:latin typeface="Calibri" pitchFamily="34" charset="0"/>
                          <a:ea typeface="Calibri" pitchFamily="34" charset="-122"/>
                          <a:cs typeface="Calibri" pitchFamily="34" charset="-120"/>
                        </a:rPr>
                        <a:t>Time horizon</a:t>
                      </a:r>
                      <a:endParaRPr lang="en-US" sz="1200" dirty="0">
                        <a:latin typeface="Calibri" charset="0"/>
                        <a:ea typeface="Calibri" charset="0"/>
                        <a:cs typeface="Calibri" charset="0"/>
                      </a:endParaRPr>
                    </a:p>
                  </a:txBody>
                  <a:tcPr anchor="ctr">
                    <a:lnL w="9525" cap="flat" cmpd="sng" algn="ctr">
                      <a:solidFill>
                        <a:srgbClr val="C9CDD4"/>
                      </a:solidFill>
                      <a:prstDash val="solid"/>
                      <a:round/>
                      <a:headEnd type="none" w="med" len="med"/>
                      <a:tailEnd type="none" w="med" len="med"/>
                    </a:lnL>
                    <a:lnR w="9525" cap="flat" cmpd="sng" algn="ctr">
                      <a:solidFill>
                        <a:srgbClr val="C9CDD4"/>
                      </a:solidFill>
                      <a:prstDash val="solid"/>
                      <a:round/>
                      <a:headEnd type="none" w="med" len="med"/>
                      <a:tailEnd type="none" w="med" len="med"/>
                    </a:lnR>
                    <a:lnT w="9525" cap="flat" cmpd="sng" algn="ctr">
                      <a:solidFill>
                        <a:srgbClr val="C9CDD4"/>
                      </a:solidFill>
                      <a:prstDash val="solid"/>
                      <a:round/>
                      <a:headEnd type="none" w="med" len="med"/>
                      <a:tailEnd type="none" w="med" len="med"/>
                    </a:lnT>
                    <a:lnB w="9525" cap="flat" cmpd="sng" algn="ctr">
                      <a:solidFill>
                        <a:srgbClr val="C9CDD4"/>
                      </a:solidFill>
                      <a:prstDash val="solid"/>
                      <a:round/>
                      <a:headEnd type="none" w="med" len="med"/>
                      <a:tailEnd type="none" w="med" len="med"/>
                    </a:lnB>
                  </a:tcPr>
                </a:tc>
                <a:tc>
                  <a:txBody>
                    <a:bodyPr/>
                    <a:lstStyle/>
                    <a:p>
                      <a:pPr marL="0" indent="0">
                        <a:buNone/>
                      </a:pPr>
                      <a:r>
                        <a:rPr lang="en-US" sz="1200" dirty="0">
                          <a:solidFill>
                            <a:srgbClr val="000000"/>
                          </a:solidFill>
                          <a:latin typeface="Calibri" pitchFamily="34" charset="0"/>
                          <a:ea typeface="Calibri" pitchFamily="34" charset="-122"/>
                          <a:cs typeface="Calibri" pitchFamily="34" charset="-120"/>
                        </a:rPr>
                        <a:t>Cross-sectional</a:t>
                      </a:r>
                      <a:endParaRPr lang="en-US" sz="1200" dirty="0">
                        <a:latin typeface="Calibri" charset="0"/>
                        <a:ea typeface="Calibri" charset="0"/>
                        <a:cs typeface="Calibri" charset="0"/>
                      </a:endParaRPr>
                    </a:p>
                  </a:txBody>
                  <a:tcPr anchor="ctr">
                    <a:lnL w="9525" cap="flat" cmpd="sng" algn="ctr">
                      <a:solidFill>
                        <a:srgbClr val="C9CDD4"/>
                      </a:solidFill>
                      <a:prstDash val="solid"/>
                      <a:round/>
                      <a:headEnd type="none" w="med" len="med"/>
                      <a:tailEnd type="none" w="med" len="med"/>
                    </a:lnL>
                    <a:lnR w="9525" cap="flat" cmpd="sng" algn="ctr">
                      <a:solidFill>
                        <a:srgbClr val="C9CDD4"/>
                      </a:solidFill>
                      <a:prstDash val="solid"/>
                      <a:round/>
                      <a:headEnd type="none" w="med" len="med"/>
                      <a:tailEnd type="none" w="med" len="med"/>
                    </a:lnR>
                    <a:lnT w="9525" cap="flat" cmpd="sng" algn="ctr">
                      <a:solidFill>
                        <a:srgbClr val="C9CDD4"/>
                      </a:solidFill>
                      <a:prstDash val="solid"/>
                      <a:round/>
                      <a:headEnd type="none" w="med" len="med"/>
                      <a:tailEnd type="none" w="med" len="med"/>
                    </a:lnT>
                    <a:lnB w="9525" cap="flat" cmpd="sng" algn="ctr">
                      <a:solidFill>
                        <a:srgbClr val="C9CDD4"/>
                      </a:solidFill>
                      <a:prstDash val="solid"/>
                      <a:round/>
                      <a:headEnd type="none" w="med" len="med"/>
                      <a:tailEnd type="none" w="med" len="med"/>
                    </a:lnB>
                  </a:tcPr>
                </a:tc>
                <a:tc>
                  <a:txBody>
                    <a:bodyPr/>
                    <a:lstStyle/>
                    <a:p>
                      <a:pPr marL="0" indent="0">
                        <a:buNone/>
                      </a:pPr>
                      <a:r>
                        <a:rPr lang="en-US" sz="1200" dirty="0">
                          <a:solidFill>
                            <a:srgbClr val="000000"/>
                          </a:solidFill>
                          <a:latin typeface="Calibri" pitchFamily="34" charset="0"/>
                          <a:ea typeface="Calibri" pitchFamily="34" charset="-122"/>
                          <a:cs typeface="Calibri" pitchFamily="34" charset="-120"/>
                        </a:rPr>
                        <a:t>A fixed corpus is analysed once; no change over time is studied</a:t>
                      </a:r>
                      <a:endParaRPr lang="en-US" sz="1200" dirty="0">
                        <a:latin typeface="Calibri" charset="0"/>
                        <a:ea typeface="Calibri" charset="0"/>
                        <a:cs typeface="Calibri" charset="0"/>
                      </a:endParaRPr>
                    </a:p>
                  </a:txBody>
                  <a:tcPr anchor="ctr">
                    <a:lnL w="9525" cap="flat" cmpd="sng" algn="ctr">
                      <a:solidFill>
                        <a:srgbClr val="C9CDD4"/>
                      </a:solidFill>
                      <a:prstDash val="solid"/>
                      <a:round/>
                      <a:headEnd type="none" w="med" len="med"/>
                      <a:tailEnd type="none" w="med" len="med"/>
                    </a:lnL>
                    <a:lnR w="9525" cap="flat" cmpd="sng" algn="ctr">
                      <a:solidFill>
                        <a:srgbClr val="C9CDD4"/>
                      </a:solidFill>
                      <a:prstDash val="solid"/>
                      <a:round/>
                      <a:headEnd type="none" w="med" len="med"/>
                      <a:tailEnd type="none" w="med" len="med"/>
                    </a:lnR>
                    <a:lnT w="9525" cap="flat" cmpd="sng" algn="ctr">
                      <a:solidFill>
                        <a:srgbClr val="C9CDD4"/>
                      </a:solidFill>
                      <a:prstDash val="solid"/>
                      <a:round/>
                      <a:headEnd type="none" w="med" len="med"/>
                      <a:tailEnd type="none" w="med" len="med"/>
                    </a:lnT>
                    <a:lnB w="9525" cap="flat" cmpd="sng" algn="ctr">
                      <a:solidFill>
                        <a:srgbClr val="C9CDD4"/>
                      </a:solidFill>
                      <a:prstDash val="solid"/>
                      <a:round/>
                      <a:headEnd type="none" w="med" len="med"/>
                      <a:tailEnd type="none" w="med" len="med"/>
                    </a:lnB>
                  </a:tcPr>
                </a:tc>
                <a:extLst>
                  <a:ext uri="{0D108BD9-81ED-4DB2-BD59-A6C34878D82A}">
                    <a16:rowId xmlns:a16="http://schemas.microsoft.com/office/drawing/2014/main" val="10005"/>
                  </a:ext>
                </a:extLst>
              </a:tr>
              <a:tr h="566928">
                <a:tc>
                  <a:txBody>
                    <a:bodyPr/>
                    <a:lstStyle/>
                    <a:p>
                      <a:pPr marL="0" indent="0">
                        <a:buNone/>
                      </a:pPr>
                      <a:r>
                        <a:rPr lang="en-US" sz="1200" dirty="0">
                          <a:solidFill>
                            <a:srgbClr val="000000"/>
                          </a:solidFill>
                          <a:latin typeface="Calibri" pitchFamily="34" charset="0"/>
                          <a:ea typeface="Calibri" pitchFamily="34" charset="-122"/>
                          <a:cs typeface="Calibri" pitchFamily="34" charset="-120"/>
                        </a:rPr>
                        <a:t>Techniques and procedures</a:t>
                      </a:r>
                      <a:endParaRPr lang="en-US" sz="1200" dirty="0">
                        <a:latin typeface="Calibri" charset="0"/>
                        <a:ea typeface="Calibri" charset="0"/>
                        <a:cs typeface="Calibri" charset="0"/>
                      </a:endParaRPr>
                    </a:p>
                  </a:txBody>
                  <a:tcPr anchor="ctr">
                    <a:lnL w="9525" cap="flat" cmpd="sng" algn="ctr">
                      <a:solidFill>
                        <a:srgbClr val="C9CDD4"/>
                      </a:solidFill>
                      <a:prstDash val="solid"/>
                      <a:round/>
                      <a:headEnd type="none" w="med" len="med"/>
                      <a:tailEnd type="none" w="med" len="med"/>
                    </a:lnL>
                    <a:lnR w="9525" cap="flat" cmpd="sng" algn="ctr">
                      <a:solidFill>
                        <a:srgbClr val="C9CDD4"/>
                      </a:solidFill>
                      <a:prstDash val="solid"/>
                      <a:round/>
                      <a:headEnd type="none" w="med" len="med"/>
                      <a:tailEnd type="none" w="med" len="med"/>
                    </a:lnR>
                    <a:lnT w="9525" cap="flat" cmpd="sng" algn="ctr">
                      <a:solidFill>
                        <a:srgbClr val="C9CDD4"/>
                      </a:solidFill>
                      <a:prstDash val="solid"/>
                      <a:round/>
                      <a:headEnd type="none" w="med" len="med"/>
                      <a:tailEnd type="none" w="med" len="med"/>
                    </a:lnT>
                    <a:lnB w="9525" cap="flat" cmpd="sng" algn="ctr">
                      <a:solidFill>
                        <a:srgbClr val="C9CDD4"/>
                      </a:solidFill>
                      <a:prstDash val="solid"/>
                      <a:round/>
                      <a:headEnd type="none" w="med" len="med"/>
                      <a:tailEnd type="none" w="med" len="med"/>
                    </a:lnB>
                  </a:tcPr>
                </a:tc>
                <a:tc>
                  <a:txBody>
                    <a:bodyPr/>
                    <a:lstStyle/>
                    <a:p>
                      <a:pPr marL="0" indent="0">
                        <a:buNone/>
                      </a:pPr>
                      <a:r>
                        <a:rPr lang="en-US" sz="1200" dirty="0">
                          <a:solidFill>
                            <a:srgbClr val="000000"/>
                          </a:solidFill>
                          <a:latin typeface="Calibri" pitchFamily="34" charset="0"/>
                          <a:ea typeface="Calibri" pitchFamily="34" charset="-122"/>
                          <a:cs typeface="Calibri" pitchFamily="34" charset="-120"/>
                        </a:rPr>
                        <a:t>Secondary data analysis</a:t>
                      </a:r>
                      <a:endParaRPr lang="en-US" sz="1200" dirty="0">
                        <a:latin typeface="Calibri" charset="0"/>
                        <a:ea typeface="Calibri" charset="0"/>
                        <a:cs typeface="Calibri" charset="0"/>
                      </a:endParaRPr>
                    </a:p>
                  </a:txBody>
                  <a:tcPr anchor="ctr">
                    <a:lnL w="9525" cap="flat" cmpd="sng" algn="ctr">
                      <a:solidFill>
                        <a:srgbClr val="C9CDD4"/>
                      </a:solidFill>
                      <a:prstDash val="solid"/>
                      <a:round/>
                      <a:headEnd type="none" w="med" len="med"/>
                      <a:tailEnd type="none" w="med" len="med"/>
                    </a:lnL>
                    <a:lnR w="9525" cap="flat" cmpd="sng" algn="ctr">
                      <a:solidFill>
                        <a:srgbClr val="C9CDD4"/>
                      </a:solidFill>
                      <a:prstDash val="solid"/>
                      <a:round/>
                      <a:headEnd type="none" w="med" len="med"/>
                      <a:tailEnd type="none" w="med" len="med"/>
                    </a:lnR>
                    <a:lnT w="9525" cap="flat" cmpd="sng" algn="ctr">
                      <a:solidFill>
                        <a:srgbClr val="C9CDD4"/>
                      </a:solidFill>
                      <a:prstDash val="solid"/>
                      <a:round/>
                      <a:headEnd type="none" w="med" len="med"/>
                      <a:tailEnd type="none" w="med" len="med"/>
                    </a:lnT>
                    <a:lnB w="9525" cap="flat" cmpd="sng" algn="ctr">
                      <a:solidFill>
                        <a:srgbClr val="C9CDD4"/>
                      </a:solidFill>
                      <a:prstDash val="solid"/>
                      <a:round/>
                      <a:headEnd type="none" w="med" len="med"/>
                      <a:tailEnd type="none" w="med" len="med"/>
                    </a:lnB>
                  </a:tcPr>
                </a:tc>
                <a:tc>
                  <a:txBody>
                    <a:bodyPr/>
                    <a:lstStyle/>
                    <a:p>
                      <a:pPr marL="0" indent="0">
                        <a:buNone/>
                      </a:pPr>
                      <a:r>
                        <a:rPr lang="en-US" sz="1200" dirty="0">
                          <a:solidFill>
                            <a:srgbClr val="000000"/>
                          </a:solidFill>
                          <a:latin typeface="Calibri" pitchFamily="34" charset="0"/>
                          <a:ea typeface="Calibri" pitchFamily="34" charset="-122"/>
                          <a:cs typeface="Calibri" pitchFamily="34" charset="-120"/>
                        </a:rPr>
                        <a:t>A published benchmark is reused; preprocessing, training, tuning and scoring are all executed in code</a:t>
                      </a:r>
                      <a:endParaRPr lang="en-US" sz="1200" dirty="0">
                        <a:latin typeface="Calibri" charset="0"/>
                        <a:ea typeface="Calibri" charset="0"/>
                        <a:cs typeface="Calibri" charset="0"/>
                      </a:endParaRPr>
                    </a:p>
                  </a:txBody>
                  <a:tcPr anchor="ctr">
                    <a:lnL w="9525" cap="flat" cmpd="sng" algn="ctr">
                      <a:solidFill>
                        <a:srgbClr val="C9CDD4"/>
                      </a:solidFill>
                      <a:prstDash val="solid"/>
                      <a:round/>
                      <a:headEnd type="none" w="med" len="med"/>
                      <a:tailEnd type="none" w="med" len="med"/>
                    </a:lnL>
                    <a:lnR w="9525" cap="flat" cmpd="sng" algn="ctr">
                      <a:solidFill>
                        <a:srgbClr val="C9CDD4"/>
                      </a:solidFill>
                      <a:prstDash val="solid"/>
                      <a:round/>
                      <a:headEnd type="none" w="med" len="med"/>
                      <a:tailEnd type="none" w="med" len="med"/>
                    </a:lnR>
                    <a:lnT w="9525" cap="flat" cmpd="sng" algn="ctr">
                      <a:solidFill>
                        <a:srgbClr val="C9CDD4"/>
                      </a:solidFill>
                      <a:prstDash val="solid"/>
                      <a:round/>
                      <a:headEnd type="none" w="med" len="med"/>
                      <a:tailEnd type="none" w="med" len="med"/>
                    </a:lnT>
                    <a:lnB w="9525" cap="flat" cmpd="sng" algn="ctr">
                      <a:solidFill>
                        <a:srgbClr val="C9CDD4"/>
                      </a:solidFill>
                      <a:prstDash val="solid"/>
                      <a:round/>
                      <a:headEnd type="none" w="med" len="med"/>
                      <a:tailEnd type="none" w="med" len="med"/>
                    </a:lnB>
                  </a:tcPr>
                </a:tc>
                <a:extLst>
                  <a:ext uri="{0D108BD9-81ED-4DB2-BD59-A6C34878D82A}">
                    <a16:rowId xmlns:a16="http://schemas.microsoft.com/office/drawing/2014/main" val="10006"/>
                  </a:ext>
                </a:extLst>
              </a:tr>
            </a:tbl>
          </a:graphicData>
        </a:graphic>
      </p:graphicFrame>
      <p:sp>
        <p:nvSpPr>
          <p:cNvPr id="13" name="Text 11"/>
          <p:cNvSpPr txBox="1"/>
          <p:nvPr/>
        </p:nvSpPr>
        <p:spPr>
          <a:xfrm>
            <a:off x="566928" y="5724144"/>
            <a:ext cx="9829800" cy="365760"/>
          </a:xfrm>
          <a:prstGeom prst="rect">
            <a:avLst/>
          </a:prstGeom>
          <a:noFill/>
          <a:ln/>
        </p:spPr>
        <p:txBody>
          <a:bodyPr wrap="square" lIns="0" tIns="0" rIns="0" bIns="0" rtlCol="0" anchor="t"/>
          <a:lstStyle/>
          <a:p>
            <a:pPr marL="0" indent="0" algn="ctr">
              <a:lnSpc>
                <a:spcPct val="100000"/>
              </a:lnSpc>
              <a:buNone/>
            </a:pPr>
            <a:r>
              <a:rPr lang="en-US" sz="1050" dirty="0">
                <a:solidFill>
                  <a:srgbClr val="5C5C5C"/>
                </a:solidFill>
                <a:latin typeface="Calibri" pitchFamily="34" charset="0"/>
                <a:ea typeface="Calibri" pitchFamily="34" charset="-122"/>
                <a:cs typeface="Calibri" pitchFamily="34" charset="-120"/>
              </a:rPr>
              <a:t>Layer choices are consistent with each other: a positivist, deductive, experimental design measured quantitatively on secondary data.</a:t>
            </a:r>
            <a:endParaRPr lang="en-US" sz="10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1045159"/>
          </a:xfrm>
          <a:prstGeom prst="rect">
            <a:avLst/>
          </a:prstGeom>
          <a:solidFill>
            <a:srgbClr val="9A003B"/>
          </a:solidFill>
          <a:ln w="12700">
            <a:solidFill>
              <a:srgbClr val="9A003B"/>
            </a:solidFill>
            <a:prstDash val="solid"/>
          </a:ln>
        </p:spPr>
      </p:sp>
      <p:sp>
        <p:nvSpPr>
          <p:cNvPr id="3" name="Text 1"/>
          <p:cNvSpPr txBox="1"/>
          <p:nvPr/>
        </p:nvSpPr>
        <p:spPr>
          <a:xfrm>
            <a:off x="228600" y="109728"/>
            <a:ext cx="11704320" cy="825703"/>
          </a:xfrm>
          <a:prstGeom prst="rect">
            <a:avLst/>
          </a:prstGeom>
          <a:noFill/>
          <a:ln/>
        </p:spPr>
        <p:txBody>
          <a:bodyPr wrap="square" lIns="0" tIns="0" rIns="0" bIns="0" rtlCol="0" anchor="ctr"/>
          <a:lstStyle/>
          <a:p>
            <a:pPr marL="0" indent="0">
              <a:lnSpc>
                <a:spcPct val="95000"/>
              </a:lnSpc>
              <a:buNone/>
            </a:pPr>
            <a:r>
              <a:rPr lang="en-US" sz="2500" dirty="0">
                <a:solidFill>
                  <a:srgbClr val="FFFFFF"/>
                </a:solidFill>
                <a:latin typeface="Calibri" pitchFamily="34" charset="0"/>
                <a:ea typeface="Calibri" pitchFamily="34" charset="-122"/>
                <a:cs typeface="Calibri" pitchFamily="34" charset="-120"/>
              </a:rPr>
              <a:t>Research Methodology: The Research Onion Integration II</a:t>
            </a:r>
            <a:endParaRPr lang="en-US" sz="2500" dirty="0"/>
          </a:p>
        </p:txBody>
      </p:sp>
      <p:sp>
        <p:nvSpPr>
          <p:cNvPr id="4" name="Text 2"/>
          <p:cNvSpPr txBox="1"/>
          <p:nvPr/>
        </p:nvSpPr>
        <p:spPr>
          <a:xfrm>
            <a:off x="10515600" y="5806440"/>
            <a:ext cx="1463040" cy="749808"/>
          </a:xfrm>
          <a:prstGeom prst="rect">
            <a:avLst/>
          </a:prstGeom>
          <a:noFill/>
          <a:ln/>
        </p:spPr>
        <p:txBody>
          <a:bodyPr wrap="square" lIns="0" tIns="0" rIns="0" bIns="0" rtlCol="0" anchor="b"/>
          <a:lstStyle/>
          <a:p>
            <a:pPr marL="0" indent="0" algn="r">
              <a:lnSpc>
                <a:spcPct val="85000"/>
              </a:lnSpc>
              <a:buNone/>
            </a:pPr>
            <a:r>
              <a:rPr lang="en-US" sz="1150" b="1" dirty="0">
                <a:solidFill>
                  <a:srgbClr val="9A003B"/>
                </a:solidFill>
                <a:latin typeface="Calibri" pitchFamily="34" charset="0"/>
                <a:ea typeface="Calibri" pitchFamily="34" charset="-122"/>
                <a:cs typeface="Calibri" pitchFamily="34" charset="-120"/>
              </a:rPr>
              <a:t>Sheffield</a:t>
            </a:r>
            <a:endParaRPr lang="en-US" sz="1150" dirty="0"/>
          </a:p>
          <a:p>
            <a:pPr marL="0" indent="0" algn="r">
              <a:lnSpc>
                <a:spcPct val="85000"/>
              </a:lnSpc>
              <a:buNone/>
            </a:pPr>
            <a:r>
              <a:rPr lang="en-US" sz="1150" b="1" dirty="0">
                <a:solidFill>
                  <a:srgbClr val="9A003B"/>
                </a:solidFill>
                <a:latin typeface="Calibri" pitchFamily="34" charset="0"/>
                <a:ea typeface="Calibri" pitchFamily="34" charset="-122"/>
                <a:cs typeface="Calibri" pitchFamily="34" charset="-120"/>
              </a:rPr>
              <a:t>Hallam</a:t>
            </a:r>
            <a:endParaRPr lang="en-US" sz="1150" dirty="0"/>
          </a:p>
          <a:p>
            <a:pPr marL="0" indent="0" algn="r">
              <a:lnSpc>
                <a:spcPct val="85000"/>
              </a:lnSpc>
              <a:buNone/>
            </a:pPr>
            <a:r>
              <a:rPr lang="en-US" sz="1150" b="1" dirty="0">
                <a:solidFill>
                  <a:srgbClr val="9A003B"/>
                </a:solidFill>
                <a:latin typeface="Calibri" pitchFamily="34" charset="0"/>
                <a:ea typeface="Calibri" pitchFamily="34" charset="-122"/>
                <a:cs typeface="Calibri" pitchFamily="34" charset="-120"/>
              </a:rPr>
              <a:t>University</a:t>
            </a:r>
            <a:endParaRPr lang="en-US" sz="1150" dirty="0"/>
          </a:p>
        </p:txBody>
      </p:sp>
      <p:sp>
        <p:nvSpPr>
          <p:cNvPr id="5" name="Shape 3"/>
          <p:cNvSpPr/>
          <p:nvPr/>
        </p:nvSpPr>
        <p:spPr>
          <a:xfrm>
            <a:off x="0" y="6624828"/>
            <a:ext cx="4063898" cy="233172"/>
          </a:xfrm>
          <a:prstGeom prst="rect">
            <a:avLst/>
          </a:prstGeom>
          <a:solidFill>
            <a:srgbClr val="4D001E"/>
          </a:solidFill>
          <a:ln w="12700">
            <a:solidFill>
              <a:srgbClr val="4D001E"/>
            </a:solidFill>
            <a:prstDash val="solid"/>
          </a:ln>
        </p:spPr>
      </p:sp>
      <p:sp>
        <p:nvSpPr>
          <p:cNvPr id="6" name="Shape 4"/>
          <p:cNvSpPr/>
          <p:nvPr/>
        </p:nvSpPr>
        <p:spPr>
          <a:xfrm>
            <a:off x="4063898" y="6624828"/>
            <a:ext cx="4063898" cy="233172"/>
          </a:xfrm>
          <a:prstGeom prst="rect">
            <a:avLst/>
          </a:prstGeom>
          <a:solidFill>
            <a:srgbClr val="74002C"/>
          </a:solidFill>
          <a:ln w="12700">
            <a:solidFill>
              <a:srgbClr val="74002C"/>
            </a:solidFill>
            <a:prstDash val="solid"/>
          </a:ln>
        </p:spPr>
      </p:sp>
      <p:sp>
        <p:nvSpPr>
          <p:cNvPr id="7" name="Shape 5"/>
          <p:cNvSpPr/>
          <p:nvPr/>
        </p:nvSpPr>
        <p:spPr>
          <a:xfrm>
            <a:off x="8127797" y="6624828"/>
            <a:ext cx="4063898" cy="233172"/>
          </a:xfrm>
          <a:prstGeom prst="rect">
            <a:avLst/>
          </a:prstGeom>
          <a:solidFill>
            <a:srgbClr val="9A003B"/>
          </a:solidFill>
          <a:ln w="12700">
            <a:solidFill>
              <a:srgbClr val="9A003B"/>
            </a:solidFill>
            <a:prstDash val="solid"/>
          </a:ln>
        </p:spPr>
      </p:sp>
      <p:sp>
        <p:nvSpPr>
          <p:cNvPr id="8" name="Text 6"/>
          <p:cNvSpPr txBox="1"/>
          <p:nvPr/>
        </p:nvSpPr>
        <p:spPr>
          <a:xfrm>
            <a:off x="1143000" y="6624828"/>
            <a:ext cx="2743200" cy="233172"/>
          </a:xfrm>
          <a:prstGeom prst="rect">
            <a:avLst/>
          </a:prstGeom>
          <a:noFill/>
          <a:ln/>
        </p:spPr>
        <p:txBody>
          <a:bodyPr wrap="square" lIns="0" tIns="0" rIns="0" bIns="0" rtlCol="0" anchor="ctr"/>
          <a:lstStyle/>
          <a:p>
            <a:pPr marL="0" indent="0">
              <a:buNone/>
            </a:pPr>
            <a:r>
              <a:rPr lang="en-US" sz="900" dirty="0">
                <a:solidFill>
                  <a:srgbClr val="FFFFFF"/>
                </a:solidFill>
                <a:latin typeface="Calibri" pitchFamily="34" charset="0"/>
                <a:ea typeface="Calibri" pitchFamily="34" charset="-122"/>
                <a:cs typeface="Calibri" pitchFamily="34" charset="-120"/>
              </a:rPr>
              <a:t>[Student Initials]  (SHU)</a:t>
            </a:r>
            <a:endParaRPr lang="en-US" sz="900" dirty="0"/>
          </a:p>
        </p:txBody>
      </p:sp>
      <p:sp>
        <p:nvSpPr>
          <p:cNvPr id="9" name="Text 7"/>
          <p:cNvSpPr txBox="1"/>
          <p:nvPr/>
        </p:nvSpPr>
        <p:spPr>
          <a:xfrm>
            <a:off x="5276088" y="6624828"/>
            <a:ext cx="2743200" cy="233172"/>
          </a:xfrm>
          <a:prstGeom prst="rect">
            <a:avLst/>
          </a:prstGeom>
          <a:noFill/>
          <a:ln/>
        </p:spPr>
        <p:txBody>
          <a:bodyPr wrap="square" lIns="0" tIns="0" rIns="0" bIns="0" rtlCol="0" anchor="ctr"/>
          <a:lstStyle/>
          <a:p>
            <a:pPr marL="0" indent="0">
              <a:buNone/>
            </a:pPr>
            <a:r>
              <a:rPr lang="en-US" sz="900" dirty="0">
                <a:solidFill>
                  <a:srgbClr val="FFFFFF"/>
                </a:solidFill>
                <a:latin typeface="Calibri" pitchFamily="34" charset="0"/>
                <a:ea typeface="Calibri" pitchFamily="34" charset="-122"/>
                <a:cs typeface="Calibri" pitchFamily="34" charset="-120"/>
              </a:rPr>
              <a:t>Does the Emoji Matter?</a:t>
            </a:r>
            <a:endParaRPr lang="en-US" sz="900" dirty="0"/>
          </a:p>
        </p:txBody>
      </p:sp>
      <p:sp>
        <p:nvSpPr>
          <p:cNvPr id="10" name="Text 8"/>
          <p:cNvSpPr txBox="1"/>
          <p:nvPr/>
        </p:nvSpPr>
        <p:spPr>
          <a:xfrm>
            <a:off x="9235440" y="6624828"/>
            <a:ext cx="1645920" cy="233172"/>
          </a:xfrm>
          <a:prstGeom prst="rect">
            <a:avLst/>
          </a:prstGeom>
          <a:noFill/>
          <a:ln/>
        </p:spPr>
        <p:txBody>
          <a:bodyPr wrap="square" lIns="0" tIns="0" rIns="0" bIns="0" rtlCol="0" anchor="ctr"/>
          <a:lstStyle/>
          <a:p>
            <a:pPr marL="0" indent="0">
              <a:buNone/>
            </a:pPr>
            <a:r>
              <a:rPr lang="en-US" sz="900" dirty="0">
                <a:solidFill>
                  <a:srgbClr val="FFFFFF"/>
                </a:solidFill>
                <a:latin typeface="Calibri" pitchFamily="34" charset="0"/>
                <a:ea typeface="Calibri" pitchFamily="34" charset="-122"/>
                <a:cs typeface="Calibri" pitchFamily="34" charset="-120"/>
              </a:rPr>
              <a:t>September 2026</a:t>
            </a:r>
            <a:endParaRPr lang="en-US" sz="900" dirty="0"/>
          </a:p>
        </p:txBody>
      </p:sp>
      <p:sp>
        <p:nvSpPr>
          <p:cNvPr id="11" name="Text 9"/>
          <p:cNvSpPr txBox="1"/>
          <p:nvPr/>
        </p:nvSpPr>
        <p:spPr>
          <a:xfrm>
            <a:off x="10881360" y="6624828"/>
            <a:ext cx="1161288" cy="233172"/>
          </a:xfrm>
          <a:prstGeom prst="rect">
            <a:avLst/>
          </a:prstGeom>
          <a:noFill/>
          <a:ln/>
        </p:spPr>
        <p:txBody>
          <a:bodyPr wrap="square" lIns="0" tIns="0" rIns="0" bIns="0" rtlCol="0" anchor="ctr"/>
          <a:lstStyle/>
          <a:p>
            <a:pPr marL="0" indent="0" algn="r">
              <a:buNone/>
            </a:pPr>
            <a:r>
              <a:rPr lang="en-US" sz="900" dirty="0">
                <a:solidFill>
                  <a:srgbClr val="FFFFFF"/>
                </a:solidFill>
                <a:latin typeface="Calibri" pitchFamily="34" charset="0"/>
                <a:ea typeface="Calibri" pitchFamily="34" charset="-122"/>
                <a:cs typeface="Calibri" pitchFamily="34" charset="-120"/>
              </a:rPr>
              <a:t>14 / 43</a:t>
            </a:r>
            <a:endParaRPr lang="en-US" sz="900" dirty="0"/>
          </a:p>
        </p:txBody>
      </p:sp>
      <p:sp>
        <p:nvSpPr>
          <p:cNvPr id="12" name="Text 10"/>
          <p:cNvSpPr txBox="1"/>
          <p:nvPr/>
        </p:nvSpPr>
        <p:spPr>
          <a:xfrm>
            <a:off x="566928" y="1298448"/>
            <a:ext cx="11055096" cy="274320"/>
          </a:xfrm>
          <a:prstGeom prst="rect">
            <a:avLst/>
          </a:prstGeom>
          <a:noFill/>
          <a:ln/>
        </p:spPr>
        <p:txBody>
          <a:bodyPr wrap="square" lIns="0" tIns="0" rIns="0" bIns="0" rtlCol="0" anchor="t"/>
          <a:lstStyle/>
          <a:p>
            <a:pPr marL="0" indent="0">
              <a:lnSpc>
                <a:spcPct val="106000"/>
              </a:lnSpc>
              <a:buNone/>
            </a:pPr>
            <a:r>
              <a:rPr lang="en-US" sz="1500" b="1" dirty="0">
                <a:solidFill>
                  <a:srgbClr val="000000"/>
                </a:solidFill>
                <a:latin typeface="Calibri" pitchFamily="34" charset="0"/>
                <a:ea typeface="Calibri" pitchFamily="34" charset="-122"/>
                <a:cs typeface="Calibri" pitchFamily="34" charset="-120"/>
              </a:rPr>
              <a:t>Compare &amp; Contrast:</a:t>
            </a:r>
            <a:endParaRPr lang="en-US" sz="1500" dirty="0"/>
          </a:p>
        </p:txBody>
      </p:sp>
      <p:graphicFrame>
        <p:nvGraphicFramePr>
          <p:cNvPr id="15" name="Table 0"/>
          <p:cNvGraphicFramePr>
            <a:graphicFrameLocks noGrp="1"/>
          </p:cNvGraphicFramePr>
          <p:nvPr>
            <p:extLst>
              <p:ext uri="{D42A27DB-BD31-4B8C-83A1-F6EECF244321}">
                <p14:modId xmlns:p14="http://schemas.microsoft.com/office/powerpoint/2010/main" val="1579011935"/>
              </p:ext>
            </p:extLst>
          </p:nvPr>
        </p:nvGraphicFramePr>
        <p:xfrm>
          <a:off x="566928" y="1645920"/>
          <a:ext cx="11055096" cy="3291840"/>
        </p:xfrm>
        <a:graphic>
          <a:graphicData uri="http://schemas.openxmlformats.org/drawingml/2006/table">
            <a:tbl>
              <a:tblPr/>
              <a:tblGrid>
                <a:gridCol w="3108960">
                  <a:extLst>
                    <a:ext uri="{9D8B030D-6E8A-4147-A177-3AD203B41FA5}">
                      <a16:colId xmlns:a16="http://schemas.microsoft.com/office/drawing/2014/main" val="20000"/>
                    </a:ext>
                  </a:extLst>
                </a:gridCol>
                <a:gridCol w="4837176">
                  <a:extLst>
                    <a:ext uri="{9D8B030D-6E8A-4147-A177-3AD203B41FA5}">
                      <a16:colId xmlns:a16="http://schemas.microsoft.com/office/drawing/2014/main" val="20001"/>
                    </a:ext>
                  </a:extLst>
                </a:gridCol>
                <a:gridCol w="3108960">
                  <a:extLst>
                    <a:ext uri="{9D8B030D-6E8A-4147-A177-3AD203B41FA5}">
                      <a16:colId xmlns:a16="http://schemas.microsoft.com/office/drawing/2014/main" val="20002"/>
                    </a:ext>
                  </a:extLst>
                </a:gridCol>
              </a:tblGrid>
              <a:tr h="548640">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Alternative considered</a:t>
                      </a:r>
                      <a:endParaRPr lang="en-US" sz="1200" dirty="0">
                        <a:latin typeface="Calibri" charset="0"/>
                        <a:ea typeface="Calibri" charset="0"/>
                        <a:cs typeface="Calibri" charset="0"/>
                      </a:endParaRPr>
                    </a:p>
                  </a:txBody>
                  <a:tcPr anchor="ctr">
                    <a:lnL w="9525" cap="flat" cmpd="sng" algn="ctr">
                      <a:solidFill>
                        <a:srgbClr val="C9CDD4"/>
                      </a:solidFill>
                      <a:prstDash val="solid"/>
                      <a:round/>
                      <a:headEnd type="none" w="med" len="med"/>
                      <a:tailEnd type="none" w="med" len="med"/>
                    </a:lnL>
                    <a:lnR w="9525" cap="flat" cmpd="sng" algn="ctr">
                      <a:solidFill>
                        <a:srgbClr val="C9CDD4"/>
                      </a:solidFill>
                      <a:prstDash val="solid"/>
                      <a:round/>
                      <a:headEnd type="none" w="med" len="med"/>
                      <a:tailEnd type="none" w="med" len="med"/>
                    </a:lnR>
                    <a:lnT w="9525" cap="flat" cmpd="sng" algn="ctr">
                      <a:solidFill>
                        <a:srgbClr val="C9CDD4"/>
                      </a:solidFill>
                      <a:prstDash val="solid"/>
                      <a:round/>
                      <a:headEnd type="none" w="med" len="med"/>
                      <a:tailEnd type="none" w="med" len="med"/>
                    </a:lnT>
                    <a:lnB w="9525" cap="flat" cmpd="sng" algn="ctr">
                      <a:solidFill>
                        <a:srgbClr val="C9CDD4"/>
                      </a:solidFill>
                      <a:prstDash val="solid"/>
                      <a:round/>
                      <a:headEnd type="none" w="med" len="med"/>
                      <a:tailEnd type="none" w="med" len="med"/>
                    </a:lnB>
                    <a:solidFill>
                      <a:srgbClr val="9A003B"/>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Why it was rejected</a:t>
                      </a:r>
                      <a:endParaRPr lang="en-US" sz="1200" dirty="0">
                        <a:latin typeface="Calibri" charset="0"/>
                        <a:ea typeface="Calibri" charset="0"/>
                        <a:cs typeface="Calibri" charset="0"/>
                      </a:endParaRPr>
                    </a:p>
                  </a:txBody>
                  <a:tcPr anchor="ctr">
                    <a:lnL w="9525" cap="flat" cmpd="sng" algn="ctr">
                      <a:solidFill>
                        <a:srgbClr val="C9CDD4"/>
                      </a:solidFill>
                      <a:prstDash val="solid"/>
                      <a:round/>
                      <a:headEnd type="none" w="med" len="med"/>
                      <a:tailEnd type="none" w="med" len="med"/>
                    </a:lnL>
                    <a:lnR w="9525" cap="flat" cmpd="sng" algn="ctr">
                      <a:solidFill>
                        <a:srgbClr val="C9CDD4"/>
                      </a:solidFill>
                      <a:prstDash val="solid"/>
                      <a:round/>
                      <a:headEnd type="none" w="med" len="med"/>
                      <a:tailEnd type="none" w="med" len="med"/>
                    </a:lnR>
                    <a:lnT w="9525" cap="flat" cmpd="sng" algn="ctr">
                      <a:solidFill>
                        <a:srgbClr val="C9CDD4"/>
                      </a:solidFill>
                      <a:prstDash val="solid"/>
                      <a:round/>
                      <a:headEnd type="none" w="med" len="med"/>
                      <a:tailEnd type="none" w="med" len="med"/>
                    </a:lnT>
                    <a:lnB w="9525" cap="flat" cmpd="sng" algn="ctr">
                      <a:solidFill>
                        <a:srgbClr val="C9CDD4"/>
                      </a:solidFill>
                      <a:prstDash val="solid"/>
                      <a:round/>
                      <a:headEnd type="none" w="med" len="med"/>
                      <a:tailEnd type="none" w="med" len="med"/>
                    </a:lnB>
                    <a:solidFill>
                      <a:srgbClr val="9A003B"/>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What was chosen instead</a:t>
                      </a:r>
                      <a:endParaRPr lang="en-US" sz="1200" dirty="0">
                        <a:latin typeface="Calibri" charset="0"/>
                        <a:ea typeface="Calibri" charset="0"/>
                        <a:cs typeface="Calibri" charset="0"/>
                      </a:endParaRPr>
                    </a:p>
                  </a:txBody>
                  <a:tcPr anchor="ctr">
                    <a:lnL w="9525" cap="flat" cmpd="sng" algn="ctr">
                      <a:solidFill>
                        <a:srgbClr val="C9CDD4"/>
                      </a:solidFill>
                      <a:prstDash val="solid"/>
                      <a:round/>
                      <a:headEnd type="none" w="med" len="med"/>
                      <a:tailEnd type="none" w="med" len="med"/>
                    </a:lnL>
                    <a:lnR w="9525" cap="flat" cmpd="sng" algn="ctr">
                      <a:solidFill>
                        <a:srgbClr val="C9CDD4"/>
                      </a:solidFill>
                      <a:prstDash val="solid"/>
                      <a:round/>
                      <a:headEnd type="none" w="med" len="med"/>
                      <a:tailEnd type="none" w="med" len="med"/>
                    </a:lnR>
                    <a:lnT w="9525" cap="flat" cmpd="sng" algn="ctr">
                      <a:solidFill>
                        <a:srgbClr val="C9CDD4"/>
                      </a:solidFill>
                      <a:prstDash val="solid"/>
                      <a:round/>
                      <a:headEnd type="none" w="med" len="med"/>
                      <a:tailEnd type="none" w="med" len="med"/>
                    </a:lnT>
                    <a:lnB w="9525" cap="flat" cmpd="sng" algn="ctr">
                      <a:solidFill>
                        <a:srgbClr val="C9CDD4"/>
                      </a:solidFill>
                      <a:prstDash val="solid"/>
                      <a:round/>
                      <a:headEnd type="none" w="med" len="med"/>
                      <a:tailEnd type="none" w="med" len="med"/>
                    </a:lnB>
                    <a:solidFill>
                      <a:srgbClr val="9A003B"/>
                    </a:solidFill>
                  </a:tcPr>
                </a:tc>
                <a:extLst>
                  <a:ext uri="{0D108BD9-81ED-4DB2-BD59-A6C34878D82A}">
                    <a16:rowId xmlns:a16="http://schemas.microsoft.com/office/drawing/2014/main" val="10000"/>
                  </a:ext>
                </a:extLst>
              </a:tr>
              <a:tr h="548640">
                <a:tc>
                  <a:txBody>
                    <a:bodyPr/>
                    <a:lstStyle/>
                    <a:p>
                      <a:pPr marL="0" indent="0">
                        <a:buNone/>
                      </a:pPr>
                      <a:r>
                        <a:rPr lang="en-US" sz="1200" dirty="0">
                          <a:solidFill>
                            <a:srgbClr val="000000"/>
                          </a:solidFill>
                          <a:latin typeface="Calibri" pitchFamily="34" charset="0"/>
                          <a:ea typeface="Calibri" pitchFamily="34" charset="-122"/>
                          <a:cs typeface="Calibri" pitchFamily="34" charset="-120"/>
                        </a:rPr>
                        <a:t>Interpretivism with qualitative reading of tweets</a:t>
                      </a:r>
                      <a:endParaRPr lang="en-US" sz="1200" dirty="0">
                        <a:latin typeface="Calibri" charset="0"/>
                        <a:ea typeface="Calibri" charset="0"/>
                        <a:cs typeface="Calibri" charset="0"/>
                      </a:endParaRPr>
                    </a:p>
                  </a:txBody>
                  <a:tcPr anchor="ctr">
                    <a:lnL w="9525" cap="flat" cmpd="sng" algn="ctr">
                      <a:solidFill>
                        <a:srgbClr val="C9CDD4"/>
                      </a:solidFill>
                      <a:prstDash val="solid"/>
                      <a:round/>
                      <a:headEnd type="none" w="med" len="med"/>
                      <a:tailEnd type="none" w="med" len="med"/>
                    </a:lnL>
                    <a:lnR w="9525" cap="flat" cmpd="sng" algn="ctr">
                      <a:solidFill>
                        <a:srgbClr val="C9CDD4"/>
                      </a:solidFill>
                      <a:prstDash val="solid"/>
                      <a:round/>
                      <a:headEnd type="none" w="med" len="med"/>
                      <a:tailEnd type="none" w="med" len="med"/>
                    </a:lnR>
                    <a:lnT w="9525" cap="flat" cmpd="sng" algn="ctr">
                      <a:solidFill>
                        <a:srgbClr val="C9CDD4"/>
                      </a:solidFill>
                      <a:prstDash val="solid"/>
                      <a:round/>
                      <a:headEnd type="none" w="med" len="med"/>
                      <a:tailEnd type="none" w="med" len="med"/>
                    </a:lnT>
                    <a:lnB w="9525" cap="flat" cmpd="sng" algn="ctr">
                      <a:solidFill>
                        <a:srgbClr val="C9CDD4"/>
                      </a:solidFill>
                      <a:prstDash val="solid"/>
                      <a:round/>
                      <a:headEnd type="none" w="med" len="med"/>
                      <a:tailEnd type="none" w="med" len="med"/>
                    </a:lnB>
                  </a:tcPr>
                </a:tc>
                <a:tc>
                  <a:txBody>
                    <a:bodyPr/>
                    <a:lstStyle/>
                    <a:p>
                      <a:pPr marL="0" indent="0">
                        <a:buNone/>
                      </a:pPr>
                      <a:r>
                        <a:rPr lang="en-US" sz="1200" dirty="0">
                          <a:solidFill>
                            <a:srgbClr val="000000"/>
                          </a:solidFill>
                          <a:latin typeface="Calibri" pitchFamily="34" charset="0"/>
                          <a:ea typeface="Calibri" pitchFamily="34" charset="-122"/>
                          <a:cs typeface="Calibri" pitchFamily="34" charset="-120"/>
                        </a:rPr>
                        <a:t>Cannot produce a measurable effect size, and the question asks by how much performance changes</a:t>
                      </a:r>
                      <a:endParaRPr lang="en-US" sz="1200" dirty="0">
                        <a:latin typeface="Calibri" charset="0"/>
                        <a:ea typeface="Calibri" charset="0"/>
                        <a:cs typeface="Calibri" charset="0"/>
                      </a:endParaRPr>
                    </a:p>
                  </a:txBody>
                  <a:tcPr anchor="ctr">
                    <a:lnL w="9525" cap="flat" cmpd="sng" algn="ctr">
                      <a:solidFill>
                        <a:srgbClr val="C9CDD4"/>
                      </a:solidFill>
                      <a:prstDash val="solid"/>
                      <a:round/>
                      <a:headEnd type="none" w="med" len="med"/>
                      <a:tailEnd type="none" w="med" len="med"/>
                    </a:lnL>
                    <a:lnR w="9525" cap="flat" cmpd="sng" algn="ctr">
                      <a:solidFill>
                        <a:srgbClr val="C9CDD4"/>
                      </a:solidFill>
                      <a:prstDash val="solid"/>
                      <a:round/>
                      <a:headEnd type="none" w="med" len="med"/>
                      <a:tailEnd type="none" w="med" len="med"/>
                    </a:lnR>
                    <a:lnT w="9525" cap="flat" cmpd="sng" algn="ctr">
                      <a:solidFill>
                        <a:srgbClr val="C9CDD4"/>
                      </a:solidFill>
                      <a:prstDash val="solid"/>
                      <a:round/>
                      <a:headEnd type="none" w="med" len="med"/>
                      <a:tailEnd type="none" w="med" len="med"/>
                    </a:lnT>
                    <a:lnB w="9525" cap="flat" cmpd="sng" algn="ctr">
                      <a:solidFill>
                        <a:srgbClr val="C9CDD4"/>
                      </a:solidFill>
                      <a:prstDash val="solid"/>
                      <a:round/>
                      <a:headEnd type="none" w="med" len="med"/>
                      <a:tailEnd type="none" w="med" len="med"/>
                    </a:lnB>
                  </a:tcPr>
                </a:tc>
                <a:tc>
                  <a:txBody>
                    <a:bodyPr/>
                    <a:lstStyle/>
                    <a:p>
                      <a:pPr marL="0" indent="0">
                        <a:buNone/>
                      </a:pPr>
                      <a:r>
                        <a:rPr lang="en-US" sz="1200" dirty="0">
                          <a:solidFill>
                            <a:srgbClr val="000000"/>
                          </a:solidFill>
                          <a:latin typeface="Calibri" pitchFamily="34" charset="0"/>
                          <a:ea typeface="Calibri" pitchFamily="34" charset="-122"/>
                          <a:cs typeface="Calibri" pitchFamily="34" charset="-120"/>
                        </a:rPr>
                        <a:t>Positivist, quantitative measurement</a:t>
                      </a:r>
                      <a:endParaRPr lang="en-US" sz="1200" dirty="0">
                        <a:latin typeface="Calibri" charset="0"/>
                        <a:ea typeface="Calibri" charset="0"/>
                        <a:cs typeface="Calibri" charset="0"/>
                      </a:endParaRPr>
                    </a:p>
                  </a:txBody>
                  <a:tcPr anchor="ctr">
                    <a:lnL w="9525" cap="flat" cmpd="sng" algn="ctr">
                      <a:solidFill>
                        <a:srgbClr val="C9CDD4"/>
                      </a:solidFill>
                      <a:prstDash val="solid"/>
                      <a:round/>
                      <a:headEnd type="none" w="med" len="med"/>
                      <a:tailEnd type="none" w="med" len="med"/>
                    </a:lnL>
                    <a:lnR w="9525" cap="flat" cmpd="sng" algn="ctr">
                      <a:solidFill>
                        <a:srgbClr val="C9CDD4"/>
                      </a:solidFill>
                      <a:prstDash val="solid"/>
                      <a:round/>
                      <a:headEnd type="none" w="med" len="med"/>
                      <a:tailEnd type="none" w="med" len="med"/>
                    </a:lnR>
                    <a:lnT w="9525" cap="flat" cmpd="sng" algn="ctr">
                      <a:solidFill>
                        <a:srgbClr val="C9CDD4"/>
                      </a:solidFill>
                      <a:prstDash val="solid"/>
                      <a:round/>
                      <a:headEnd type="none" w="med" len="med"/>
                      <a:tailEnd type="none" w="med" len="med"/>
                    </a:lnT>
                    <a:lnB w="9525" cap="flat" cmpd="sng" algn="ctr">
                      <a:solidFill>
                        <a:srgbClr val="C9CDD4"/>
                      </a:solidFill>
                      <a:prstDash val="solid"/>
                      <a:round/>
                      <a:headEnd type="none" w="med" len="med"/>
                      <a:tailEnd type="none" w="med" len="med"/>
                    </a:lnB>
                  </a:tcPr>
                </a:tc>
                <a:extLst>
                  <a:ext uri="{0D108BD9-81ED-4DB2-BD59-A6C34878D82A}">
                    <a16:rowId xmlns:a16="http://schemas.microsoft.com/office/drawing/2014/main" val="10001"/>
                  </a:ext>
                </a:extLst>
              </a:tr>
              <a:tr h="548640">
                <a:tc>
                  <a:txBody>
                    <a:bodyPr/>
                    <a:lstStyle/>
                    <a:p>
                      <a:pPr marL="0" indent="0">
                        <a:buNone/>
                      </a:pPr>
                      <a:r>
                        <a:rPr lang="en-US" sz="1200" dirty="0">
                          <a:solidFill>
                            <a:srgbClr val="000000"/>
                          </a:solidFill>
                          <a:latin typeface="Calibri" pitchFamily="34" charset="0"/>
                          <a:ea typeface="Calibri" pitchFamily="34" charset="-122"/>
                          <a:cs typeface="Calibri" pitchFamily="34" charset="-120"/>
                        </a:rPr>
                        <a:t>Survey of practitioners on how they handle emoji</a:t>
                      </a:r>
                      <a:endParaRPr lang="en-US" sz="1200" dirty="0">
                        <a:latin typeface="Calibri" charset="0"/>
                        <a:ea typeface="Calibri" charset="0"/>
                        <a:cs typeface="Calibri" charset="0"/>
                      </a:endParaRPr>
                    </a:p>
                  </a:txBody>
                  <a:tcPr anchor="ctr">
                    <a:lnL w="9525" cap="flat" cmpd="sng" algn="ctr">
                      <a:solidFill>
                        <a:srgbClr val="C9CDD4"/>
                      </a:solidFill>
                      <a:prstDash val="solid"/>
                      <a:round/>
                      <a:headEnd type="none" w="med" len="med"/>
                      <a:tailEnd type="none" w="med" len="med"/>
                    </a:lnL>
                    <a:lnR w="9525" cap="flat" cmpd="sng" algn="ctr">
                      <a:solidFill>
                        <a:srgbClr val="C9CDD4"/>
                      </a:solidFill>
                      <a:prstDash val="solid"/>
                      <a:round/>
                      <a:headEnd type="none" w="med" len="med"/>
                      <a:tailEnd type="none" w="med" len="med"/>
                    </a:lnR>
                    <a:lnT w="9525" cap="flat" cmpd="sng" algn="ctr">
                      <a:solidFill>
                        <a:srgbClr val="C9CDD4"/>
                      </a:solidFill>
                      <a:prstDash val="solid"/>
                      <a:round/>
                      <a:headEnd type="none" w="med" len="med"/>
                      <a:tailEnd type="none" w="med" len="med"/>
                    </a:lnT>
                    <a:lnB w="9525" cap="flat" cmpd="sng" algn="ctr">
                      <a:solidFill>
                        <a:srgbClr val="C9CDD4"/>
                      </a:solidFill>
                      <a:prstDash val="solid"/>
                      <a:round/>
                      <a:headEnd type="none" w="med" len="med"/>
                      <a:tailEnd type="none" w="med" len="med"/>
                    </a:lnB>
                  </a:tcPr>
                </a:tc>
                <a:tc>
                  <a:txBody>
                    <a:bodyPr/>
                    <a:lstStyle/>
                    <a:p>
                      <a:pPr marL="0" indent="0">
                        <a:buNone/>
                      </a:pPr>
                      <a:r>
                        <a:rPr lang="en-US" sz="1200" dirty="0">
                          <a:solidFill>
                            <a:srgbClr val="000000"/>
                          </a:solidFill>
                          <a:latin typeface="Calibri" pitchFamily="34" charset="0"/>
                          <a:ea typeface="Calibri" pitchFamily="34" charset="-122"/>
                          <a:cs typeface="Calibri" pitchFamily="34" charset="-120"/>
                        </a:rPr>
                        <a:t>Would report what people believe, not what actually happens to the model</a:t>
                      </a:r>
                      <a:endParaRPr lang="en-US" sz="1200" dirty="0">
                        <a:latin typeface="Calibri" charset="0"/>
                        <a:ea typeface="Calibri" charset="0"/>
                        <a:cs typeface="Calibri" charset="0"/>
                      </a:endParaRPr>
                    </a:p>
                  </a:txBody>
                  <a:tcPr anchor="ctr">
                    <a:lnL w="9525" cap="flat" cmpd="sng" algn="ctr">
                      <a:solidFill>
                        <a:srgbClr val="C9CDD4"/>
                      </a:solidFill>
                      <a:prstDash val="solid"/>
                      <a:round/>
                      <a:headEnd type="none" w="med" len="med"/>
                      <a:tailEnd type="none" w="med" len="med"/>
                    </a:lnL>
                    <a:lnR w="9525" cap="flat" cmpd="sng" algn="ctr">
                      <a:solidFill>
                        <a:srgbClr val="C9CDD4"/>
                      </a:solidFill>
                      <a:prstDash val="solid"/>
                      <a:round/>
                      <a:headEnd type="none" w="med" len="med"/>
                      <a:tailEnd type="none" w="med" len="med"/>
                    </a:lnR>
                    <a:lnT w="9525" cap="flat" cmpd="sng" algn="ctr">
                      <a:solidFill>
                        <a:srgbClr val="C9CDD4"/>
                      </a:solidFill>
                      <a:prstDash val="solid"/>
                      <a:round/>
                      <a:headEnd type="none" w="med" len="med"/>
                      <a:tailEnd type="none" w="med" len="med"/>
                    </a:lnT>
                    <a:lnB w="9525" cap="flat" cmpd="sng" algn="ctr">
                      <a:solidFill>
                        <a:srgbClr val="C9CDD4"/>
                      </a:solidFill>
                      <a:prstDash val="solid"/>
                      <a:round/>
                      <a:headEnd type="none" w="med" len="med"/>
                      <a:tailEnd type="none" w="med" len="med"/>
                    </a:lnB>
                  </a:tcPr>
                </a:tc>
                <a:tc>
                  <a:txBody>
                    <a:bodyPr/>
                    <a:lstStyle/>
                    <a:p>
                      <a:pPr marL="0" indent="0">
                        <a:buNone/>
                      </a:pPr>
                      <a:r>
                        <a:rPr lang="en-US" sz="1200" dirty="0">
                          <a:solidFill>
                            <a:srgbClr val="000000"/>
                          </a:solidFill>
                          <a:latin typeface="Calibri" pitchFamily="34" charset="0"/>
                          <a:ea typeface="Calibri" pitchFamily="34" charset="-122"/>
                          <a:cs typeface="Calibri" pitchFamily="34" charset="-120"/>
                        </a:rPr>
                        <a:t>Controlled experiment on the model itself</a:t>
                      </a:r>
                      <a:endParaRPr lang="en-US" sz="1200" dirty="0">
                        <a:latin typeface="Calibri" charset="0"/>
                        <a:ea typeface="Calibri" charset="0"/>
                        <a:cs typeface="Calibri" charset="0"/>
                      </a:endParaRPr>
                    </a:p>
                  </a:txBody>
                  <a:tcPr anchor="ctr">
                    <a:lnL w="9525" cap="flat" cmpd="sng" algn="ctr">
                      <a:solidFill>
                        <a:srgbClr val="C9CDD4"/>
                      </a:solidFill>
                      <a:prstDash val="solid"/>
                      <a:round/>
                      <a:headEnd type="none" w="med" len="med"/>
                      <a:tailEnd type="none" w="med" len="med"/>
                    </a:lnL>
                    <a:lnR w="9525" cap="flat" cmpd="sng" algn="ctr">
                      <a:solidFill>
                        <a:srgbClr val="C9CDD4"/>
                      </a:solidFill>
                      <a:prstDash val="solid"/>
                      <a:round/>
                      <a:headEnd type="none" w="med" len="med"/>
                      <a:tailEnd type="none" w="med" len="med"/>
                    </a:lnR>
                    <a:lnT w="9525" cap="flat" cmpd="sng" algn="ctr">
                      <a:solidFill>
                        <a:srgbClr val="C9CDD4"/>
                      </a:solidFill>
                      <a:prstDash val="solid"/>
                      <a:round/>
                      <a:headEnd type="none" w="med" len="med"/>
                      <a:tailEnd type="none" w="med" len="med"/>
                    </a:lnT>
                    <a:lnB w="9525" cap="flat" cmpd="sng" algn="ctr">
                      <a:solidFill>
                        <a:srgbClr val="C9CDD4"/>
                      </a:solidFill>
                      <a:prstDash val="solid"/>
                      <a:round/>
                      <a:headEnd type="none" w="med" len="med"/>
                      <a:tailEnd type="none" w="med" len="med"/>
                    </a:lnB>
                  </a:tcPr>
                </a:tc>
                <a:extLst>
                  <a:ext uri="{0D108BD9-81ED-4DB2-BD59-A6C34878D82A}">
                    <a16:rowId xmlns:a16="http://schemas.microsoft.com/office/drawing/2014/main" val="10002"/>
                  </a:ext>
                </a:extLst>
              </a:tr>
              <a:tr h="548640">
                <a:tc>
                  <a:txBody>
                    <a:bodyPr/>
                    <a:lstStyle/>
                    <a:p>
                      <a:pPr marL="0" indent="0">
                        <a:buNone/>
                      </a:pPr>
                      <a:r>
                        <a:rPr lang="en-US" sz="1200" dirty="0">
                          <a:solidFill>
                            <a:srgbClr val="000000"/>
                          </a:solidFill>
                          <a:latin typeface="Calibri" pitchFamily="34" charset="0"/>
                          <a:ea typeface="Calibri" pitchFamily="34" charset="-122"/>
                          <a:cs typeface="Calibri" pitchFamily="34" charset="-120"/>
                        </a:rPr>
                        <a:t>Case study of one production system</a:t>
                      </a:r>
                      <a:endParaRPr lang="en-US" sz="1200" dirty="0">
                        <a:latin typeface="Calibri" charset="0"/>
                        <a:ea typeface="Calibri" charset="0"/>
                        <a:cs typeface="Calibri" charset="0"/>
                      </a:endParaRPr>
                    </a:p>
                  </a:txBody>
                  <a:tcPr anchor="ctr">
                    <a:lnL w="9525" cap="flat" cmpd="sng" algn="ctr">
                      <a:solidFill>
                        <a:srgbClr val="C9CDD4"/>
                      </a:solidFill>
                      <a:prstDash val="solid"/>
                      <a:round/>
                      <a:headEnd type="none" w="med" len="med"/>
                      <a:tailEnd type="none" w="med" len="med"/>
                    </a:lnL>
                    <a:lnR w="9525" cap="flat" cmpd="sng" algn="ctr">
                      <a:solidFill>
                        <a:srgbClr val="C9CDD4"/>
                      </a:solidFill>
                      <a:prstDash val="solid"/>
                      <a:round/>
                      <a:headEnd type="none" w="med" len="med"/>
                      <a:tailEnd type="none" w="med" len="med"/>
                    </a:lnR>
                    <a:lnT w="9525" cap="flat" cmpd="sng" algn="ctr">
                      <a:solidFill>
                        <a:srgbClr val="C9CDD4"/>
                      </a:solidFill>
                      <a:prstDash val="solid"/>
                      <a:round/>
                      <a:headEnd type="none" w="med" len="med"/>
                      <a:tailEnd type="none" w="med" len="med"/>
                    </a:lnT>
                    <a:lnB w="9525" cap="flat" cmpd="sng" algn="ctr">
                      <a:solidFill>
                        <a:srgbClr val="C9CDD4"/>
                      </a:solidFill>
                      <a:prstDash val="solid"/>
                      <a:round/>
                      <a:headEnd type="none" w="med" len="med"/>
                      <a:tailEnd type="none" w="med" len="med"/>
                    </a:lnB>
                  </a:tcPr>
                </a:tc>
                <a:tc>
                  <a:txBody>
                    <a:bodyPr/>
                    <a:lstStyle/>
                    <a:p>
                      <a:pPr marL="0" indent="0">
                        <a:buNone/>
                      </a:pPr>
                      <a:r>
                        <a:rPr lang="en-US" sz="1200" dirty="0">
                          <a:solidFill>
                            <a:srgbClr val="000000"/>
                          </a:solidFill>
                          <a:latin typeface="Calibri" pitchFamily="34" charset="0"/>
                          <a:ea typeface="Calibri" pitchFamily="34" charset="-122"/>
                          <a:cs typeface="Calibri" pitchFamily="34" charset="-120"/>
                        </a:rPr>
                        <a:t>Findings would not separate the emoji step from everything else in that system</a:t>
                      </a:r>
                      <a:endParaRPr lang="en-US" sz="1200" dirty="0">
                        <a:latin typeface="Calibri" charset="0"/>
                        <a:ea typeface="Calibri" charset="0"/>
                        <a:cs typeface="Calibri" charset="0"/>
                      </a:endParaRPr>
                    </a:p>
                  </a:txBody>
                  <a:tcPr anchor="ctr">
                    <a:lnL w="9525" cap="flat" cmpd="sng" algn="ctr">
                      <a:solidFill>
                        <a:srgbClr val="C9CDD4"/>
                      </a:solidFill>
                      <a:prstDash val="solid"/>
                      <a:round/>
                      <a:headEnd type="none" w="med" len="med"/>
                      <a:tailEnd type="none" w="med" len="med"/>
                    </a:lnL>
                    <a:lnR w="9525" cap="flat" cmpd="sng" algn="ctr">
                      <a:solidFill>
                        <a:srgbClr val="C9CDD4"/>
                      </a:solidFill>
                      <a:prstDash val="solid"/>
                      <a:round/>
                      <a:headEnd type="none" w="med" len="med"/>
                      <a:tailEnd type="none" w="med" len="med"/>
                    </a:lnR>
                    <a:lnT w="9525" cap="flat" cmpd="sng" algn="ctr">
                      <a:solidFill>
                        <a:srgbClr val="C9CDD4"/>
                      </a:solidFill>
                      <a:prstDash val="solid"/>
                      <a:round/>
                      <a:headEnd type="none" w="med" len="med"/>
                      <a:tailEnd type="none" w="med" len="med"/>
                    </a:lnT>
                    <a:lnB w="9525" cap="flat" cmpd="sng" algn="ctr">
                      <a:solidFill>
                        <a:srgbClr val="C9CDD4"/>
                      </a:solidFill>
                      <a:prstDash val="solid"/>
                      <a:round/>
                      <a:headEnd type="none" w="med" len="med"/>
                      <a:tailEnd type="none" w="med" len="med"/>
                    </a:lnB>
                  </a:tcPr>
                </a:tc>
                <a:tc>
                  <a:txBody>
                    <a:bodyPr/>
                    <a:lstStyle/>
                    <a:p>
                      <a:pPr marL="0" indent="0">
                        <a:buNone/>
                      </a:pPr>
                      <a:r>
                        <a:rPr lang="en-US" sz="1200" dirty="0">
                          <a:solidFill>
                            <a:srgbClr val="000000"/>
                          </a:solidFill>
                          <a:latin typeface="Calibri" pitchFamily="34" charset="0"/>
                          <a:ea typeface="Calibri" pitchFamily="34" charset="-122"/>
                          <a:cs typeface="Calibri" pitchFamily="34" charset="-120"/>
                        </a:rPr>
                        <a:t>Two-by-two factorial design</a:t>
                      </a:r>
                      <a:endParaRPr lang="en-US" sz="1200" dirty="0">
                        <a:latin typeface="Calibri" charset="0"/>
                        <a:ea typeface="Calibri" charset="0"/>
                        <a:cs typeface="Calibri" charset="0"/>
                      </a:endParaRPr>
                    </a:p>
                  </a:txBody>
                  <a:tcPr anchor="ctr">
                    <a:lnL w="9525" cap="flat" cmpd="sng" algn="ctr">
                      <a:solidFill>
                        <a:srgbClr val="C9CDD4"/>
                      </a:solidFill>
                      <a:prstDash val="solid"/>
                      <a:round/>
                      <a:headEnd type="none" w="med" len="med"/>
                      <a:tailEnd type="none" w="med" len="med"/>
                    </a:lnL>
                    <a:lnR w="9525" cap="flat" cmpd="sng" algn="ctr">
                      <a:solidFill>
                        <a:srgbClr val="C9CDD4"/>
                      </a:solidFill>
                      <a:prstDash val="solid"/>
                      <a:round/>
                      <a:headEnd type="none" w="med" len="med"/>
                      <a:tailEnd type="none" w="med" len="med"/>
                    </a:lnR>
                    <a:lnT w="9525" cap="flat" cmpd="sng" algn="ctr">
                      <a:solidFill>
                        <a:srgbClr val="C9CDD4"/>
                      </a:solidFill>
                      <a:prstDash val="solid"/>
                      <a:round/>
                      <a:headEnd type="none" w="med" len="med"/>
                      <a:tailEnd type="none" w="med" len="med"/>
                    </a:lnT>
                    <a:lnB w="9525" cap="flat" cmpd="sng" algn="ctr">
                      <a:solidFill>
                        <a:srgbClr val="C9CDD4"/>
                      </a:solidFill>
                      <a:prstDash val="solid"/>
                      <a:round/>
                      <a:headEnd type="none" w="med" len="med"/>
                      <a:tailEnd type="none" w="med" len="med"/>
                    </a:lnB>
                  </a:tcPr>
                </a:tc>
                <a:extLst>
                  <a:ext uri="{0D108BD9-81ED-4DB2-BD59-A6C34878D82A}">
                    <a16:rowId xmlns:a16="http://schemas.microsoft.com/office/drawing/2014/main" val="10003"/>
                  </a:ext>
                </a:extLst>
              </a:tr>
              <a:tr h="548640">
                <a:tc>
                  <a:txBody>
                    <a:bodyPr/>
                    <a:lstStyle/>
                    <a:p>
                      <a:pPr marL="0" indent="0">
                        <a:buNone/>
                      </a:pPr>
                      <a:r>
                        <a:rPr lang="en-US" sz="1200" dirty="0">
                          <a:solidFill>
                            <a:srgbClr val="000000"/>
                          </a:solidFill>
                          <a:latin typeface="Calibri" pitchFamily="34" charset="0"/>
                          <a:ea typeface="Calibri" pitchFamily="34" charset="-122"/>
                          <a:cs typeface="Calibri" pitchFamily="34" charset="-120"/>
                        </a:rPr>
                        <a:t>Collecting fresh tweets from an API</a:t>
                      </a:r>
                      <a:endParaRPr lang="en-US" sz="1200" dirty="0">
                        <a:latin typeface="Calibri" charset="0"/>
                        <a:ea typeface="Calibri" charset="0"/>
                        <a:cs typeface="Calibri" charset="0"/>
                      </a:endParaRPr>
                    </a:p>
                  </a:txBody>
                  <a:tcPr anchor="ctr">
                    <a:lnL w="9525" cap="flat" cmpd="sng" algn="ctr">
                      <a:solidFill>
                        <a:srgbClr val="C9CDD4"/>
                      </a:solidFill>
                      <a:prstDash val="solid"/>
                      <a:round/>
                      <a:headEnd type="none" w="med" len="med"/>
                      <a:tailEnd type="none" w="med" len="med"/>
                    </a:lnL>
                    <a:lnR w="9525" cap="flat" cmpd="sng" algn="ctr">
                      <a:solidFill>
                        <a:srgbClr val="C9CDD4"/>
                      </a:solidFill>
                      <a:prstDash val="solid"/>
                      <a:round/>
                      <a:headEnd type="none" w="med" len="med"/>
                      <a:tailEnd type="none" w="med" len="med"/>
                    </a:lnR>
                    <a:lnT w="9525" cap="flat" cmpd="sng" algn="ctr">
                      <a:solidFill>
                        <a:srgbClr val="C9CDD4"/>
                      </a:solidFill>
                      <a:prstDash val="solid"/>
                      <a:round/>
                      <a:headEnd type="none" w="med" len="med"/>
                      <a:tailEnd type="none" w="med" len="med"/>
                    </a:lnT>
                    <a:lnB w="9525" cap="flat" cmpd="sng" algn="ctr">
                      <a:solidFill>
                        <a:srgbClr val="C9CDD4"/>
                      </a:solidFill>
                      <a:prstDash val="solid"/>
                      <a:round/>
                      <a:headEnd type="none" w="med" len="med"/>
                      <a:tailEnd type="none" w="med" len="med"/>
                    </a:lnB>
                  </a:tcPr>
                </a:tc>
                <a:tc>
                  <a:txBody>
                    <a:bodyPr/>
                    <a:lstStyle/>
                    <a:p>
                      <a:pPr marL="0" indent="0">
                        <a:buNone/>
                      </a:pPr>
                      <a:r>
                        <a:rPr lang="en-US" sz="1200" dirty="0">
                          <a:solidFill>
                            <a:srgbClr val="000000"/>
                          </a:solidFill>
                          <a:latin typeface="Calibri" pitchFamily="34" charset="0"/>
                          <a:ea typeface="Calibri" pitchFamily="34" charset="-122"/>
                          <a:cs typeface="Calibri" pitchFamily="34" charset="-120"/>
                        </a:rPr>
                        <a:t>Slower, raises ethics and licensing issues, and removes comparability with published work</a:t>
                      </a:r>
                      <a:endParaRPr lang="en-US" sz="1200" dirty="0">
                        <a:latin typeface="Calibri" charset="0"/>
                        <a:ea typeface="Calibri" charset="0"/>
                        <a:cs typeface="Calibri" charset="0"/>
                      </a:endParaRPr>
                    </a:p>
                  </a:txBody>
                  <a:tcPr anchor="ctr">
                    <a:lnL w="9525" cap="flat" cmpd="sng" algn="ctr">
                      <a:solidFill>
                        <a:srgbClr val="C9CDD4"/>
                      </a:solidFill>
                      <a:prstDash val="solid"/>
                      <a:round/>
                      <a:headEnd type="none" w="med" len="med"/>
                      <a:tailEnd type="none" w="med" len="med"/>
                    </a:lnL>
                    <a:lnR w="9525" cap="flat" cmpd="sng" algn="ctr">
                      <a:solidFill>
                        <a:srgbClr val="C9CDD4"/>
                      </a:solidFill>
                      <a:prstDash val="solid"/>
                      <a:round/>
                      <a:headEnd type="none" w="med" len="med"/>
                      <a:tailEnd type="none" w="med" len="med"/>
                    </a:lnR>
                    <a:lnT w="9525" cap="flat" cmpd="sng" algn="ctr">
                      <a:solidFill>
                        <a:srgbClr val="C9CDD4"/>
                      </a:solidFill>
                      <a:prstDash val="solid"/>
                      <a:round/>
                      <a:headEnd type="none" w="med" len="med"/>
                      <a:tailEnd type="none" w="med" len="med"/>
                    </a:lnT>
                    <a:lnB w="9525" cap="flat" cmpd="sng" algn="ctr">
                      <a:solidFill>
                        <a:srgbClr val="C9CDD4"/>
                      </a:solidFill>
                      <a:prstDash val="solid"/>
                      <a:round/>
                      <a:headEnd type="none" w="med" len="med"/>
                      <a:tailEnd type="none" w="med" len="med"/>
                    </a:lnB>
                  </a:tcPr>
                </a:tc>
                <a:tc>
                  <a:txBody>
                    <a:bodyPr/>
                    <a:lstStyle/>
                    <a:p>
                      <a:pPr marL="0" indent="0">
                        <a:buNone/>
                      </a:pPr>
                      <a:r>
                        <a:rPr lang="en-US" sz="1200" dirty="0">
                          <a:solidFill>
                            <a:srgbClr val="000000"/>
                          </a:solidFill>
                          <a:latin typeface="Calibri" pitchFamily="34" charset="0"/>
                          <a:ea typeface="Calibri" pitchFamily="34" charset="-122"/>
                          <a:cs typeface="Calibri" pitchFamily="34" charset="-120"/>
                        </a:rPr>
                        <a:t>Public benchmark corpus, secondary analysis</a:t>
                      </a:r>
                      <a:endParaRPr lang="en-US" sz="1200" dirty="0">
                        <a:latin typeface="Calibri" charset="0"/>
                        <a:ea typeface="Calibri" charset="0"/>
                        <a:cs typeface="Calibri" charset="0"/>
                      </a:endParaRPr>
                    </a:p>
                  </a:txBody>
                  <a:tcPr anchor="ctr">
                    <a:lnL w="9525" cap="flat" cmpd="sng" algn="ctr">
                      <a:solidFill>
                        <a:srgbClr val="C9CDD4"/>
                      </a:solidFill>
                      <a:prstDash val="solid"/>
                      <a:round/>
                      <a:headEnd type="none" w="med" len="med"/>
                      <a:tailEnd type="none" w="med" len="med"/>
                    </a:lnL>
                    <a:lnR w="9525" cap="flat" cmpd="sng" algn="ctr">
                      <a:solidFill>
                        <a:srgbClr val="C9CDD4"/>
                      </a:solidFill>
                      <a:prstDash val="solid"/>
                      <a:round/>
                      <a:headEnd type="none" w="med" len="med"/>
                      <a:tailEnd type="none" w="med" len="med"/>
                    </a:lnR>
                    <a:lnT w="9525" cap="flat" cmpd="sng" algn="ctr">
                      <a:solidFill>
                        <a:srgbClr val="C9CDD4"/>
                      </a:solidFill>
                      <a:prstDash val="solid"/>
                      <a:round/>
                      <a:headEnd type="none" w="med" len="med"/>
                      <a:tailEnd type="none" w="med" len="med"/>
                    </a:lnT>
                    <a:lnB w="9525" cap="flat" cmpd="sng" algn="ctr">
                      <a:solidFill>
                        <a:srgbClr val="C9CDD4"/>
                      </a:solidFill>
                      <a:prstDash val="solid"/>
                      <a:round/>
                      <a:headEnd type="none" w="med" len="med"/>
                      <a:tailEnd type="none" w="med" len="med"/>
                    </a:lnB>
                  </a:tcPr>
                </a:tc>
                <a:extLst>
                  <a:ext uri="{0D108BD9-81ED-4DB2-BD59-A6C34878D82A}">
                    <a16:rowId xmlns:a16="http://schemas.microsoft.com/office/drawing/2014/main" val="10004"/>
                  </a:ext>
                </a:extLst>
              </a:tr>
              <a:tr h="548640">
                <a:tc>
                  <a:txBody>
                    <a:bodyPr/>
                    <a:lstStyle/>
                    <a:p>
                      <a:pPr marL="0" indent="0">
                        <a:buNone/>
                      </a:pPr>
                      <a:r>
                        <a:rPr lang="en-US" sz="1200" dirty="0">
                          <a:solidFill>
                            <a:srgbClr val="000000"/>
                          </a:solidFill>
                          <a:latin typeface="Calibri" pitchFamily="34" charset="0"/>
                          <a:ea typeface="Calibri" pitchFamily="34" charset="-122"/>
                          <a:cs typeface="Calibri" pitchFamily="34" charset="-120"/>
                        </a:rPr>
                        <a:t>Fine-tuning a pre-trained encoder</a:t>
                      </a:r>
                      <a:endParaRPr lang="en-US" sz="1200" dirty="0">
                        <a:latin typeface="Calibri" charset="0"/>
                        <a:ea typeface="Calibri" charset="0"/>
                        <a:cs typeface="Calibri" charset="0"/>
                      </a:endParaRPr>
                    </a:p>
                  </a:txBody>
                  <a:tcPr anchor="ctr">
                    <a:lnL w="9525" cap="flat" cmpd="sng" algn="ctr">
                      <a:solidFill>
                        <a:srgbClr val="C9CDD4"/>
                      </a:solidFill>
                      <a:prstDash val="solid"/>
                      <a:round/>
                      <a:headEnd type="none" w="med" len="med"/>
                      <a:tailEnd type="none" w="med" len="med"/>
                    </a:lnL>
                    <a:lnR w="9525" cap="flat" cmpd="sng" algn="ctr">
                      <a:solidFill>
                        <a:srgbClr val="C9CDD4"/>
                      </a:solidFill>
                      <a:prstDash val="solid"/>
                      <a:round/>
                      <a:headEnd type="none" w="med" len="med"/>
                      <a:tailEnd type="none" w="med" len="med"/>
                    </a:lnR>
                    <a:lnT w="9525" cap="flat" cmpd="sng" algn="ctr">
                      <a:solidFill>
                        <a:srgbClr val="C9CDD4"/>
                      </a:solidFill>
                      <a:prstDash val="solid"/>
                      <a:round/>
                      <a:headEnd type="none" w="med" len="med"/>
                      <a:tailEnd type="none" w="med" len="med"/>
                    </a:lnT>
                    <a:lnB w="9525" cap="flat" cmpd="sng" algn="ctr">
                      <a:solidFill>
                        <a:srgbClr val="C9CDD4"/>
                      </a:solidFill>
                      <a:prstDash val="solid"/>
                      <a:round/>
                      <a:headEnd type="none" w="med" len="med"/>
                      <a:tailEnd type="none" w="med" len="med"/>
                    </a:lnB>
                  </a:tcPr>
                </a:tc>
                <a:tc>
                  <a:txBody>
                    <a:bodyPr/>
                    <a:lstStyle/>
                    <a:p>
                      <a:pPr marL="0" indent="0">
                        <a:buNone/>
                      </a:pPr>
                      <a:r>
                        <a:rPr lang="en-US" sz="1200" dirty="0">
                          <a:solidFill>
                            <a:srgbClr val="000000"/>
                          </a:solidFill>
                          <a:latin typeface="Calibri" pitchFamily="34" charset="0"/>
                          <a:ea typeface="Calibri" pitchFamily="34" charset="-122"/>
                          <a:cs typeface="Calibri" pitchFamily="34" charset="-120"/>
                        </a:rPr>
                        <a:t>A pre-trained model has already seen emoji and their descriptions, which contaminates the comparison</a:t>
                      </a:r>
                      <a:endParaRPr lang="en-US" sz="1200" dirty="0">
                        <a:latin typeface="Calibri" charset="0"/>
                        <a:ea typeface="Calibri" charset="0"/>
                        <a:cs typeface="Calibri" charset="0"/>
                      </a:endParaRPr>
                    </a:p>
                  </a:txBody>
                  <a:tcPr anchor="ctr">
                    <a:lnL w="9525" cap="flat" cmpd="sng" algn="ctr">
                      <a:solidFill>
                        <a:srgbClr val="C9CDD4"/>
                      </a:solidFill>
                      <a:prstDash val="solid"/>
                      <a:round/>
                      <a:headEnd type="none" w="med" len="med"/>
                      <a:tailEnd type="none" w="med" len="med"/>
                    </a:lnL>
                    <a:lnR w="9525" cap="flat" cmpd="sng" algn="ctr">
                      <a:solidFill>
                        <a:srgbClr val="C9CDD4"/>
                      </a:solidFill>
                      <a:prstDash val="solid"/>
                      <a:round/>
                      <a:headEnd type="none" w="med" len="med"/>
                      <a:tailEnd type="none" w="med" len="med"/>
                    </a:lnR>
                    <a:lnT w="9525" cap="flat" cmpd="sng" algn="ctr">
                      <a:solidFill>
                        <a:srgbClr val="C9CDD4"/>
                      </a:solidFill>
                      <a:prstDash val="solid"/>
                      <a:round/>
                      <a:headEnd type="none" w="med" len="med"/>
                      <a:tailEnd type="none" w="med" len="med"/>
                    </a:lnT>
                    <a:lnB w="9525" cap="flat" cmpd="sng" algn="ctr">
                      <a:solidFill>
                        <a:srgbClr val="C9CDD4"/>
                      </a:solidFill>
                      <a:prstDash val="solid"/>
                      <a:round/>
                      <a:headEnd type="none" w="med" len="med"/>
                      <a:tailEnd type="none" w="med" len="med"/>
                    </a:lnB>
                  </a:tcPr>
                </a:tc>
                <a:tc>
                  <a:txBody>
                    <a:bodyPr/>
                    <a:lstStyle/>
                    <a:p>
                      <a:pPr marL="0" indent="0">
                        <a:buNone/>
                      </a:pPr>
                      <a:r>
                        <a:rPr lang="en-US" sz="1200" dirty="0">
                          <a:solidFill>
                            <a:srgbClr val="000000"/>
                          </a:solidFill>
                          <a:latin typeface="Calibri" pitchFamily="34" charset="0"/>
                          <a:ea typeface="Calibri" pitchFamily="34" charset="-122"/>
                          <a:cs typeface="Calibri" pitchFamily="34" charset="-120"/>
                        </a:rPr>
                        <a:t>Both architectures trained from scratch</a:t>
                      </a:r>
                      <a:endParaRPr lang="en-US" sz="1200" dirty="0">
                        <a:latin typeface="Calibri" charset="0"/>
                        <a:ea typeface="Calibri" charset="0"/>
                        <a:cs typeface="Calibri" charset="0"/>
                      </a:endParaRPr>
                    </a:p>
                  </a:txBody>
                  <a:tcPr anchor="ctr">
                    <a:lnL w="9525" cap="flat" cmpd="sng" algn="ctr">
                      <a:solidFill>
                        <a:srgbClr val="C9CDD4"/>
                      </a:solidFill>
                      <a:prstDash val="solid"/>
                      <a:round/>
                      <a:headEnd type="none" w="med" len="med"/>
                      <a:tailEnd type="none" w="med" len="med"/>
                    </a:lnL>
                    <a:lnR w="9525" cap="flat" cmpd="sng" algn="ctr">
                      <a:solidFill>
                        <a:srgbClr val="C9CDD4"/>
                      </a:solidFill>
                      <a:prstDash val="solid"/>
                      <a:round/>
                      <a:headEnd type="none" w="med" len="med"/>
                      <a:tailEnd type="none" w="med" len="med"/>
                    </a:lnR>
                    <a:lnT w="9525" cap="flat" cmpd="sng" algn="ctr">
                      <a:solidFill>
                        <a:srgbClr val="C9CDD4"/>
                      </a:solidFill>
                      <a:prstDash val="solid"/>
                      <a:round/>
                      <a:headEnd type="none" w="med" len="med"/>
                      <a:tailEnd type="none" w="med" len="med"/>
                    </a:lnT>
                    <a:lnB w="9525" cap="flat" cmpd="sng" algn="ctr">
                      <a:solidFill>
                        <a:srgbClr val="C9CDD4"/>
                      </a:solidFill>
                      <a:prstDash val="solid"/>
                      <a:round/>
                      <a:headEnd type="none" w="med" len="med"/>
                      <a:tailEnd type="none" w="med" len="med"/>
                    </a:lnB>
                  </a:tcPr>
                </a:tc>
                <a:extLst>
                  <a:ext uri="{0D108BD9-81ED-4DB2-BD59-A6C34878D82A}">
                    <a16:rowId xmlns:a16="http://schemas.microsoft.com/office/drawing/2014/main" val="10005"/>
                  </a:ext>
                </a:extLst>
              </a:tr>
            </a:tbl>
          </a:graphicData>
        </a:graphic>
      </p:graphicFrame>
      <p:sp>
        <p:nvSpPr>
          <p:cNvPr id="14" name="Shape 11"/>
          <p:cNvSpPr/>
          <p:nvPr/>
        </p:nvSpPr>
        <p:spPr>
          <a:xfrm>
            <a:off x="566928" y="5047488"/>
            <a:ext cx="9829800" cy="384048"/>
          </a:xfrm>
          <a:prstGeom prst="rect">
            <a:avLst/>
          </a:prstGeom>
          <a:solidFill>
            <a:srgbClr val="2764B4"/>
          </a:solidFill>
          <a:ln w="12700">
            <a:solidFill>
              <a:srgbClr val="2764B4"/>
            </a:solidFill>
            <a:prstDash val="solid"/>
          </a:ln>
        </p:spPr>
      </p:sp>
      <p:sp>
        <p:nvSpPr>
          <p:cNvPr id="13" name="Text 12"/>
          <p:cNvSpPr txBox="1"/>
          <p:nvPr/>
        </p:nvSpPr>
        <p:spPr>
          <a:xfrm>
            <a:off x="694944" y="5047488"/>
            <a:ext cx="9573768" cy="384048"/>
          </a:xfrm>
          <a:prstGeom prst="rect">
            <a:avLst/>
          </a:prstGeom>
          <a:noFill/>
          <a:ln/>
        </p:spPr>
        <p:txBody>
          <a:bodyPr wrap="square" lIns="0" tIns="0" rIns="0" bIns="0" rtlCol="0" anchor="ctr"/>
          <a:lstStyle/>
          <a:p>
            <a:pPr marL="0" indent="0">
              <a:buNone/>
            </a:pPr>
            <a:r>
              <a:rPr lang="en-US" sz="1500" b="1" dirty="0">
                <a:solidFill>
                  <a:srgbClr val="FFFFFF"/>
                </a:solidFill>
                <a:latin typeface="Calibri" pitchFamily="34" charset="0"/>
                <a:ea typeface="Calibri" pitchFamily="34" charset="-122"/>
                <a:cs typeface="Calibri" pitchFamily="34" charset="-120"/>
              </a:rPr>
              <a:t>Project Alignment</a:t>
            </a:r>
            <a:endParaRPr lang="en-US" sz="1500" dirty="0"/>
          </a:p>
        </p:txBody>
      </p:sp>
      <p:sp>
        <p:nvSpPr>
          <p:cNvPr id="16" name="Shape 13"/>
          <p:cNvSpPr/>
          <p:nvPr/>
        </p:nvSpPr>
        <p:spPr>
          <a:xfrm>
            <a:off x="566928" y="5431536"/>
            <a:ext cx="9829800" cy="731520"/>
          </a:xfrm>
          <a:prstGeom prst="rect">
            <a:avLst/>
          </a:prstGeom>
          <a:solidFill>
            <a:srgbClr val="F4DDE6"/>
          </a:solidFill>
          <a:ln/>
        </p:spPr>
      </p:sp>
      <p:sp>
        <p:nvSpPr>
          <p:cNvPr id="17" name="Text 14"/>
          <p:cNvSpPr txBox="1"/>
          <p:nvPr/>
        </p:nvSpPr>
        <p:spPr>
          <a:xfrm>
            <a:off x="768096" y="5495544"/>
            <a:ext cx="9427464" cy="457200"/>
          </a:xfrm>
          <a:prstGeom prst="rect">
            <a:avLst/>
          </a:prstGeom>
          <a:noFill/>
          <a:ln/>
        </p:spPr>
        <p:txBody>
          <a:bodyPr wrap="square" lIns="0" tIns="0" rIns="0" bIns="0" rtlCol="0" anchor="t"/>
          <a:lstStyle/>
          <a:p>
            <a:pPr marL="0" indent="0">
              <a:lnSpc>
                <a:spcPct val="106000"/>
              </a:lnSpc>
              <a:buNone/>
            </a:pPr>
            <a:r>
              <a:rPr lang="en-US" sz="1200" dirty="0">
                <a:solidFill>
                  <a:srgbClr val="000000"/>
                </a:solidFill>
                <a:latin typeface="Calibri" pitchFamily="34" charset="0"/>
                <a:ea typeface="Calibri" pitchFamily="34" charset="-122"/>
                <a:cs typeface="Calibri" pitchFamily="34" charset="-120"/>
              </a:rPr>
              <a:t>RQ1 asks for the size of an effect, which requires a controlled quantitative comparison. RQ2 asks whether the effect is conditional, which requires two factors varied in one design. The experimental strategy delivers both, and the secondary data technique keeps the study reproducible: the random seed is fixed, so re-running the notebooks reproduces every number in this deck.</a:t>
            </a:r>
            <a:endParaRPr lang="en-US" sz="12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914400" y="2514600"/>
            <a:ext cx="10360152" cy="658368"/>
          </a:xfrm>
          <a:prstGeom prst="rect">
            <a:avLst/>
          </a:prstGeom>
          <a:noFill/>
          <a:ln/>
        </p:spPr>
        <p:txBody>
          <a:bodyPr wrap="square" lIns="0" tIns="0" rIns="0" bIns="0" rtlCol="0" anchor="ctr"/>
          <a:lstStyle/>
          <a:p>
            <a:pPr marL="0" indent="0" algn="ctr">
              <a:buNone/>
            </a:pPr>
            <a:r>
              <a:rPr lang="en-US" sz="3400" dirty="0">
                <a:solidFill>
                  <a:srgbClr val="000000"/>
                </a:solidFill>
                <a:latin typeface="Calibri" pitchFamily="34" charset="0"/>
                <a:ea typeface="Calibri" pitchFamily="34" charset="-122"/>
                <a:cs typeface="Calibri" pitchFamily="34" charset="-120"/>
              </a:rPr>
              <a:t>4.  Ethics</a:t>
            </a:r>
            <a:endParaRPr lang="en-US" sz="3400" dirty="0"/>
          </a:p>
        </p:txBody>
      </p:sp>
      <p:sp>
        <p:nvSpPr>
          <p:cNvPr id="3" name="Shape 1"/>
          <p:cNvSpPr/>
          <p:nvPr/>
        </p:nvSpPr>
        <p:spPr>
          <a:xfrm>
            <a:off x="2258568" y="3502152"/>
            <a:ext cx="7680960" cy="32004"/>
          </a:xfrm>
          <a:prstGeom prst="rect">
            <a:avLst/>
          </a:prstGeom>
          <a:solidFill>
            <a:srgbClr val="CC0000"/>
          </a:solidFill>
          <a:ln w="12700">
            <a:solidFill>
              <a:srgbClr val="CC0000"/>
            </a:solidFill>
            <a:prstDash val="solid"/>
          </a:ln>
        </p:spPr>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1045159"/>
          </a:xfrm>
          <a:prstGeom prst="rect">
            <a:avLst/>
          </a:prstGeom>
          <a:solidFill>
            <a:srgbClr val="9A003B"/>
          </a:solidFill>
          <a:ln w="12700">
            <a:solidFill>
              <a:srgbClr val="9A003B"/>
            </a:solidFill>
            <a:prstDash val="solid"/>
          </a:ln>
        </p:spPr>
      </p:sp>
      <p:sp>
        <p:nvSpPr>
          <p:cNvPr id="3" name="Text 1"/>
          <p:cNvSpPr txBox="1"/>
          <p:nvPr/>
        </p:nvSpPr>
        <p:spPr>
          <a:xfrm>
            <a:off x="228600" y="109728"/>
            <a:ext cx="11704320" cy="825703"/>
          </a:xfrm>
          <a:prstGeom prst="rect">
            <a:avLst/>
          </a:prstGeom>
          <a:noFill/>
          <a:ln/>
        </p:spPr>
        <p:txBody>
          <a:bodyPr wrap="square" lIns="0" tIns="0" rIns="0" bIns="0" rtlCol="0" anchor="ctr"/>
          <a:lstStyle/>
          <a:p>
            <a:pPr marL="0" indent="0">
              <a:lnSpc>
                <a:spcPct val="95000"/>
              </a:lnSpc>
              <a:buNone/>
            </a:pPr>
            <a:r>
              <a:rPr lang="en-US" sz="2500" dirty="0">
                <a:solidFill>
                  <a:srgbClr val="FFFFFF"/>
                </a:solidFill>
                <a:latin typeface="Calibri" pitchFamily="34" charset="0"/>
                <a:ea typeface="Calibri" pitchFamily="34" charset="-122"/>
                <a:cs typeface="Calibri" pitchFamily="34" charset="-120"/>
              </a:rPr>
              <a:t>Ethics: Governance, Data Collection &amp; Risk Management I</a:t>
            </a:r>
            <a:endParaRPr lang="en-US" sz="2500" dirty="0"/>
          </a:p>
        </p:txBody>
      </p:sp>
      <p:sp>
        <p:nvSpPr>
          <p:cNvPr id="4" name="Text 2"/>
          <p:cNvSpPr txBox="1"/>
          <p:nvPr/>
        </p:nvSpPr>
        <p:spPr>
          <a:xfrm>
            <a:off x="10515600" y="5806440"/>
            <a:ext cx="1463040" cy="749808"/>
          </a:xfrm>
          <a:prstGeom prst="rect">
            <a:avLst/>
          </a:prstGeom>
          <a:noFill/>
          <a:ln/>
        </p:spPr>
        <p:txBody>
          <a:bodyPr wrap="square" lIns="0" tIns="0" rIns="0" bIns="0" rtlCol="0" anchor="b"/>
          <a:lstStyle/>
          <a:p>
            <a:pPr marL="0" indent="0" algn="r">
              <a:lnSpc>
                <a:spcPct val="85000"/>
              </a:lnSpc>
              <a:buNone/>
            </a:pPr>
            <a:r>
              <a:rPr lang="en-US" sz="1150" b="1" dirty="0">
                <a:solidFill>
                  <a:srgbClr val="9A003B"/>
                </a:solidFill>
                <a:latin typeface="Calibri" pitchFamily="34" charset="0"/>
                <a:ea typeface="Calibri" pitchFamily="34" charset="-122"/>
                <a:cs typeface="Calibri" pitchFamily="34" charset="-120"/>
              </a:rPr>
              <a:t>Sheffield</a:t>
            </a:r>
            <a:endParaRPr lang="en-US" sz="1150" dirty="0"/>
          </a:p>
          <a:p>
            <a:pPr marL="0" indent="0" algn="r">
              <a:lnSpc>
                <a:spcPct val="85000"/>
              </a:lnSpc>
              <a:buNone/>
            </a:pPr>
            <a:r>
              <a:rPr lang="en-US" sz="1150" b="1" dirty="0">
                <a:solidFill>
                  <a:srgbClr val="9A003B"/>
                </a:solidFill>
                <a:latin typeface="Calibri" pitchFamily="34" charset="0"/>
                <a:ea typeface="Calibri" pitchFamily="34" charset="-122"/>
                <a:cs typeface="Calibri" pitchFamily="34" charset="-120"/>
              </a:rPr>
              <a:t>Hallam</a:t>
            </a:r>
            <a:endParaRPr lang="en-US" sz="1150" dirty="0"/>
          </a:p>
          <a:p>
            <a:pPr marL="0" indent="0" algn="r">
              <a:lnSpc>
                <a:spcPct val="85000"/>
              </a:lnSpc>
              <a:buNone/>
            </a:pPr>
            <a:r>
              <a:rPr lang="en-US" sz="1150" b="1" dirty="0">
                <a:solidFill>
                  <a:srgbClr val="9A003B"/>
                </a:solidFill>
                <a:latin typeface="Calibri" pitchFamily="34" charset="0"/>
                <a:ea typeface="Calibri" pitchFamily="34" charset="-122"/>
                <a:cs typeface="Calibri" pitchFamily="34" charset="-120"/>
              </a:rPr>
              <a:t>University</a:t>
            </a:r>
            <a:endParaRPr lang="en-US" sz="1150" dirty="0"/>
          </a:p>
        </p:txBody>
      </p:sp>
      <p:sp>
        <p:nvSpPr>
          <p:cNvPr id="5" name="Shape 3"/>
          <p:cNvSpPr/>
          <p:nvPr/>
        </p:nvSpPr>
        <p:spPr>
          <a:xfrm>
            <a:off x="0" y="6624828"/>
            <a:ext cx="4063898" cy="233172"/>
          </a:xfrm>
          <a:prstGeom prst="rect">
            <a:avLst/>
          </a:prstGeom>
          <a:solidFill>
            <a:srgbClr val="4D001E"/>
          </a:solidFill>
          <a:ln w="12700">
            <a:solidFill>
              <a:srgbClr val="4D001E"/>
            </a:solidFill>
            <a:prstDash val="solid"/>
          </a:ln>
        </p:spPr>
      </p:sp>
      <p:sp>
        <p:nvSpPr>
          <p:cNvPr id="6" name="Shape 4"/>
          <p:cNvSpPr/>
          <p:nvPr/>
        </p:nvSpPr>
        <p:spPr>
          <a:xfrm>
            <a:off x="4063898" y="6624828"/>
            <a:ext cx="4063898" cy="233172"/>
          </a:xfrm>
          <a:prstGeom prst="rect">
            <a:avLst/>
          </a:prstGeom>
          <a:solidFill>
            <a:srgbClr val="74002C"/>
          </a:solidFill>
          <a:ln w="12700">
            <a:solidFill>
              <a:srgbClr val="74002C"/>
            </a:solidFill>
            <a:prstDash val="solid"/>
          </a:ln>
        </p:spPr>
      </p:sp>
      <p:sp>
        <p:nvSpPr>
          <p:cNvPr id="7" name="Shape 5"/>
          <p:cNvSpPr/>
          <p:nvPr/>
        </p:nvSpPr>
        <p:spPr>
          <a:xfrm>
            <a:off x="8127797" y="6624828"/>
            <a:ext cx="4063898" cy="233172"/>
          </a:xfrm>
          <a:prstGeom prst="rect">
            <a:avLst/>
          </a:prstGeom>
          <a:solidFill>
            <a:srgbClr val="9A003B"/>
          </a:solidFill>
          <a:ln w="12700">
            <a:solidFill>
              <a:srgbClr val="9A003B"/>
            </a:solidFill>
            <a:prstDash val="solid"/>
          </a:ln>
        </p:spPr>
      </p:sp>
      <p:sp>
        <p:nvSpPr>
          <p:cNvPr id="8" name="Text 6"/>
          <p:cNvSpPr txBox="1"/>
          <p:nvPr/>
        </p:nvSpPr>
        <p:spPr>
          <a:xfrm>
            <a:off x="1143000" y="6624828"/>
            <a:ext cx="2743200" cy="233172"/>
          </a:xfrm>
          <a:prstGeom prst="rect">
            <a:avLst/>
          </a:prstGeom>
          <a:noFill/>
          <a:ln/>
        </p:spPr>
        <p:txBody>
          <a:bodyPr wrap="square" lIns="0" tIns="0" rIns="0" bIns="0" rtlCol="0" anchor="ctr"/>
          <a:lstStyle/>
          <a:p>
            <a:pPr marL="0" indent="0">
              <a:buNone/>
            </a:pPr>
            <a:r>
              <a:rPr lang="en-US" sz="900" dirty="0">
                <a:solidFill>
                  <a:srgbClr val="FFFFFF"/>
                </a:solidFill>
                <a:latin typeface="Calibri" pitchFamily="34" charset="0"/>
                <a:ea typeface="Calibri" pitchFamily="34" charset="-122"/>
                <a:cs typeface="Calibri" pitchFamily="34" charset="-120"/>
              </a:rPr>
              <a:t>[Student Initials]  (SHU)</a:t>
            </a:r>
            <a:endParaRPr lang="en-US" sz="900" dirty="0"/>
          </a:p>
        </p:txBody>
      </p:sp>
      <p:sp>
        <p:nvSpPr>
          <p:cNvPr id="9" name="Text 7"/>
          <p:cNvSpPr txBox="1"/>
          <p:nvPr/>
        </p:nvSpPr>
        <p:spPr>
          <a:xfrm>
            <a:off x="5276088" y="6624828"/>
            <a:ext cx="2743200" cy="233172"/>
          </a:xfrm>
          <a:prstGeom prst="rect">
            <a:avLst/>
          </a:prstGeom>
          <a:noFill/>
          <a:ln/>
        </p:spPr>
        <p:txBody>
          <a:bodyPr wrap="square" lIns="0" tIns="0" rIns="0" bIns="0" rtlCol="0" anchor="ctr"/>
          <a:lstStyle/>
          <a:p>
            <a:pPr marL="0" indent="0">
              <a:buNone/>
            </a:pPr>
            <a:r>
              <a:rPr lang="en-US" sz="900" dirty="0">
                <a:solidFill>
                  <a:srgbClr val="FFFFFF"/>
                </a:solidFill>
                <a:latin typeface="Calibri" pitchFamily="34" charset="0"/>
                <a:ea typeface="Calibri" pitchFamily="34" charset="-122"/>
                <a:cs typeface="Calibri" pitchFamily="34" charset="-120"/>
              </a:rPr>
              <a:t>Does the Emoji Matter?</a:t>
            </a:r>
            <a:endParaRPr lang="en-US" sz="900" dirty="0"/>
          </a:p>
        </p:txBody>
      </p:sp>
      <p:sp>
        <p:nvSpPr>
          <p:cNvPr id="10" name="Text 8"/>
          <p:cNvSpPr txBox="1"/>
          <p:nvPr/>
        </p:nvSpPr>
        <p:spPr>
          <a:xfrm>
            <a:off x="9235440" y="6624828"/>
            <a:ext cx="1645920" cy="233172"/>
          </a:xfrm>
          <a:prstGeom prst="rect">
            <a:avLst/>
          </a:prstGeom>
          <a:noFill/>
          <a:ln/>
        </p:spPr>
        <p:txBody>
          <a:bodyPr wrap="square" lIns="0" tIns="0" rIns="0" bIns="0" rtlCol="0" anchor="ctr"/>
          <a:lstStyle/>
          <a:p>
            <a:pPr marL="0" indent="0">
              <a:buNone/>
            </a:pPr>
            <a:r>
              <a:rPr lang="en-US" sz="900" dirty="0">
                <a:solidFill>
                  <a:srgbClr val="FFFFFF"/>
                </a:solidFill>
                <a:latin typeface="Calibri" pitchFamily="34" charset="0"/>
                <a:ea typeface="Calibri" pitchFamily="34" charset="-122"/>
                <a:cs typeface="Calibri" pitchFamily="34" charset="-120"/>
              </a:rPr>
              <a:t>September 2026</a:t>
            </a:r>
            <a:endParaRPr lang="en-US" sz="900" dirty="0"/>
          </a:p>
        </p:txBody>
      </p:sp>
      <p:sp>
        <p:nvSpPr>
          <p:cNvPr id="11" name="Text 9"/>
          <p:cNvSpPr txBox="1"/>
          <p:nvPr/>
        </p:nvSpPr>
        <p:spPr>
          <a:xfrm>
            <a:off x="10881360" y="6624828"/>
            <a:ext cx="1161288" cy="233172"/>
          </a:xfrm>
          <a:prstGeom prst="rect">
            <a:avLst/>
          </a:prstGeom>
          <a:noFill/>
          <a:ln/>
        </p:spPr>
        <p:txBody>
          <a:bodyPr wrap="square" lIns="0" tIns="0" rIns="0" bIns="0" rtlCol="0" anchor="ctr"/>
          <a:lstStyle/>
          <a:p>
            <a:pPr marL="0" indent="0" algn="r">
              <a:buNone/>
            </a:pPr>
            <a:r>
              <a:rPr lang="en-US" sz="900" dirty="0">
                <a:solidFill>
                  <a:srgbClr val="FFFFFF"/>
                </a:solidFill>
                <a:latin typeface="Calibri" pitchFamily="34" charset="0"/>
                <a:ea typeface="Calibri" pitchFamily="34" charset="-122"/>
                <a:cs typeface="Calibri" pitchFamily="34" charset="-120"/>
              </a:rPr>
              <a:t>16 / 43</a:t>
            </a:r>
            <a:endParaRPr lang="en-US" sz="900" dirty="0"/>
          </a:p>
        </p:txBody>
      </p:sp>
      <p:sp>
        <p:nvSpPr>
          <p:cNvPr id="12" name="Text 10"/>
          <p:cNvSpPr txBox="1"/>
          <p:nvPr/>
        </p:nvSpPr>
        <p:spPr>
          <a:xfrm>
            <a:off x="749808" y="1344168"/>
            <a:ext cx="10872216" cy="4572000"/>
          </a:xfrm>
          <a:prstGeom prst="rect">
            <a:avLst/>
          </a:prstGeom>
          <a:noFill/>
          <a:ln/>
        </p:spPr>
        <p:txBody>
          <a:bodyPr wrap="square" lIns="0" tIns="0" rIns="0" bIns="0" rtlCol="0" anchor="t"/>
          <a:lstStyle/>
          <a:p>
            <a:pPr marL="177800" indent="-177800">
              <a:lnSpc>
                <a:spcPct val="106000"/>
              </a:lnSpc>
              <a:spcAft>
                <a:spcPts val="800"/>
              </a:spcAft>
              <a:buSzPct val="100000"/>
              <a:buChar char="•"/>
            </a:pPr>
            <a:r>
              <a:rPr lang="en-US" sz="1300" b="1" dirty="0">
                <a:solidFill>
                  <a:srgbClr val="000000"/>
                </a:solidFill>
                <a:latin typeface="Calibri" pitchFamily="34" charset="0"/>
                <a:ea typeface="Calibri" pitchFamily="34" charset="-122"/>
                <a:cs typeface="Calibri" pitchFamily="34" charset="-120"/>
              </a:rPr>
              <a:t>Data Collection Strategy: </a:t>
            </a:r>
            <a:r>
              <a:rPr lang="en-US" sz="1300" dirty="0">
                <a:solidFill>
                  <a:srgbClr val="000000"/>
                </a:solidFill>
                <a:latin typeface="Calibri" pitchFamily="34" charset="0"/>
                <a:ea typeface="Calibri" pitchFamily="34" charset="-122"/>
                <a:cs typeface="Calibri" pitchFamily="34" charset="-120"/>
              </a:rPr>
              <a:t>secondary data only. No participants were recruited, contacted or observed, and no new data was collected. The gathering instrument is an acquisition and verification script rather than a questionnaire, and six integrity checks are applied before any analysis is allowed to start.</a:t>
            </a:r>
            <a:endParaRPr lang="en-US" sz="1300" dirty="0"/>
          </a:p>
          <a:p>
            <a:pPr marL="177800" indent="-177800">
              <a:lnSpc>
                <a:spcPct val="106000"/>
              </a:lnSpc>
              <a:spcAft>
                <a:spcPts val="800"/>
              </a:spcAft>
              <a:buSzPct val="100000"/>
              <a:buChar char="•"/>
            </a:pPr>
            <a:r>
              <a:rPr lang="en-US" sz="1300" b="1" dirty="0">
                <a:solidFill>
                  <a:srgbClr val="000000"/>
                </a:solidFill>
                <a:latin typeface="Calibri" pitchFamily="34" charset="0"/>
                <a:ea typeface="Calibri" pitchFamily="34" charset="-122"/>
                <a:cs typeface="Calibri" pitchFamily="34" charset="-120"/>
              </a:rPr>
              <a:t>Data Source &amp; Storage Location: </a:t>
            </a:r>
            <a:r>
              <a:rPr lang="en-US" sz="1300" dirty="0">
                <a:solidFill>
                  <a:srgbClr val="000000"/>
                </a:solidFill>
                <a:latin typeface="Calibri" pitchFamily="34" charset="0"/>
                <a:ea typeface="Calibri" pitchFamily="34" charset="-122"/>
                <a:cs typeface="Calibri" pitchFamily="34" charset="-120"/>
              </a:rPr>
              <a:t>SemEval-2018 Task 1, Task E-c, English subtask, released publicly by the task organisers for research use. Working files are held on the student's University-allocated networked drive, with no removable media; GPU training used the author's own private compute account.</a:t>
            </a:r>
            <a:endParaRPr lang="en-US" sz="1300" dirty="0"/>
          </a:p>
          <a:p>
            <a:pPr marL="177800" indent="-177800">
              <a:lnSpc>
                <a:spcPct val="106000"/>
              </a:lnSpc>
              <a:spcAft>
                <a:spcPts val="800"/>
              </a:spcAft>
              <a:buSzPct val="100000"/>
              <a:buChar char="•"/>
            </a:pPr>
            <a:r>
              <a:rPr lang="en-US" sz="1300" b="1" dirty="0">
                <a:solidFill>
                  <a:srgbClr val="000000"/>
                </a:solidFill>
                <a:latin typeface="Calibri" pitchFamily="34" charset="0"/>
                <a:ea typeface="Calibri" pitchFamily="34" charset="-122"/>
                <a:cs typeface="Calibri" pitchFamily="34" charset="-120"/>
              </a:rPr>
              <a:t>Data Analysis: </a:t>
            </a:r>
            <a:r>
              <a:rPr lang="en-US" sz="1300" dirty="0">
                <a:solidFill>
                  <a:srgbClr val="000000"/>
                </a:solidFill>
                <a:latin typeface="Calibri" pitchFamily="34" charset="0"/>
                <a:ea typeface="Calibri" pitchFamily="34" charset="-122"/>
                <a:cs typeface="Calibri" pitchFamily="34" charset="-120"/>
              </a:rPr>
              <a:t>quantitative. Micro-F1, Macro-F1, label accuracy, per-class F1, confusion matrices and ROC-AUC, computed in scikit-learn from model output on the held-out development split. The test split was preserved unused.</a:t>
            </a:r>
            <a:endParaRPr lang="en-US" sz="1300" dirty="0"/>
          </a:p>
          <a:p>
            <a:pPr marL="177800" indent="-177800">
              <a:lnSpc>
                <a:spcPct val="106000"/>
              </a:lnSpc>
              <a:spcAft>
                <a:spcPts val="800"/>
              </a:spcAft>
              <a:buSzPct val="100000"/>
              <a:buChar char="•"/>
            </a:pPr>
            <a:r>
              <a:rPr lang="en-US" sz="1300" b="1" dirty="0">
                <a:solidFill>
                  <a:srgbClr val="000000"/>
                </a:solidFill>
                <a:latin typeface="Calibri" pitchFamily="34" charset="0"/>
                <a:ea typeface="Calibri" pitchFamily="34" charset="-122"/>
                <a:cs typeface="Calibri" pitchFamily="34" charset="-120"/>
              </a:rPr>
              <a:t>Ethics Approval Registration: </a:t>
            </a:r>
            <a:r>
              <a:rPr lang="en-US" sz="1300" dirty="0">
                <a:solidFill>
                  <a:srgbClr val="000000"/>
                </a:solidFill>
                <a:latin typeface="Calibri" pitchFamily="34" charset="0"/>
                <a:ea typeface="Calibri" pitchFamily="34" charset="-122"/>
                <a:cs typeface="Calibri" pitchFamily="34" charset="-120"/>
              </a:rPr>
              <a:t>approved via Blackboard under category UREC1 prior to data collection. Both preliminary screening questions were answered No — no human participants, and the secondary data is neither sensitive nor identifying — so no UREC2 or UREC3 submission was required. The signed form is in Appendix B of the report.</a:t>
            </a:r>
            <a:endParaRPr lang="en-US" sz="1300" dirty="0"/>
          </a:p>
          <a:p>
            <a:pPr marL="177800" indent="-177800">
              <a:lnSpc>
                <a:spcPct val="106000"/>
              </a:lnSpc>
              <a:spcAft>
                <a:spcPts val="800"/>
              </a:spcAft>
              <a:buSzPct val="100000"/>
              <a:buChar char="•"/>
            </a:pPr>
            <a:r>
              <a:rPr lang="en-US" sz="1300" b="1" dirty="0">
                <a:solidFill>
                  <a:srgbClr val="000000"/>
                </a:solidFill>
                <a:latin typeface="Calibri" pitchFamily="34" charset="0"/>
                <a:ea typeface="Calibri" pitchFamily="34" charset="-122"/>
                <a:cs typeface="Calibri" pitchFamily="34" charset="-120"/>
              </a:rPr>
              <a:t>GDPR: </a:t>
            </a:r>
            <a:r>
              <a:rPr lang="en-US" sz="1300" dirty="0">
                <a:solidFill>
                  <a:srgbClr val="000000"/>
                </a:solidFill>
                <a:latin typeface="Calibri" pitchFamily="34" charset="0"/>
                <a:ea typeface="Calibri" pitchFamily="34" charset="-122"/>
                <a:cs typeface="Calibri" pitchFamily="34" charset="-120"/>
              </a:rPr>
              <a:t>no personal data is processed at any stage. The corpus is already de-identified, and user mentions and URLs are removed at the first preprocessing step, so no identifier reaches a model or a result file. No tweet is reproduced verbatim anywhere in the project.</a:t>
            </a:r>
            <a:endParaRPr lang="en-US" sz="13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1045159"/>
          </a:xfrm>
          <a:prstGeom prst="rect">
            <a:avLst/>
          </a:prstGeom>
          <a:solidFill>
            <a:srgbClr val="9A003B"/>
          </a:solidFill>
          <a:ln w="12700">
            <a:solidFill>
              <a:srgbClr val="9A003B"/>
            </a:solidFill>
            <a:prstDash val="solid"/>
          </a:ln>
        </p:spPr>
      </p:sp>
      <p:sp>
        <p:nvSpPr>
          <p:cNvPr id="3" name="Text 1"/>
          <p:cNvSpPr txBox="1"/>
          <p:nvPr/>
        </p:nvSpPr>
        <p:spPr>
          <a:xfrm>
            <a:off x="228600" y="109728"/>
            <a:ext cx="11704320" cy="825703"/>
          </a:xfrm>
          <a:prstGeom prst="rect">
            <a:avLst/>
          </a:prstGeom>
          <a:noFill/>
          <a:ln/>
        </p:spPr>
        <p:txBody>
          <a:bodyPr wrap="square" lIns="0" tIns="0" rIns="0" bIns="0" rtlCol="0" anchor="ctr"/>
          <a:lstStyle/>
          <a:p>
            <a:pPr marL="0" indent="0">
              <a:lnSpc>
                <a:spcPct val="95000"/>
              </a:lnSpc>
              <a:buNone/>
            </a:pPr>
            <a:r>
              <a:rPr lang="en-US" sz="2500" dirty="0">
                <a:solidFill>
                  <a:srgbClr val="FFFFFF"/>
                </a:solidFill>
                <a:latin typeface="Calibri" pitchFamily="34" charset="0"/>
                <a:ea typeface="Calibri" pitchFamily="34" charset="-122"/>
                <a:cs typeface="Calibri" pitchFamily="34" charset="-120"/>
              </a:rPr>
              <a:t>Ethics: Governance, Data Collection &amp; Risk Management II</a:t>
            </a:r>
            <a:endParaRPr lang="en-US" sz="2500" dirty="0"/>
          </a:p>
        </p:txBody>
      </p:sp>
      <p:sp>
        <p:nvSpPr>
          <p:cNvPr id="4" name="Text 2"/>
          <p:cNvSpPr txBox="1"/>
          <p:nvPr/>
        </p:nvSpPr>
        <p:spPr>
          <a:xfrm>
            <a:off x="10515600" y="5806440"/>
            <a:ext cx="1463040" cy="749808"/>
          </a:xfrm>
          <a:prstGeom prst="rect">
            <a:avLst/>
          </a:prstGeom>
          <a:noFill/>
          <a:ln/>
        </p:spPr>
        <p:txBody>
          <a:bodyPr wrap="square" lIns="0" tIns="0" rIns="0" bIns="0" rtlCol="0" anchor="b"/>
          <a:lstStyle/>
          <a:p>
            <a:pPr marL="0" indent="0" algn="r">
              <a:lnSpc>
                <a:spcPct val="85000"/>
              </a:lnSpc>
              <a:buNone/>
            </a:pPr>
            <a:r>
              <a:rPr lang="en-US" sz="1150" b="1" dirty="0">
                <a:solidFill>
                  <a:srgbClr val="9A003B"/>
                </a:solidFill>
                <a:latin typeface="Calibri" pitchFamily="34" charset="0"/>
                <a:ea typeface="Calibri" pitchFamily="34" charset="-122"/>
                <a:cs typeface="Calibri" pitchFamily="34" charset="-120"/>
              </a:rPr>
              <a:t>Sheffield</a:t>
            </a:r>
            <a:endParaRPr lang="en-US" sz="1150" dirty="0"/>
          </a:p>
          <a:p>
            <a:pPr marL="0" indent="0" algn="r">
              <a:lnSpc>
                <a:spcPct val="85000"/>
              </a:lnSpc>
              <a:buNone/>
            </a:pPr>
            <a:r>
              <a:rPr lang="en-US" sz="1150" b="1" dirty="0">
                <a:solidFill>
                  <a:srgbClr val="9A003B"/>
                </a:solidFill>
                <a:latin typeface="Calibri" pitchFamily="34" charset="0"/>
                <a:ea typeface="Calibri" pitchFamily="34" charset="-122"/>
                <a:cs typeface="Calibri" pitchFamily="34" charset="-120"/>
              </a:rPr>
              <a:t>Hallam</a:t>
            </a:r>
            <a:endParaRPr lang="en-US" sz="1150" dirty="0"/>
          </a:p>
          <a:p>
            <a:pPr marL="0" indent="0" algn="r">
              <a:lnSpc>
                <a:spcPct val="85000"/>
              </a:lnSpc>
              <a:buNone/>
            </a:pPr>
            <a:r>
              <a:rPr lang="en-US" sz="1150" b="1" dirty="0">
                <a:solidFill>
                  <a:srgbClr val="9A003B"/>
                </a:solidFill>
                <a:latin typeface="Calibri" pitchFamily="34" charset="0"/>
                <a:ea typeface="Calibri" pitchFamily="34" charset="-122"/>
                <a:cs typeface="Calibri" pitchFamily="34" charset="-120"/>
              </a:rPr>
              <a:t>University</a:t>
            </a:r>
            <a:endParaRPr lang="en-US" sz="1150" dirty="0"/>
          </a:p>
        </p:txBody>
      </p:sp>
      <p:sp>
        <p:nvSpPr>
          <p:cNvPr id="5" name="Shape 3"/>
          <p:cNvSpPr/>
          <p:nvPr/>
        </p:nvSpPr>
        <p:spPr>
          <a:xfrm>
            <a:off x="0" y="6624828"/>
            <a:ext cx="4063898" cy="233172"/>
          </a:xfrm>
          <a:prstGeom prst="rect">
            <a:avLst/>
          </a:prstGeom>
          <a:solidFill>
            <a:srgbClr val="4D001E"/>
          </a:solidFill>
          <a:ln w="12700">
            <a:solidFill>
              <a:srgbClr val="4D001E"/>
            </a:solidFill>
            <a:prstDash val="solid"/>
          </a:ln>
        </p:spPr>
      </p:sp>
      <p:sp>
        <p:nvSpPr>
          <p:cNvPr id="6" name="Shape 4"/>
          <p:cNvSpPr/>
          <p:nvPr/>
        </p:nvSpPr>
        <p:spPr>
          <a:xfrm>
            <a:off x="4063898" y="6624828"/>
            <a:ext cx="4063898" cy="233172"/>
          </a:xfrm>
          <a:prstGeom prst="rect">
            <a:avLst/>
          </a:prstGeom>
          <a:solidFill>
            <a:srgbClr val="74002C"/>
          </a:solidFill>
          <a:ln w="12700">
            <a:solidFill>
              <a:srgbClr val="74002C"/>
            </a:solidFill>
            <a:prstDash val="solid"/>
          </a:ln>
        </p:spPr>
      </p:sp>
      <p:sp>
        <p:nvSpPr>
          <p:cNvPr id="7" name="Shape 5"/>
          <p:cNvSpPr/>
          <p:nvPr/>
        </p:nvSpPr>
        <p:spPr>
          <a:xfrm>
            <a:off x="8127797" y="6624828"/>
            <a:ext cx="4063898" cy="233172"/>
          </a:xfrm>
          <a:prstGeom prst="rect">
            <a:avLst/>
          </a:prstGeom>
          <a:solidFill>
            <a:srgbClr val="9A003B"/>
          </a:solidFill>
          <a:ln w="12700">
            <a:solidFill>
              <a:srgbClr val="9A003B"/>
            </a:solidFill>
            <a:prstDash val="solid"/>
          </a:ln>
        </p:spPr>
      </p:sp>
      <p:sp>
        <p:nvSpPr>
          <p:cNvPr id="8" name="Text 6"/>
          <p:cNvSpPr txBox="1"/>
          <p:nvPr/>
        </p:nvSpPr>
        <p:spPr>
          <a:xfrm>
            <a:off x="1143000" y="6624828"/>
            <a:ext cx="2743200" cy="233172"/>
          </a:xfrm>
          <a:prstGeom prst="rect">
            <a:avLst/>
          </a:prstGeom>
          <a:noFill/>
          <a:ln/>
        </p:spPr>
        <p:txBody>
          <a:bodyPr wrap="square" lIns="0" tIns="0" rIns="0" bIns="0" rtlCol="0" anchor="ctr"/>
          <a:lstStyle/>
          <a:p>
            <a:pPr marL="0" indent="0">
              <a:buNone/>
            </a:pPr>
            <a:r>
              <a:rPr lang="en-US" sz="900" dirty="0">
                <a:solidFill>
                  <a:srgbClr val="FFFFFF"/>
                </a:solidFill>
                <a:latin typeface="Calibri" pitchFamily="34" charset="0"/>
                <a:ea typeface="Calibri" pitchFamily="34" charset="-122"/>
                <a:cs typeface="Calibri" pitchFamily="34" charset="-120"/>
              </a:rPr>
              <a:t>[Student Initials]  (SHU)</a:t>
            </a:r>
            <a:endParaRPr lang="en-US" sz="900" dirty="0"/>
          </a:p>
        </p:txBody>
      </p:sp>
      <p:sp>
        <p:nvSpPr>
          <p:cNvPr id="9" name="Text 7"/>
          <p:cNvSpPr txBox="1"/>
          <p:nvPr/>
        </p:nvSpPr>
        <p:spPr>
          <a:xfrm>
            <a:off x="5276088" y="6624828"/>
            <a:ext cx="2743200" cy="233172"/>
          </a:xfrm>
          <a:prstGeom prst="rect">
            <a:avLst/>
          </a:prstGeom>
          <a:noFill/>
          <a:ln/>
        </p:spPr>
        <p:txBody>
          <a:bodyPr wrap="square" lIns="0" tIns="0" rIns="0" bIns="0" rtlCol="0" anchor="ctr"/>
          <a:lstStyle/>
          <a:p>
            <a:pPr marL="0" indent="0">
              <a:buNone/>
            </a:pPr>
            <a:r>
              <a:rPr lang="en-US" sz="900" dirty="0">
                <a:solidFill>
                  <a:srgbClr val="FFFFFF"/>
                </a:solidFill>
                <a:latin typeface="Calibri" pitchFamily="34" charset="0"/>
                <a:ea typeface="Calibri" pitchFamily="34" charset="-122"/>
                <a:cs typeface="Calibri" pitchFamily="34" charset="-120"/>
              </a:rPr>
              <a:t>Does the Emoji Matter?</a:t>
            </a:r>
            <a:endParaRPr lang="en-US" sz="900" dirty="0"/>
          </a:p>
        </p:txBody>
      </p:sp>
      <p:sp>
        <p:nvSpPr>
          <p:cNvPr id="10" name="Text 8"/>
          <p:cNvSpPr txBox="1"/>
          <p:nvPr/>
        </p:nvSpPr>
        <p:spPr>
          <a:xfrm>
            <a:off x="9235440" y="6624828"/>
            <a:ext cx="1645920" cy="233172"/>
          </a:xfrm>
          <a:prstGeom prst="rect">
            <a:avLst/>
          </a:prstGeom>
          <a:noFill/>
          <a:ln/>
        </p:spPr>
        <p:txBody>
          <a:bodyPr wrap="square" lIns="0" tIns="0" rIns="0" bIns="0" rtlCol="0" anchor="ctr"/>
          <a:lstStyle/>
          <a:p>
            <a:pPr marL="0" indent="0">
              <a:buNone/>
            </a:pPr>
            <a:r>
              <a:rPr lang="en-US" sz="900" dirty="0">
                <a:solidFill>
                  <a:srgbClr val="FFFFFF"/>
                </a:solidFill>
                <a:latin typeface="Calibri" pitchFamily="34" charset="0"/>
                <a:ea typeface="Calibri" pitchFamily="34" charset="-122"/>
                <a:cs typeface="Calibri" pitchFamily="34" charset="-120"/>
              </a:rPr>
              <a:t>September 2026</a:t>
            </a:r>
            <a:endParaRPr lang="en-US" sz="900" dirty="0"/>
          </a:p>
        </p:txBody>
      </p:sp>
      <p:sp>
        <p:nvSpPr>
          <p:cNvPr id="11" name="Text 9"/>
          <p:cNvSpPr txBox="1"/>
          <p:nvPr/>
        </p:nvSpPr>
        <p:spPr>
          <a:xfrm>
            <a:off x="10881360" y="6624828"/>
            <a:ext cx="1161288" cy="233172"/>
          </a:xfrm>
          <a:prstGeom prst="rect">
            <a:avLst/>
          </a:prstGeom>
          <a:noFill/>
          <a:ln/>
        </p:spPr>
        <p:txBody>
          <a:bodyPr wrap="square" lIns="0" tIns="0" rIns="0" bIns="0" rtlCol="0" anchor="ctr"/>
          <a:lstStyle/>
          <a:p>
            <a:pPr marL="0" indent="0" algn="r">
              <a:buNone/>
            </a:pPr>
            <a:r>
              <a:rPr lang="en-US" sz="900" dirty="0">
                <a:solidFill>
                  <a:srgbClr val="FFFFFF"/>
                </a:solidFill>
                <a:latin typeface="Calibri" pitchFamily="34" charset="0"/>
                <a:ea typeface="Calibri" pitchFamily="34" charset="-122"/>
                <a:cs typeface="Calibri" pitchFamily="34" charset="-120"/>
              </a:rPr>
              <a:t>17 / 43</a:t>
            </a:r>
            <a:endParaRPr lang="en-US" sz="900" dirty="0"/>
          </a:p>
        </p:txBody>
      </p:sp>
      <p:sp>
        <p:nvSpPr>
          <p:cNvPr id="12" name="Text 10"/>
          <p:cNvSpPr txBox="1"/>
          <p:nvPr/>
        </p:nvSpPr>
        <p:spPr>
          <a:xfrm>
            <a:off x="566928" y="1298448"/>
            <a:ext cx="7315200" cy="274320"/>
          </a:xfrm>
          <a:prstGeom prst="rect">
            <a:avLst/>
          </a:prstGeom>
          <a:noFill/>
          <a:ln/>
        </p:spPr>
        <p:txBody>
          <a:bodyPr wrap="square" lIns="0" tIns="0" rIns="0" bIns="0" rtlCol="0" anchor="t"/>
          <a:lstStyle/>
          <a:p>
            <a:pPr marL="0" indent="0">
              <a:lnSpc>
                <a:spcPct val="106000"/>
              </a:lnSpc>
              <a:buNone/>
            </a:pPr>
            <a:r>
              <a:rPr lang="en-US" sz="1500" b="1" dirty="0">
                <a:solidFill>
                  <a:srgbClr val="000000"/>
                </a:solidFill>
                <a:latin typeface="Calibri" pitchFamily="34" charset="0"/>
                <a:ea typeface="Calibri" pitchFamily="34" charset="-122"/>
                <a:cs typeface="Calibri" pitchFamily="34" charset="-120"/>
              </a:rPr>
              <a:t>Risks &amp; Mitigations:</a:t>
            </a:r>
            <a:endParaRPr lang="en-US" sz="1500" dirty="0"/>
          </a:p>
        </p:txBody>
      </p:sp>
      <p:graphicFrame>
        <p:nvGraphicFramePr>
          <p:cNvPr id="18" name="Table 0"/>
          <p:cNvGraphicFramePr>
            <a:graphicFrameLocks noGrp="1"/>
          </p:cNvGraphicFramePr>
          <p:nvPr>
            <p:extLst>
              <p:ext uri="{D42A27DB-BD31-4B8C-83A1-F6EECF244321}">
                <p14:modId xmlns:p14="http://schemas.microsoft.com/office/powerpoint/2010/main" val="1579011935"/>
              </p:ext>
            </p:extLst>
          </p:nvPr>
        </p:nvGraphicFramePr>
        <p:xfrm>
          <a:off x="566928" y="1645920"/>
          <a:ext cx="7360920" cy="3364992"/>
        </p:xfrm>
        <a:graphic>
          <a:graphicData uri="http://schemas.openxmlformats.org/drawingml/2006/table">
            <a:tbl>
              <a:tblPr/>
              <a:tblGrid>
                <a:gridCol w="3017520">
                  <a:extLst>
                    <a:ext uri="{9D8B030D-6E8A-4147-A177-3AD203B41FA5}">
                      <a16:colId xmlns:a16="http://schemas.microsoft.com/office/drawing/2014/main" val="20000"/>
                    </a:ext>
                  </a:extLst>
                </a:gridCol>
                <a:gridCol w="1051560">
                  <a:extLst>
                    <a:ext uri="{9D8B030D-6E8A-4147-A177-3AD203B41FA5}">
                      <a16:colId xmlns:a16="http://schemas.microsoft.com/office/drawing/2014/main" val="20001"/>
                    </a:ext>
                  </a:extLst>
                </a:gridCol>
                <a:gridCol w="868680">
                  <a:extLst>
                    <a:ext uri="{9D8B030D-6E8A-4147-A177-3AD203B41FA5}">
                      <a16:colId xmlns:a16="http://schemas.microsoft.com/office/drawing/2014/main" val="20002"/>
                    </a:ext>
                  </a:extLst>
                </a:gridCol>
                <a:gridCol w="2423160">
                  <a:extLst>
                    <a:ext uri="{9D8B030D-6E8A-4147-A177-3AD203B41FA5}">
                      <a16:colId xmlns:a16="http://schemas.microsoft.com/office/drawing/2014/main" val="20003"/>
                    </a:ext>
                  </a:extLst>
                </a:gridCol>
              </a:tblGrid>
              <a:tr h="402336">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Risk</a:t>
                      </a:r>
                      <a:endParaRPr lang="en-US" sz="1200" dirty="0">
                        <a:latin typeface="Calibri" charset="0"/>
                        <a:ea typeface="Calibri" charset="0"/>
                        <a:cs typeface="Calibri" charset="0"/>
                      </a:endParaRPr>
                    </a:p>
                  </a:txBody>
                  <a:tcPr anchor="ctr">
                    <a:lnL w="9525" cap="flat" cmpd="sng" algn="ctr">
                      <a:solidFill>
                        <a:srgbClr val="C9CDD4"/>
                      </a:solidFill>
                      <a:prstDash val="solid"/>
                      <a:round/>
                      <a:headEnd type="none" w="med" len="med"/>
                      <a:tailEnd type="none" w="med" len="med"/>
                    </a:lnL>
                    <a:lnR w="9525" cap="flat" cmpd="sng" algn="ctr">
                      <a:solidFill>
                        <a:srgbClr val="C9CDD4"/>
                      </a:solidFill>
                      <a:prstDash val="solid"/>
                      <a:round/>
                      <a:headEnd type="none" w="med" len="med"/>
                      <a:tailEnd type="none" w="med" len="med"/>
                    </a:lnR>
                    <a:lnT w="9525" cap="flat" cmpd="sng" algn="ctr">
                      <a:solidFill>
                        <a:srgbClr val="C9CDD4"/>
                      </a:solidFill>
                      <a:prstDash val="solid"/>
                      <a:round/>
                      <a:headEnd type="none" w="med" len="med"/>
                      <a:tailEnd type="none" w="med" len="med"/>
                    </a:lnT>
                    <a:lnB w="9525" cap="flat" cmpd="sng" algn="ctr">
                      <a:solidFill>
                        <a:srgbClr val="C9CDD4"/>
                      </a:solidFill>
                      <a:prstDash val="solid"/>
                      <a:round/>
                      <a:headEnd type="none" w="med" len="med"/>
                      <a:tailEnd type="none" w="med" len="med"/>
                    </a:lnB>
                    <a:solidFill>
                      <a:srgbClr val="9A003B"/>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Likelihood</a:t>
                      </a:r>
                      <a:endParaRPr lang="en-US" sz="1200" dirty="0">
                        <a:latin typeface="Calibri" charset="0"/>
                        <a:ea typeface="Calibri" charset="0"/>
                        <a:cs typeface="Calibri" charset="0"/>
                      </a:endParaRPr>
                    </a:p>
                  </a:txBody>
                  <a:tcPr anchor="ctr">
                    <a:lnL w="9525" cap="flat" cmpd="sng" algn="ctr">
                      <a:solidFill>
                        <a:srgbClr val="C9CDD4"/>
                      </a:solidFill>
                      <a:prstDash val="solid"/>
                      <a:round/>
                      <a:headEnd type="none" w="med" len="med"/>
                      <a:tailEnd type="none" w="med" len="med"/>
                    </a:lnL>
                    <a:lnR w="9525" cap="flat" cmpd="sng" algn="ctr">
                      <a:solidFill>
                        <a:srgbClr val="C9CDD4"/>
                      </a:solidFill>
                      <a:prstDash val="solid"/>
                      <a:round/>
                      <a:headEnd type="none" w="med" len="med"/>
                      <a:tailEnd type="none" w="med" len="med"/>
                    </a:lnR>
                    <a:lnT w="9525" cap="flat" cmpd="sng" algn="ctr">
                      <a:solidFill>
                        <a:srgbClr val="C9CDD4"/>
                      </a:solidFill>
                      <a:prstDash val="solid"/>
                      <a:round/>
                      <a:headEnd type="none" w="med" len="med"/>
                      <a:tailEnd type="none" w="med" len="med"/>
                    </a:lnT>
                    <a:lnB w="9525" cap="flat" cmpd="sng" algn="ctr">
                      <a:solidFill>
                        <a:srgbClr val="C9CDD4"/>
                      </a:solidFill>
                      <a:prstDash val="solid"/>
                      <a:round/>
                      <a:headEnd type="none" w="med" len="med"/>
                      <a:tailEnd type="none" w="med" len="med"/>
                    </a:lnB>
                    <a:solidFill>
                      <a:srgbClr val="9A003B"/>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Impact</a:t>
                      </a:r>
                      <a:endParaRPr lang="en-US" sz="1200" dirty="0">
                        <a:latin typeface="Calibri" charset="0"/>
                        <a:ea typeface="Calibri" charset="0"/>
                        <a:cs typeface="Calibri" charset="0"/>
                      </a:endParaRPr>
                    </a:p>
                  </a:txBody>
                  <a:tcPr anchor="ctr">
                    <a:lnL w="9525" cap="flat" cmpd="sng" algn="ctr">
                      <a:solidFill>
                        <a:srgbClr val="C9CDD4"/>
                      </a:solidFill>
                      <a:prstDash val="solid"/>
                      <a:round/>
                      <a:headEnd type="none" w="med" len="med"/>
                      <a:tailEnd type="none" w="med" len="med"/>
                    </a:lnL>
                    <a:lnR w="9525" cap="flat" cmpd="sng" algn="ctr">
                      <a:solidFill>
                        <a:srgbClr val="C9CDD4"/>
                      </a:solidFill>
                      <a:prstDash val="solid"/>
                      <a:round/>
                      <a:headEnd type="none" w="med" len="med"/>
                      <a:tailEnd type="none" w="med" len="med"/>
                    </a:lnR>
                    <a:lnT w="9525" cap="flat" cmpd="sng" algn="ctr">
                      <a:solidFill>
                        <a:srgbClr val="C9CDD4"/>
                      </a:solidFill>
                      <a:prstDash val="solid"/>
                      <a:round/>
                      <a:headEnd type="none" w="med" len="med"/>
                      <a:tailEnd type="none" w="med" len="med"/>
                    </a:lnT>
                    <a:lnB w="9525" cap="flat" cmpd="sng" algn="ctr">
                      <a:solidFill>
                        <a:srgbClr val="C9CDD4"/>
                      </a:solidFill>
                      <a:prstDash val="solid"/>
                      <a:round/>
                      <a:headEnd type="none" w="med" len="med"/>
                      <a:tailEnd type="none" w="med" len="med"/>
                    </a:lnB>
                    <a:solidFill>
                      <a:srgbClr val="9A003B"/>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Mitigation</a:t>
                      </a:r>
                      <a:endParaRPr lang="en-US" sz="1200" dirty="0">
                        <a:latin typeface="Calibri" charset="0"/>
                        <a:ea typeface="Calibri" charset="0"/>
                        <a:cs typeface="Calibri" charset="0"/>
                      </a:endParaRPr>
                    </a:p>
                  </a:txBody>
                  <a:tcPr anchor="ctr">
                    <a:lnL w="9525" cap="flat" cmpd="sng" algn="ctr">
                      <a:solidFill>
                        <a:srgbClr val="C9CDD4"/>
                      </a:solidFill>
                      <a:prstDash val="solid"/>
                      <a:round/>
                      <a:headEnd type="none" w="med" len="med"/>
                      <a:tailEnd type="none" w="med" len="med"/>
                    </a:lnL>
                    <a:lnR w="9525" cap="flat" cmpd="sng" algn="ctr">
                      <a:solidFill>
                        <a:srgbClr val="C9CDD4"/>
                      </a:solidFill>
                      <a:prstDash val="solid"/>
                      <a:round/>
                      <a:headEnd type="none" w="med" len="med"/>
                      <a:tailEnd type="none" w="med" len="med"/>
                    </a:lnR>
                    <a:lnT w="9525" cap="flat" cmpd="sng" algn="ctr">
                      <a:solidFill>
                        <a:srgbClr val="C9CDD4"/>
                      </a:solidFill>
                      <a:prstDash val="solid"/>
                      <a:round/>
                      <a:headEnd type="none" w="med" len="med"/>
                      <a:tailEnd type="none" w="med" len="med"/>
                    </a:lnT>
                    <a:lnB w="9525" cap="flat" cmpd="sng" algn="ctr">
                      <a:solidFill>
                        <a:srgbClr val="C9CDD4"/>
                      </a:solidFill>
                      <a:prstDash val="solid"/>
                      <a:round/>
                      <a:headEnd type="none" w="med" len="med"/>
                      <a:tailEnd type="none" w="med" len="med"/>
                    </a:lnB>
                    <a:solidFill>
                      <a:srgbClr val="9A003B"/>
                    </a:solidFill>
                  </a:tcPr>
                </a:tc>
                <a:extLst>
                  <a:ext uri="{0D108BD9-81ED-4DB2-BD59-A6C34878D82A}">
                    <a16:rowId xmlns:a16="http://schemas.microsoft.com/office/drawing/2014/main" val="10000"/>
                  </a:ext>
                </a:extLst>
              </a:tr>
              <a:tr h="402336">
                <a:tc>
                  <a:txBody>
                    <a:bodyPr/>
                    <a:lstStyle/>
                    <a:p>
                      <a:pPr marL="0" indent="0">
                        <a:buNone/>
                      </a:pPr>
                      <a:r>
                        <a:rPr lang="en-US" sz="1100" dirty="0">
                          <a:solidFill>
                            <a:srgbClr val="000000"/>
                          </a:solidFill>
                          <a:latin typeface="Calibri" pitchFamily="34" charset="0"/>
                          <a:ea typeface="Calibri" pitchFamily="34" charset="-122"/>
                          <a:cs typeface="Calibri" pitchFamily="34" charset="-120"/>
                        </a:rPr>
                        <a:t>Imbalance stops rare emotions being learned</a:t>
                      </a:r>
                      <a:endParaRPr lang="en-US" sz="1100" dirty="0">
                        <a:latin typeface="Calibri" charset="0"/>
                        <a:ea typeface="Calibri" charset="0"/>
                        <a:cs typeface="Calibri" charset="0"/>
                      </a:endParaRPr>
                    </a:p>
                  </a:txBody>
                  <a:tcPr anchor="ctr">
                    <a:lnL w="9525" cap="flat" cmpd="sng" algn="ctr">
                      <a:solidFill>
                        <a:srgbClr val="C9CDD4"/>
                      </a:solidFill>
                      <a:prstDash val="solid"/>
                      <a:round/>
                      <a:headEnd type="none" w="med" len="med"/>
                      <a:tailEnd type="none" w="med" len="med"/>
                    </a:lnL>
                    <a:lnR w="9525" cap="flat" cmpd="sng" algn="ctr">
                      <a:solidFill>
                        <a:srgbClr val="C9CDD4"/>
                      </a:solidFill>
                      <a:prstDash val="solid"/>
                      <a:round/>
                      <a:headEnd type="none" w="med" len="med"/>
                      <a:tailEnd type="none" w="med" len="med"/>
                    </a:lnR>
                    <a:lnT w="9525" cap="flat" cmpd="sng" algn="ctr">
                      <a:solidFill>
                        <a:srgbClr val="C9CDD4"/>
                      </a:solidFill>
                      <a:prstDash val="solid"/>
                      <a:round/>
                      <a:headEnd type="none" w="med" len="med"/>
                      <a:tailEnd type="none" w="med" len="med"/>
                    </a:lnT>
                    <a:lnB w="9525" cap="flat" cmpd="sng" algn="ctr">
                      <a:solidFill>
                        <a:srgbClr val="C9CDD4"/>
                      </a:solidFill>
                      <a:prstDash val="solid"/>
                      <a:round/>
                      <a:headEnd type="none" w="med" len="med"/>
                      <a:tailEnd type="none" w="med" len="med"/>
                    </a:lnB>
                  </a:tcPr>
                </a:tc>
                <a:tc>
                  <a:txBody>
                    <a:bodyPr/>
                    <a:lstStyle/>
                    <a:p>
                      <a:pPr marL="0" indent="0">
                        <a:buNone/>
                      </a:pPr>
                      <a:r>
                        <a:rPr lang="en-US" sz="1100" dirty="0">
                          <a:solidFill>
                            <a:srgbClr val="000000"/>
                          </a:solidFill>
                          <a:latin typeface="Calibri" pitchFamily="34" charset="0"/>
                          <a:ea typeface="Calibri" pitchFamily="34" charset="-122"/>
                          <a:cs typeface="Calibri" pitchFamily="34" charset="-120"/>
                        </a:rPr>
                        <a:t>High</a:t>
                      </a:r>
                      <a:endParaRPr lang="en-US" sz="1100" dirty="0">
                        <a:latin typeface="Calibri" charset="0"/>
                        <a:ea typeface="Calibri" charset="0"/>
                        <a:cs typeface="Calibri" charset="0"/>
                      </a:endParaRPr>
                    </a:p>
                  </a:txBody>
                  <a:tcPr anchor="ctr">
                    <a:lnL w="9525" cap="flat" cmpd="sng" algn="ctr">
                      <a:solidFill>
                        <a:srgbClr val="C9CDD4"/>
                      </a:solidFill>
                      <a:prstDash val="solid"/>
                      <a:round/>
                      <a:headEnd type="none" w="med" len="med"/>
                      <a:tailEnd type="none" w="med" len="med"/>
                    </a:lnL>
                    <a:lnR w="9525" cap="flat" cmpd="sng" algn="ctr">
                      <a:solidFill>
                        <a:srgbClr val="C9CDD4"/>
                      </a:solidFill>
                      <a:prstDash val="solid"/>
                      <a:round/>
                      <a:headEnd type="none" w="med" len="med"/>
                      <a:tailEnd type="none" w="med" len="med"/>
                    </a:lnR>
                    <a:lnT w="9525" cap="flat" cmpd="sng" algn="ctr">
                      <a:solidFill>
                        <a:srgbClr val="C9CDD4"/>
                      </a:solidFill>
                      <a:prstDash val="solid"/>
                      <a:round/>
                      <a:headEnd type="none" w="med" len="med"/>
                      <a:tailEnd type="none" w="med" len="med"/>
                    </a:lnT>
                    <a:lnB w="9525" cap="flat" cmpd="sng" algn="ctr">
                      <a:solidFill>
                        <a:srgbClr val="C9CDD4"/>
                      </a:solidFill>
                      <a:prstDash val="solid"/>
                      <a:round/>
                      <a:headEnd type="none" w="med" len="med"/>
                      <a:tailEnd type="none" w="med" len="med"/>
                    </a:lnB>
                  </a:tcPr>
                </a:tc>
                <a:tc>
                  <a:txBody>
                    <a:bodyPr/>
                    <a:lstStyle/>
                    <a:p>
                      <a:pPr marL="0" indent="0">
                        <a:buNone/>
                      </a:pPr>
                      <a:r>
                        <a:rPr lang="en-US" sz="1100" dirty="0">
                          <a:solidFill>
                            <a:srgbClr val="000000"/>
                          </a:solidFill>
                          <a:latin typeface="Calibri" pitchFamily="34" charset="0"/>
                          <a:ea typeface="Calibri" pitchFamily="34" charset="-122"/>
                          <a:cs typeface="Calibri" pitchFamily="34" charset="-120"/>
                        </a:rPr>
                        <a:t>High</a:t>
                      </a:r>
                      <a:endParaRPr lang="en-US" sz="1100" dirty="0">
                        <a:latin typeface="Calibri" charset="0"/>
                        <a:ea typeface="Calibri" charset="0"/>
                        <a:cs typeface="Calibri" charset="0"/>
                      </a:endParaRPr>
                    </a:p>
                  </a:txBody>
                  <a:tcPr anchor="ctr">
                    <a:lnL w="9525" cap="flat" cmpd="sng" algn="ctr">
                      <a:solidFill>
                        <a:srgbClr val="C9CDD4"/>
                      </a:solidFill>
                      <a:prstDash val="solid"/>
                      <a:round/>
                      <a:headEnd type="none" w="med" len="med"/>
                      <a:tailEnd type="none" w="med" len="med"/>
                    </a:lnL>
                    <a:lnR w="9525" cap="flat" cmpd="sng" algn="ctr">
                      <a:solidFill>
                        <a:srgbClr val="C9CDD4"/>
                      </a:solidFill>
                      <a:prstDash val="solid"/>
                      <a:round/>
                      <a:headEnd type="none" w="med" len="med"/>
                      <a:tailEnd type="none" w="med" len="med"/>
                    </a:lnR>
                    <a:lnT w="9525" cap="flat" cmpd="sng" algn="ctr">
                      <a:solidFill>
                        <a:srgbClr val="C9CDD4"/>
                      </a:solidFill>
                      <a:prstDash val="solid"/>
                      <a:round/>
                      <a:headEnd type="none" w="med" len="med"/>
                      <a:tailEnd type="none" w="med" len="med"/>
                    </a:lnT>
                    <a:lnB w="9525" cap="flat" cmpd="sng" algn="ctr">
                      <a:solidFill>
                        <a:srgbClr val="C9CDD4"/>
                      </a:solidFill>
                      <a:prstDash val="solid"/>
                      <a:round/>
                      <a:headEnd type="none" w="med" len="med"/>
                      <a:tailEnd type="none" w="med" len="med"/>
                    </a:lnB>
                  </a:tcPr>
                </a:tc>
                <a:tc>
                  <a:txBody>
                    <a:bodyPr/>
                    <a:lstStyle/>
                    <a:p>
                      <a:pPr marL="0" indent="0">
                        <a:buNone/>
                      </a:pPr>
                      <a:r>
                        <a:rPr lang="en-US" sz="1100" dirty="0">
                          <a:solidFill>
                            <a:srgbClr val="000000"/>
                          </a:solidFill>
                          <a:latin typeface="Calibri" pitchFamily="34" charset="0"/>
                          <a:ea typeface="Calibri" pitchFamily="34" charset="-122"/>
                          <a:cs typeface="Calibri" pitchFamily="34" charset="-120"/>
                        </a:rPr>
                        <a:t>Positive-weighted loss plus threshold tuning</a:t>
                      </a:r>
                      <a:endParaRPr lang="en-US" sz="1100" dirty="0">
                        <a:latin typeface="Calibri" charset="0"/>
                        <a:ea typeface="Calibri" charset="0"/>
                        <a:cs typeface="Calibri" charset="0"/>
                      </a:endParaRPr>
                    </a:p>
                  </a:txBody>
                  <a:tcPr anchor="ctr">
                    <a:lnL w="9525" cap="flat" cmpd="sng" algn="ctr">
                      <a:solidFill>
                        <a:srgbClr val="C9CDD4"/>
                      </a:solidFill>
                      <a:prstDash val="solid"/>
                      <a:round/>
                      <a:headEnd type="none" w="med" len="med"/>
                      <a:tailEnd type="none" w="med" len="med"/>
                    </a:lnL>
                    <a:lnR w="9525" cap="flat" cmpd="sng" algn="ctr">
                      <a:solidFill>
                        <a:srgbClr val="C9CDD4"/>
                      </a:solidFill>
                      <a:prstDash val="solid"/>
                      <a:round/>
                      <a:headEnd type="none" w="med" len="med"/>
                      <a:tailEnd type="none" w="med" len="med"/>
                    </a:lnR>
                    <a:lnT w="9525" cap="flat" cmpd="sng" algn="ctr">
                      <a:solidFill>
                        <a:srgbClr val="C9CDD4"/>
                      </a:solidFill>
                      <a:prstDash val="solid"/>
                      <a:round/>
                      <a:headEnd type="none" w="med" len="med"/>
                      <a:tailEnd type="none" w="med" len="med"/>
                    </a:lnT>
                    <a:lnB w="9525" cap="flat" cmpd="sng" algn="ctr">
                      <a:solidFill>
                        <a:srgbClr val="C9CDD4"/>
                      </a:solidFill>
                      <a:prstDash val="solid"/>
                      <a:round/>
                      <a:headEnd type="none" w="med" len="med"/>
                      <a:tailEnd type="none" w="med" len="med"/>
                    </a:lnB>
                  </a:tcPr>
                </a:tc>
                <a:extLst>
                  <a:ext uri="{0D108BD9-81ED-4DB2-BD59-A6C34878D82A}">
                    <a16:rowId xmlns:a16="http://schemas.microsoft.com/office/drawing/2014/main" val="10001"/>
                  </a:ext>
                </a:extLst>
              </a:tr>
              <a:tr h="402336">
                <a:tc>
                  <a:txBody>
                    <a:bodyPr/>
                    <a:lstStyle/>
                    <a:p>
                      <a:pPr marL="0" indent="0">
                        <a:buNone/>
                      </a:pPr>
                      <a:r>
                        <a:rPr lang="en-US" sz="1100" dirty="0">
                          <a:solidFill>
                            <a:srgbClr val="000000"/>
                          </a:solidFill>
                          <a:latin typeface="Calibri" pitchFamily="34" charset="0"/>
                          <a:ea typeface="Calibri" pitchFamily="34" charset="-122"/>
                          <a:cs typeface="Calibri" pitchFamily="34" charset="-120"/>
                        </a:rPr>
                        <a:t>Overfitting on a small corpus</a:t>
                      </a:r>
                      <a:endParaRPr lang="en-US" sz="1100" dirty="0">
                        <a:latin typeface="Calibri" charset="0"/>
                        <a:ea typeface="Calibri" charset="0"/>
                        <a:cs typeface="Calibri" charset="0"/>
                      </a:endParaRPr>
                    </a:p>
                  </a:txBody>
                  <a:tcPr anchor="ctr">
                    <a:lnL w="9525" cap="flat" cmpd="sng" algn="ctr">
                      <a:solidFill>
                        <a:srgbClr val="C9CDD4"/>
                      </a:solidFill>
                      <a:prstDash val="solid"/>
                      <a:round/>
                      <a:headEnd type="none" w="med" len="med"/>
                      <a:tailEnd type="none" w="med" len="med"/>
                    </a:lnL>
                    <a:lnR w="9525" cap="flat" cmpd="sng" algn="ctr">
                      <a:solidFill>
                        <a:srgbClr val="C9CDD4"/>
                      </a:solidFill>
                      <a:prstDash val="solid"/>
                      <a:round/>
                      <a:headEnd type="none" w="med" len="med"/>
                      <a:tailEnd type="none" w="med" len="med"/>
                    </a:lnR>
                    <a:lnT w="9525" cap="flat" cmpd="sng" algn="ctr">
                      <a:solidFill>
                        <a:srgbClr val="C9CDD4"/>
                      </a:solidFill>
                      <a:prstDash val="solid"/>
                      <a:round/>
                      <a:headEnd type="none" w="med" len="med"/>
                      <a:tailEnd type="none" w="med" len="med"/>
                    </a:lnT>
                    <a:lnB w="9525" cap="flat" cmpd="sng" algn="ctr">
                      <a:solidFill>
                        <a:srgbClr val="C9CDD4"/>
                      </a:solidFill>
                      <a:prstDash val="solid"/>
                      <a:round/>
                      <a:headEnd type="none" w="med" len="med"/>
                      <a:tailEnd type="none" w="med" len="med"/>
                    </a:lnB>
                  </a:tcPr>
                </a:tc>
                <a:tc>
                  <a:txBody>
                    <a:bodyPr/>
                    <a:lstStyle/>
                    <a:p>
                      <a:pPr marL="0" indent="0">
                        <a:buNone/>
                      </a:pPr>
                      <a:r>
                        <a:rPr lang="en-US" sz="1100" dirty="0">
                          <a:solidFill>
                            <a:srgbClr val="000000"/>
                          </a:solidFill>
                          <a:latin typeface="Calibri" pitchFamily="34" charset="0"/>
                          <a:ea typeface="Calibri" pitchFamily="34" charset="-122"/>
                          <a:cs typeface="Calibri" pitchFamily="34" charset="-120"/>
                        </a:rPr>
                        <a:t>High</a:t>
                      </a:r>
                      <a:endParaRPr lang="en-US" sz="1100" dirty="0">
                        <a:latin typeface="Calibri" charset="0"/>
                        <a:ea typeface="Calibri" charset="0"/>
                        <a:cs typeface="Calibri" charset="0"/>
                      </a:endParaRPr>
                    </a:p>
                  </a:txBody>
                  <a:tcPr anchor="ctr">
                    <a:lnL w="9525" cap="flat" cmpd="sng" algn="ctr">
                      <a:solidFill>
                        <a:srgbClr val="C9CDD4"/>
                      </a:solidFill>
                      <a:prstDash val="solid"/>
                      <a:round/>
                      <a:headEnd type="none" w="med" len="med"/>
                      <a:tailEnd type="none" w="med" len="med"/>
                    </a:lnL>
                    <a:lnR w="9525" cap="flat" cmpd="sng" algn="ctr">
                      <a:solidFill>
                        <a:srgbClr val="C9CDD4"/>
                      </a:solidFill>
                      <a:prstDash val="solid"/>
                      <a:round/>
                      <a:headEnd type="none" w="med" len="med"/>
                      <a:tailEnd type="none" w="med" len="med"/>
                    </a:lnR>
                    <a:lnT w="9525" cap="flat" cmpd="sng" algn="ctr">
                      <a:solidFill>
                        <a:srgbClr val="C9CDD4"/>
                      </a:solidFill>
                      <a:prstDash val="solid"/>
                      <a:round/>
                      <a:headEnd type="none" w="med" len="med"/>
                      <a:tailEnd type="none" w="med" len="med"/>
                    </a:lnT>
                    <a:lnB w="9525" cap="flat" cmpd="sng" algn="ctr">
                      <a:solidFill>
                        <a:srgbClr val="C9CDD4"/>
                      </a:solidFill>
                      <a:prstDash val="solid"/>
                      <a:round/>
                      <a:headEnd type="none" w="med" len="med"/>
                      <a:tailEnd type="none" w="med" len="med"/>
                    </a:lnB>
                  </a:tcPr>
                </a:tc>
                <a:tc>
                  <a:txBody>
                    <a:bodyPr/>
                    <a:lstStyle/>
                    <a:p>
                      <a:pPr marL="0" indent="0">
                        <a:buNone/>
                      </a:pPr>
                      <a:r>
                        <a:rPr lang="en-US" sz="1100" dirty="0">
                          <a:solidFill>
                            <a:srgbClr val="000000"/>
                          </a:solidFill>
                          <a:latin typeface="Calibri" pitchFamily="34" charset="0"/>
                          <a:ea typeface="Calibri" pitchFamily="34" charset="-122"/>
                          <a:cs typeface="Calibri" pitchFamily="34" charset="-120"/>
                        </a:rPr>
                        <a:t>Medium</a:t>
                      </a:r>
                      <a:endParaRPr lang="en-US" sz="1100" dirty="0">
                        <a:latin typeface="Calibri" charset="0"/>
                        <a:ea typeface="Calibri" charset="0"/>
                        <a:cs typeface="Calibri" charset="0"/>
                      </a:endParaRPr>
                    </a:p>
                  </a:txBody>
                  <a:tcPr anchor="ctr">
                    <a:lnL w="9525" cap="flat" cmpd="sng" algn="ctr">
                      <a:solidFill>
                        <a:srgbClr val="C9CDD4"/>
                      </a:solidFill>
                      <a:prstDash val="solid"/>
                      <a:round/>
                      <a:headEnd type="none" w="med" len="med"/>
                      <a:tailEnd type="none" w="med" len="med"/>
                    </a:lnL>
                    <a:lnR w="9525" cap="flat" cmpd="sng" algn="ctr">
                      <a:solidFill>
                        <a:srgbClr val="C9CDD4"/>
                      </a:solidFill>
                      <a:prstDash val="solid"/>
                      <a:round/>
                      <a:headEnd type="none" w="med" len="med"/>
                      <a:tailEnd type="none" w="med" len="med"/>
                    </a:lnR>
                    <a:lnT w="9525" cap="flat" cmpd="sng" algn="ctr">
                      <a:solidFill>
                        <a:srgbClr val="C9CDD4"/>
                      </a:solidFill>
                      <a:prstDash val="solid"/>
                      <a:round/>
                      <a:headEnd type="none" w="med" len="med"/>
                      <a:tailEnd type="none" w="med" len="med"/>
                    </a:lnT>
                    <a:lnB w="9525" cap="flat" cmpd="sng" algn="ctr">
                      <a:solidFill>
                        <a:srgbClr val="C9CDD4"/>
                      </a:solidFill>
                      <a:prstDash val="solid"/>
                      <a:round/>
                      <a:headEnd type="none" w="med" len="med"/>
                      <a:tailEnd type="none" w="med" len="med"/>
                    </a:lnB>
                  </a:tcPr>
                </a:tc>
                <a:tc>
                  <a:txBody>
                    <a:bodyPr/>
                    <a:lstStyle/>
                    <a:p>
                      <a:pPr marL="0" indent="0">
                        <a:buNone/>
                      </a:pPr>
                      <a:r>
                        <a:rPr lang="en-US" sz="1100" dirty="0">
                          <a:solidFill>
                            <a:srgbClr val="000000"/>
                          </a:solidFill>
                          <a:latin typeface="Calibri" pitchFamily="34" charset="0"/>
                          <a:ea typeface="Calibri" pitchFamily="34" charset="-122"/>
                          <a:cs typeface="Calibri" pitchFamily="34" charset="-120"/>
                        </a:rPr>
                        <a:t>Dropout, early stopping, best-weight restoration</a:t>
                      </a:r>
                      <a:endParaRPr lang="en-US" sz="1100" dirty="0">
                        <a:latin typeface="Calibri" charset="0"/>
                        <a:ea typeface="Calibri" charset="0"/>
                        <a:cs typeface="Calibri" charset="0"/>
                      </a:endParaRPr>
                    </a:p>
                  </a:txBody>
                  <a:tcPr anchor="ctr">
                    <a:lnL w="9525" cap="flat" cmpd="sng" algn="ctr">
                      <a:solidFill>
                        <a:srgbClr val="C9CDD4"/>
                      </a:solidFill>
                      <a:prstDash val="solid"/>
                      <a:round/>
                      <a:headEnd type="none" w="med" len="med"/>
                      <a:tailEnd type="none" w="med" len="med"/>
                    </a:lnL>
                    <a:lnR w="9525" cap="flat" cmpd="sng" algn="ctr">
                      <a:solidFill>
                        <a:srgbClr val="C9CDD4"/>
                      </a:solidFill>
                      <a:prstDash val="solid"/>
                      <a:round/>
                      <a:headEnd type="none" w="med" len="med"/>
                      <a:tailEnd type="none" w="med" len="med"/>
                    </a:lnR>
                    <a:lnT w="9525" cap="flat" cmpd="sng" algn="ctr">
                      <a:solidFill>
                        <a:srgbClr val="C9CDD4"/>
                      </a:solidFill>
                      <a:prstDash val="solid"/>
                      <a:round/>
                      <a:headEnd type="none" w="med" len="med"/>
                      <a:tailEnd type="none" w="med" len="med"/>
                    </a:lnT>
                    <a:lnB w="9525" cap="flat" cmpd="sng" algn="ctr">
                      <a:solidFill>
                        <a:srgbClr val="C9CDD4"/>
                      </a:solidFill>
                      <a:prstDash val="solid"/>
                      <a:round/>
                      <a:headEnd type="none" w="med" len="med"/>
                      <a:tailEnd type="none" w="med" len="med"/>
                    </a:lnB>
                  </a:tcPr>
                </a:tc>
                <a:extLst>
                  <a:ext uri="{0D108BD9-81ED-4DB2-BD59-A6C34878D82A}">
                    <a16:rowId xmlns:a16="http://schemas.microsoft.com/office/drawing/2014/main" val="10002"/>
                  </a:ext>
                </a:extLst>
              </a:tr>
              <a:tr h="402336">
                <a:tc>
                  <a:txBody>
                    <a:bodyPr/>
                    <a:lstStyle/>
                    <a:p>
                      <a:pPr marL="0" indent="0">
                        <a:buNone/>
                      </a:pPr>
                      <a:r>
                        <a:rPr lang="en-US" sz="1100" dirty="0">
                          <a:solidFill>
                            <a:srgbClr val="000000"/>
                          </a:solidFill>
                          <a:latin typeface="Calibri" pitchFamily="34" charset="0"/>
                          <a:ea typeface="Calibri" pitchFamily="34" charset="-122"/>
                          <a:cs typeface="Calibri" pitchFamily="34" charset="-120"/>
                        </a:rPr>
                        <a:t>Emoji density too low to show an effect</a:t>
                      </a:r>
                      <a:endParaRPr lang="en-US" sz="1100" dirty="0">
                        <a:latin typeface="Calibri" charset="0"/>
                        <a:ea typeface="Calibri" charset="0"/>
                        <a:cs typeface="Calibri" charset="0"/>
                      </a:endParaRPr>
                    </a:p>
                  </a:txBody>
                  <a:tcPr anchor="ctr">
                    <a:lnL w="9525" cap="flat" cmpd="sng" algn="ctr">
                      <a:solidFill>
                        <a:srgbClr val="C9CDD4"/>
                      </a:solidFill>
                      <a:prstDash val="solid"/>
                      <a:round/>
                      <a:headEnd type="none" w="med" len="med"/>
                      <a:tailEnd type="none" w="med" len="med"/>
                    </a:lnL>
                    <a:lnR w="9525" cap="flat" cmpd="sng" algn="ctr">
                      <a:solidFill>
                        <a:srgbClr val="C9CDD4"/>
                      </a:solidFill>
                      <a:prstDash val="solid"/>
                      <a:round/>
                      <a:headEnd type="none" w="med" len="med"/>
                      <a:tailEnd type="none" w="med" len="med"/>
                    </a:lnR>
                    <a:lnT w="9525" cap="flat" cmpd="sng" algn="ctr">
                      <a:solidFill>
                        <a:srgbClr val="C9CDD4"/>
                      </a:solidFill>
                      <a:prstDash val="solid"/>
                      <a:round/>
                      <a:headEnd type="none" w="med" len="med"/>
                      <a:tailEnd type="none" w="med" len="med"/>
                    </a:lnT>
                    <a:lnB w="9525" cap="flat" cmpd="sng" algn="ctr">
                      <a:solidFill>
                        <a:srgbClr val="C9CDD4"/>
                      </a:solidFill>
                      <a:prstDash val="solid"/>
                      <a:round/>
                      <a:headEnd type="none" w="med" len="med"/>
                      <a:tailEnd type="none" w="med" len="med"/>
                    </a:lnB>
                  </a:tcPr>
                </a:tc>
                <a:tc>
                  <a:txBody>
                    <a:bodyPr/>
                    <a:lstStyle/>
                    <a:p>
                      <a:pPr marL="0" indent="0">
                        <a:buNone/>
                      </a:pPr>
                      <a:r>
                        <a:rPr lang="en-US" sz="1100" dirty="0">
                          <a:solidFill>
                            <a:srgbClr val="000000"/>
                          </a:solidFill>
                          <a:latin typeface="Calibri" pitchFamily="34" charset="0"/>
                          <a:ea typeface="Calibri" pitchFamily="34" charset="-122"/>
                          <a:cs typeface="Calibri" pitchFamily="34" charset="-120"/>
                        </a:rPr>
                        <a:t>Medium</a:t>
                      </a:r>
                      <a:endParaRPr lang="en-US" sz="1100" dirty="0">
                        <a:latin typeface="Calibri" charset="0"/>
                        <a:ea typeface="Calibri" charset="0"/>
                        <a:cs typeface="Calibri" charset="0"/>
                      </a:endParaRPr>
                    </a:p>
                  </a:txBody>
                  <a:tcPr anchor="ctr">
                    <a:lnL w="9525" cap="flat" cmpd="sng" algn="ctr">
                      <a:solidFill>
                        <a:srgbClr val="C9CDD4"/>
                      </a:solidFill>
                      <a:prstDash val="solid"/>
                      <a:round/>
                      <a:headEnd type="none" w="med" len="med"/>
                      <a:tailEnd type="none" w="med" len="med"/>
                    </a:lnL>
                    <a:lnR w="9525" cap="flat" cmpd="sng" algn="ctr">
                      <a:solidFill>
                        <a:srgbClr val="C9CDD4"/>
                      </a:solidFill>
                      <a:prstDash val="solid"/>
                      <a:round/>
                      <a:headEnd type="none" w="med" len="med"/>
                      <a:tailEnd type="none" w="med" len="med"/>
                    </a:lnR>
                    <a:lnT w="9525" cap="flat" cmpd="sng" algn="ctr">
                      <a:solidFill>
                        <a:srgbClr val="C9CDD4"/>
                      </a:solidFill>
                      <a:prstDash val="solid"/>
                      <a:round/>
                      <a:headEnd type="none" w="med" len="med"/>
                      <a:tailEnd type="none" w="med" len="med"/>
                    </a:lnT>
                    <a:lnB w="9525" cap="flat" cmpd="sng" algn="ctr">
                      <a:solidFill>
                        <a:srgbClr val="C9CDD4"/>
                      </a:solidFill>
                      <a:prstDash val="solid"/>
                      <a:round/>
                      <a:headEnd type="none" w="med" len="med"/>
                      <a:tailEnd type="none" w="med" len="med"/>
                    </a:lnB>
                  </a:tcPr>
                </a:tc>
                <a:tc>
                  <a:txBody>
                    <a:bodyPr/>
                    <a:lstStyle/>
                    <a:p>
                      <a:pPr marL="0" indent="0">
                        <a:buNone/>
                      </a:pPr>
                      <a:r>
                        <a:rPr lang="en-US" sz="1100" dirty="0">
                          <a:solidFill>
                            <a:srgbClr val="000000"/>
                          </a:solidFill>
                          <a:latin typeface="Calibri" pitchFamily="34" charset="0"/>
                          <a:ea typeface="Calibri" pitchFamily="34" charset="-122"/>
                          <a:cs typeface="Calibri" pitchFamily="34" charset="-120"/>
                        </a:rPr>
                        <a:t>High</a:t>
                      </a:r>
                      <a:endParaRPr lang="en-US" sz="1100" dirty="0">
                        <a:latin typeface="Calibri" charset="0"/>
                        <a:ea typeface="Calibri" charset="0"/>
                        <a:cs typeface="Calibri" charset="0"/>
                      </a:endParaRPr>
                    </a:p>
                  </a:txBody>
                  <a:tcPr anchor="ctr">
                    <a:lnL w="9525" cap="flat" cmpd="sng" algn="ctr">
                      <a:solidFill>
                        <a:srgbClr val="C9CDD4"/>
                      </a:solidFill>
                      <a:prstDash val="solid"/>
                      <a:round/>
                      <a:headEnd type="none" w="med" len="med"/>
                      <a:tailEnd type="none" w="med" len="med"/>
                    </a:lnL>
                    <a:lnR w="9525" cap="flat" cmpd="sng" algn="ctr">
                      <a:solidFill>
                        <a:srgbClr val="C9CDD4"/>
                      </a:solidFill>
                      <a:prstDash val="solid"/>
                      <a:round/>
                      <a:headEnd type="none" w="med" len="med"/>
                      <a:tailEnd type="none" w="med" len="med"/>
                    </a:lnR>
                    <a:lnT w="9525" cap="flat" cmpd="sng" algn="ctr">
                      <a:solidFill>
                        <a:srgbClr val="C9CDD4"/>
                      </a:solidFill>
                      <a:prstDash val="solid"/>
                      <a:round/>
                      <a:headEnd type="none" w="med" len="med"/>
                      <a:tailEnd type="none" w="med" len="med"/>
                    </a:lnT>
                    <a:lnB w="9525" cap="flat" cmpd="sng" algn="ctr">
                      <a:solidFill>
                        <a:srgbClr val="C9CDD4"/>
                      </a:solidFill>
                      <a:prstDash val="solid"/>
                      <a:round/>
                      <a:headEnd type="none" w="med" len="med"/>
                      <a:tailEnd type="none" w="med" len="med"/>
                    </a:lnB>
                  </a:tcPr>
                </a:tc>
                <a:tc>
                  <a:txBody>
                    <a:bodyPr/>
                    <a:lstStyle/>
                    <a:p>
                      <a:pPr marL="0" indent="0">
                        <a:buNone/>
                      </a:pPr>
                      <a:r>
                        <a:rPr lang="en-US" sz="1100" dirty="0">
                          <a:solidFill>
                            <a:srgbClr val="000000"/>
                          </a:solidFill>
                          <a:latin typeface="Calibri" pitchFamily="34" charset="0"/>
                          <a:ea typeface="Calibri" pitchFamily="34" charset="-122"/>
                          <a:cs typeface="Calibri" pitchFamily="34" charset="-120"/>
                        </a:rPr>
                        <a:t>Density measured first and used to bound claims</a:t>
                      </a:r>
                      <a:endParaRPr lang="en-US" sz="1100" dirty="0">
                        <a:latin typeface="Calibri" charset="0"/>
                        <a:ea typeface="Calibri" charset="0"/>
                        <a:cs typeface="Calibri" charset="0"/>
                      </a:endParaRPr>
                    </a:p>
                  </a:txBody>
                  <a:tcPr anchor="ctr">
                    <a:lnL w="9525" cap="flat" cmpd="sng" algn="ctr">
                      <a:solidFill>
                        <a:srgbClr val="C9CDD4"/>
                      </a:solidFill>
                      <a:prstDash val="solid"/>
                      <a:round/>
                      <a:headEnd type="none" w="med" len="med"/>
                      <a:tailEnd type="none" w="med" len="med"/>
                    </a:lnL>
                    <a:lnR w="9525" cap="flat" cmpd="sng" algn="ctr">
                      <a:solidFill>
                        <a:srgbClr val="C9CDD4"/>
                      </a:solidFill>
                      <a:prstDash val="solid"/>
                      <a:round/>
                      <a:headEnd type="none" w="med" len="med"/>
                      <a:tailEnd type="none" w="med" len="med"/>
                    </a:lnR>
                    <a:lnT w="9525" cap="flat" cmpd="sng" algn="ctr">
                      <a:solidFill>
                        <a:srgbClr val="C9CDD4"/>
                      </a:solidFill>
                      <a:prstDash val="solid"/>
                      <a:round/>
                      <a:headEnd type="none" w="med" len="med"/>
                      <a:tailEnd type="none" w="med" len="med"/>
                    </a:lnT>
                    <a:lnB w="9525" cap="flat" cmpd="sng" algn="ctr">
                      <a:solidFill>
                        <a:srgbClr val="C9CDD4"/>
                      </a:solidFill>
                      <a:prstDash val="solid"/>
                      <a:round/>
                      <a:headEnd type="none" w="med" len="med"/>
                      <a:tailEnd type="none" w="med" len="med"/>
                    </a:lnB>
                  </a:tcPr>
                </a:tc>
                <a:extLst>
                  <a:ext uri="{0D108BD9-81ED-4DB2-BD59-A6C34878D82A}">
                    <a16:rowId xmlns:a16="http://schemas.microsoft.com/office/drawing/2014/main" val="10003"/>
                  </a:ext>
                </a:extLst>
              </a:tr>
              <a:tr h="402336">
                <a:tc>
                  <a:txBody>
                    <a:bodyPr/>
                    <a:lstStyle/>
                    <a:p>
                      <a:pPr marL="0" indent="0">
                        <a:buNone/>
                      </a:pPr>
                      <a:r>
                        <a:rPr lang="en-US" sz="1100" dirty="0">
                          <a:solidFill>
                            <a:srgbClr val="000000"/>
                          </a:solidFill>
                          <a:latin typeface="Calibri" pitchFamily="34" charset="0"/>
                          <a:ea typeface="Calibri" pitchFamily="34" charset="-122"/>
                          <a:cs typeface="Calibri" pitchFamily="34" charset="-120"/>
                        </a:rPr>
                        <a:t>Something other than emoji differs between tracks</a:t>
                      </a:r>
                      <a:endParaRPr lang="en-US" sz="1100" dirty="0">
                        <a:latin typeface="Calibri" charset="0"/>
                        <a:ea typeface="Calibri" charset="0"/>
                        <a:cs typeface="Calibri" charset="0"/>
                      </a:endParaRPr>
                    </a:p>
                  </a:txBody>
                  <a:tcPr anchor="ctr">
                    <a:lnL w="9525" cap="flat" cmpd="sng" algn="ctr">
                      <a:solidFill>
                        <a:srgbClr val="C9CDD4"/>
                      </a:solidFill>
                      <a:prstDash val="solid"/>
                      <a:round/>
                      <a:headEnd type="none" w="med" len="med"/>
                      <a:tailEnd type="none" w="med" len="med"/>
                    </a:lnL>
                    <a:lnR w="9525" cap="flat" cmpd="sng" algn="ctr">
                      <a:solidFill>
                        <a:srgbClr val="C9CDD4"/>
                      </a:solidFill>
                      <a:prstDash val="solid"/>
                      <a:round/>
                      <a:headEnd type="none" w="med" len="med"/>
                      <a:tailEnd type="none" w="med" len="med"/>
                    </a:lnR>
                    <a:lnT w="9525" cap="flat" cmpd="sng" algn="ctr">
                      <a:solidFill>
                        <a:srgbClr val="C9CDD4"/>
                      </a:solidFill>
                      <a:prstDash val="solid"/>
                      <a:round/>
                      <a:headEnd type="none" w="med" len="med"/>
                      <a:tailEnd type="none" w="med" len="med"/>
                    </a:lnT>
                    <a:lnB w="9525" cap="flat" cmpd="sng" algn="ctr">
                      <a:solidFill>
                        <a:srgbClr val="C9CDD4"/>
                      </a:solidFill>
                      <a:prstDash val="solid"/>
                      <a:round/>
                      <a:headEnd type="none" w="med" len="med"/>
                      <a:tailEnd type="none" w="med" len="med"/>
                    </a:lnB>
                  </a:tcPr>
                </a:tc>
                <a:tc>
                  <a:txBody>
                    <a:bodyPr/>
                    <a:lstStyle/>
                    <a:p>
                      <a:pPr marL="0" indent="0">
                        <a:buNone/>
                      </a:pPr>
                      <a:r>
                        <a:rPr lang="en-US" sz="1100" dirty="0">
                          <a:solidFill>
                            <a:srgbClr val="000000"/>
                          </a:solidFill>
                          <a:latin typeface="Calibri" pitchFamily="34" charset="0"/>
                          <a:ea typeface="Calibri" pitchFamily="34" charset="-122"/>
                          <a:cs typeface="Calibri" pitchFamily="34" charset="-120"/>
                        </a:rPr>
                        <a:t>Low</a:t>
                      </a:r>
                      <a:endParaRPr lang="en-US" sz="1100" dirty="0">
                        <a:latin typeface="Calibri" charset="0"/>
                        <a:ea typeface="Calibri" charset="0"/>
                        <a:cs typeface="Calibri" charset="0"/>
                      </a:endParaRPr>
                    </a:p>
                  </a:txBody>
                  <a:tcPr anchor="ctr">
                    <a:lnL w="9525" cap="flat" cmpd="sng" algn="ctr">
                      <a:solidFill>
                        <a:srgbClr val="C9CDD4"/>
                      </a:solidFill>
                      <a:prstDash val="solid"/>
                      <a:round/>
                      <a:headEnd type="none" w="med" len="med"/>
                      <a:tailEnd type="none" w="med" len="med"/>
                    </a:lnL>
                    <a:lnR w="9525" cap="flat" cmpd="sng" algn="ctr">
                      <a:solidFill>
                        <a:srgbClr val="C9CDD4"/>
                      </a:solidFill>
                      <a:prstDash val="solid"/>
                      <a:round/>
                      <a:headEnd type="none" w="med" len="med"/>
                      <a:tailEnd type="none" w="med" len="med"/>
                    </a:lnR>
                    <a:lnT w="9525" cap="flat" cmpd="sng" algn="ctr">
                      <a:solidFill>
                        <a:srgbClr val="C9CDD4"/>
                      </a:solidFill>
                      <a:prstDash val="solid"/>
                      <a:round/>
                      <a:headEnd type="none" w="med" len="med"/>
                      <a:tailEnd type="none" w="med" len="med"/>
                    </a:lnT>
                    <a:lnB w="9525" cap="flat" cmpd="sng" algn="ctr">
                      <a:solidFill>
                        <a:srgbClr val="C9CDD4"/>
                      </a:solidFill>
                      <a:prstDash val="solid"/>
                      <a:round/>
                      <a:headEnd type="none" w="med" len="med"/>
                      <a:tailEnd type="none" w="med" len="med"/>
                    </a:lnB>
                  </a:tcPr>
                </a:tc>
                <a:tc>
                  <a:txBody>
                    <a:bodyPr/>
                    <a:lstStyle/>
                    <a:p>
                      <a:pPr marL="0" indent="0">
                        <a:buNone/>
                      </a:pPr>
                      <a:r>
                        <a:rPr lang="en-US" sz="1100" dirty="0">
                          <a:solidFill>
                            <a:srgbClr val="000000"/>
                          </a:solidFill>
                          <a:latin typeface="Calibri" pitchFamily="34" charset="0"/>
                          <a:ea typeface="Calibri" pitchFamily="34" charset="-122"/>
                          <a:cs typeface="Calibri" pitchFamily="34" charset="-120"/>
                        </a:rPr>
                        <a:t>High</a:t>
                      </a:r>
                      <a:endParaRPr lang="en-US" sz="1100" dirty="0">
                        <a:latin typeface="Calibri" charset="0"/>
                        <a:ea typeface="Calibri" charset="0"/>
                        <a:cs typeface="Calibri" charset="0"/>
                      </a:endParaRPr>
                    </a:p>
                  </a:txBody>
                  <a:tcPr anchor="ctr">
                    <a:lnL w="9525" cap="flat" cmpd="sng" algn="ctr">
                      <a:solidFill>
                        <a:srgbClr val="C9CDD4"/>
                      </a:solidFill>
                      <a:prstDash val="solid"/>
                      <a:round/>
                      <a:headEnd type="none" w="med" len="med"/>
                      <a:tailEnd type="none" w="med" len="med"/>
                    </a:lnL>
                    <a:lnR w="9525" cap="flat" cmpd="sng" algn="ctr">
                      <a:solidFill>
                        <a:srgbClr val="C9CDD4"/>
                      </a:solidFill>
                      <a:prstDash val="solid"/>
                      <a:round/>
                      <a:headEnd type="none" w="med" len="med"/>
                      <a:tailEnd type="none" w="med" len="med"/>
                    </a:lnR>
                    <a:lnT w="9525" cap="flat" cmpd="sng" algn="ctr">
                      <a:solidFill>
                        <a:srgbClr val="C9CDD4"/>
                      </a:solidFill>
                      <a:prstDash val="solid"/>
                      <a:round/>
                      <a:headEnd type="none" w="med" len="med"/>
                      <a:tailEnd type="none" w="med" len="med"/>
                    </a:lnT>
                    <a:lnB w="9525" cap="flat" cmpd="sng" algn="ctr">
                      <a:solidFill>
                        <a:srgbClr val="C9CDD4"/>
                      </a:solidFill>
                      <a:prstDash val="solid"/>
                      <a:round/>
                      <a:headEnd type="none" w="med" len="med"/>
                      <a:tailEnd type="none" w="med" len="med"/>
                    </a:lnB>
                  </a:tcPr>
                </a:tc>
                <a:tc>
                  <a:txBody>
                    <a:bodyPr/>
                    <a:lstStyle/>
                    <a:p>
                      <a:pPr marL="0" indent="0">
                        <a:buNone/>
                      </a:pPr>
                      <a:r>
                        <a:rPr lang="en-US" sz="1100" dirty="0">
                          <a:solidFill>
                            <a:srgbClr val="000000"/>
                          </a:solidFill>
                          <a:latin typeface="Calibri" pitchFamily="34" charset="0"/>
                          <a:ea typeface="Calibri" pitchFamily="34" charset="-122"/>
                          <a:cs typeface="Calibri" pitchFamily="34" charset="-120"/>
                        </a:rPr>
                        <a:t>Single pipeline forked at one operation</a:t>
                      </a:r>
                      <a:endParaRPr lang="en-US" sz="1100" dirty="0">
                        <a:latin typeface="Calibri" charset="0"/>
                        <a:ea typeface="Calibri" charset="0"/>
                        <a:cs typeface="Calibri" charset="0"/>
                      </a:endParaRPr>
                    </a:p>
                  </a:txBody>
                  <a:tcPr anchor="ctr">
                    <a:lnL w="9525" cap="flat" cmpd="sng" algn="ctr">
                      <a:solidFill>
                        <a:srgbClr val="C9CDD4"/>
                      </a:solidFill>
                      <a:prstDash val="solid"/>
                      <a:round/>
                      <a:headEnd type="none" w="med" len="med"/>
                      <a:tailEnd type="none" w="med" len="med"/>
                    </a:lnL>
                    <a:lnR w="9525" cap="flat" cmpd="sng" algn="ctr">
                      <a:solidFill>
                        <a:srgbClr val="C9CDD4"/>
                      </a:solidFill>
                      <a:prstDash val="solid"/>
                      <a:round/>
                      <a:headEnd type="none" w="med" len="med"/>
                      <a:tailEnd type="none" w="med" len="med"/>
                    </a:lnR>
                    <a:lnT w="9525" cap="flat" cmpd="sng" algn="ctr">
                      <a:solidFill>
                        <a:srgbClr val="C9CDD4"/>
                      </a:solidFill>
                      <a:prstDash val="solid"/>
                      <a:round/>
                      <a:headEnd type="none" w="med" len="med"/>
                      <a:tailEnd type="none" w="med" len="med"/>
                    </a:lnT>
                    <a:lnB w="9525" cap="flat" cmpd="sng" algn="ctr">
                      <a:solidFill>
                        <a:srgbClr val="C9CDD4"/>
                      </a:solidFill>
                      <a:prstDash val="solid"/>
                      <a:round/>
                      <a:headEnd type="none" w="med" len="med"/>
                      <a:tailEnd type="none" w="med" len="med"/>
                    </a:lnB>
                  </a:tcPr>
                </a:tc>
                <a:extLst>
                  <a:ext uri="{0D108BD9-81ED-4DB2-BD59-A6C34878D82A}">
                    <a16:rowId xmlns:a16="http://schemas.microsoft.com/office/drawing/2014/main" val="10004"/>
                  </a:ext>
                </a:extLst>
              </a:tr>
              <a:tr h="402336">
                <a:tc>
                  <a:txBody>
                    <a:bodyPr/>
                    <a:lstStyle/>
                    <a:p>
                      <a:pPr marL="0" indent="0">
                        <a:buNone/>
                      </a:pPr>
                      <a:r>
                        <a:rPr lang="en-US" sz="1100" dirty="0">
                          <a:solidFill>
                            <a:srgbClr val="000000"/>
                          </a:solidFill>
                          <a:latin typeface="Calibri" pitchFamily="34" charset="0"/>
                          <a:ea typeface="Calibri" pitchFamily="34" charset="-122"/>
                          <a:cs typeface="Calibri" pitchFamily="34" charset="-120"/>
                        </a:rPr>
                        <a:t>Results not reproducible</a:t>
                      </a:r>
                      <a:endParaRPr lang="en-US" sz="1100" dirty="0">
                        <a:latin typeface="Calibri" charset="0"/>
                        <a:ea typeface="Calibri" charset="0"/>
                        <a:cs typeface="Calibri" charset="0"/>
                      </a:endParaRPr>
                    </a:p>
                  </a:txBody>
                  <a:tcPr anchor="ctr">
                    <a:lnL w="9525" cap="flat" cmpd="sng" algn="ctr">
                      <a:solidFill>
                        <a:srgbClr val="C9CDD4"/>
                      </a:solidFill>
                      <a:prstDash val="solid"/>
                      <a:round/>
                      <a:headEnd type="none" w="med" len="med"/>
                      <a:tailEnd type="none" w="med" len="med"/>
                    </a:lnL>
                    <a:lnR w="9525" cap="flat" cmpd="sng" algn="ctr">
                      <a:solidFill>
                        <a:srgbClr val="C9CDD4"/>
                      </a:solidFill>
                      <a:prstDash val="solid"/>
                      <a:round/>
                      <a:headEnd type="none" w="med" len="med"/>
                      <a:tailEnd type="none" w="med" len="med"/>
                    </a:lnR>
                    <a:lnT w="9525" cap="flat" cmpd="sng" algn="ctr">
                      <a:solidFill>
                        <a:srgbClr val="C9CDD4"/>
                      </a:solidFill>
                      <a:prstDash val="solid"/>
                      <a:round/>
                      <a:headEnd type="none" w="med" len="med"/>
                      <a:tailEnd type="none" w="med" len="med"/>
                    </a:lnT>
                    <a:lnB w="9525" cap="flat" cmpd="sng" algn="ctr">
                      <a:solidFill>
                        <a:srgbClr val="C9CDD4"/>
                      </a:solidFill>
                      <a:prstDash val="solid"/>
                      <a:round/>
                      <a:headEnd type="none" w="med" len="med"/>
                      <a:tailEnd type="none" w="med" len="med"/>
                    </a:lnB>
                  </a:tcPr>
                </a:tc>
                <a:tc>
                  <a:txBody>
                    <a:bodyPr/>
                    <a:lstStyle/>
                    <a:p>
                      <a:pPr marL="0" indent="0">
                        <a:buNone/>
                      </a:pPr>
                      <a:r>
                        <a:rPr lang="en-US" sz="1100" dirty="0">
                          <a:solidFill>
                            <a:srgbClr val="000000"/>
                          </a:solidFill>
                          <a:latin typeface="Calibri" pitchFamily="34" charset="0"/>
                          <a:ea typeface="Calibri" pitchFamily="34" charset="-122"/>
                          <a:cs typeface="Calibri" pitchFamily="34" charset="-120"/>
                        </a:rPr>
                        <a:t>Medium</a:t>
                      </a:r>
                      <a:endParaRPr lang="en-US" sz="1100" dirty="0">
                        <a:latin typeface="Calibri" charset="0"/>
                        <a:ea typeface="Calibri" charset="0"/>
                        <a:cs typeface="Calibri" charset="0"/>
                      </a:endParaRPr>
                    </a:p>
                  </a:txBody>
                  <a:tcPr anchor="ctr">
                    <a:lnL w="9525" cap="flat" cmpd="sng" algn="ctr">
                      <a:solidFill>
                        <a:srgbClr val="C9CDD4"/>
                      </a:solidFill>
                      <a:prstDash val="solid"/>
                      <a:round/>
                      <a:headEnd type="none" w="med" len="med"/>
                      <a:tailEnd type="none" w="med" len="med"/>
                    </a:lnL>
                    <a:lnR w="9525" cap="flat" cmpd="sng" algn="ctr">
                      <a:solidFill>
                        <a:srgbClr val="C9CDD4"/>
                      </a:solidFill>
                      <a:prstDash val="solid"/>
                      <a:round/>
                      <a:headEnd type="none" w="med" len="med"/>
                      <a:tailEnd type="none" w="med" len="med"/>
                    </a:lnR>
                    <a:lnT w="9525" cap="flat" cmpd="sng" algn="ctr">
                      <a:solidFill>
                        <a:srgbClr val="C9CDD4"/>
                      </a:solidFill>
                      <a:prstDash val="solid"/>
                      <a:round/>
                      <a:headEnd type="none" w="med" len="med"/>
                      <a:tailEnd type="none" w="med" len="med"/>
                    </a:lnT>
                    <a:lnB w="9525" cap="flat" cmpd="sng" algn="ctr">
                      <a:solidFill>
                        <a:srgbClr val="C9CDD4"/>
                      </a:solidFill>
                      <a:prstDash val="solid"/>
                      <a:round/>
                      <a:headEnd type="none" w="med" len="med"/>
                      <a:tailEnd type="none" w="med" len="med"/>
                    </a:lnB>
                  </a:tcPr>
                </a:tc>
                <a:tc>
                  <a:txBody>
                    <a:bodyPr/>
                    <a:lstStyle/>
                    <a:p>
                      <a:pPr marL="0" indent="0">
                        <a:buNone/>
                      </a:pPr>
                      <a:r>
                        <a:rPr lang="en-US" sz="1100" dirty="0">
                          <a:solidFill>
                            <a:srgbClr val="000000"/>
                          </a:solidFill>
                          <a:latin typeface="Calibri" pitchFamily="34" charset="0"/>
                          <a:ea typeface="Calibri" pitchFamily="34" charset="-122"/>
                          <a:cs typeface="Calibri" pitchFamily="34" charset="-120"/>
                        </a:rPr>
                        <a:t>High</a:t>
                      </a:r>
                      <a:endParaRPr lang="en-US" sz="1100" dirty="0">
                        <a:latin typeface="Calibri" charset="0"/>
                        <a:ea typeface="Calibri" charset="0"/>
                        <a:cs typeface="Calibri" charset="0"/>
                      </a:endParaRPr>
                    </a:p>
                  </a:txBody>
                  <a:tcPr anchor="ctr">
                    <a:lnL w="9525" cap="flat" cmpd="sng" algn="ctr">
                      <a:solidFill>
                        <a:srgbClr val="C9CDD4"/>
                      </a:solidFill>
                      <a:prstDash val="solid"/>
                      <a:round/>
                      <a:headEnd type="none" w="med" len="med"/>
                      <a:tailEnd type="none" w="med" len="med"/>
                    </a:lnL>
                    <a:lnR w="9525" cap="flat" cmpd="sng" algn="ctr">
                      <a:solidFill>
                        <a:srgbClr val="C9CDD4"/>
                      </a:solidFill>
                      <a:prstDash val="solid"/>
                      <a:round/>
                      <a:headEnd type="none" w="med" len="med"/>
                      <a:tailEnd type="none" w="med" len="med"/>
                    </a:lnR>
                    <a:lnT w="9525" cap="flat" cmpd="sng" algn="ctr">
                      <a:solidFill>
                        <a:srgbClr val="C9CDD4"/>
                      </a:solidFill>
                      <a:prstDash val="solid"/>
                      <a:round/>
                      <a:headEnd type="none" w="med" len="med"/>
                      <a:tailEnd type="none" w="med" len="med"/>
                    </a:lnT>
                    <a:lnB w="9525" cap="flat" cmpd="sng" algn="ctr">
                      <a:solidFill>
                        <a:srgbClr val="C9CDD4"/>
                      </a:solidFill>
                      <a:prstDash val="solid"/>
                      <a:round/>
                      <a:headEnd type="none" w="med" len="med"/>
                      <a:tailEnd type="none" w="med" len="med"/>
                    </a:lnB>
                  </a:tcPr>
                </a:tc>
                <a:tc>
                  <a:txBody>
                    <a:bodyPr/>
                    <a:lstStyle/>
                    <a:p>
                      <a:pPr marL="0" indent="0">
                        <a:buNone/>
                      </a:pPr>
                      <a:r>
                        <a:rPr lang="en-US" sz="1100" dirty="0">
                          <a:solidFill>
                            <a:srgbClr val="000000"/>
                          </a:solidFill>
                          <a:latin typeface="Calibri" pitchFamily="34" charset="0"/>
                          <a:ea typeface="Calibri" pitchFamily="34" charset="-122"/>
                          <a:cs typeface="Calibri" pitchFamily="34" charset="-120"/>
                        </a:rPr>
                        <a:t>Random seed fixed; all artefacts written to disk</a:t>
                      </a:r>
                      <a:endParaRPr lang="en-US" sz="1100" dirty="0">
                        <a:latin typeface="Calibri" charset="0"/>
                        <a:ea typeface="Calibri" charset="0"/>
                        <a:cs typeface="Calibri" charset="0"/>
                      </a:endParaRPr>
                    </a:p>
                  </a:txBody>
                  <a:tcPr anchor="ctr">
                    <a:lnL w="9525" cap="flat" cmpd="sng" algn="ctr">
                      <a:solidFill>
                        <a:srgbClr val="C9CDD4"/>
                      </a:solidFill>
                      <a:prstDash val="solid"/>
                      <a:round/>
                      <a:headEnd type="none" w="med" len="med"/>
                      <a:tailEnd type="none" w="med" len="med"/>
                    </a:lnL>
                    <a:lnR w="9525" cap="flat" cmpd="sng" algn="ctr">
                      <a:solidFill>
                        <a:srgbClr val="C9CDD4"/>
                      </a:solidFill>
                      <a:prstDash val="solid"/>
                      <a:round/>
                      <a:headEnd type="none" w="med" len="med"/>
                      <a:tailEnd type="none" w="med" len="med"/>
                    </a:lnR>
                    <a:lnT w="9525" cap="flat" cmpd="sng" algn="ctr">
                      <a:solidFill>
                        <a:srgbClr val="C9CDD4"/>
                      </a:solidFill>
                      <a:prstDash val="solid"/>
                      <a:round/>
                      <a:headEnd type="none" w="med" len="med"/>
                      <a:tailEnd type="none" w="med" len="med"/>
                    </a:lnT>
                    <a:lnB w="9525" cap="flat" cmpd="sng" algn="ctr">
                      <a:solidFill>
                        <a:srgbClr val="C9CDD4"/>
                      </a:solidFill>
                      <a:prstDash val="solid"/>
                      <a:round/>
                      <a:headEnd type="none" w="med" len="med"/>
                      <a:tailEnd type="none" w="med" len="med"/>
                    </a:lnB>
                  </a:tcPr>
                </a:tc>
                <a:extLst>
                  <a:ext uri="{0D108BD9-81ED-4DB2-BD59-A6C34878D82A}">
                    <a16:rowId xmlns:a16="http://schemas.microsoft.com/office/drawing/2014/main" val="10005"/>
                  </a:ext>
                </a:extLst>
              </a:tr>
              <a:tr h="402336">
                <a:tc>
                  <a:txBody>
                    <a:bodyPr/>
                    <a:lstStyle/>
                    <a:p>
                      <a:pPr marL="0" indent="0">
                        <a:buNone/>
                      </a:pPr>
                      <a:r>
                        <a:rPr lang="en-US" sz="1100" dirty="0">
                          <a:solidFill>
                            <a:srgbClr val="000000"/>
                          </a:solidFill>
                          <a:latin typeface="Calibri" pitchFamily="34" charset="0"/>
                          <a:ea typeface="Calibri" pitchFamily="34" charset="-122"/>
                          <a:cs typeface="Calibri" pitchFamily="34" charset="-120"/>
                        </a:rPr>
                        <a:t>Source dataset unavailable</a:t>
                      </a:r>
                      <a:endParaRPr lang="en-US" sz="1100" dirty="0">
                        <a:latin typeface="Calibri" charset="0"/>
                        <a:ea typeface="Calibri" charset="0"/>
                        <a:cs typeface="Calibri" charset="0"/>
                      </a:endParaRPr>
                    </a:p>
                  </a:txBody>
                  <a:tcPr anchor="ctr">
                    <a:lnL w="9525" cap="flat" cmpd="sng" algn="ctr">
                      <a:solidFill>
                        <a:srgbClr val="C9CDD4"/>
                      </a:solidFill>
                      <a:prstDash val="solid"/>
                      <a:round/>
                      <a:headEnd type="none" w="med" len="med"/>
                      <a:tailEnd type="none" w="med" len="med"/>
                    </a:lnL>
                    <a:lnR w="9525" cap="flat" cmpd="sng" algn="ctr">
                      <a:solidFill>
                        <a:srgbClr val="C9CDD4"/>
                      </a:solidFill>
                      <a:prstDash val="solid"/>
                      <a:round/>
                      <a:headEnd type="none" w="med" len="med"/>
                      <a:tailEnd type="none" w="med" len="med"/>
                    </a:lnR>
                    <a:lnT w="9525" cap="flat" cmpd="sng" algn="ctr">
                      <a:solidFill>
                        <a:srgbClr val="C9CDD4"/>
                      </a:solidFill>
                      <a:prstDash val="solid"/>
                      <a:round/>
                      <a:headEnd type="none" w="med" len="med"/>
                      <a:tailEnd type="none" w="med" len="med"/>
                    </a:lnT>
                    <a:lnB w="9525" cap="flat" cmpd="sng" algn="ctr">
                      <a:solidFill>
                        <a:srgbClr val="C9CDD4"/>
                      </a:solidFill>
                      <a:prstDash val="solid"/>
                      <a:round/>
                      <a:headEnd type="none" w="med" len="med"/>
                      <a:tailEnd type="none" w="med" len="med"/>
                    </a:lnB>
                  </a:tcPr>
                </a:tc>
                <a:tc>
                  <a:txBody>
                    <a:bodyPr/>
                    <a:lstStyle/>
                    <a:p>
                      <a:pPr marL="0" indent="0">
                        <a:buNone/>
                      </a:pPr>
                      <a:r>
                        <a:rPr lang="en-US" sz="1100" dirty="0">
                          <a:solidFill>
                            <a:srgbClr val="000000"/>
                          </a:solidFill>
                          <a:latin typeface="Calibri" pitchFamily="34" charset="0"/>
                          <a:ea typeface="Calibri" pitchFamily="34" charset="-122"/>
                          <a:cs typeface="Calibri" pitchFamily="34" charset="-120"/>
                        </a:rPr>
                        <a:t>Medium</a:t>
                      </a:r>
                      <a:endParaRPr lang="en-US" sz="1100" dirty="0">
                        <a:latin typeface="Calibri" charset="0"/>
                        <a:ea typeface="Calibri" charset="0"/>
                        <a:cs typeface="Calibri" charset="0"/>
                      </a:endParaRPr>
                    </a:p>
                  </a:txBody>
                  <a:tcPr anchor="ctr">
                    <a:lnL w="9525" cap="flat" cmpd="sng" algn="ctr">
                      <a:solidFill>
                        <a:srgbClr val="C9CDD4"/>
                      </a:solidFill>
                      <a:prstDash val="solid"/>
                      <a:round/>
                      <a:headEnd type="none" w="med" len="med"/>
                      <a:tailEnd type="none" w="med" len="med"/>
                    </a:lnL>
                    <a:lnR w="9525" cap="flat" cmpd="sng" algn="ctr">
                      <a:solidFill>
                        <a:srgbClr val="C9CDD4"/>
                      </a:solidFill>
                      <a:prstDash val="solid"/>
                      <a:round/>
                      <a:headEnd type="none" w="med" len="med"/>
                      <a:tailEnd type="none" w="med" len="med"/>
                    </a:lnR>
                    <a:lnT w="9525" cap="flat" cmpd="sng" algn="ctr">
                      <a:solidFill>
                        <a:srgbClr val="C9CDD4"/>
                      </a:solidFill>
                      <a:prstDash val="solid"/>
                      <a:round/>
                      <a:headEnd type="none" w="med" len="med"/>
                      <a:tailEnd type="none" w="med" len="med"/>
                    </a:lnT>
                    <a:lnB w="9525" cap="flat" cmpd="sng" algn="ctr">
                      <a:solidFill>
                        <a:srgbClr val="C9CDD4"/>
                      </a:solidFill>
                      <a:prstDash val="solid"/>
                      <a:round/>
                      <a:headEnd type="none" w="med" len="med"/>
                      <a:tailEnd type="none" w="med" len="med"/>
                    </a:lnB>
                  </a:tcPr>
                </a:tc>
                <a:tc>
                  <a:txBody>
                    <a:bodyPr/>
                    <a:lstStyle/>
                    <a:p>
                      <a:pPr marL="0" indent="0">
                        <a:buNone/>
                      </a:pPr>
                      <a:r>
                        <a:rPr lang="en-US" sz="1100" dirty="0">
                          <a:solidFill>
                            <a:srgbClr val="000000"/>
                          </a:solidFill>
                          <a:latin typeface="Calibri" pitchFamily="34" charset="0"/>
                          <a:ea typeface="Calibri" pitchFamily="34" charset="-122"/>
                          <a:cs typeface="Calibri" pitchFamily="34" charset="-120"/>
                        </a:rPr>
                        <a:t>High</a:t>
                      </a:r>
                      <a:endParaRPr lang="en-US" sz="1100" dirty="0">
                        <a:latin typeface="Calibri" charset="0"/>
                        <a:ea typeface="Calibri" charset="0"/>
                        <a:cs typeface="Calibri" charset="0"/>
                      </a:endParaRPr>
                    </a:p>
                  </a:txBody>
                  <a:tcPr anchor="ctr">
                    <a:lnL w="9525" cap="flat" cmpd="sng" algn="ctr">
                      <a:solidFill>
                        <a:srgbClr val="C9CDD4"/>
                      </a:solidFill>
                      <a:prstDash val="solid"/>
                      <a:round/>
                      <a:headEnd type="none" w="med" len="med"/>
                      <a:tailEnd type="none" w="med" len="med"/>
                    </a:lnL>
                    <a:lnR w="9525" cap="flat" cmpd="sng" algn="ctr">
                      <a:solidFill>
                        <a:srgbClr val="C9CDD4"/>
                      </a:solidFill>
                      <a:prstDash val="solid"/>
                      <a:round/>
                      <a:headEnd type="none" w="med" len="med"/>
                      <a:tailEnd type="none" w="med" len="med"/>
                    </a:lnR>
                    <a:lnT w="9525" cap="flat" cmpd="sng" algn="ctr">
                      <a:solidFill>
                        <a:srgbClr val="C9CDD4"/>
                      </a:solidFill>
                      <a:prstDash val="solid"/>
                      <a:round/>
                      <a:headEnd type="none" w="med" len="med"/>
                      <a:tailEnd type="none" w="med" len="med"/>
                    </a:lnT>
                    <a:lnB w="9525" cap="flat" cmpd="sng" algn="ctr">
                      <a:solidFill>
                        <a:srgbClr val="C9CDD4"/>
                      </a:solidFill>
                      <a:prstDash val="solid"/>
                      <a:round/>
                      <a:headEnd type="none" w="med" len="med"/>
                      <a:tailEnd type="none" w="med" len="med"/>
                    </a:lnB>
                  </a:tcPr>
                </a:tc>
                <a:tc>
                  <a:txBody>
                    <a:bodyPr/>
                    <a:lstStyle/>
                    <a:p>
                      <a:pPr marL="0" indent="0">
                        <a:buNone/>
                      </a:pPr>
                      <a:r>
                        <a:rPr lang="en-US" sz="1100" dirty="0">
                          <a:solidFill>
                            <a:srgbClr val="000000"/>
                          </a:solidFill>
                          <a:latin typeface="Calibri" pitchFamily="34" charset="0"/>
                          <a:ea typeface="Calibri" pitchFamily="34" charset="-122"/>
                          <a:cs typeface="Calibri" pitchFamily="34" charset="-120"/>
                        </a:rPr>
                        <a:t>Download script plus documented mirrors</a:t>
                      </a:r>
                      <a:endParaRPr lang="en-US" sz="1100" dirty="0">
                        <a:latin typeface="Calibri" charset="0"/>
                        <a:ea typeface="Calibri" charset="0"/>
                        <a:cs typeface="Calibri" charset="0"/>
                      </a:endParaRPr>
                    </a:p>
                  </a:txBody>
                  <a:tcPr anchor="ctr">
                    <a:lnL w="9525" cap="flat" cmpd="sng" algn="ctr">
                      <a:solidFill>
                        <a:srgbClr val="C9CDD4"/>
                      </a:solidFill>
                      <a:prstDash val="solid"/>
                      <a:round/>
                      <a:headEnd type="none" w="med" len="med"/>
                      <a:tailEnd type="none" w="med" len="med"/>
                    </a:lnL>
                    <a:lnR w="9525" cap="flat" cmpd="sng" algn="ctr">
                      <a:solidFill>
                        <a:srgbClr val="C9CDD4"/>
                      </a:solidFill>
                      <a:prstDash val="solid"/>
                      <a:round/>
                      <a:headEnd type="none" w="med" len="med"/>
                      <a:tailEnd type="none" w="med" len="med"/>
                    </a:lnR>
                    <a:lnT w="9525" cap="flat" cmpd="sng" algn="ctr">
                      <a:solidFill>
                        <a:srgbClr val="C9CDD4"/>
                      </a:solidFill>
                      <a:prstDash val="solid"/>
                      <a:round/>
                      <a:headEnd type="none" w="med" len="med"/>
                      <a:tailEnd type="none" w="med" len="med"/>
                    </a:lnT>
                    <a:lnB w="9525" cap="flat" cmpd="sng" algn="ctr">
                      <a:solidFill>
                        <a:srgbClr val="C9CDD4"/>
                      </a:solidFill>
                      <a:prstDash val="solid"/>
                      <a:round/>
                      <a:headEnd type="none" w="med" len="med"/>
                      <a:tailEnd type="none" w="med" len="med"/>
                    </a:lnB>
                  </a:tcPr>
                </a:tc>
                <a:extLst>
                  <a:ext uri="{0D108BD9-81ED-4DB2-BD59-A6C34878D82A}">
                    <a16:rowId xmlns:a16="http://schemas.microsoft.com/office/drawing/2014/main" val="10006"/>
                  </a:ext>
                </a:extLst>
              </a:tr>
              <a:tr h="402336">
                <a:tc>
                  <a:txBody>
                    <a:bodyPr/>
                    <a:lstStyle/>
                    <a:p>
                      <a:pPr marL="0" indent="0">
                        <a:buNone/>
                      </a:pPr>
                      <a:r>
                        <a:rPr lang="en-US" sz="1100" dirty="0">
                          <a:solidFill>
                            <a:srgbClr val="000000"/>
                          </a:solidFill>
                          <a:latin typeface="Calibri" pitchFamily="34" charset="0"/>
                          <a:ea typeface="Calibri" pitchFamily="34" charset="-122"/>
                          <a:cs typeface="Calibri" pitchFamily="34" charset="-120"/>
                        </a:rPr>
                        <a:t>Library version drift breaks saved models</a:t>
                      </a:r>
                      <a:endParaRPr lang="en-US" sz="1100" dirty="0">
                        <a:latin typeface="Calibri" charset="0"/>
                        <a:ea typeface="Calibri" charset="0"/>
                        <a:cs typeface="Calibri" charset="0"/>
                      </a:endParaRPr>
                    </a:p>
                  </a:txBody>
                  <a:tcPr anchor="ctr">
                    <a:lnL w="9525" cap="flat" cmpd="sng" algn="ctr">
                      <a:solidFill>
                        <a:srgbClr val="C9CDD4"/>
                      </a:solidFill>
                      <a:prstDash val="solid"/>
                      <a:round/>
                      <a:headEnd type="none" w="med" len="med"/>
                      <a:tailEnd type="none" w="med" len="med"/>
                    </a:lnL>
                    <a:lnR w="9525" cap="flat" cmpd="sng" algn="ctr">
                      <a:solidFill>
                        <a:srgbClr val="C9CDD4"/>
                      </a:solidFill>
                      <a:prstDash val="solid"/>
                      <a:round/>
                      <a:headEnd type="none" w="med" len="med"/>
                      <a:tailEnd type="none" w="med" len="med"/>
                    </a:lnR>
                    <a:lnT w="9525" cap="flat" cmpd="sng" algn="ctr">
                      <a:solidFill>
                        <a:srgbClr val="C9CDD4"/>
                      </a:solidFill>
                      <a:prstDash val="solid"/>
                      <a:round/>
                      <a:headEnd type="none" w="med" len="med"/>
                      <a:tailEnd type="none" w="med" len="med"/>
                    </a:lnT>
                    <a:lnB w="9525" cap="flat" cmpd="sng" algn="ctr">
                      <a:solidFill>
                        <a:srgbClr val="C9CDD4"/>
                      </a:solidFill>
                      <a:prstDash val="solid"/>
                      <a:round/>
                      <a:headEnd type="none" w="med" len="med"/>
                      <a:tailEnd type="none" w="med" len="med"/>
                    </a:lnB>
                  </a:tcPr>
                </a:tc>
                <a:tc>
                  <a:txBody>
                    <a:bodyPr/>
                    <a:lstStyle/>
                    <a:p>
                      <a:pPr marL="0" indent="0">
                        <a:buNone/>
                      </a:pPr>
                      <a:r>
                        <a:rPr lang="en-US" sz="1100" dirty="0">
                          <a:solidFill>
                            <a:srgbClr val="000000"/>
                          </a:solidFill>
                          <a:latin typeface="Calibri" pitchFamily="34" charset="0"/>
                          <a:ea typeface="Calibri" pitchFamily="34" charset="-122"/>
                          <a:cs typeface="Calibri" pitchFamily="34" charset="-120"/>
                        </a:rPr>
                        <a:t>Medium</a:t>
                      </a:r>
                      <a:endParaRPr lang="en-US" sz="1100" dirty="0">
                        <a:latin typeface="Calibri" charset="0"/>
                        <a:ea typeface="Calibri" charset="0"/>
                        <a:cs typeface="Calibri" charset="0"/>
                      </a:endParaRPr>
                    </a:p>
                  </a:txBody>
                  <a:tcPr anchor="ctr">
                    <a:lnL w="9525" cap="flat" cmpd="sng" algn="ctr">
                      <a:solidFill>
                        <a:srgbClr val="C9CDD4"/>
                      </a:solidFill>
                      <a:prstDash val="solid"/>
                      <a:round/>
                      <a:headEnd type="none" w="med" len="med"/>
                      <a:tailEnd type="none" w="med" len="med"/>
                    </a:lnL>
                    <a:lnR w="9525" cap="flat" cmpd="sng" algn="ctr">
                      <a:solidFill>
                        <a:srgbClr val="C9CDD4"/>
                      </a:solidFill>
                      <a:prstDash val="solid"/>
                      <a:round/>
                      <a:headEnd type="none" w="med" len="med"/>
                      <a:tailEnd type="none" w="med" len="med"/>
                    </a:lnR>
                    <a:lnT w="9525" cap="flat" cmpd="sng" algn="ctr">
                      <a:solidFill>
                        <a:srgbClr val="C9CDD4"/>
                      </a:solidFill>
                      <a:prstDash val="solid"/>
                      <a:round/>
                      <a:headEnd type="none" w="med" len="med"/>
                      <a:tailEnd type="none" w="med" len="med"/>
                    </a:lnT>
                    <a:lnB w="9525" cap="flat" cmpd="sng" algn="ctr">
                      <a:solidFill>
                        <a:srgbClr val="C9CDD4"/>
                      </a:solidFill>
                      <a:prstDash val="solid"/>
                      <a:round/>
                      <a:headEnd type="none" w="med" len="med"/>
                      <a:tailEnd type="none" w="med" len="med"/>
                    </a:lnB>
                  </a:tcPr>
                </a:tc>
                <a:tc>
                  <a:txBody>
                    <a:bodyPr/>
                    <a:lstStyle/>
                    <a:p>
                      <a:pPr marL="0" indent="0">
                        <a:buNone/>
                      </a:pPr>
                      <a:r>
                        <a:rPr lang="en-US" sz="1100" dirty="0">
                          <a:solidFill>
                            <a:srgbClr val="000000"/>
                          </a:solidFill>
                          <a:latin typeface="Calibri" pitchFamily="34" charset="0"/>
                          <a:ea typeface="Calibri" pitchFamily="34" charset="-122"/>
                          <a:cs typeface="Calibri" pitchFamily="34" charset="-120"/>
                        </a:rPr>
                        <a:t>Medium</a:t>
                      </a:r>
                      <a:endParaRPr lang="en-US" sz="1100" dirty="0">
                        <a:latin typeface="Calibri" charset="0"/>
                        <a:ea typeface="Calibri" charset="0"/>
                        <a:cs typeface="Calibri" charset="0"/>
                      </a:endParaRPr>
                    </a:p>
                  </a:txBody>
                  <a:tcPr anchor="ctr">
                    <a:lnL w="9525" cap="flat" cmpd="sng" algn="ctr">
                      <a:solidFill>
                        <a:srgbClr val="C9CDD4"/>
                      </a:solidFill>
                      <a:prstDash val="solid"/>
                      <a:round/>
                      <a:headEnd type="none" w="med" len="med"/>
                      <a:tailEnd type="none" w="med" len="med"/>
                    </a:lnL>
                    <a:lnR w="9525" cap="flat" cmpd="sng" algn="ctr">
                      <a:solidFill>
                        <a:srgbClr val="C9CDD4"/>
                      </a:solidFill>
                      <a:prstDash val="solid"/>
                      <a:round/>
                      <a:headEnd type="none" w="med" len="med"/>
                      <a:tailEnd type="none" w="med" len="med"/>
                    </a:lnR>
                    <a:lnT w="9525" cap="flat" cmpd="sng" algn="ctr">
                      <a:solidFill>
                        <a:srgbClr val="C9CDD4"/>
                      </a:solidFill>
                      <a:prstDash val="solid"/>
                      <a:round/>
                      <a:headEnd type="none" w="med" len="med"/>
                      <a:tailEnd type="none" w="med" len="med"/>
                    </a:lnT>
                    <a:lnB w="9525" cap="flat" cmpd="sng" algn="ctr">
                      <a:solidFill>
                        <a:srgbClr val="C9CDD4"/>
                      </a:solidFill>
                      <a:prstDash val="solid"/>
                      <a:round/>
                      <a:headEnd type="none" w="med" len="med"/>
                      <a:tailEnd type="none" w="med" len="med"/>
                    </a:lnB>
                  </a:tcPr>
                </a:tc>
                <a:tc>
                  <a:txBody>
                    <a:bodyPr/>
                    <a:lstStyle/>
                    <a:p>
                      <a:pPr marL="0" indent="0">
                        <a:buNone/>
                      </a:pPr>
                      <a:r>
                        <a:rPr lang="en-US" sz="1100" dirty="0">
                          <a:solidFill>
                            <a:srgbClr val="000000"/>
                          </a:solidFill>
                          <a:latin typeface="Calibri" pitchFamily="34" charset="0"/>
                          <a:ea typeface="Calibri" pitchFamily="34" charset="-122"/>
                          <a:cs typeface="Calibri" pitchFamily="34" charset="-120"/>
                        </a:rPr>
                        <a:t>Versions pinned in requirements.txt</a:t>
                      </a:r>
                      <a:endParaRPr lang="en-US" sz="1100" dirty="0">
                        <a:latin typeface="Calibri" charset="0"/>
                        <a:ea typeface="Calibri" charset="0"/>
                        <a:cs typeface="Calibri" charset="0"/>
                      </a:endParaRPr>
                    </a:p>
                  </a:txBody>
                  <a:tcPr anchor="ctr">
                    <a:lnL w="9525" cap="flat" cmpd="sng" algn="ctr">
                      <a:solidFill>
                        <a:srgbClr val="C9CDD4"/>
                      </a:solidFill>
                      <a:prstDash val="solid"/>
                      <a:round/>
                      <a:headEnd type="none" w="med" len="med"/>
                      <a:tailEnd type="none" w="med" len="med"/>
                    </a:lnL>
                    <a:lnR w="9525" cap="flat" cmpd="sng" algn="ctr">
                      <a:solidFill>
                        <a:srgbClr val="C9CDD4"/>
                      </a:solidFill>
                      <a:prstDash val="solid"/>
                      <a:round/>
                      <a:headEnd type="none" w="med" len="med"/>
                      <a:tailEnd type="none" w="med" len="med"/>
                    </a:lnR>
                    <a:lnT w="9525" cap="flat" cmpd="sng" algn="ctr">
                      <a:solidFill>
                        <a:srgbClr val="C9CDD4"/>
                      </a:solidFill>
                      <a:prstDash val="solid"/>
                      <a:round/>
                      <a:headEnd type="none" w="med" len="med"/>
                      <a:tailEnd type="none" w="med" len="med"/>
                    </a:lnT>
                    <a:lnB w="9525" cap="flat" cmpd="sng" algn="ctr">
                      <a:solidFill>
                        <a:srgbClr val="C9CDD4"/>
                      </a:solidFill>
                      <a:prstDash val="solid"/>
                      <a:round/>
                      <a:headEnd type="none" w="med" len="med"/>
                      <a:tailEnd type="none" w="med" len="med"/>
                    </a:lnB>
                  </a:tcPr>
                </a:tc>
                <a:extLst>
                  <a:ext uri="{0D108BD9-81ED-4DB2-BD59-A6C34878D82A}">
                    <a16:rowId xmlns:a16="http://schemas.microsoft.com/office/drawing/2014/main" val="10007"/>
                  </a:ext>
                </a:extLst>
              </a:tr>
            </a:tbl>
          </a:graphicData>
        </a:graphic>
      </p:graphicFrame>
      <p:pic>
        <p:nvPicPr>
          <p:cNvPr id="14" name="Image 0" descr="D:\assigments_7_students\krish\figures\risk_matrix.png"/>
          <p:cNvPicPr>
            <a:picLocks noChangeAspect="1"/>
          </p:cNvPicPr>
          <p:nvPr/>
        </p:nvPicPr>
        <p:blipFill>
          <a:blip r:embed="rId3"/>
          <a:stretch>
            <a:fillRect/>
          </a:stretch>
        </p:blipFill>
        <p:spPr>
          <a:xfrm>
            <a:off x="8183880" y="1645920"/>
            <a:ext cx="3118104" cy="2231136"/>
          </a:xfrm>
          <a:prstGeom prst="rect">
            <a:avLst/>
          </a:prstGeom>
        </p:spPr>
      </p:pic>
      <p:sp>
        <p:nvSpPr>
          <p:cNvPr id="15" name="Text 11"/>
          <p:cNvSpPr txBox="1"/>
          <p:nvPr/>
        </p:nvSpPr>
        <p:spPr>
          <a:xfrm>
            <a:off x="8183880" y="3922776"/>
            <a:ext cx="3118104" cy="365760"/>
          </a:xfrm>
          <a:prstGeom prst="rect">
            <a:avLst/>
          </a:prstGeom>
          <a:noFill/>
          <a:ln/>
        </p:spPr>
        <p:txBody>
          <a:bodyPr wrap="square" lIns="0" tIns="0" rIns="0" bIns="0" rtlCol="0" anchor="t"/>
          <a:lstStyle/>
          <a:p>
            <a:pPr marL="0" indent="0" algn="ctr">
              <a:lnSpc>
                <a:spcPct val="100000"/>
              </a:lnSpc>
              <a:buNone/>
            </a:pPr>
            <a:r>
              <a:rPr lang="en-US" sz="1050" dirty="0">
                <a:solidFill>
                  <a:srgbClr val="5C5C5C"/>
                </a:solidFill>
                <a:latin typeface="Calibri" pitchFamily="34" charset="0"/>
                <a:ea typeface="Calibri" pitchFamily="34" charset="-122"/>
                <a:cs typeface="Calibri" pitchFamily="34" charset="-120"/>
              </a:rPr>
              <a:t>Risk matrix produced by the project code.</a:t>
            </a:r>
            <a:endParaRPr lang="en-US" sz="1050" dirty="0"/>
          </a:p>
        </p:txBody>
      </p:sp>
      <p:sp>
        <p:nvSpPr>
          <p:cNvPr id="16" name="Shape 12"/>
          <p:cNvSpPr/>
          <p:nvPr/>
        </p:nvSpPr>
        <p:spPr>
          <a:xfrm>
            <a:off x="8183880" y="4315968"/>
            <a:ext cx="3438144" cy="384048"/>
          </a:xfrm>
          <a:prstGeom prst="rect">
            <a:avLst/>
          </a:prstGeom>
          <a:solidFill>
            <a:srgbClr val="2764B4"/>
          </a:solidFill>
          <a:ln w="12700">
            <a:solidFill>
              <a:srgbClr val="2764B4"/>
            </a:solidFill>
            <a:prstDash val="solid"/>
          </a:ln>
        </p:spPr>
      </p:sp>
      <p:sp>
        <p:nvSpPr>
          <p:cNvPr id="17" name="Text 13"/>
          <p:cNvSpPr txBox="1"/>
          <p:nvPr/>
        </p:nvSpPr>
        <p:spPr>
          <a:xfrm>
            <a:off x="8311896" y="4315968"/>
            <a:ext cx="3182112" cy="384048"/>
          </a:xfrm>
          <a:prstGeom prst="rect">
            <a:avLst/>
          </a:prstGeom>
          <a:noFill/>
          <a:ln/>
        </p:spPr>
        <p:txBody>
          <a:bodyPr wrap="square" lIns="0" tIns="0" rIns="0" bIns="0" rtlCol="0" anchor="ctr"/>
          <a:lstStyle/>
          <a:p>
            <a:pPr marL="0" indent="0">
              <a:buNone/>
            </a:pPr>
            <a:r>
              <a:rPr lang="en-US" sz="1500" b="1" dirty="0">
                <a:solidFill>
                  <a:srgbClr val="FFFFFF"/>
                </a:solidFill>
                <a:latin typeface="Calibri" pitchFamily="34" charset="0"/>
                <a:ea typeface="Calibri" pitchFamily="34" charset="-122"/>
                <a:cs typeface="Calibri" pitchFamily="34" charset="-120"/>
              </a:rPr>
              <a:t>Three risks materialised</a:t>
            </a:r>
            <a:endParaRPr lang="en-US" sz="1500" dirty="0"/>
          </a:p>
        </p:txBody>
      </p:sp>
      <p:sp>
        <p:nvSpPr>
          <p:cNvPr id="13" name="Shape 14"/>
          <p:cNvSpPr/>
          <p:nvPr/>
        </p:nvSpPr>
        <p:spPr>
          <a:xfrm>
            <a:off x="8183880" y="4700016"/>
            <a:ext cx="3438144" cy="987552"/>
          </a:xfrm>
          <a:prstGeom prst="rect">
            <a:avLst/>
          </a:prstGeom>
          <a:solidFill>
            <a:srgbClr val="F4DDE6"/>
          </a:solidFill>
          <a:ln/>
        </p:spPr>
      </p:sp>
      <p:sp>
        <p:nvSpPr>
          <p:cNvPr id="19" name="Text 15"/>
          <p:cNvSpPr txBox="1"/>
          <p:nvPr/>
        </p:nvSpPr>
        <p:spPr>
          <a:xfrm>
            <a:off x="8385048" y="4800600"/>
            <a:ext cx="3035808" cy="914400"/>
          </a:xfrm>
          <a:prstGeom prst="rect">
            <a:avLst/>
          </a:prstGeom>
          <a:noFill/>
          <a:ln/>
        </p:spPr>
        <p:txBody>
          <a:bodyPr wrap="square" lIns="0" tIns="0" rIns="0" bIns="0" rtlCol="0" anchor="t"/>
          <a:lstStyle/>
          <a:p>
            <a:pPr marL="177800" indent="-177800">
              <a:lnSpc>
                <a:spcPct val="106000"/>
              </a:lnSpc>
              <a:spcAft>
                <a:spcPts val="800"/>
              </a:spcAft>
              <a:buSzPct val="100000"/>
              <a:buChar char="•"/>
            </a:pPr>
            <a:r>
              <a:rPr lang="en-US" sz="1150" dirty="0">
                <a:solidFill>
                  <a:srgbClr val="000000"/>
                </a:solidFill>
                <a:latin typeface="Calibri" pitchFamily="34" charset="0"/>
                <a:ea typeface="Calibri" pitchFamily="34" charset="-122"/>
                <a:cs typeface="Calibri" pitchFamily="34" charset="-120"/>
              </a:rPr>
              <a:t>The dataset path stopped resolving</a:t>
            </a:r>
            <a:endParaRPr lang="en-US" sz="1150" dirty="0"/>
          </a:p>
          <a:p>
            <a:pPr marL="177800" indent="-177800">
              <a:lnSpc>
                <a:spcPct val="106000"/>
              </a:lnSpc>
              <a:spcAft>
                <a:spcPts val="800"/>
              </a:spcAft>
              <a:buSzPct val="100000"/>
              <a:buChar char="•"/>
            </a:pPr>
            <a:r>
              <a:rPr lang="en-US" sz="1150" dirty="0">
                <a:solidFill>
                  <a:srgbClr val="000000"/>
                </a:solidFill>
                <a:latin typeface="Calibri" pitchFamily="34" charset="0"/>
                <a:ea typeface="Calibri" pitchFamily="34" charset="-122"/>
                <a:cs typeface="Calibri" pitchFamily="34" charset="-120"/>
              </a:rPr>
              <a:t>A library could not be installed offline</a:t>
            </a:r>
            <a:endParaRPr lang="en-US" sz="1150" dirty="0"/>
          </a:p>
          <a:p>
            <a:pPr marL="177800" indent="-177800">
              <a:lnSpc>
                <a:spcPct val="106000"/>
              </a:lnSpc>
              <a:spcAft>
                <a:spcPts val="800"/>
              </a:spcAft>
              <a:buSzPct val="100000"/>
              <a:buChar char="•"/>
            </a:pPr>
            <a:r>
              <a:rPr lang="en-US" sz="1150" dirty="0">
                <a:solidFill>
                  <a:srgbClr val="000000"/>
                </a:solidFill>
                <a:latin typeface="Calibri" pitchFamily="34" charset="0"/>
                <a:ea typeface="Calibri" pitchFamily="34" charset="-122"/>
                <a:cs typeface="Calibri" pitchFamily="34" charset="-120"/>
              </a:rPr>
              <a:t>Saved models failed to load on an older version</a:t>
            </a:r>
            <a:endParaRPr lang="en-US" sz="1150" dirty="0"/>
          </a:p>
        </p:txBody>
      </p:sp>
      <p:sp>
        <p:nvSpPr>
          <p:cNvPr id="20" name="Text 16"/>
          <p:cNvSpPr txBox="1"/>
          <p:nvPr/>
        </p:nvSpPr>
        <p:spPr>
          <a:xfrm>
            <a:off x="566928" y="5943600"/>
            <a:ext cx="7360920" cy="365760"/>
          </a:xfrm>
          <a:prstGeom prst="rect">
            <a:avLst/>
          </a:prstGeom>
          <a:noFill/>
          <a:ln/>
        </p:spPr>
        <p:txBody>
          <a:bodyPr wrap="square" lIns="0" tIns="0" rIns="0" bIns="0" rtlCol="0" anchor="t"/>
          <a:lstStyle/>
          <a:p>
            <a:pPr marL="0" indent="0" algn="ctr">
              <a:lnSpc>
                <a:spcPct val="100000"/>
              </a:lnSpc>
              <a:buNone/>
            </a:pPr>
            <a:r>
              <a:rPr lang="en-US" sz="1050" dirty="0">
                <a:solidFill>
                  <a:srgbClr val="5C5C5C"/>
                </a:solidFill>
                <a:latin typeface="Calibri" pitchFamily="34" charset="0"/>
                <a:ea typeface="Calibri" pitchFamily="34" charset="-122"/>
                <a:cs typeface="Calibri" pitchFamily="34" charset="-120"/>
              </a:rPr>
              <a:t>All three were resolved: a download script with documented mirrors, offline wheel installation, and pinned library versions.</a:t>
            </a:r>
            <a:endParaRPr lang="en-US" sz="10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914400" y="2514600"/>
            <a:ext cx="10360152" cy="658368"/>
          </a:xfrm>
          <a:prstGeom prst="rect">
            <a:avLst/>
          </a:prstGeom>
          <a:noFill/>
          <a:ln/>
        </p:spPr>
        <p:txBody>
          <a:bodyPr wrap="square" lIns="0" tIns="0" rIns="0" bIns="0" rtlCol="0" anchor="ctr"/>
          <a:lstStyle/>
          <a:p>
            <a:pPr marL="0" indent="0" algn="ctr">
              <a:buNone/>
            </a:pPr>
            <a:r>
              <a:rPr lang="en-US" sz="3400" dirty="0">
                <a:solidFill>
                  <a:srgbClr val="000000"/>
                </a:solidFill>
                <a:latin typeface="Calibri" pitchFamily="34" charset="0"/>
                <a:ea typeface="Calibri" pitchFamily="34" charset="-122"/>
                <a:cs typeface="Calibri" pitchFamily="34" charset="-120"/>
              </a:rPr>
              <a:t>5.  Implementation</a:t>
            </a:r>
            <a:endParaRPr lang="en-US" sz="3400" dirty="0"/>
          </a:p>
        </p:txBody>
      </p:sp>
      <p:sp>
        <p:nvSpPr>
          <p:cNvPr id="3" name="Shape 1"/>
          <p:cNvSpPr/>
          <p:nvPr/>
        </p:nvSpPr>
        <p:spPr>
          <a:xfrm>
            <a:off x="2258568" y="3502152"/>
            <a:ext cx="7680960" cy="32004"/>
          </a:xfrm>
          <a:prstGeom prst="rect">
            <a:avLst/>
          </a:prstGeom>
          <a:solidFill>
            <a:srgbClr val="CC0000"/>
          </a:solidFill>
          <a:ln w="12700">
            <a:solidFill>
              <a:srgbClr val="CC0000"/>
            </a:solidFill>
            <a:prstDash val="solid"/>
          </a:ln>
        </p:spPr>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1045159"/>
          </a:xfrm>
          <a:prstGeom prst="rect">
            <a:avLst/>
          </a:prstGeom>
          <a:solidFill>
            <a:srgbClr val="9A003B"/>
          </a:solidFill>
          <a:ln w="12700">
            <a:solidFill>
              <a:srgbClr val="9A003B"/>
            </a:solidFill>
            <a:prstDash val="solid"/>
          </a:ln>
        </p:spPr>
      </p:sp>
      <p:sp>
        <p:nvSpPr>
          <p:cNvPr id="3" name="Text 1"/>
          <p:cNvSpPr txBox="1"/>
          <p:nvPr/>
        </p:nvSpPr>
        <p:spPr>
          <a:xfrm>
            <a:off x="228600" y="109728"/>
            <a:ext cx="11704320" cy="825703"/>
          </a:xfrm>
          <a:prstGeom prst="rect">
            <a:avLst/>
          </a:prstGeom>
          <a:noFill/>
          <a:ln/>
        </p:spPr>
        <p:txBody>
          <a:bodyPr wrap="square" lIns="0" tIns="0" rIns="0" bIns="0" rtlCol="0" anchor="ctr"/>
          <a:lstStyle/>
          <a:p>
            <a:pPr marL="0" indent="0">
              <a:lnSpc>
                <a:spcPct val="95000"/>
              </a:lnSpc>
              <a:buNone/>
            </a:pPr>
            <a:r>
              <a:rPr lang="en-US" sz="2500" dirty="0">
                <a:solidFill>
                  <a:srgbClr val="FFFFFF"/>
                </a:solidFill>
                <a:latin typeface="Calibri" pitchFamily="34" charset="0"/>
                <a:ea typeface="Calibri" pitchFamily="34" charset="-122"/>
                <a:cs typeface="Calibri" pitchFamily="34" charset="-120"/>
              </a:rPr>
              <a:t>Implementation: System Architecture &amp; Evidence I</a:t>
            </a:r>
            <a:endParaRPr lang="en-US" sz="2500" dirty="0"/>
          </a:p>
        </p:txBody>
      </p:sp>
      <p:sp>
        <p:nvSpPr>
          <p:cNvPr id="4" name="Text 2"/>
          <p:cNvSpPr txBox="1"/>
          <p:nvPr/>
        </p:nvSpPr>
        <p:spPr>
          <a:xfrm>
            <a:off x="10515600" y="5806440"/>
            <a:ext cx="1463040" cy="749808"/>
          </a:xfrm>
          <a:prstGeom prst="rect">
            <a:avLst/>
          </a:prstGeom>
          <a:noFill/>
          <a:ln/>
        </p:spPr>
        <p:txBody>
          <a:bodyPr wrap="square" lIns="0" tIns="0" rIns="0" bIns="0" rtlCol="0" anchor="b"/>
          <a:lstStyle/>
          <a:p>
            <a:pPr marL="0" indent="0" algn="r">
              <a:lnSpc>
                <a:spcPct val="85000"/>
              </a:lnSpc>
              <a:buNone/>
            </a:pPr>
            <a:r>
              <a:rPr lang="en-US" sz="1150" b="1" dirty="0">
                <a:solidFill>
                  <a:srgbClr val="9A003B"/>
                </a:solidFill>
                <a:latin typeface="Calibri" pitchFamily="34" charset="0"/>
                <a:ea typeface="Calibri" pitchFamily="34" charset="-122"/>
                <a:cs typeface="Calibri" pitchFamily="34" charset="-120"/>
              </a:rPr>
              <a:t>Sheffield</a:t>
            </a:r>
            <a:endParaRPr lang="en-US" sz="1150" dirty="0"/>
          </a:p>
          <a:p>
            <a:pPr marL="0" indent="0" algn="r">
              <a:lnSpc>
                <a:spcPct val="85000"/>
              </a:lnSpc>
              <a:buNone/>
            </a:pPr>
            <a:r>
              <a:rPr lang="en-US" sz="1150" b="1" dirty="0">
                <a:solidFill>
                  <a:srgbClr val="9A003B"/>
                </a:solidFill>
                <a:latin typeface="Calibri" pitchFamily="34" charset="0"/>
                <a:ea typeface="Calibri" pitchFamily="34" charset="-122"/>
                <a:cs typeface="Calibri" pitchFamily="34" charset="-120"/>
              </a:rPr>
              <a:t>Hallam</a:t>
            </a:r>
            <a:endParaRPr lang="en-US" sz="1150" dirty="0"/>
          </a:p>
          <a:p>
            <a:pPr marL="0" indent="0" algn="r">
              <a:lnSpc>
                <a:spcPct val="85000"/>
              </a:lnSpc>
              <a:buNone/>
            </a:pPr>
            <a:r>
              <a:rPr lang="en-US" sz="1150" b="1" dirty="0">
                <a:solidFill>
                  <a:srgbClr val="9A003B"/>
                </a:solidFill>
                <a:latin typeface="Calibri" pitchFamily="34" charset="0"/>
                <a:ea typeface="Calibri" pitchFamily="34" charset="-122"/>
                <a:cs typeface="Calibri" pitchFamily="34" charset="-120"/>
              </a:rPr>
              <a:t>University</a:t>
            </a:r>
            <a:endParaRPr lang="en-US" sz="1150" dirty="0"/>
          </a:p>
        </p:txBody>
      </p:sp>
      <p:sp>
        <p:nvSpPr>
          <p:cNvPr id="5" name="Shape 3"/>
          <p:cNvSpPr/>
          <p:nvPr/>
        </p:nvSpPr>
        <p:spPr>
          <a:xfrm>
            <a:off x="0" y="6624828"/>
            <a:ext cx="4063898" cy="233172"/>
          </a:xfrm>
          <a:prstGeom prst="rect">
            <a:avLst/>
          </a:prstGeom>
          <a:solidFill>
            <a:srgbClr val="4D001E"/>
          </a:solidFill>
          <a:ln w="12700">
            <a:solidFill>
              <a:srgbClr val="4D001E"/>
            </a:solidFill>
            <a:prstDash val="solid"/>
          </a:ln>
        </p:spPr>
      </p:sp>
      <p:sp>
        <p:nvSpPr>
          <p:cNvPr id="6" name="Shape 4"/>
          <p:cNvSpPr/>
          <p:nvPr/>
        </p:nvSpPr>
        <p:spPr>
          <a:xfrm>
            <a:off x="4063898" y="6624828"/>
            <a:ext cx="4063898" cy="233172"/>
          </a:xfrm>
          <a:prstGeom prst="rect">
            <a:avLst/>
          </a:prstGeom>
          <a:solidFill>
            <a:srgbClr val="74002C"/>
          </a:solidFill>
          <a:ln w="12700">
            <a:solidFill>
              <a:srgbClr val="74002C"/>
            </a:solidFill>
            <a:prstDash val="solid"/>
          </a:ln>
        </p:spPr>
      </p:sp>
      <p:sp>
        <p:nvSpPr>
          <p:cNvPr id="7" name="Shape 5"/>
          <p:cNvSpPr/>
          <p:nvPr/>
        </p:nvSpPr>
        <p:spPr>
          <a:xfrm>
            <a:off x="8127797" y="6624828"/>
            <a:ext cx="4063898" cy="233172"/>
          </a:xfrm>
          <a:prstGeom prst="rect">
            <a:avLst/>
          </a:prstGeom>
          <a:solidFill>
            <a:srgbClr val="9A003B"/>
          </a:solidFill>
          <a:ln w="12700">
            <a:solidFill>
              <a:srgbClr val="9A003B"/>
            </a:solidFill>
            <a:prstDash val="solid"/>
          </a:ln>
        </p:spPr>
      </p:sp>
      <p:sp>
        <p:nvSpPr>
          <p:cNvPr id="8" name="Text 6"/>
          <p:cNvSpPr txBox="1"/>
          <p:nvPr/>
        </p:nvSpPr>
        <p:spPr>
          <a:xfrm>
            <a:off x="1143000" y="6624828"/>
            <a:ext cx="2743200" cy="233172"/>
          </a:xfrm>
          <a:prstGeom prst="rect">
            <a:avLst/>
          </a:prstGeom>
          <a:noFill/>
          <a:ln/>
        </p:spPr>
        <p:txBody>
          <a:bodyPr wrap="square" lIns="0" tIns="0" rIns="0" bIns="0" rtlCol="0" anchor="ctr"/>
          <a:lstStyle/>
          <a:p>
            <a:pPr marL="0" indent="0">
              <a:buNone/>
            </a:pPr>
            <a:r>
              <a:rPr lang="en-US" sz="900" dirty="0">
                <a:solidFill>
                  <a:srgbClr val="FFFFFF"/>
                </a:solidFill>
                <a:latin typeface="Calibri" pitchFamily="34" charset="0"/>
                <a:ea typeface="Calibri" pitchFamily="34" charset="-122"/>
                <a:cs typeface="Calibri" pitchFamily="34" charset="-120"/>
              </a:rPr>
              <a:t>[Student Initials]  (SHU)</a:t>
            </a:r>
            <a:endParaRPr lang="en-US" sz="900" dirty="0"/>
          </a:p>
        </p:txBody>
      </p:sp>
      <p:sp>
        <p:nvSpPr>
          <p:cNvPr id="9" name="Text 7"/>
          <p:cNvSpPr txBox="1"/>
          <p:nvPr/>
        </p:nvSpPr>
        <p:spPr>
          <a:xfrm>
            <a:off x="5276088" y="6624828"/>
            <a:ext cx="2743200" cy="233172"/>
          </a:xfrm>
          <a:prstGeom prst="rect">
            <a:avLst/>
          </a:prstGeom>
          <a:noFill/>
          <a:ln/>
        </p:spPr>
        <p:txBody>
          <a:bodyPr wrap="square" lIns="0" tIns="0" rIns="0" bIns="0" rtlCol="0" anchor="ctr"/>
          <a:lstStyle/>
          <a:p>
            <a:pPr marL="0" indent="0">
              <a:buNone/>
            </a:pPr>
            <a:r>
              <a:rPr lang="en-US" sz="900" dirty="0">
                <a:solidFill>
                  <a:srgbClr val="FFFFFF"/>
                </a:solidFill>
                <a:latin typeface="Calibri" pitchFamily="34" charset="0"/>
                <a:ea typeface="Calibri" pitchFamily="34" charset="-122"/>
                <a:cs typeface="Calibri" pitchFamily="34" charset="-120"/>
              </a:rPr>
              <a:t>Does the Emoji Matter?</a:t>
            </a:r>
            <a:endParaRPr lang="en-US" sz="900" dirty="0"/>
          </a:p>
        </p:txBody>
      </p:sp>
      <p:sp>
        <p:nvSpPr>
          <p:cNvPr id="10" name="Text 8"/>
          <p:cNvSpPr txBox="1"/>
          <p:nvPr/>
        </p:nvSpPr>
        <p:spPr>
          <a:xfrm>
            <a:off x="9235440" y="6624828"/>
            <a:ext cx="1645920" cy="233172"/>
          </a:xfrm>
          <a:prstGeom prst="rect">
            <a:avLst/>
          </a:prstGeom>
          <a:noFill/>
          <a:ln/>
        </p:spPr>
        <p:txBody>
          <a:bodyPr wrap="square" lIns="0" tIns="0" rIns="0" bIns="0" rtlCol="0" anchor="ctr"/>
          <a:lstStyle/>
          <a:p>
            <a:pPr marL="0" indent="0">
              <a:buNone/>
            </a:pPr>
            <a:r>
              <a:rPr lang="en-US" sz="900" dirty="0">
                <a:solidFill>
                  <a:srgbClr val="FFFFFF"/>
                </a:solidFill>
                <a:latin typeface="Calibri" pitchFamily="34" charset="0"/>
                <a:ea typeface="Calibri" pitchFamily="34" charset="-122"/>
                <a:cs typeface="Calibri" pitchFamily="34" charset="-120"/>
              </a:rPr>
              <a:t>September 2026</a:t>
            </a:r>
            <a:endParaRPr lang="en-US" sz="900" dirty="0"/>
          </a:p>
        </p:txBody>
      </p:sp>
      <p:sp>
        <p:nvSpPr>
          <p:cNvPr id="11" name="Text 9"/>
          <p:cNvSpPr txBox="1"/>
          <p:nvPr/>
        </p:nvSpPr>
        <p:spPr>
          <a:xfrm>
            <a:off x="10881360" y="6624828"/>
            <a:ext cx="1161288" cy="233172"/>
          </a:xfrm>
          <a:prstGeom prst="rect">
            <a:avLst/>
          </a:prstGeom>
          <a:noFill/>
          <a:ln/>
        </p:spPr>
        <p:txBody>
          <a:bodyPr wrap="square" lIns="0" tIns="0" rIns="0" bIns="0" rtlCol="0" anchor="ctr"/>
          <a:lstStyle/>
          <a:p>
            <a:pPr marL="0" indent="0" algn="r">
              <a:buNone/>
            </a:pPr>
            <a:r>
              <a:rPr lang="en-US" sz="900" dirty="0">
                <a:solidFill>
                  <a:srgbClr val="FFFFFF"/>
                </a:solidFill>
                <a:latin typeface="Calibri" pitchFamily="34" charset="0"/>
                <a:ea typeface="Calibri" pitchFamily="34" charset="-122"/>
                <a:cs typeface="Calibri" pitchFamily="34" charset="-120"/>
              </a:rPr>
              <a:t>19 / 43</a:t>
            </a:r>
            <a:endParaRPr lang="en-US" sz="900" dirty="0"/>
          </a:p>
        </p:txBody>
      </p:sp>
      <p:sp>
        <p:nvSpPr>
          <p:cNvPr id="12" name="Text 10"/>
          <p:cNvSpPr txBox="1"/>
          <p:nvPr/>
        </p:nvSpPr>
        <p:spPr>
          <a:xfrm>
            <a:off x="566928" y="1298448"/>
            <a:ext cx="11055096" cy="274320"/>
          </a:xfrm>
          <a:prstGeom prst="rect">
            <a:avLst/>
          </a:prstGeom>
          <a:noFill/>
          <a:ln/>
        </p:spPr>
        <p:txBody>
          <a:bodyPr wrap="square" lIns="0" tIns="0" rIns="0" bIns="0" rtlCol="0" anchor="t"/>
          <a:lstStyle/>
          <a:p>
            <a:pPr marL="0" indent="0">
              <a:lnSpc>
                <a:spcPct val="106000"/>
              </a:lnSpc>
              <a:buNone/>
            </a:pPr>
            <a:r>
              <a:rPr lang="en-US" sz="1500" b="1" dirty="0">
                <a:solidFill>
                  <a:srgbClr val="000000"/>
                </a:solidFill>
                <a:latin typeface="Calibri" pitchFamily="34" charset="0"/>
                <a:ea typeface="Calibri" pitchFamily="34" charset="-122"/>
                <a:cs typeface="Calibri" pitchFamily="34" charset="-120"/>
              </a:rPr>
              <a:t>Design, Architecture &amp; Project Lifecycle:</a:t>
            </a:r>
            <a:endParaRPr lang="en-US" sz="1500" dirty="0"/>
          </a:p>
        </p:txBody>
      </p:sp>
      <p:pic>
        <p:nvPicPr>
          <p:cNvPr id="13" name="Image 0" descr="D:\assigments_7_students\krish\figures\arch_highlevel.png"/>
          <p:cNvPicPr>
            <a:picLocks noChangeAspect="1"/>
          </p:cNvPicPr>
          <p:nvPr/>
        </p:nvPicPr>
        <p:blipFill>
          <a:blip r:embed="rId3"/>
          <a:stretch>
            <a:fillRect/>
          </a:stretch>
        </p:blipFill>
        <p:spPr>
          <a:xfrm>
            <a:off x="566928" y="1664208"/>
            <a:ext cx="6949440" cy="3904488"/>
          </a:xfrm>
          <a:prstGeom prst="rect">
            <a:avLst/>
          </a:prstGeom>
        </p:spPr>
      </p:pic>
      <p:sp>
        <p:nvSpPr>
          <p:cNvPr id="14" name="Text 11"/>
          <p:cNvSpPr txBox="1"/>
          <p:nvPr/>
        </p:nvSpPr>
        <p:spPr>
          <a:xfrm>
            <a:off x="566928" y="5632704"/>
            <a:ext cx="6949440" cy="365760"/>
          </a:xfrm>
          <a:prstGeom prst="rect">
            <a:avLst/>
          </a:prstGeom>
          <a:noFill/>
          <a:ln/>
        </p:spPr>
        <p:txBody>
          <a:bodyPr wrap="square" lIns="0" tIns="0" rIns="0" bIns="0" rtlCol="0" anchor="t"/>
          <a:lstStyle/>
          <a:p>
            <a:pPr marL="0" indent="0" algn="ctr">
              <a:lnSpc>
                <a:spcPct val="100000"/>
              </a:lnSpc>
              <a:buNone/>
            </a:pPr>
            <a:r>
              <a:rPr lang="en-US" sz="1050" dirty="0">
                <a:solidFill>
                  <a:srgbClr val="5C5C5C"/>
                </a:solidFill>
                <a:latin typeface="Calibri" pitchFamily="34" charset="0"/>
                <a:ea typeface="Calibri" pitchFamily="34" charset="-122"/>
                <a:cs typeface="Calibri" pitchFamily="34" charset="-120"/>
              </a:rPr>
              <a:t>High-level architecture: four layers and the flow between them.</a:t>
            </a:r>
            <a:endParaRPr lang="en-US" sz="1050" dirty="0"/>
          </a:p>
        </p:txBody>
      </p:sp>
      <p:sp>
        <p:nvSpPr>
          <p:cNvPr id="15" name="Text 12"/>
          <p:cNvSpPr txBox="1"/>
          <p:nvPr/>
        </p:nvSpPr>
        <p:spPr>
          <a:xfrm>
            <a:off x="7726680" y="1682496"/>
            <a:ext cx="3931920" cy="4023360"/>
          </a:xfrm>
          <a:prstGeom prst="rect">
            <a:avLst/>
          </a:prstGeom>
          <a:noFill/>
          <a:ln/>
        </p:spPr>
        <p:txBody>
          <a:bodyPr wrap="square" lIns="0" tIns="0" rIns="0" bIns="0" rtlCol="0" anchor="t"/>
          <a:lstStyle/>
          <a:p>
            <a:pPr marL="177800" indent="-177800">
              <a:lnSpc>
                <a:spcPct val="106000"/>
              </a:lnSpc>
              <a:spcAft>
                <a:spcPts val="800"/>
              </a:spcAft>
              <a:buSzPct val="100000"/>
              <a:buChar char="•"/>
            </a:pPr>
            <a:r>
              <a:rPr lang="en-US" sz="1250" b="1" dirty="0">
                <a:solidFill>
                  <a:srgbClr val="000000"/>
                </a:solidFill>
                <a:latin typeface="Calibri" pitchFamily="34" charset="0"/>
                <a:ea typeface="Calibri" pitchFamily="34" charset="-122"/>
                <a:cs typeface="Calibri" pitchFamily="34" charset="-120"/>
              </a:rPr>
              <a:t>Design/Architecture: </a:t>
            </a:r>
            <a:r>
              <a:rPr lang="en-US" sz="1250" dirty="0">
                <a:solidFill>
                  <a:srgbClr val="000000"/>
                </a:solidFill>
                <a:latin typeface="Calibri" pitchFamily="34" charset="0"/>
                <a:ea typeface="Calibri" pitchFamily="34" charset="-122"/>
                <a:cs typeface="Calibri" pitchFamily="34" charset="-120"/>
              </a:rPr>
              <a:t>four layers — data, processing (four notebooks in sequence), artefacts (four models, thresholds, twelve result files, figures), and the Streamlit application, which reads the artefacts directly.</a:t>
            </a:r>
            <a:endParaRPr lang="en-US" sz="1250" dirty="0"/>
          </a:p>
          <a:p>
            <a:pPr marL="177800" indent="-177800">
              <a:lnSpc>
                <a:spcPct val="106000"/>
              </a:lnSpc>
              <a:spcAft>
                <a:spcPts val="800"/>
              </a:spcAft>
              <a:buSzPct val="100000"/>
              <a:buChar char="•"/>
            </a:pPr>
            <a:r>
              <a:rPr lang="en-US" sz="1250" b="1" dirty="0">
                <a:solidFill>
                  <a:srgbClr val="000000"/>
                </a:solidFill>
                <a:latin typeface="Calibri" pitchFamily="34" charset="0"/>
                <a:ea typeface="Calibri" pitchFamily="34" charset="-122"/>
                <a:cs typeface="Calibri" pitchFamily="34" charset="-120"/>
              </a:rPr>
              <a:t>Development Lifecycle: </a:t>
            </a:r>
            <a:r>
              <a:rPr lang="en-US" sz="1250" dirty="0">
                <a:solidFill>
                  <a:srgbClr val="000000"/>
                </a:solidFill>
                <a:latin typeface="Calibri" pitchFamily="34" charset="0"/>
                <a:ea typeface="Calibri" pitchFamily="34" charset="-122"/>
                <a:cs typeface="Calibri" pitchFamily="34" charset="-120"/>
              </a:rPr>
              <a:t>staged and incremental, one notebook per pipeline stage, each verified before the next was written.</a:t>
            </a:r>
            <a:endParaRPr lang="en-US" sz="1250" dirty="0"/>
          </a:p>
          <a:p>
            <a:pPr marL="177800" indent="-177800">
              <a:lnSpc>
                <a:spcPct val="106000"/>
              </a:lnSpc>
              <a:spcAft>
                <a:spcPts val="800"/>
              </a:spcAft>
              <a:buSzPct val="100000"/>
              <a:buChar char="•"/>
            </a:pPr>
            <a:r>
              <a:rPr lang="en-US" sz="1250" b="1" dirty="0">
                <a:solidFill>
                  <a:srgbClr val="000000"/>
                </a:solidFill>
                <a:latin typeface="Calibri" pitchFamily="34" charset="0"/>
                <a:ea typeface="Calibri" pitchFamily="34" charset="-122"/>
                <a:cs typeface="Calibri" pitchFamily="34" charset="-120"/>
              </a:rPr>
              <a:t>Tools &amp; Integration Layers: </a:t>
            </a:r>
            <a:r>
              <a:rPr lang="en-US" sz="1250" dirty="0">
                <a:solidFill>
                  <a:srgbClr val="000000"/>
                </a:solidFill>
                <a:latin typeface="Calibri" pitchFamily="34" charset="0"/>
                <a:ea typeface="Calibri" pitchFamily="34" charset="-122"/>
                <a:cs typeface="Calibri" pitchFamily="34" charset="-120"/>
              </a:rPr>
              <a:t>Python 3.12, TensorFlow / Keras 3 for modelling, emoji and demoji for the two tracks, NLTK for tokenising and lemmatising, scikit-learn for metrics, Streamlit for the interface.</a:t>
            </a:r>
            <a:endParaRPr lang="en-US" sz="12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1045159"/>
          </a:xfrm>
          <a:prstGeom prst="rect">
            <a:avLst/>
          </a:prstGeom>
          <a:solidFill>
            <a:srgbClr val="9A003B"/>
          </a:solidFill>
          <a:ln w="12700">
            <a:solidFill>
              <a:srgbClr val="9A003B"/>
            </a:solidFill>
            <a:prstDash val="solid"/>
          </a:ln>
        </p:spPr>
      </p:sp>
      <p:sp>
        <p:nvSpPr>
          <p:cNvPr id="3" name="Text 1"/>
          <p:cNvSpPr txBox="1"/>
          <p:nvPr/>
        </p:nvSpPr>
        <p:spPr>
          <a:xfrm>
            <a:off x="228600" y="109728"/>
            <a:ext cx="11704320" cy="825703"/>
          </a:xfrm>
          <a:prstGeom prst="rect">
            <a:avLst/>
          </a:prstGeom>
          <a:noFill/>
          <a:ln/>
        </p:spPr>
        <p:txBody>
          <a:bodyPr wrap="square" lIns="0" tIns="0" rIns="0" bIns="0" rtlCol="0" anchor="ctr"/>
          <a:lstStyle/>
          <a:p>
            <a:pPr marL="0" indent="0">
              <a:lnSpc>
                <a:spcPct val="95000"/>
              </a:lnSpc>
              <a:buNone/>
            </a:pPr>
            <a:r>
              <a:rPr lang="en-US" sz="2500" dirty="0">
                <a:solidFill>
                  <a:srgbClr val="FFFFFF"/>
                </a:solidFill>
                <a:latin typeface="Calibri" pitchFamily="34" charset="0"/>
                <a:ea typeface="Calibri" pitchFamily="34" charset="-122"/>
                <a:cs typeface="Calibri" pitchFamily="34" charset="-120"/>
              </a:rPr>
              <a:t>Implementation: System Architecture &amp; Evidence II</a:t>
            </a:r>
            <a:endParaRPr lang="en-US" sz="2500" dirty="0"/>
          </a:p>
        </p:txBody>
      </p:sp>
      <p:sp>
        <p:nvSpPr>
          <p:cNvPr id="4" name="Text 2"/>
          <p:cNvSpPr txBox="1"/>
          <p:nvPr/>
        </p:nvSpPr>
        <p:spPr>
          <a:xfrm>
            <a:off x="10515600" y="5806440"/>
            <a:ext cx="1463040" cy="749808"/>
          </a:xfrm>
          <a:prstGeom prst="rect">
            <a:avLst/>
          </a:prstGeom>
          <a:noFill/>
          <a:ln/>
        </p:spPr>
        <p:txBody>
          <a:bodyPr wrap="square" lIns="0" tIns="0" rIns="0" bIns="0" rtlCol="0" anchor="b"/>
          <a:lstStyle/>
          <a:p>
            <a:pPr marL="0" indent="0" algn="r">
              <a:lnSpc>
                <a:spcPct val="85000"/>
              </a:lnSpc>
              <a:buNone/>
            </a:pPr>
            <a:r>
              <a:rPr lang="en-US" sz="1150" b="1" dirty="0">
                <a:solidFill>
                  <a:srgbClr val="9A003B"/>
                </a:solidFill>
                <a:latin typeface="Calibri" pitchFamily="34" charset="0"/>
                <a:ea typeface="Calibri" pitchFamily="34" charset="-122"/>
                <a:cs typeface="Calibri" pitchFamily="34" charset="-120"/>
              </a:rPr>
              <a:t>Sheffield</a:t>
            </a:r>
            <a:endParaRPr lang="en-US" sz="1150" dirty="0"/>
          </a:p>
          <a:p>
            <a:pPr marL="0" indent="0" algn="r">
              <a:lnSpc>
                <a:spcPct val="85000"/>
              </a:lnSpc>
              <a:buNone/>
            </a:pPr>
            <a:r>
              <a:rPr lang="en-US" sz="1150" b="1" dirty="0">
                <a:solidFill>
                  <a:srgbClr val="9A003B"/>
                </a:solidFill>
                <a:latin typeface="Calibri" pitchFamily="34" charset="0"/>
                <a:ea typeface="Calibri" pitchFamily="34" charset="-122"/>
                <a:cs typeface="Calibri" pitchFamily="34" charset="-120"/>
              </a:rPr>
              <a:t>Hallam</a:t>
            </a:r>
            <a:endParaRPr lang="en-US" sz="1150" dirty="0"/>
          </a:p>
          <a:p>
            <a:pPr marL="0" indent="0" algn="r">
              <a:lnSpc>
                <a:spcPct val="85000"/>
              </a:lnSpc>
              <a:buNone/>
            </a:pPr>
            <a:r>
              <a:rPr lang="en-US" sz="1150" b="1" dirty="0">
                <a:solidFill>
                  <a:srgbClr val="9A003B"/>
                </a:solidFill>
                <a:latin typeface="Calibri" pitchFamily="34" charset="0"/>
                <a:ea typeface="Calibri" pitchFamily="34" charset="-122"/>
                <a:cs typeface="Calibri" pitchFamily="34" charset="-120"/>
              </a:rPr>
              <a:t>University</a:t>
            </a:r>
            <a:endParaRPr lang="en-US" sz="1150" dirty="0"/>
          </a:p>
        </p:txBody>
      </p:sp>
      <p:sp>
        <p:nvSpPr>
          <p:cNvPr id="5" name="Shape 3"/>
          <p:cNvSpPr/>
          <p:nvPr/>
        </p:nvSpPr>
        <p:spPr>
          <a:xfrm>
            <a:off x="0" y="6624828"/>
            <a:ext cx="4063898" cy="233172"/>
          </a:xfrm>
          <a:prstGeom prst="rect">
            <a:avLst/>
          </a:prstGeom>
          <a:solidFill>
            <a:srgbClr val="4D001E"/>
          </a:solidFill>
          <a:ln w="12700">
            <a:solidFill>
              <a:srgbClr val="4D001E"/>
            </a:solidFill>
            <a:prstDash val="solid"/>
          </a:ln>
        </p:spPr>
      </p:sp>
      <p:sp>
        <p:nvSpPr>
          <p:cNvPr id="6" name="Shape 4"/>
          <p:cNvSpPr/>
          <p:nvPr/>
        </p:nvSpPr>
        <p:spPr>
          <a:xfrm>
            <a:off x="4063898" y="6624828"/>
            <a:ext cx="4063898" cy="233172"/>
          </a:xfrm>
          <a:prstGeom prst="rect">
            <a:avLst/>
          </a:prstGeom>
          <a:solidFill>
            <a:srgbClr val="74002C"/>
          </a:solidFill>
          <a:ln w="12700">
            <a:solidFill>
              <a:srgbClr val="74002C"/>
            </a:solidFill>
            <a:prstDash val="solid"/>
          </a:ln>
        </p:spPr>
      </p:sp>
      <p:sp>
        <p:nvSpPr>
          <p:cNvPr id="7" name="Shape 5"/>
          <p:cNvSpPr/>
          <p:nvPr/>
        </p:nvSpPr>
        <p:spPr>
          <a:xfrm>
            <a:off x="8127797" y="6624828"/>
            <a:ext cx="4063898" cy="233172"/>
          </a:xfrm>
          <a:prstGeom prst="rect">
            <a:avLst/>
          </a:prstGeom>
          <a:solidFill>
            <a:srgbClr val="9A003B"/>
          </a:solidFill>
          <a:ln w="12700">
            <a:solidFill>
              <a:srgbClr val="9A003B"/>
            </a:solidFill>
            <a:prstDash val="solid"/>
          </a:ln>
        </p:spPr>
      </p:sp>
      <p:sp>
        <p:nvSpPr>
          <p:cNvPr id="8" name="Text 6"/>
          <p:cNvSpPr txBox="1"/>
          <p:nvPr/>
        </p:nvSpPr>
        <p:spPr>
          <a:xfrm>
            <a:off x="1143000" y="6624828"/>
            <a:ext cx="2743200" cy="233172"/>
          </a:xfrm>
          <a:prstGeom prst="rect">
            <a:avLst/>
          </a:prstGeom>
          <a:noFill/>
          <a:ln/>
        </p:spPr>
        <p:txBody>
          <a:bodyPr wrap="square" lIns="0" tIns="0" rIns="0" bIns="0" rtlCol="0" anchor="ctr"/>
          <a:lstStyle/>
          <a:p>
            <a:pPr marL="0" indent="0">
              <a:buNone/>
            </a:pPr>
            <a:r>
              <a:rPr lang="en-US" sz="900" dirty="0">
                <a:solidFill>
                  <a:srgbClr val="FFFFFF"/>
                </a:solidFill>
                <a:latin typeface="Calibri" pitchFamily="34" charset="0"/>
                <a:ea typeface="Calibri" pitchFamily="34" charset="-122"/>
                <a:cs typeface="Calibri" pitchFamily="34" charset="-120"/>
              </a:rPr>
              <a:t>[Student Initials]  (SHU)</a:t>
            </a:r>
            <a:endParaRPr lang="en-US" sz="900" dirty="0"/>
          </a:p>
        </p:txBody>
      </p:sp>
      <p:sp>
        <p:nvSpPr>
          <p:cNvPr id="9" name="Text 7"/>
          <p:cNvSpPr txBox="1"/>
          <p:nvPr/>
        </p:nvSpPr>
        <p:spPr>
          <a:xfrm>
            <a:off x="5276088" y="6624828"/>
            <a:ext cx="2743200" cy="233172"/>
          </a:xfrm>
          <a:prstGeom prst="rect">
            <a:avLst/>
          </a:prstGeom>
          <a:noFill/>
          <a:ln/>
        </p:spPr>
        <p:txBody>
          <a:bodyPr wrap="square" lIns="0" tIns="0" rIns="0" bIns="0" rtlCol="0" anchor="ctr"/>
          <a:lstStyle/>
          <a:p>
            <a:pPr marL="0" indent="0">
              <a:buNone/>
            </a:pPr>
            <a:r>
              <a:rPr lang="en-US" sz="900" dirty="0">
                <a:solidFill>
                  <a:srgbClr val="FFFFFF"/>
                </a:solidFill>
                <a:latin typeface="Calibri" pitchFamily="34" charset="0"/>
                <a:ea typeface="Calibri" pitchFamily="34" charset="-122"/>
                <a:cs typeface="Calibri" pitchFamily="34" charset="-120"/>
              </a:rPr>
              <a:t>Does the Emoji Matter?</a:t>
            </a:r>
            <a:endParaRPr lang="en-US" sz="900" dirty="0"/>
          </a:p>
        </p:txBody>
      </p:sp>
      <p:sp>
        <p:nvSpPr>
          <p:cNvPr id="10" name="Text 8"/>
          <p:cNvSpPr txBox="1"/>
          <p:nvPr/>
        </p:nvSpPr>
        <p:spPr>
          <a:xfrm>
            <a:off x="9235440" y="6624828"/>
            <a:ext cx="1645920" cy="233172"/>
          </a:xfrm>
          <a:prstGeom prst="rect">
            <a:avLst/>
          </a:prstGeom>
          <a:noFill/>
          <a:ln/>
        </p:spPr>
        <p:txBody>
          <a:bodyPr wrap="square" lIns="0" tIns="0" rIns="0" bIns="0" rtlCol="0" anchor="ctr"/>
          <a:lstStyle/>
          <a:p>
            <a:pPr marL="0" indent="0">
              <a:buNone/>
            </a:pPr>
            <a:r>
              <a:rPr lang="en-US" sz="900" dirty="0">
                <a:solidFill>
                  <a:srgbClr val="FFFFFF"/>
                </a:solidFill>
                <a:latin typeface="Calibri" pitchFamily="34" charset="0"/>
                <a:ea typeface="Calibri" pitchFamily="34" charset="-122"/>
                <a:cs typeface="Calibri" pitchFamily="34" charset="-120"/>
              </a:rPr>
              <a:t>September 2026</a:t>
            </a:r>
            <a:endParaRPr lang="en-US" sz="900" dirty="0"/>
          </a:p>
        </p:txBody>
      </p:sp>
      <p:sp>
        <p:nvSpPr>
          <p:cNvPr id="11" name="Text 9"/>
          <p:cNvSpPr txBox="1"/>
          <p:nvPr/>
        </p:nvSpPr>
        <p:spPr>
          <a:xfrm>
            <a:off x="10881360" y="6624828"/>
            <a:ext cx="1161288" cy="233172"/>
          </a:xfrm>
          <a:prstGeom prst="rect">
            <a:avLst/>
          </a:prstGeom>
          <a:noFill/>
          <a:ln/>
        </p:spPr>
        <p:txBody>
          <a:bodyPr wrap="square" lIns="0" tIns="0" rIns="0" bIns="0" rtlCol="0" anchor="ctr"/>
          <a:lstStyle/>
          <a:p>
            <a:pPr marL="0" indent="0" algn="r">
              <a:buNone/>
            </a:pPr>
            <a:r>
              <a:rPr lang="en-US" sz="900" dirty="0">
                <a:solidFill>
                  <a:srgbClr val="FFFFFF"/>
                </a:solidFill>
                <a:latin typeface="Calibri" pitchFamily="34" charset="0"/>
                <a:ea typeface="Calibri" pitchFamily="34" charset="-122"/>
                <a:cs typeface="Calibri" pitchFamily="34" charset="-120"/>
              </a:rPr>
              <a:t>20 / 43</a:t>
            </a:r>
            <a:endParaRPr lang="en-US" sz="900" dirty="0"/>
          </a:p>
        </p:txBody>
      </p:sp>
      <p:sp>
        <p:nvSpPr>
          <p:cNvPr id="12" name="Text 10"/>
          <p:cNvSpPr txBox="1"/>
          <p:nvPr/>
        </p:nvSpPr>
        <p:spPr>
          <a:xfrm>
            <a:off x="566928" y="1298448"/>
            <a:ext cx="11055096" cy="274320"/>
          </a:xfrm>
          <a:prstGeom prst="rect">
            <a:avLst/>
          </a:prstGeom>
          <a:noFill/>
          <a:ln/>
        </p:spPr>
        <p:txBody>
          <a:bodyPr wrap="square" lIns="0" tIns="0" rIns="0" bIns="0" rtlCol="0" anchor="t"/>
          <a:lstStyle/>
          <a:p>
            <a:pPr marL="0" indent="0">
              <a:lnSpc>
                <a:spcPct val="106000"/>
              </a:lnSpc>
              <a:buNone/>
            </a:pPr>
            <a:r>
              <a:rPr lang="en-US" sz="1500" b="1" dirty="0">
                <a:solidFill>
                  <a:srgbClr val="000000"/>
                </a:solidFill>
                <a:latin typeface="Calibri" pitchFamily="34" charset="0"/>
                <a:ea typeface="Calibri" pitchFamily="34" charset="-122"/>
                <a:cs typeface="Calibri" pitchFamily="34" charset="-120"/>
              </a:rPr>
              <a:t>Source Code Snippets: the whole experiment is these two functions</a:t>
            </a:r>
            <a:endParaRPr lang="en-US" sz="1500" dirty="0"/>
          </a:p>
        </p:txBody>
      </p:sp>
      <p:pic>
        <p:nvPicPr>
          <p:cNvPr id="13" name="Image 0" descr="D:\assigments_7_students\krish\figures\arch_pipeline.png"/>
          <p:cNvPicPr>
            <a:picLocks noChangeAspect="1"/>
          </p:cNvPicPr>
          <p:nvPr/>
        </p:nvPicPr>
        <p:blipFill>
          <a:blip r:embed="rId3"/>
          <a:stretch>
            <a:fillRect/>
          </a:stretch>
        </p:blipFill>
        <p:spPr>
          <a:xfrm>
            <a:off x="566928" y="1664208"/>
            <a:ext cx="5852160" cy="3611880"/>
          </a:xfrm>
          <a:prstGeom prst="rect">
            <a:avLst/>
          </a:prstGeom>
        </p:spPr>
      </p:pic>
      <p:sp>
        <p:nvSpPr>
          <p:cNvPr id="14" name="Text 11"/>
          <p:cNvSpPr txBox="1"/>
          <p:nvPr/>
        </p:nvSpPr>
        <p:spPr>
          <a:xfrm>
            <a:off x="566928" y="5340096"/>
            <a:ext cx="5852160" cy="365760"/>
          </a:xfrm>
          <a:prstGeom prst="rect">
            <a:avLst/>
          </a:prstGeom>
          <a:noFill/>
          <a:ln/>
        </p:spPr>
        <p:txBody>
          <a:bodyPr wrap="square" lIns="0" tIns="0" rIns="0" bIns="0" rtlCol="0" anchor="t"/>
          <a:lstStyle/>
          <a:p>
            <a:pPr marL="0" indent="0" algn="ctr">
              <a:lnSpc>
                <a:spcPct val="100000"/>
              </a:lnSpc>
              <a:buNone/>
            </a:pPr>
            <a:r>
              <a:rPr lang="en-US" sz="1050" dirty="0">
                <a:solidFill>
                  <a:srgbClr val="5C5C5C"/>
                </a:solidFill>
                <a:latin typeface="Calibri" pitchFamily="34" charset="0"/>
                <a:ea typeface="Calibri" pitchFamily="34" charset="-122"/>
                <a:cs typeface="Calibri" pitchFamily="34" charset="-120"/>
              </a:rPr>
              <a:t>Stage 2 is the only operation that differs between the two tracks; stages 1, 3, 4 and 5 are shared code.</a:t>
            </a:r>
            <a:endParaRPr lang="en-US" sz="1050" dirty="0"/>
          </a:p>
        </p:txBody>
      </p:sp>
      <p:sp>
        <p:nvSpPr>
          <p:cNvPr id="15" name="Shape 12"/>
          <p:cNvSpPr/>
          <p:nvPr/>
        </p:nvSpPr>
        <p:spPr>
          <a:xfrm>
            <a:off x="6675120" y="1664208"/>
            <a:ext cx="4946904" cy="2194560"/>
          </a:xfrm>
          <a:prstGeom prst="rect">
            <a:avLst/>
          </a:prstGeom>
          <a:solidFill>
            <a:srgbClr val="F4F4F4"/>
          </a:solidFill>
          <a:ln w="9525">
            <a:solidFill>
              <a:srgbClr val="C9CDD4"/>
            </a:solidFill>
            <a:prstDash val="solid"/>
          </a:ln>
        </p:spPr>
      </p:sp>
      <p:sp>
        <p:nvSpPr>
          <p:cNvPr id="16" name="Text 13"/>
          <p:cNvSpPr txBox="1"/>
          <p:nvPr/>
        </p:nvSpPr>
        <p:spPr>
          <a:xfrm>
            <a:off x="6858000" y="1801368"/>
            <a:ext cx="4617720" cy="1920240"/>
          </a:xfrm>
          <a:prstGeom prst="rect">
            <a:avLst/>
          </a:prstGeom>
          <a:noFill/>
          <a:ln/>
        </p:spPr>
        <p:txBody>
          <a:bodyPr wrap="square" lIns="0" tIns="0" rIns="0" bIns="0" rtlCol="0" anchor="t"/>
          <a:lstStyle/>
          <a:p>
            <a:pPr marL="0" indent="0">
              <a:lnSpc>
                <a:spcPct val="105000"/>
              </a:lnSpc>
              <a:buNone/>
            </a:pPr>
            <a:r>
              <a:rPr lang="en-US" sz="1100" dirty="0">
                <a:solidFill>
                  <a:srgbClr val="0B4F9E"/>
                </a:solidFill>
                <a:latin typeface="Courier New" pitchFamily="34" charset="0"/>
                <a:ea typeface="Courier New" pitchFamily="34" charset="-122"/>
                <a:cs typeface="Courier New" pitchFamily="34" charset="-120"/>
              </a:rPr>
              <a:t>def handle_emoji_no(text):</a:t>
            </a:r>
            <a:endParaRPr lang="en-US" sz="1100" dirty="0"/>
          </a:p>
          <a:p>
            <a:pPr marL="0" indent="0">
              <a:lnSpc>
                <a:spcPct val="105000"/>
              </a:lnSpc>
              <a:buNone/>
            </a:pPr>
            <a:r>
              <a:rPr lang="en-US" sz="1100" dirty="0">
                <a:solidFill>
                  <a:srgbClr val="5C5C5C"/>
                </a:solidFill>
                <a:latin typeface="Courier New" pitchFamily="34" charset="0"/>
                <a:ea typeface="Courier New" pitchFamily="34" charset="-122"/>
                <a:cs typeface="Courier New" pitchFamily="34" charset="-120"/>
              </a:rPr>
              <a:t>    """Track A - delete every emoji."""</a:t>
            </a:r>
            <a:endParaRPr lang="en-US" sz="1100" dirty="0"/>
          </a:p>
          <a:p>
            <a:pPr marL="0" indent="0">
              <a:lnSpc>
                <a:spcPct val="105000"/>
              </a:lnSpc>
              <a:buNone/>
            </a:pPr>
            <a:r>
              <a:rPr lang="en-US" sz="1100" dirty="0">
                <a:solidFill>
                  <a:srgbClr val="000000"/>
                </a:solidFill>
                <a:latin typeface="Courier New" pitchFamily="34" charset="0"/>
                <a:ea typeface="Courier New" pitchFamily="34" charset="-122"/>
                <a:cs typeface="Courier New" pitchFamily="34" charset="-120"/>
              </a:rPr>
              <a:t>    return emoji.replace_emoji(</a:t>
            </a:r>
            <a:endParaRPr lang="en-US" sz="1100" dirty="0"/>
          </a:p>
          <a:p>
            <a:pPr marL="0" indent="0">
              <a:lnSpc>
                <a:spcPct val="105000"/>
              </a:lnSpc>
              <a:buNone/>
            </a:pPr>
            <a:r>
              <a:rPr lang="en-US" sz="1100" dirty="0">
                <a:solidFill>
                  <a:srgbClr val="000000"/>
                </a:solidFill>
                <a:latin typeface="Courier New" pitchFamily="34" charset="0"/>
                <a:ea typeface="Courier New" pitchFamily="34" charset="-122"/>
                <a:cs typeface="Courier New" pitchFamily="34" charset="-120"/>
              </a:rPr>
              <a:t>        str(text), replace="")</a:t>
            </a:r>
            <a:endParaRPr lang="en-US" sz="1100" dirty="0"/>
          </a:p>
          <a:p>
            <a:pPr marL="0" indent="0">
              <a:lnSpc>
                <a:spcPct val="105000"/>
              </a:lnSpc>
              <a:buNone/>
            </a:pPr>
            <a:endParaRPr lang="en-US" sz="1100" dirty="0"/>
          </a:p>
          <a:p>
            <a:pPr marL="0" indent="0">
              <a:lnSpc>
                <a:spcPct val="105000"/>
              </a:lnSpc>
              <a:buNone/>
            </a:pPr>
            <a:r>
              <a:rPr lang="en-US" sz="1100" dirty="0">
                <a:solidFill>
                  <a:srgbClr val="9A003B"/>
                </a:solidFill>
                <a:latin typeface="Courier New" pitchFamily="34" charset="0"/>
                <a:ea typeface="Courier New" pitchFamily="34" charset="-122"/>
                <a:cs typeface="Courier New" pitchFamily="34" charset="-120"/>
              </a:rPr>
              <a:t>def handle_emoji_yes(text):</a:t>
            </a:r>
            <a:endParaRPr lang="en-US" sz="1100" dirty="0"/>
          </a:p>
          <a:p>
            <a:pPr marL="0" indent="0">
              <a:lnSpc>
                <a:spcPct val="105000"/>
              </a:lnSpc>
              <a:buNone/>
            </a:pPr>
            <a:r>
              <a:rPr lang="en-US" sz="1100" dirty="0">
                <a:solidFill>
                  <a:srgbClr val="5C5C5C"/>
                </a:solidFill>
                <a:latin typeface="Courier New" pitchFamily="34" charset="0"/>
                <a:ea typeface="Courier New" pitchFamily="34" charset="-122"/>
                <a:cs typeface="Courier New" pitchFamily="34" charset="-120"/>
              </a:rPr>
              <a:t>    """Track B - replace with description."""</a:t>
            </a:r>
            <a:endParaRPr lang="en-US" sz="1100" dirty="0"/>
          </a:p>
          <a:p>
            <a:pPr marL="0" indent="0">
              <a:lnSpc>
                <a:spcPct val="105000"/>
              </a:lnSpc>
              <a:buNone/>
            </a:pPr>
            <a:r>
              <a:rPr lang="en-US" sz="1100" dirty="0">
                <a:solidFill>
                  <a:srgbClr val="000000"/>
                </a:solidFill>
                <a:latin typeface="Courier New" pitchFamily="34" charset="0"/>
                <a:ea typeface="Courier New" pitchFamily="34" charset="-122"/>
                <a:cs typeface="Courier New" pitchFamily="34" charset="-120"/>
              </a:rPr>
              <a:t>    return demoji.replace_with_desc(</a:t>
            </a:r>
            <a:endParaRPr lang="en-US" sz="1100" dirty="0"/>
          </a:p>
          <a:p>
            <a:pPr marL="0" indent="0">
              <a:lnSpc>
                <a:spcPct val="105000"/>
              </a:lnSpc>
              <a:buNone/>
            </a:pPr>
            <a:r>
              <a:rPr lang="en-US" sz="1100" dirty="0">
                <a:solidFill>
                  <a:srgbClr val="000000"/>
                </a:solidFill>
                <a:latin typeface="Courier New" pitchFamily="34" charset="0"/>
                <a:ea typeface="Courier New" pitchFamily="34" charset="-122"/>
                <a:cs typeface="Courier New" pitchFamily="34" charset="-120"/>
              </a:rPr>
              <a:t>        str(text), sep=" ")</a:t>
            </a:r>
            <a:endParaRPr lang="en-US" sz="1100" dirty="0"/>
          </a:p>
        </p:txBody>
      </p:sp>
      <p:sp>
        <p:nvSpPr>
          <p:cNvPr id="17" name="Shape 14"/>
          <p:cNvSpPr/>
          <p:nvPr/>
        </p:nvSpPr>
        <p:spPr>
          <a:xfrm>
            <a:off x="6675120" y="3995928"/>
            <a:ext cx="4946904" cy="384048"/>
          </a:xfrm>
          <a:prstGeom prst="rect">
            <a:avLst/>
          </a:prstGeom>
          <a:solidFill>
            <a:srgbClr val="2764B4"/>
          </a:solidFill>
          <a:ln w="12700">
            <a:solidFill>
              <a:srgbClr val="2764B4"/>
            </a:solidFill>
            <a:prstDash val="solid"/>
          </a:ln>
        </p:spPr>
      </p:sp>
      <p:sp>
        <p:nvSpPr>
          <p:cNvPr id="18" name="Text 15"/>
          <p:cNvSpPr txBox="1"/>
          <p:nvPr/>
        </p:nvSpPr>
        <p:spPr>
          <a:xfrm>
            <a:off x="6803136" y="3995928"/>
            <a:ext cx="4690872" cy="384048"/>
          </a:xfrm>
          <a:prstGeom prst="rect">
            <a:avLst/>
          </a:prstGeom>
          <a:noFill/>
          <a:ln/>
        </p:spPr>
        <p:txBody>
          <a:bodyPr wrap="square" lIns="0" tIns="0" rIns="0" bIns="0" rtlCol="0" anchor="ctr"/>
          <a:lstStyle/>
          <a:p>
            <a:pPr marL="0" indent="0">
              <a:buNone/>
            </a:pPr>
            <a:r>
              <a:rPr lang="en-US" sz="1500" b="1" dirty="0">
                <a:solidFill>
                  <a:srgbClr val="FFFFFF"/>
                </a:solidFill>
                <a:latin typeface="Calibri" pitchFamily="34" charset="0"/>
                <a:ea typeface="Calibri" pitchFamily="34" charset="-122"/>
                <a:cs typeface="Calibri" pitchFamily="34" charset="-120"/>
              </a:rPr>
              <a:t>Worked example</a:t>
            </a:r>
            <a:endParaRPr lang="en-US" sz="1500" dirty="0"/>
          </a:p>
        </p:txBody>
      </p:sp>
      <p:sp>
        <p:nvSpPr>
          <p:cNvPr id="19" name="Shape 16"/>
          <p:cNvSpPr/>
          <p:nvPr/>
        </p:nvSpPr>
        <p:spPr>
          <a:xfrm>
            <a:off x="6675120" y="4379976"/>
            <a:ext cx="4946904" cy="1307592"/>
          </a:xfrm>
          <a:prstGeom prst="rect">
            <a:avLst/>
          </a:prstGeom>
          <a:solidFill>
            <a:srgbClr val="F4DDE6"/>
          </a:solidFill>
          <a:ln/>
        </p:spPr>
      </p:sp>
      <p:sp>
        <p:nvSpPr>
          <p:cNvPr id="20" name="Text 17"/>
          <p:cNvSpPr txBox="1"/>
          <p:nvPr/>
        </p:nvSpPr>
        <p:spPr>
          <a:xfrm>
            <a:off x="6876288" y="4480560"/>
            <a:ext cx="4544568" cy="1143000"/>
          </a:xfrm>
          <a:prstGeom prst="rect">
            <a:avLst/>
          </a:prstGeom>
          <a:noFill/>
          <a:ln/>
        </p:spPr>
        <p:txBody>
          <a:bodyPr wrap="square" lIns="0" tIns="0" rIns="0" bIns="0" rtlCol="0" anchor="t"/>
          <a:lstStyle/>
          <a:p>
            <a:pPr marL="0" indent="0">
              <a:lnSpc>
                <a:spcPct val="110000"/>
              </a:lnSpc>
              <a:buNone/>
            </a:pPr>
            <a:r>
              <a:rPr lang="en-US" sz="1150" b="1" dirty="0">
                <a:solidFill>
                  <a:srgbClr val="5C5C5C"/>
                </a:solidFill>
                <a:latin typeface="Calibri" pitchFamily="34" charset="0"/>
                <a:ea typeface="Calibri" pitchFamily="34" charset="-122"/>
                <a:cs typeface="Calibri" pitchFamily="34" charset="-120"/>
              </a:rPr>
              <a:t>in:  </a:t>
            </a:r>
            <a:r>
              <a:rPr lang="en-US" sz="1150" dirty="0">
                <a:solidFill>
                  <a:srgbClr val="000000"/>
                </a:solidFill>
                <a:latin typeface="Calibri" pitchFamily="34" charset="0"/>
                <a:ea typeface="Calibri" pitchFamily="34" charset="-122"/>
                <a:cs typeface="Calibri" pitchFamily="34" charset="-120"/>
              </a:rPr>
              <a:t>so happy today [tears of joy emoji] u cant believe it!!</a:t>
            </a:r>
            <a:endParaRPr lang="en-US" sz="1150" dirty="0"/>
          </a:p>
          <a:p>
            <a:pPr marL="0" indent="0">
              <a:lnSpc>
                <a:spcPct val="110000"/>
              </a:lnSpc>
              <a:buNone/>
            </a:pPr>
            <a:r>
              <a:rPr lang="en-US" sz="1150" b="1" dirty="0">
                <a:solidFill>
                  <a:srgbClr val="0B4F9E"/>
                </a:solidFill>
                <a:latin typeface="Calibri" pitchFamily="34" charset="0"/>
                <a:ea typeface="Calibri" pitchFamily="34" charset="-122"/>
                <a:cs typeface="Calibri" pitchFamily="34" charset="-120"/>
              </a:rPr>
              <a:t>A:   </a:t>
            </a:r>
            <a:r>
              <a:rPr lang="en-US" sz="1150" dirty="0">
                <a:solidFill>
                  <a:srgbClr val="000000"/>
                </a:solidFill>
                <a:latin typeface="Calibri" pitchFamily="34" charset="0"/>
                <a:ea typeface="Calibri" pitchFamily="34" charset="-122"/>
                <a:cs typeface="Calibri" pitchFamily="34" charset="-120"/>
              </a:rPr>
              <a:t>so happy today you cannot believe it</a:t>
            </a:r>
            <a:endParaRPr lang="en-US" sz="1150" dirty="0"/>
          </a:p>
          <a:p>
            <a:pPr marL="0" indent="0">
              <a:lnSpc>
                <a:spcPct val="110000"/>
              </a:lnSpc>
              <a:buNone/>
            </a:pPr>
            <a:r>
              <a:rPr lang="en-US" sz="1150" b="1" dirty="0">
                <a:solidFill>
                  <a:srgbClr val="9A003B"/>
                </a:solidFill>
                <a:latin typeface="Calibri" pitchFamily="34" charset="0"/>
                <a:ea typeface="Calibri" pitchFamily="34" charset="-122"/>
                <a:cs typeface="Calibri" pitchFamily="34" charset="-120"/>
              </a:rPr>
              <a:t>B:   </a:t>
            </a:r>
            <a:r>
              <a:rPr lang="en-US" sz="1150" dirty="0">
                <a:solidFill>
                  <a:srgbClr val="000000"/>
                </a:solidFill>
                <a:latin typeface="Calibri" pitchFamily="34" charset="0"/>
                <a:ea typeface="Calibri" pitchFamily="34" charset="-122"/>
                <a:cs typeface="Calibri" pitchFamily="34" charset="-120"/>
              </a:rPr>
              <a:t>so happy today face with tear of joy you cannot believe it</a:t>
            </a:r>
            <a:endParaRPr lang="en-US" sz="11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1045159"/>
          </a:xfrm>
          <a:prstGeom prst="rect">
            <a:avLst/>
          </a:prstGeom>
          <a:solidFill>
            <a:srgbClr val="9A003B"/>
          </a:solidFill>
          <a:ln w="12700">
            <a:solidFill>
              <a:srgbClr val="9A003B"/>
            </a:solidFill>
            <a:prstDash val="solid"/>
          </a:ln>
        </p:spPr>
      </p:sp>
      <p:sp>
        <p:nvSpPr>
          <p:cNvPr id="3" name="Text 1"/>
          <p:cNvSpPr txBox="1"/>
          <p:nvPr/>
        </p:nvSpPr>
        <p:spPr>
          <a:xfrm>
            <a:off x="228600" y="109728"/>
            <a:ext cx="11704320" cy="825703"/>
          </a:xfrm>
          <a:prstGeom prst="rect">
            <a:avLst/>
          </a:prstGeom>
          <a:noFill/>
          <a:ln/>
        </p:spPr>
        <p:txBody>
          <a:bodyPr wrap="square" lIns="0" tIns="0" rIns="0" bIns="0" rtlCol="0" anchor="ctr"/>
          <a:lstStyle/>
          <a:p>
            <a:pPr marL="0" indent="0">
              <a:lnSpc>
                <a:spcPct val="95000"/>
              </a:lnSpc>
              <a:buNone/>
            </a:pPr>
            <a:r>
              <a:rPr lang="en-US" sz="2500" dirty="0">
                <a:solidFill>
                  <a:srgbClr val="FFFFFF"/>
                </a:solidFill>
                <a:latin typeface="Calibri" pitchFamily="34" charset="0"/>
                <a:ea typeface="Calibri" pitchFamily="34" charset="-122"/>
                <a:cs typeface="Calibri" pitchFamily="34" charset="-120"/>
              </a:rPr>
              <a:t>Implementation: System Architecture &amp; Evidence III</a:t>
            </a:r>
            <a:endParaRPr lang="en-US" sz="2500" dirty="0"/>
          </a:p>
        </p:txBody>
      </p:sp>
      <p:sp>
        <p:nvSpPr>
          <p:cNvPr id="4" name="Text 2"/>
          <p:cNvSpPr txBox="1"/>
          <p:nvPr/>
        </p:nvSpPr>
        <p:spPr>
          <a:xfrm>
            <a:off x="10515600" y="5806440"/>
            <a:ext cx="1463040" cy="749808"/>
          </a:xfrm>
          <a:prstGeom prst="rect">
            <a:avLst/>
          </a:prstGeom>
          <a:noFill/>
          <a:ln/>
        </p:spPr>
        <p:txBody>
          <a:bodyPr wrap="square" lIns="0" tIns="0" rIns="0" bIns="0" rtlCol="0" anchor="b"/>
          <a:lstStyle/>
          <a:p>
            <a:pPr marL="0" indent="0" algn="r">
              <a:lnSpc>
                <a:spcPct val="85000"/>
              </a:lnSpc>
              <a:buNone/>
            </a:pPr>
            <a:r>
              <a:rPr lang="en-US" sz="1150" b="1" dirty="0">
                <a:solidFill>
                  <a:srgbClr val="9A003B"/>
                </a:solidFill>
                <a:latin typeface="Calibri" pitchFamily="34" charset="0"/>
                <a:ea typeface="Calibri" pitchFamily="34" charset="-122"/>
                <a:cs typeface="Calibri" pitchFamily="34" charset="-120"/>
              </a:rPr>
              <a:t>Sheffield</a:t>
            </a:r>
            <a:endParaRPr lang="en-US" sz="1150" dirty="0"/>
          </a:p>
          <a:p>
            <a:pPr marL="0" indent="0" algn="r">
              <a:lnSpc>
                <a:spcPct val="85000"/>
              </a:lnSpc>
              <a:buNone/>
            </a:pPr>
            <a:r>
              <a:rPr lang="en-US" sz="1150" b="1" dirty="0">
                <a:solidFill>
                  <a:srgbClr val="9A003B"/>
                </a:solidFill>
                <a:latin typeface="Calibri" pitchFamily="34" charset="0"/>
                <a:ea typeface="Calibri" pitchFamily="34" charset="-122"/>
                <a:cs typeface="Calibri" pitchFamily="34" charset="-120"/>
              </a:rPr>
              <a:t>Hallam</a:t>
            </a:r>
            <a:endParaRPr lang="en-US" sz="1150" dirty="0"/>
          </a:p>
          <a:p>
            <a:pPr marL="0" indent="0" algn="r">
              <a:lnSpc>
                <a:spcPct val="85000"/>
              </a:lnSpc>
              <a:buNone/>
            </a:pPr>
            <a:r>
              <a:rPr lang="en-US" sz="1150" b="1" dirty="0">
                <a:solidFill>
                  <a:srgbClr val="9A003B"/>
                </a:solidFill>
                <a:latin typeface="Calibri" pitchFamily="34" charset="0"/>
                <a:ea typeface="Calibri" pitchFamily="34" charset="-122"/>
                <a:cs typeface="Calibri" pitchFamily="34" charset="-120"/>
              </a:rPr>
              <a:t>University</a:t>
            </a:r>
            <a:endParaRPr lang="en-US" sz="1150" dirty="0"/>
          </a:p>
        </p:txBody>
      </p:sp>
      <p:sp>
        <p:nvSpPr>
          <p:cNvPr id="5" name="Shape 3"/>
          <p:cNvSpPr/>
          <p:nvPr/>
        </p:nvSpPr>
        <p:spPr>
          <a:xfrm>
            <a:off x="0" y="6624828"/>
            <a:ext cx="4063898" cy="233172"/>
          </a:xfrm>
          <a:prstGeom prst="rect">
            <a:avLst/>
          </a:prstGeom>
          <a:solidFill>
            <a:srgbClr val="4D001E"/>
          </a:solidFill>
          <a:ln w="12700">
            <a:solidFill>
              <a:srgbClr val="4D001E"/>
            </a:solidFill>
            <a:prstDash val="solid"/>
          </a:ln>
        </p:spPr>
      </p:sp>
      <p:sp>
        <p:nvSpPr>
          <p:cNvPr id="6" name="Shape 4"/>
          <p:cNvSpPr/>
          <p:nvPr/>
        </p:nvSpPr>
        <p:spPr>
          <a:xfrm>
            <a:off x="4063898" y="6624828"/>
            <a:ext cx="4063898" cy="233172"/>
          </a:xfrm>
          <a:prstGeom prst="rect">
            <a:avLst/>
          </a:prstGeom>
          <a:solidFill>
            <a:srgbClr val="74002C"/>
          </a:solidFill>
          <a:ln w="12700">
            <a:solidFill>
              <a:srgbClr val="74002C"/>
            </a:solidFill>
            <a:prstDash val="solid"/>
          </a:ln>
        </p:spPr>
      </p:sp>
      <p:sp>
        <p:nvSpPr>
          <p:cNvPr id="7" name="Shape 5"/>
          <p:cNvSpPr/>
          <p:nvPr/>
        </p:nvSpPr>
        <p:spPr>
          <a:xfrm>
            <a:off x="8127797" y="6624828"/>
            <a:ext cx="4063898" cy="233172"/>
          </a:xfrm>
          <a:prstGeom prst="rect">
            <a:avLst/>
          </a:prstGeom>
          <a:solidFill>
            <a:srgbClr val="9A003B"/>
          </a:solidFill>
          <a:ln w="12700">
            <a:solidFill>
              <a:srgbClr val="9A003B"/>
            </a:solidFill>
            <a:prstDash val="solid"/>
          </a:ln>
        </p:spPr>
      </p:sp>
      <p:sp>
        <p:nvSpPr>
          <p:cNvPr id="8" name="Text 6"/>
          <p:cNvSpPr txBox="1"/>
          <p:nvPr/>
        </p:nvSpPr>
        <p:spPr>
          <a:xfrm>
            <a:off x="1143000" y="6624828"/>
            <a:ext cx="2743200" cy="233172"/>
          </a:xfrm>
          <a:prstGeom prst="rect">
            <a:avLst/>
          </a:prstGeom>
          <a:noFill/>
          <a:ln/>
        </p:spPr>
        <p:txBody>
          <a:bodyPr wrap="square" lIns="0" tIns="0" rIns="0" bIns="0" rtlCol="0" anchor="ctr"/>
          <a:lstStyle/>
          <a:p>
            <a:pPr marL="0" indent="0">
              <a:buNone/>
            </a:pPr>
            <a:r>
              <a:rPr lang="en-US" sz="900" dirty="0">
                <a:solidFill>
                  <a:srgbClr val="FFFFFF"/>
                </a:solidFill>
                <a:latin typeface="Calibri" pitchFamily="34" charset="0"/>
                <a:ea typeface="Calibri" pitchFamily="34" charset="-122"/>
                <a:cs typeface="Calibri" pitchFamily="34" charset="-120"/>
              </a:rPr>
              <a:t>[Student Initials]  (SHU)</a:t>
            </a:r>
            <a:endParaRPr lang="en-US" sz="900" dirty="0"/>
          </a:p>
        </p:txBody>
      </p:sp>
      <p:sp>
        <p:nvSpPr>
          <p:cNvPr id="9" name="Text 7"/>
          <p:cNvSpPr txBox="1"/>
          <p:nvPr/>
        </p:nvSpPr>
        <p:spPr>
          <a:xfrm>
            <a:off x="5276088" y="6624828"/>
            <a:ext cx="2743200" cy="233172"/>
          </a:xfrm>
          <a:prstGeom prst="rect">
            <a:avLst/>
          </a:prstGeom>
          <a:noFill/>
          <a:ln/>
        </p:spPr>
        <p:txBody>
          <a:bodyPr wrap="square" lIns="0" tIns="0" rIns="0" bIns="0" rtlCol="0" anchor="ctr"/>
          <a:lstStyle/>
          <a:p>
            <a:pPr marL="0" indent="0">
              <a:buNone/>
            </a:pPr>
            <a:r>
              <a:rPr lang="en-US" sz="900" dirty="0">
                <a:solidFill>
                  <a:srgbClr val="FFFFFF"/>
                </a:solidFill>
                <a:latin typeface="Calibri" pitchFamily="34" charset="0"/>
                <a:ea typeface="Calibri" pitchFamily="34" charset="-122"/>
                <a:cs typeface="Calibri" pitchFamily="34" charset="-120"/>
              </a:rPr>
              <a:t>Does the Emoji Matter?</a:t>
            </a:r>
            <a:endParaRPr lang="en-US" sz="900" dirty="0"/>
          </a:p>
        </p:txBody>
      </p:sp>
      <p:sp>
        <p:nvSpPr>
          <p:cNvPr id="10" name="Text 8"/>
          <p:cNvSpPr txBox="1"/>
          <p:nvPr/>
        </p:nvSpPr>
        <p:spPr>
          <a:xfrm>
            <a:off x="9235440" y="6624828"/>
            <a:ext cx="1645920" cy="233172"/>
          </a:xfrm>
          <a:prstGeom prst="rect">
            <a:avLst/>
          </a:prstGeom>
          <a:noFill/>
          <a:ln/>
        </p:spPr>
        <p:txBody>
          <a:bodyPr wrap="square" lIns="0" tIns="0" rIns="0" bIns="0" rtlCol="0" anchor="ctr"/>
          <a:lstStyle/>
          <a:p>
            <a:pPr marL="0" indent="0">
              <a:buNone/>
            </a:pPr>
            <a:r>
              <a:rPr lang="en-US" sz="900" dirty="0">
                <a:solidFill>
                  <a:srgbClr val="FFFFFF"/>
                </a:solidFill>
                <a:latin typeface="Calibri" pitchFamily="34" charset="0"/>
                <a:ea typeface="Calibri" pitchFamily="34" charset="-122"/>
                <a:cs typeface="Calibri" pitchFamily="34" charset="-120"/>
              </a:rPr>
              <a:t>September 2026</a:t>
            </a:r>
            <a:endParaRPr lang="en-US" sz="900" dirty="0"/>
          </a:p>
        </p:txBody>
      </p:sp>
      <p:sp>
        <p:nvSpPr>
          <p:cNvPr id="11" name="Text 9"/>
          <p:cNvSpPr txBox="1"/>
          <p:nvPr/>
        </p:nvSpPr>
        <p:spPr>
          <a:xfrm>
            <a:off x="10881360" y="6624828"/>
            <a:ext cx="1161288" cy="233172"/>
          </a:xfrm>
          <a:prstGeom prst="rect">
            <a:avLst/>
          </a:prstGeom>
          <a:noFill/>
          <a:ln/>
        </p:spPr>
        <p:txBody>
          <a:bodyPr wrap="square" lIns="0" tIns="0" rIns="0" bIns="0" rtlCol="0" anchor="ctr"/>
          <a:lstStyle/>
          <a:p>
            <a:pPr marL="0" indent="0" algn="r">
              <a:buNone/>
            </a:pPr>
            <a:r>
              <a:rPr lang="en-US" sz="900" dirty="0">
                <a:solidFill>
                  <a:srgbClr val="FFFFFF"/>
                </a:solidFill>
                <a:latin typeface="Calibri" pitchFamily="34" charset="0"/>
                <a:ea typeface="Calibri" pitchFamily="34" charset="-122"/>
                <a:cs typeface="Calibri" pitchFamily="34" charset="-120"/>
              </a:rPr>
              <a:t>21 / 43</a:t>
            </a:r>
            <a:endParaRPr lang="en-US" sz="900" dirty="0"/>
          </a:p>
        </p:txBody>
      </p:sp>
      <p:sp>
        <p:nvSpPr>
          <p:cNvPr id="12" name="Text 10"/>
          <p:cNvSpPr txBox="1"/>
          <p:nvPr/>
        </p:nvSpPr>
        <p:spPr>
          <a:xfrm>
            <a:off x="566928" y="1298448"/>
            <a:ext cx="11055096" cy="274320"/>
          </a:xfrm>
          <a:prstGeom prst="rect">
            <a:avLst/>
          </a:prstGeom>
          <a:noFill/>
          <a:ln/>
        </p:spPr>
        <p:txBody>
          <a:bodyPr wrap="square" lIns="0" tIns="0" rIns="0" bIns="0" rtlCol="0" anchor="t"/>
          <a:lstStyle/>
          <a:p>
            <a:pPr marL="0" indent="0">
              <a:lnSpc>
                <a:spcPct val="106000"/>
              </a:lnSpc>
              <a:buNone/>
            </a:pPr>
            <a:r>
              <a:rPr lang="en-US" sz="1500" b="1" dirty="0">
                <a:solidFill>
                  <a:srgbClr val="000000"/>
                </a:solidFill>
                <a:latin typeface="Calibri" pitchFamily="34" charset="0"/>
                <a:ea typeface="Calibri" pitchFamily="34" charset="-122"/>
                <a:cs typeface="Calibri" pitchFamily="34" charset="-120"/>
              </a:rPr>
              <a:t>Experimental design: four comparable conditions</a:t>
            </a:r>
            <a:endParaRPr lang="en-US" sz="1500" dirty="0"/>
          </a:p>
        </p:txBody>
      </p:sp>
      <p:pic>
        <p:nvPicPr>
          <p:cNvPr id="13" name="Image 0" descr="D:\assigments_7_students\krish\figures\arch_design.png"/>
          <p:cNvPicPr>
            <a:picLocks noChangeAspect="1"/>
          </p:cNvPicPr>
          <p:nvPr/>
        </p:nvPicPr>
        <p:blipFill>
          <a:blip r:embed="rId3"/>
          <a:stretch>
            <a:fillRect/>
          </a:stretch>
        </p:blipFill>
        <p:spPr>
          <a:xfrm>
            <a:off x="566928" y="1664208"/>
            <a:ext cx="6492240" cy="3657600"/>
          </a:xfrm>
          <a:prstGeom prst="rect">
            <a:avLst/>
          </a:prstGeom>
        </p:spPr>
      </p:pic>
      <p:sp>
        <p:nvSpPr>
          <p:cNvPr id="14" name="Text 11"/>
          <p:cNvSpPr txBox="1"/>
          <p:nvPr/>
        </p:nvSpPr>
        <p:spPr>
          <a:xfrm>
            <a:off x="566928" y="5394960"/>
            <a:ext cx="6492240" cy="365760"/>
          </a:xfrm>
          <a:prstGeom prst="rect">
            <a:avLst/>
          </a:prstGeom>
          <a:noFill/>
          <a:ln/>
        </p:spPr>
        <p:txBody>
          <a:bodyPr wrap="square" lIns="0" tIns="0" rIns="0" bIns="0" rtlCol="0" anchor="t"/>
          <a:lstStyle/>
          <a:p>
            <a:pPr marL="0" indent="0" algn="ctr">
              <a:lnSpc>
                <a:spcPct val="100000"/>
              </a:lnSpc>
              <a:buNone/>
            </a:pPr>
            <a:r>
              <a:rPr lang="en-US" sz="1050" dirty="0">
                <a:solidFill>
                  <a:srgbClr val="5C5C5C"/>
                </a:solidFill>
                <a:latin typeface="Calibri" pitchFamily="34" charset="0"/>
                <a:ea typeface="Calibri" pitchFamily="34" charset="-122"/>
                <a:cs typeface="Calibri" pitchFamily="34" charset="-120"/>
              </a:rPr>
              <a:t>Two tracks crossed with two architectures gives four conditions and one difference measure per architecture.</a:t>
            </a:r>
            <a:endParaRPr lang="en-US" sz="1050" dirty="0"/>
          </a:p>
        </p:txBody>
      </p:sp>
      <p:sp>
        <p:nvSpPr>
          <p:cNvPr id="15" name="Shape 12"/>
          <p:cNvSpPr/>
          <p:nvPr/>
        </p:nvSpPr>
        <p:spPr>
          <a:xfrm>
            <a:off x="7360920" y="1664208"/>
            <a:ext cx="4261104" cy="384048"/>
          </a:xfrm>
          <a:prstGeom prst="rect">
            <a:avLst/>
          </a:prstGeom>
          <a:solidFill>
            <a:srgbClr val="2764B4"/>
          </a:solidFill>
          <a:ln w="12700">
            <a:solidFill>
              <a:srgbClr val="2764B4"/>
            </a:solidFill>
            <a:prstDash val="solid"/>
          </a:ln>
        </p:spPr>
      </p:sp>
      <p:sp>
        <p:nvSpPr>
          <p:cNvPr id="16" name="Text 13"/>
          <p:cNvSpPr txBox="1"/>
          <p:nvPr/>
        </p:nvSpPr>
        <p:spPr>
          <a:xfrm>
            <a:off x="7488936" y="1664208"/>
            <a:ext cx="4005072" cy="384048"/>
          </a:xfrm>
          <a:prstGeom prst="rect">
            <a:avLst/>
          </a:prstGeom>
          <a:noFill/>
          <a:ln/>
        </p:spPr>
        <p:txBody>
          <a:bodyPr wrap="square" lIns="0" tIns="0" rIns="0" bIns="0" rtlCol="0" anchor="ctr"/>
          <a:lstStyle/>
          <a:p>
            <a:pPr marL="0" indent="0">
              <a:buNone/>
            </a:pPr>
            <a:r>
              <a:rPr lang="en-US" sz="1500" b="1" dirty="0">
                <a:solidFill>
                  <a:srgbClr val="FFFFFF"/>
                </a:solidFill>
                <a:latin typeface="Calibri" pitchFamily="34" charset="0"/>
                <a:ea typeface="Calibri" pitchFamily="34" charset="-122"/>
                <a:cs typeface="Calibri" pitchFamily="34" charset="-120"/>
              </a:rPr>
              <a:t>Held constant across all four</a:t>
            </a:r>
            <a:endParaRPr lang="en-US" sz="1500" dirty="0"/>
          </a:p>
        </p:txBody>
      </p:sp>
      <p:sp>
        <p:nvSpPr>
          <p:cNvPr id="17" name="Shape 14"/>
          <p:cNvSpPr/>
          <p:nvPr/>
        </p:nvSpPr>
        <p:spPr>
          <a:xfrm>
            <a:off x="7360920" y="2048256"/>
            <a:ext cx="4261104" cy="3593592"/>
          </a:xfrm>
          <a:prstGeom prst="rect">
            <a:avLst/>
          </a:prstGeom>
          <a:solidFill>
            <a:srgbClr val="F4DDE6"/>
          </a:solidFill>
          <a:ln/>
        </p:spPr>
      </p:sp>
      <p:sp>
        <p:nvSpPr>
          <p:cNvPr id="18" name="Text 15"/>
          <p:cNvSpPr txBox="1"/>
          <p:nvPr/>
        </p:nvSpPr>
        <p:spPr>
          <a:xfrm>
            <a:off x="7562088" y="2167128"/>
            <a:ext cx="3858768" cy="3337560"/>
          </a:xfrm>
          <a:prstGeom prst="rect">
            <a:avLst/>
          </a:prstGeom>
          <a:noFill/>
          <a:ln/>
        </p:spPr>
        <p:txBody>
          <a:bodyPr wrap="square" lIns="0" tIns="0" rIns="0" bIns="0" rtlCol="0" anchor="t"/>
          <a:lstStyle/>
          <a:p>
            <a:pPr marL="177800" indent="-177800">
              <a:lnSpc>
                <a:spcPct val="106000"/>
              </a:lnSpc>
              <a:spcAft>
                <a:spcPts val="800"/>
              </a:spcAft>
              <a:buSzPct val="100000"/>
              <a:buChar char="•"/>
            </a:pPr>
            <a:r>
              <a:rPr lang="en-US" sz="1200" dirty="0">
                <a:solidFill>
                  <a:srgbClr val="000000"/>
                </a:solidFill>
                <a:latin typeface="Calibri" pitchFamily="34" charset="0"/>
                <a:ea typeface="Calibri" pitchFamily="34" charset="-122"/>
                <a:cs typeface="Calibri" pitchFamily="34" charset="-120"/>
              </a:rPr>
              <a:t>The same corpus and the same fixed splits</a:t>
            </a:r>
            <a:endParaRPr lang="en-US" sz="1200" dirty="0"/>
          </a:p>
          <a:p>
            <a:pPr marL="177800" indent="-177800">
              <a:lnSpc>
                <a:spcPct val="106000"/>
              </a:lnSpc>
              <a:spcAft>
                <a:spcPts val="800"/>
              </a:spcAft>
              <a:buSzPct val="100000"/>
              <a:buChar char="•"/>
            </a:pPr>
            <a:r>
              <a:rPr lang="en-US" sz="1200" dirty="0">
                <a:solidFill>
                  <a:srgbClr val="000000"/>
                </a:solidFill>
                <a:latin typeface="Calibri" pitchFamily="34" charset="0"/>
                <a:ea typeface="Calibri" pitchFamily="34" charset="-122"/>
                <a:cs typeface="Calibri" pitchFamily="34" charset="-120"/>
              </a:rPr>
              <a:t>The same tokeniser, lemmatiser and 20,000-word vocabulary</a:t>
            </a:r>
            <a:endParaRPr lang="en-US" sz="1200" dirty="0"/>
          </a:p>
          <a:p>
            <a:pPr marL="177800" indent="-177800">
              <a:lnSpc>
                <a:spcPct val="106000"/>
              </a:lnSpc>
              <a:spcAft>
                <a:spcPts val="800"/>
              </a:spcAft>
              <a:buSzPct val="100000"/>
              <a:buChar char="•"/>
            </a:pPr>
            <a:r>
              <a:rPr lang="en-US" sz="1200" dirty="0">
                <a:solidFill>
                  <a:srgbClr val="000000"/>
                </a:solidFill>
                <a:latin typeface="Calibri" pitchFamily="34" charset="0"/>
                <a:ea typeface="Calibri" pitchFamily="34" charset="-122"/>
                <a:cs typeface="Calibri" pitchFamily="34" charset="-120"/>
              </a:rPr>
              <a:t>The same three-configuration tuning grid per condition</a:t>
            </a:r>
            <a:endParaRPr lang="en-US" sz="1200" dirty="0"/>
          </a:p>
          <a:p>
            <a:pPr marL="177800" indent="-177800">
              <a:lnSpc>
                <a:spcPct val="106000"/>
              </a:lnSpc>
              <a:spcAft>
                <a:spcPts val="800"/>
              </a:spcAft>
              <a:buSzPct val="100000"/>
              <a:buChar char="•"/>
            </a:pPr>
            <a:r>
              <a:rPr lang="en-US" sz="1200" dirty="0">
                <a:solidFill>
                  <a:srgbClr val="000000"/>
                </a:solidFill>
                <a:latin typeface="Calibri" pitchFamily="34" charset="0"/>
                <a:ea typeface="Calibri" pitchFamily="34" charset="-122"/>
                <a:cs typeface="Calibri" pitchFamily="34" charset="-120"/>
              </a:rPr>
              <a:t>The same positive-weighted loss for class imbalance</a:t>
            </a:r>
            <a:endParaRPr lang="en-US" sz="1200" dirty="0"/>
          </a:p>
          <a:p>
            <a:pPr marL="177800" indent="-177800">
              <a:lnSpc>
                <a:spcPct val="106000"/>
              </a:lnSpc>
              <a:spcAft>
                <a:spcPts val="800"/>
              </a:spcAft>
              <a:buSzPct val="100000"/>
              <a:buChar char="•"/>
            </a:pPr>
            <a:r>
              <a:rPr lang="en-US" sz="1200" dirty="0">
                <a:solidFill>
                  <a:srgbClr val="000000"/>
                </a:solidFill>
                <a:latin typeface="Calibri" pitchFamily="34" charset="0"/>
                <a:ea typeface="Calibri" pitchFamily="34" charset="-122"/>
                <a:cs typeface="Calibri" pitchFamily="34" charset="-120"/>
              </a:rPr>
              <a:t>The same threshold sweep, 0.10 to 0.55, maximising Micro-F1</a:t>
            </a:r>
            <a:endParaRPr lang="en-US" sz="1200" dirty="0"/>
          </a:p>
          <a:p>
            <a:pPr marL="177800" indent="-177800">
              <a:lnSpc>
                <a:spcPct val="106000"/>
              </a:lnSpc>
              <a:spcAft>
                <a:spcPts val="800"/>
              </a:spcAft>
              <a:buSzPct val="100000"/>
              <a:buChar char="•"/>
            </a:pPr>
            <a:r>
              <a:rPr lang="en-US" sz="1200" dirty="0">
                <a:solidFill>
                  <a:srgbClr val="000000"/>
                </a:solidFill>
                <a:latin typeface="Calibri" pitchFamily="34" charset="0"/>
                <a:ea typeface="Calibri" pitchFamily="34" charset="-122"/>
                <a:cs typeface="Calibri" pitchFamily="34" charset="-120"/>
              </a:rPr>
              <a:t>The same random seed, fixed at 42</a:t>
            </a:r>
            <a:endParaRPr lang="en-US" sz="1200" dirty="0"/>
          </a:p>
          <a:p>
            <a:pPr marL="177800" indent="-177800">
              <a:lnSpc>
                <a:spcPct val="106000"/>
              </a:lnSpc>
              <a:spcAft>
                <a:spcPts val="800"/>
              </a:spcAft>
              <a:buSzPct val="100000"/>
              <a:buChar char="•"/>
            </a:pPr>
            <a:r>
              <a:rPr lang="en-US" sz="1200" dirty="0">
                <a:solidFill>
                  <a:srgbClr val="000000"/>
                </a:solidFill>
                <a:latin typeface="Calibri" pitchFamily="34" charset="0"/>
                <a:ea typeface="Calibri" pitchFamily="34" charset="-122"/>
                <a:cs typeface="Calibri" pitchFamily="34" charset="-120"/>
              </a:rPr>
              <a:t>Only the Stage 2 emoji operation changes, so any difference in score belongs to that step</a:t>
            </a:r>
            <a:endParaRPr lang="en-US" sz="12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1045159"/>
          </a:xfrm>
          <a:prstGeom prst="rect">
            <a:avLst/>
          </a:prstGeom>
          <a:solidFill>
            <a:srgbClr val="9A003B"/>
          </a:solidFill>
          <a:ln w="12700">
            <a:solidFill>
              <a:srgbClr val="9A003B"/>
            </a:solidFill>
            <a:prstDash val="solid"/>
          </a:ln>
        </p:spPr>
      </p:sp>
      <p:sp>
        <p:nvSpPr>
          <p:cNvPr id="3" name="Text 1"/>
          <p:cNvSpPr txBox="1"/>
          <p:nvPr/>
        </p:nvSpPr>
        <p:spPr>
          <a:xfrm>
            <a:off x="228600" y="109728"/>
            <a:ext cx="11704320" cy="825703"/>
          </a:xfrm>
          <a:prstGeom prst="rect">
            <a:avLst/>
          </a:prstGeom>
          <a:noFill/>
          <a:ln/>
        </p:spPr>
        <p:txBody>
          <a:bodyPr wrap="square" lIns="0" tIns="0" rIns="0" bIns="0" rtlCol="0" anchor="ctr"/>
          <a:lstStyle/>
          <a:p>
            <a:pPr marL="0" indent="0">
              <a:lnSpc>
                <a:spcPct val="95000"/>
              </a:lnSpc>
              <a:buNone/>
            </a:pPr>
            <a:r>
              <a:rPr lang="en-US" sz="2500" dirty="0">
                <a:solidFill>
                  <a:srgbClr val="FFFFFF"/>
                </a:solidFill>
                <a:latin typeface="Calibri" pitchFamily="34" charset="0"/>
                <a:ea typeface="Calibri" pitchFamily="34" charset="-122"/>
                <a:cs typeface="Calibri" pitchFamily="34" charset="-120"/>
              </a:rPr>
              <a:t>Implementation: System Architecture &amp; Evidence IV</a:t>
            </a:r>
            <a:endParaRPr lang="en-US" sz="2500" dirty="0"/>
          </a:p>
        </p:txBody>
      </p:sp>
      <p:sp>
        <p:nvSpPr>
          <p:cNvPr id="4" name="Text 2"/>
          <p:cNvSpPr txBox="1"/>
          <p:nvPr/>
        </p:nvSpPr>
        <p:spPr>
          <a:xfrm>
            <a:off x="10515600" y="5806440"/>
            <a:ext cx="1463040" cy="749808"/>
          </a:xfrm>
          <a:prstGeom prst="rect">
            <a:avLst/>
          </a:prstGeom>
          <a:noFill/>
          <a:ln/>
        </p:spPr>
        <p:txBody>
          <a:bodyPr wrap="square" lIns="0" tIns="0" rIns="0" bIns="0" rtlCol="0" anchor="b"/>
          <a:lstStyle/>
          <a:p>
            <a:pPr marL="0" indent="0" algn="r">
              <a:lnSpc>
                <a:spcPct val="85000"/>
              </a:lnSpc>
              <a:buNone/>
            </a:pPr>
            <a:r>
              <a:rPr lang="en-US" sz="1150" b="1" dirty="0">
                <a:solidFill>
                  <a:srgbClr val="9A003B"/>
                </a:solidFill>
                <a:latin typeface="Calibri" pitchFamily="34" charset="0"/>
                <a:ea typeface="Calibri" pitchFamily="34" charset="-122"/>
                <a:cs typeface="Calibri" pitchFamily="34" charset="-120"/>
              </a:rPr>
              <a:t>Sheffield</a:t>
            </a:r>
            <a:endParaRPr lang="en-US" sz="1150" dirty="0"/>
          </a:p>
          <a:p>
            <a:pPr marL="0" indent="0" algn="r">
              <a:lnSpc>
                <a:spcPct val="85000"/>
              </a:lnSpc>
              <a:buNone/>
            </a:pPr>
            <a:r>
              <a:rPr lang="en-US" sz="1150" b="1" dirty="0">
                <a:solidFill>
                  <a:srgbClr val="9A003B"/>
                </a:solidFill>
                <a:latin typeface="Calibri" pitchFamily="34" charset="0"/>
                <a:ea typeface="Calibri" pitchFamily="34" charset="-122"/>
                <a:cs typeface="Calibri" pitchFamily="34" charset="-120"/>
              </a:rPr>
              <a:t>Hallam</a:t>
            </a:r>
            <a:endParaRPr lang="en-US" sz="1150" dirty="0"/>
          </a:p>
          <a:p>
            <a:pPr marL="0" indent="0" algn="r">
              <a:lnSpc>
                <a:spcPct val="85000"/>
              </a:lnSpc>
              <a:buNone/>
            </a:pPr>
            <a:r>
              <a:rPr lang="en-US" sz="1150" b="1" dirty="0">
                <a:solidFill>
                  <a:srgbClr val="9A003B"/>
                </a:solidFill>
                <a:latin typeface="Calibri" pitchFamily="34" charset="0"/>
                <a:ea typeface="Calibri" pitchFamily="34" charset="-122"/>
                <a:cs typeface="Calibri" pitchFamily="34" charset="-120"/>
              </a:rPr>
              <a:t>University</a:t>
            </a:r>
            <a:endParaRPr lang="en-US" sz="1150" dirty="0"/>
          </a:p>
        </p:txBody>
      </p:sp>
      <p:sp>
        <p:nvSpPr>
          <p:cNvPr id="5" name="Shape 3"/>
          <p:cNvSpPr/>
          <p:nvPr/>
        </p:nvSpPr>
        <p:spPr>
          <a:xfrm>
            <a:off x="0" y="6624828"/>
            <a:ext cx="4063898" cy="233172"/>
          </a:xfrm>
          <a:prstGeom prst="rect">
            <a:avLst/>
          </a:prstGeom>
          <a:solidFill>
            <a:srgbClr val="4D001E"/>
          </a:solidFill>
          <a:ln w="12700">
            <a:solidFill>
              <a:srgbClr val="4D001E"/>
            </a:solidFill>
            <a:prstDash val="solid"/>
          </a:ln>
        </p:spPr>
      </p:sp>
      <p:sp>
        <p:nvSpPr>
          <p:cNvPr id="6" name="Shape 4"/>
          <p:cNvSpPr/>
          <p:nvPr/>
        </p:nvSpPr>
        <p:spPr>
          <a:xfrm>
            <a:off x="4063898" y="6624828"/>
            <a:ext cx="4063898" cy="233172"/>
          </a:xfrm>
          <a:prstGeom prst="rect">
            <a:avLst/>
          </a:prstGeom>
          <a:solidFill>
            <a:srgbClr val="74002C"/>
          </a:solidFill>
          <a:ln w="12700">
            <a:solidFill>
              <a:srgbClr val="74002C"/>
            </a:solidFill>
            <a:prstDash val="solid"/>
          </a:ln>
        </p:spPr>
      </p:sp>
      <p:sp>
        <p:nvSpPr>
          <p:cNvPr id="7" name="Shape 5"/>
          <p:cNvSpPr/>
          <p:nvPr/>
        </p:nvSpPr>
        <p:spPr>
          <a:xfrm>
            <a:off x="8127797" y="6624828"/>
            <a:ext cx="4063898" cy="233172"/>
          </a:xfrm>
          <a:prstGeom prst="rect">
            <a:avLst/>
          </a:prstGeom>
          <a:solidFill>
            <a:srgbClr val="9A003B"/>
          </a:solidFill>
          <a:ln w="12700">
            <a:solidFill>
              <a:srgbClr val="9A003B"/>
            </a:solidFill>
            <a:prstDash val="solid"/>
          </a:ln>
        </p:spPr>
      </p:sp>
      <p:sp>
        <p:nvSpPr>
          <p:cNvPr id="8" name="Text 6"/>
          <p:cNvSpPr txBox="1"/>
          <p:nvPr/>
        </p:nvSpPr>
        <p:spPr>
          <a:xfrm>
            <a:off x="1143000" y="6624828"/>
            <a:ext cx="2743200" cy="233172"/>
          </a:xfrm>
          <a:prstGeom prst="rect">
            <a:avLst/>
          </a:prstGeom>
          <a:noFill/>
          <a:ln/>
        </p:spPr>
        <p:txBody>
          <a:bodyPr wrap="square" lIns="0" tIns="0" rIns="0" bIns="0" rtlCol="0" anchor="ctr"/>
          <a:lstStyle/>
          <a:p>
            <a:pPr marL="0" indent="0">
              <a:buNone/>
            </a:pPr>
            <a:r>
              <a:rPr lang="en-US" sz="900" dirty="0">
                <a:solidFill>
                  <a:srgbClr val="FFFFFF"/>
                </a:solidFill>
                <a:latin typeface="Calibri" pitchFamily="34" charset="0"/>
                <a:ea typeface="Calibri" pitchFamily="34" charset="-122"/>
                <a:cs typeface="Calibri" pitchFamily="34" charset="-120"/>
              </a:rPr>
              <a:t>[Student Initials]  (SHU)</a:t>
            </a:r>
            <a:endParaRPr lang="en-US" sz="900" dirty="0"/>
          </a:p>
        </p:txBody>
      </p:sp>
      <p:sp>
        <p:nvSpPr>
          <p:cNvPr id="9" name="Text 7"/>
          <p:cNvSpPr txBox="1"/>
          <p:nvPr/>
        </p:nvSpPr>
        <p:spPr>
          <a:xfrm>
            <a:off x="5276088" y="6624828"/>
            <a:ext cx="2743200" cy="233172"/>
          </a:xfrm>
          <a:prstGeom prst="rect">
            <a:avLst/>
          </a:prstGeom>
          <a:noFill/>
          <a:ln/>
        </p:spPr>
        <p:txBody>
          <a:bodyPr wrap="square" lIns="0" tIns="0" rIns="0" bIns="0" rtlCol="0" anchor="ctr"/>
          <a:lstStyle/>
          <a:p>
            <a:pPr marL="0" indent="0">
              <a:buNone/>
            </a:pPr>
            <a:r>
              <a:rPr lang="en-US" sz="900" dirty="0">
                <a:solidFill>
                  <a:srgbClr val="FFFFFF"/>
                </a:solidFill>
                <a:latin typeface="Calibri" pitchFamily="34" charset="0"/>
                <a:ea typeface="Calibri" pitchFamily="34" charset="-122"/>
                <a:cs typeface="Calibri" pitchFamily="34" charset="-120"/>
              </a:rPr>
              <a:t>Does the Emoji Matter?</a:t>
            </a:r>
            <a:endParaRPr lang="en-US" sz="900" dirty="0"/>
          </a:p>
        </p:txBody>
      </p:sp>
      <p:sp>
        <p:nvSpPr>
          <p:cNvPr id="10" name="Text 8"/>
          <p:cNvSpPr txBox="1"/>
          <p:nvPr/>
        </p:nvSpPr>
        <p:spPr>
          <a:xfrm>
            <a:off x="9235440" y="6624828"/>
            <a:ext cx="1645920" cy="233172"/>
          </a:xfrm>
          <a:prstGeom prst="rect">
            <a:avLst/>
          </a:prstGeom>
          <a:noFill/>
          <a:ln/>
        </p:spPr>
        <p:txBody>
          <a:bodyPr wrap="square" lIns="0" tIns="0" rIns="0" bIns="0" rtlCol="0" anchor="ctr"/>
          <a:lstStyle/>
          <a:p>
            <a:pPr marL="0" indent="0">
              <a:buNone/>
            </a:pPr>
            <a:r>
              <a:rPr lang="en-US" sz="900" dirty="0">
                <a:solidFill>
                  <a:srgbClr val="FFFFFF"/>
                </a:solidFill>
                <a:latin typeface="Calibri" pitchFamily="34" charset="0"/>
                <a:ea typeface="Calibri" pitchFamily="34" charset="-122"/>
                <a:cs typeface="Calibri" pitchFamily="34" charset="-120"/>
              </a:rPr>
              <a:t>September 2026</a:t>
            </a:r>
            <a:endParaRPr lang="en-US" sz="900" dirty="0"/>
          </a:p>
        </p:txBody>
      </p:sp>
      <p:sp>
        <p:nvSpPr>
          <p:cNvPr id="11" name="Text 9"/>
          <p:cNvSpPr txBox="1"/>
          <p:nvPr/>
        </p:nvSpPr>
        <p:spPr>
          <a:xfrm>
            <a:off x="10881360" y="6624828"/>
            <a:ext cx="1161288" cy="233172"/>
          </a:xfrm>
          <a:prstGeom prst="rect">
            <a:avLst/>
          </a:prstGeom>
          <a:noFill/>
          <a:ln/>
        </p:spPr>
        <p:txBody>
          <a:bodyPr wrap="square" lIns="0" tIns="0" rIns="0" bIns="0" rtlCol="0" anchor="ctr"/>
          <a:lstStyle/>
          <a:p>
            <a:pPr marL="0" indent="0" algn="r">
              <a:buNone/>
            </a:pPr>
            <a:r>
              <a:rPr lang="en-US" sz="900" dirty="0">
                <a:solidFill>
                  <a:srgbClr val="FFFFFF"/>
                </a:solidFill>
                <a:latin typeface="Calibri" pitchFamily="34" charset="0"/>
                <a:ea typeface="Calibri" pitchFamily="34" charset="-122"/>
                <a:cs typeface="Calibri" pitchFamily="34" charset="-120"/>
              </a:rPr>
              <a:t>22 / 43</a:t>
            </a:r>
            <a:endParaRPr lang="en-US" sz="900" dirty="0"/>
          </a:p>
        </p:txBody>
      </p:sp>
      <p:sp>
        <p:nvSpPr>
          <p:cNvPr id="12" name="Text 10"/>
          <p:cNvSpPr txBox="1"/>
          <p:nvPr/>
        </p:nvSpPr>
        <p:spPr>
          <a:xfrm>
            <a:off x="566928" y="1298448"/>
            <a:ext cx="5669280" cy="274320"/>
          </a:xfrm>
          <a:prstGeom prst="rect">
            <a:avLst/>
          </a:prstGeom>
          <a:noFill/>
          <a:ln/>
        </p:spPr>
        <p:txBody>
          <a:bodyPr wrap="square" lIns="0" tIns="0" rIns="0" bIns="0" rtlCol="0" anchor="t"/>
          <a:lstStyle/>
          <a:p>
            <a:pPr marL="0" indent="0">
              <a:lnSpc>
                <a:spcPct val="106000"/>
              </a:lnSpc>
              <a:buNone/>
            </a:pPr>
            <a:r>
              <a:rPr lang="en-US" sz="1500" b="1" dirty="0">
                <a:solidFill>
                  <a:srgbClr val="000000"/>
                </a:solidFill>
                <a:latin typeface="Calibri" pitchFamily="34" charset="0"/>
                <a:ea typeface="Calibri" pitchFamily="34" charset="-122"/>
                <a:cs typeface="Calibri" pitchFamily="34" charset="-120"/>
              </a:rPr>
              <a:t>Testing &amp; Validation Framework:</a:t>
            </a:r>
            <a:endParaRPr lang="en-US" sz="1500" dirty="0"/>
          </a:p>
        </p:txBody>
      </p:sp>
      <p:sp>
        <p:nvSpPr>
          <p:cNvPr id="13" name="Text 11"/>
          <p:cNvSpPr txBox="1"/>
          <p:nvPr/>
        </p:nvSpPr>
        <p:spPr>
          <a:xfrm>
            <a:off x="749808" y="1664208"/>
            <a:ext cx="5486400" cy="2194560"/>
          </a:xfrm>
          <a:prstGeom prst="rect">
            <a:avLst/>
          </a:prstGeom>
          <a:noFill/>
          <a:ln/>
        </p:spPr>
        <p:txBody>
          <a:bodyPr wrap="square" lIns="0" tIns="0" rIns="0" bIns="0" rtlCol="0" anchor="t"/>
          <a:lstStyle/>
          <a:p>
            <a:pPr marL="177800" indent="-177800">
              <a:lnSpc>
                <a:spcPct val="106000"/>
              </a:lnSpc>
              <a:spcAft>
                <a:spcPts val="800"/>
              </a:spcAft>
              <a:buSzPct val="100000"/>
              <a:buChar char="•"/>
            </a:pPr>
            <a:r>
              <a:rPr lang="en-US" sz="1300" b="1" dirty="0">
                <a:solidFill>
                  <a:srgbClr val="000000"/>
                </a:solidFill>
                <a:latin typeface="Calibri" pitchFamily="34" charset="0"/>
                <a:ea typeface="Calibri" pitchFamily="34" charset="-122"/>
                <a:cs typeface="Calibri" pitchFamily="34" charset="-120"/>
              </a:rPr>
              <a:t>Unit: </a:t>
            </a:r>
            <a:r>
              <a:rPr lang="en-US" sz="1300" dirty="0">
                <a:solidFill>
                  <a:srgbClr val="000000"/>
                </a:solidFill>
                <a:latin typeface="Calibri" pitchFamily="34" charset="0"/>
                <a:ea typeface="Calibri" pitchFamily="34" charset="-122"/>
                <a:cs typeface="Calibri" pitchFamily="34" charset="-120"/>
              </a:rPr>
              <a:t>functions checked against known outputs, and the whole pipeline against a stored fixture, so training-serving drift is detected.</a:t>
            </a:r>
            <a:endParaRPr lang="en-US" sz="1300" dirty="0"/>
          </a:p>
          <a:p>
            <a:pPr marL="177800" indent="-177800">
              <a:lnSpc>
                <a:spcPct val="106000"/>
              </a:lnSpc>
              <a:spcAft>
                <a:spcPts val="800"/>
              </a:spcAft>
              <a:buSzPct val="100000"/>
              <a:buChar char="•"/>
            </a:pPr>
            <a:r>
              <a:rPr lang="en-US" sz="1300" b="1" dirty="0">
                <a:solidFill>
                  <a:srgbClr val="000000"/>
                </a:solidFill>
                <a:latin typeface="Calibri" pitchFamily="34" charset="0"/>
                <a:ea typeface="Calibri" pitchFamily="34" charset="-122"/>
                <a:cs typeface="Calibri" pitchFamily="34" charset="-120"/>
              </a:rPr>
              <a:t>Integration: </a:t>
            </a:r>
            <a:r>
              <a:rPr lang="en-US" sz="1300" dirty="0">
                <a:solidFill>
                  <a:srgbClr val="000000"/>
                </a:solidFill>
                <a:latin typeface="Calibri" pitchFamily="34" charset="0"/>
                <a:ea typeface="Calibri" pitchFamily="34" charset="-122"/>
                <a:cs typeface="Calibri" pitchFamily="34" charset="-120"/>
              </a:rPr>
              <a:t>raw text to thresholded prediction exercised end to end using stand-in models before the real ones existed.</a:t>
            </a:r>
            <a:endParaRPr lang="en-US" sz="1300" dirty="0"/>
          </a:p>
          <a:p>
            <a:pPr marL="177800" indent="-177800">
              <a:lnSpc>
                <a:spcPct val="106000"/>
              </a:lnSpc>
              <a:spcAft>
                <a:spcPts val="800"/>
              </a:spcAft>
              <a:buSzPct val="100000"/>
              <a:buChar char="•"/>
            </a:pPr>
            <a:r>
              <a:rPr lang="en-US" sz="1300" b="1" dirty="0">
                <a:solidFill>
                  <a:srgbClr val="000000"/>
                </a:solidFill>
                <a:latin typeface="Calibri" pitchFamily="34" charset="0"/>
                <a:ea typeface="Calibri" pitchFamily="34" charset="-122"/>
                <a:cs typeface="Calibri" pitchFamily="34" charset="-120"/>
              </a:rPr>
              <a:t>System: </a:t>
            </a:r>
            <a:r>
              <a:rPr lang="en-US" sz="1300" dirty="0">
                <a:solidFill>
                  <a:srgbClr val="000000"/>
                </a:solidFill>
                <a:latin typeface="Calibri" pitchFamily="34" charset="0"/>
                <a:ea typeface="Calibri" pitchFamily="34" charset="-122"/>
                <a:cs typeface="Calibri" pitchFamily="34" charset="-120"/>
              </a:rPr>
              <a:t>all four notebooks executed in order on the real corpus; row counts, label ranges and artefact writes all matched.</a:t>
            </a:r>
            <a:endParaRPr lang="en-US" sz="1300" dirty="0"/>
          </a:p>
          <a:p>
            <a:pPr marL="177800" indent="-177800">
              <a:lnSpc>
                <a:spcPct val="106000"/>
              </a:lnSpc>
              <a:spcAft>
                <a:spcPts val="800"/>
              </a:spcAft>
              <a:buSzPct val="100000"/>
              <a:buChar char="•"/>
            </a:pPr>
            <a:r>
              <a:rPr lang="en-US" sz="1300" b="1" dirty="0">
                <a:solidFill>
                  <a:srgbClr val="000000"/>
                </a:solidFill>
                <a:latin typeface="Calibri" pitchFamily="34" charset="0"/>
                <a:ea typeface="Calibri" pitchFamily="34" charset="-122"/>
                <a:cs typeface="Calibri" pitchFamily="34" charset="-120"/>
              </a:rPr>
              <a:t>Acceptance: </a:t>
            </a:r>
            <a:r>
              <a:rPr lang="en-US" sz="1300" dirty="0">
                <a:solidFill>
                  <a:srgbClr val="000000"/>
                </a:solidFill>
                <a:latin typeface="Calibri" pitchFamily="34" charset="0"/>
                <a:ea typeface="Calibri" pitchFamily="34" charset="-122"/>
                <a:cs typeface="Calibri" pitchFamily="34" charset="-120"/>
              </a:rPr>
              <a:t>the application driven through every page against four acceptance criteria. All four held.</a:t>
            </a:r>
            <a:endParaRPr lang="en-US" sz="1300" dirty="0"/>
          </a:p>
        </p:txBody>
      </p:sp>
      <p:sp>
        <p:nvSpPr>
          <p:cNvPr id="14" name="Shape 12"/>
          <p:cNvSpPr/>
          <p:nvPr/>
        </p:nvSpPr>
        <p:spPr>
          <a:xfrm>
            <a:off x="566928" y="3995928"/>
            <a:ext cx="5669280" cy="384048"/>
          </a:xfrm>
          <a:prstGeom prst="rect">
            <a:avLst/>
          </a:prstGeom>
          <a:solidFill>
            <a:srgbClr val="2764B4"/>
          </a:solidFill>
          <a:ln w="12700">
            <a:solidFill>
              <a:srgbClr val="2764B4"/>
            </a:solidFill>
            <a:prstDash val="solid"/>
          </a:ln>
        </p:spPr>
      </p:sp>
      <p:sp>
        <p:nvSpPr>
          <p:cNvPr id="15" name="Text 13"/>
          <p:cNvSpPr txBox="1"/>
          <p:nvPr/>
        </p:nvSpPr>
        <p:spPr>
          <a:xfrm>
            <a:off x="694944" y="3995928"/>
            <a:ext cx="5413248" cy="384048"/>
          </a:xfrm>
          <a:prstGeom prst="rect">
            <a:avLst/>
          </a:prstGeom>
          <a:noFill/>
          <a:ln/>
        </p:spPr>
        <p:txBody>
          <a:bodyPr wrap="square" lIns="0" tIns="0" rIns="0" bIns="0" rtlCol="0" anchor="ctr"/>
          <a:lstStyle/>
          <a:p>
            <a:pPr marL="0" indent="0">
              <a:buNone/>
            </a:pPr>
            <a:r>
              <a:rPr lang="en-US" sz="1500" b="1" dirty="0">
                <a:solidFill>
                  <a:srgbClr val="FFFFFF"/>
                </a:solidFill>
                <a:latin typeface="Calibri" pitchFamily="34" charset="0"/>
                <a:ea typeface="Calibri" pitchFamily="34" charset="-122"/>
                <a:cs typeface="Calibri" pitchFamily="34" charset="-120"/>
              </a:rPr>
              <a:t>Outcome</a:t>
            </a:r>
            <a:endParaRPr lang="en-US" sz="1500" dirty="0"/>
          </a:p>
        </p:txBody>
      </p:sp>
      <p:sp>
        <p:nvSpPr>
          <p:cNvPr id="16" name="Shape 14"/>
          <p:cNvSpPr/>
          <p:nvPr/>
        </p:nvSpPr>
        <p:spPr>
          <a:xfrm>
            <a:off x="566928" y="4379976"/>
            <a:ext cx="5669280" cy="1353312"/>
          </a:xfrm>
          <a:prstGeom prst="rect">
            <a:avLst/>
          </a:prstGeom>
          <a:solidFill>
            <a:srgbClr val="F4DDE6"/>
          </a:solidFill>
          <a:ln/>
        </p:spPr>
      </p:sp>
      <p:sp>
        <p:nvSpPr>
          <p:cNvPr id="17" name="Text 15"/>
          <p:cNvSpPr txBox="1"/>
          <p:nvPr/>
        </p:nvSpPr>
        <p:spPr>
          <a:xfrm>
            <a:off x="768096" y="4498848"/>
            <a:ext cx="5266944" cy="1143000"/>
          </a:xfrm>
          <a:prstGeom prst="rect">
            <a:avLst/>
          </a:prstGeom>
          <a:noFill/>
          <a:ln/>
        </p:spPr>
        <p:txBody>
          <a:bodyPr wrap="square" lIns="0" tIns="0" rIns="0" bIns="0" rtlCol="0" anchor="t"/>
          <a:lstStyle/>
          <a:p>
            <a:pPr marL="177800" indent="-177800">
              <a:lnSpc>
                <a:spcPct val="106000"/>
              </a:lnSpc>
              <a:spcAft>
                <a:spcPts val="800"/>
              </a:spcAft>
              <a:buSzPct val="100000"/>
              <a:buChar char="•"/>
            </a:pPr>
            <a:r>
              <a:rPr lang="en-US" sz="1250" dirty="0">
                <a:solidFill>
                  <a:srgbClr val="000000"/>
                </a:solidFill>
                <a:latin typeface="Calibri" pitchFamily="34" charset="0"/>
                <a:ea typeface="Calibri" pitchFamily="34" charset="-122"/>
                <a:cs typeface="Calibri" pitchFamily="34" charset="-120"/>
              </a:rPr>
              <a:t>Twelve system test cases, all passed</a:t>
            </a:r>
            <a:endParaRPr lang="en-US" sz="1250" dirty="0"/>
          </a:p>
          <a:p>
            <a:pPr marL="177800" indent="-177800">
              <a:lnSpc>
                <a:spcPct val="106000"/>
              </a:lnSpc>
              <a:spcAft>
                <a:spcPts val="800"/>
              </a:spcAft>
              <a:buSzPct val="100000"/>
              <a:buChar char="•"/>
            </a:pPr>
            <a:r>
              <a:rPr lang="en-US" sz="1250" dirty="0">
                <a:solidFill>
                  <a:srgbClr val="000000"/>
                </a:solidFill>
                <a:latin typeface="Calibri" pitchFamily="34" charset="0"/>
                <a:ea typeface="Calibri" pitchFamily="34" charset="-122"/>
                <a:cs typeface="Calibri" pitchFamily="34" charset="-120"/>
              </a:rPr>
              <a:t>Two defects found in integration testing, both fixed and retested: an unsupported text input type, and an undefined model output when emoji-only input left Track A empty</a:t>
            </a:r>
            <a:endParaRPr lang="en-US" sz="1250" dirty="0"/>
          </a:p>
        </p:txBody>
      </p:sp>
      <p:sp>
        <p:nvSpPr>
          <p:cNvPr id="18" name="Text 16"/>
          <p:cNvSpPr txBox="1"/>
          <p:nvPr/>
        </p:nvSpPr>
        <p:spPr>
          <a:xfrm>
            <a:off x="6400800" y="1298448"/>
            <a:ext cx="5221224" cy="274320"/>
          </a:xfrm>
          <a:prstGeom prst="rect">
            <a:avLst/>
          </a:prstGeom>
          <a:noFill/>
          <a:ln/>
        </p:spPr>
        <p:txBody>
          <a:bodyPr wrap="square" lIns="0" tIns="0" rIns="0" bIns="0" rtlCol="0" anchor="t"/>
          <a:lstStyle/>
          <a:p>
            <a:pPr marL="0" indent="0">
              <a:lnSpc>
                <a:spcPct val="106000"/>
              </a:lnSpc>
              <a:buNone/>
            </a:pPr>
            <a:r>
              <a:rPr lang="en-US" sz="1500" b="1" dirty="0">
                <a:solidFill>
                  <a:srgbClr val="000000"/>
                </a:solidFill>
                <a:latin typeface="Calibri" pitchFamily="34" charset="0"/>
                <a:ea typeface="Calibri" pitchFamily="34" charset="-122"/>
                <a:cs typeface="Calibri" pitchFamily="34" charset="-120"/>
              </a:rPr>
              <a:t>Selected test cases and Gantt actuals:</a:t>
            </a:r>
            <a:endParaRPr lang="en-US" sz="1500" dirty="0"/>
          </a:p>
        </p:txBody>
      </p:sp>
      <p:graphicFrame>
        <p:nvGraphicFramePr>
          <p:cNvPr id="23" name="Table 0"/>
          <p:cNvGraphicFramePr>
            <a:graphicFrameLocks noGrp="1"/>
          </p:cNvGraphicFramePr>
          <p:nvPr>
            <p:extLst>
              <p:ext uri="{D42A27DB-BD31-4B8C-83A1-F6EECF244321}">
                <p14:modId xmlns:p14="http://schemas.microsoft.com/office/powerpoint/2010/main" val="1579011935"/>
              </p:ext>
            </p:extLst>
          </p:nvPr>
        </p:nvGraphicFramePr>
        <p:xfrm>
          <a:off x="6400800" y="1664208"/>
          <a:ext cx="5221224" cy="2194560"/>
        </p:xfrm>
        <a:graphic>
          <a:graphicData uri="http://schemas.openxmlformats.org/drawingml/2006/table">
            <a:tbl>
              <a:tblPr/>
              <a:tblGrid>
                <a:gridCol w="502920">
                  <a:extLst>
                    <a:ext uri="{9D8B030D-6E8A-4147-A177-3AD203B41FA5}">
                      <a16:colId xmlns:a16="http://schemas.microsoft.com/office/drawing/2014/main" val="20000"/>
                    </a:ext>
                  </a:extLst>
                </a:gridCol>
                <a:gridCol w="2331720">
                  <a:extLst>
                    <a:ext uri="{9D8B030D-6E8A-4147-A177-3AD203B41FA5}">
                      <a16:colId xmlns:a16="http://schemas.microsoft.com/office/drawing/2014/main" val="20001"/>
                    </a:ext>
                  </a:extLst>
                </a:gridCol>
                <a:gridCol w="1645920">
                  <a:extLst>
                    <a:ext uri="{9D8B030D-6E8A-4147-A177-3AD203B41FA5}">
                      <a16:colId xmlns:a16="http://schemas.microsoft.com/office/drawing/2014/main" val="20002"/>
                    </a:ext>
                  </a:extLst>
                </a:gridCol>
                <a:gridCol w="740664">
                  <a:extLst>
                    <a:ext uri="{9D8B030D-6E8A-4147-A177-3AD203B41FA5}">
                      <a16:colId xmlns:a16="http://schemas.microsoft.com/office/drawing/2014/main" val="20003"/>
                    </a:ext>
                  </a:extLst>
                </a:gridCol>
              </a:tblGrid>
              <a:tr h="438912">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ID</a:t>
                      </a:r>
                      <a:endParaRPr lang="en-US" sz="1200" dirty="0">
                        <a:latin typeface="Calibri" charset="0"/>
                        <a:ea typeface="Calibri" charset="0"/>
                        <a:cs typeface="Calibri" charset="0"/>
                      </a:endParaRPr>
                    </a:p>
                  </a:txBody>
                  <a:tcPr anchor="ctr">
                    <a:lnL w="9525" cap="flat" cmpd="sng" algn="ctr">
                      <a:solidFill>
                        <a:srgbClr val="C9CDD4"/>
                      </a:solidFill>
                      <a:prstDash val="solid"/>
                      <a:round/>
                      <a:headEnd type="none" w="med" len="med"/>
                      <a:tailEnd type="none" w="med" len="med"/>
                    </a:lnL>
                    <a:lnR w="9525" cap="flat" cmpd="sng" algn="ctr">
                      <a:solidFill>
                        <a:srgbClr val="C9CDD4"/>
                      </a:solidFill>
                      <a:prstDash val="solid"/>
                      <a:round/>
                      <a:headEnd type="none" w="med" len="med"/>
                      <a:tailEnd type="none" w="med" len="med"/>
                    </a:lnR>
                    <a:lnT w="9525" cap="flat" cmpd="sng" algn="ctr">
                      <a:solidFill>
                        <a:srgbClr val="C9CDD4"/>
                      </a:solidFill>
                      <a:prstDash val="solid"/>
                      <a:round/>
                      <a:headEnd type="none" w="med" len="med"/>
                      <a:tailEnd type="none" w="med" len="med"/>
                    </a:lnT>
                    <a:lnB w="9525" cap="flat" cmpd="sng" algn="ctr">
                      <a:solidFill>
                        <a:srgbClr val="C9CDD4"/>
                      </a:solidFill>
                      <a:prstDash val="solid"/>
                      <a:round/>
                      <a:headEnd type="none" w="med" len="med"/>
                      <a:tailEnd type="none" w="med" len="med"/>
                    </a:lnB>
                    <a:solidFill>
                      <a:srgbClr val="9A003B"/>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Test</a:t>
                      </a:r>
                      <a:endParaRPr lang="en-US" sz="1200" dirty="0">
                        <a:latin typeface="Calibri" charset="0"/>
                        <a:ea typeface="Calibri" charset="0"/>
                        <a:cs typeface="Calibri" charset="0"/>
                      </a:endParaRPr>
                    </a:p>
                  </a:txBody>
                  <a:tcPr anchor="ctr">
                    <a:lnL w="9525" cap="flat" cmpd="sng" algn="ctr">
                      <a:solidFill>
                        <a:srgbClr val="C9CDD4"/>
                      </a:solidFill>
                      <a:prstDash val="solid"/>
                      <a:round/>
                      <a:headEnd type="none" w="med" len="med"/>
                      <a:tailEnd type="none" w="med" len="med"/>
                    </a:lnL>
                    <a:lnR w="9525" cap="flat" cmpd="sng" algn="ctr">
                      <a:solidFill>
                        <a:srgbClr val="C9CDD4"/>
                      </a:solidFill>
                      <a:prstDash val="solid"/>
                      <a:round/>
                      <a:headEnd type="none" w="med" len="med"/>
                      <a:tailEnd type="none" w="med" len="med"/>
                    </a:lnR>
                    <a:lnT w="9525" cap="flat" cmpd="sng" algn="ctr">
                      <a:solidFill>
                        <a:srgbClr val="C9CDD4"/>
                      </a:solidFill>
                      <a:prstDash val="solid"/>
                      <a:round/>
                      <a:headEnd type="none" w="med" len="med"/>
                      <a:tailEnd type="none" w="med" len="med"/>
                    </a:lnT>
                    <a:lnB w="9525" cap="flat" cmpd="sng" algn="ctr">
                      <a:solidFill>
                        <a:srgbClr val="C9CDD4"/>
                      </a:solidFill>
                      <a:prstDash val="solid"/>
                      <a:round/>
                      <a:headEnd type="none" w="med" len="med"/>
                      <a:tailEnd type="none" w="med" len="med"/>
                    </a:lnB>
                    <a:solidFill>
                      <a:srgbClr val="9A003B"/>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Actual</a:t>
                      </a:r>
                      <a:endParaRPr lang="en-US" sz="1200" dirty="0">
                        <a:latin typeface="Calibri" charset="0"/>
                        <a:ea typeface="Calibri" charset="0"/>
                        <a:cs typeface="Calibri" charset="0"/>
                      </a:endParaRPr>
                    </a:p>
                  </a:txBody>
                  <a:tcPr anchor="ctr">
                    <a:lnL w="9525" cap="flat" cmpd="sng" algn="ctr">
                      <a:solidFill>
                        <a:srgbClr val="C9CDD4"/>
                      </a:solidFill>
                      <a:prstDash val="solid"/>
                      <a:round/>
                      <a:headEnd type="none" w="med" len="med"/>
                      <a:tailEnd type="none" w="med" len="med"/>
                    </a:lnL>
                    <a:lnR w="9525" cap="flat" cmpd="sng" algn="ctr">
                      <a:solidFill>
                        <a:srgbClr val="C9CDD4"/>
                      </a:solidFill>
                      <a:prstDash val="solid"/>
                      <a:round/>
                      <a:headEnd type="none" w="med" len="med"/>
                      <a:tailEnd type="none" w="med" len="med"/>
                    </a:lnR>
                    <a:lnT w="9525" cap="flat" cmpd="sng" algn="ctr">
                      <a:solidFill>
                        <a:srgbClr val="C9CDD4"/>
                      </a:solidFill>
                      <a:prstDash val="solid"/>
                      <a:round/>
                      <a:headEnd type="none" w="med" len="med"/>
                      <a:tailEnd type="none" w="med" len="med"/>
                    </a:lnT>
                    <a:lnB w="9525" cap="flat" cmpd="sng" algn="ctr">
                      <a:solidFill>
                        <a:srgbClr val="C9CDD4"/>
                      </a:solidFill>
                      <a:prstDash val="solid"/>
                      <a:round/>
                      <a:headEnd type="none" w="med" len="med"/>
                      <a:tailEnd type="none" w="med" len="med"/>
                    </a:lnB>
                    <a:solidFill>
                      <a:srgbClr val="9A003B"/>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Result</a:t>
                      </a:r>
                      <a:endParaRPr lang="en-US" sz="1200" dirty="0">
                        <a:latin typeface="Calibri" charset="0"/>
                        <a:ea typeface="Calibri" charset="0"/>
                        <a:cs typeface="Calibri" charset="0"/>
                      </a:endParaRPr>
                    </a:p>
                  </a:txBody>
                  <a:tcPr anchor="ctr">
                    <a:lnL w="9525" cap="flat" cmpd="sng" algn="ctr">
                      <a:solidFill>
                        <a:srgbClr val="C9CDD4"/>
                      </a:solidFill>
                      <a:prstDash val="solid"/>
                      <a:round/>
                      <a:headEnd type="none" w="med" len="med"/>
                      <a:tailEnd type="none" w="med" len="med"/>
                    </a:lnL>
                    <a:lnR w="9525" cap="flat" cmpd="sng" algn="ctr">
                      <a:solidFill>
                        <a:srgbClr val="C9CDD4"/>
                      </a:solidFill>
                      <a:prstDash val="solid"/>
                      <a:round/>
                      <a:headEnd type="none" w="med" len="med"/>
                      <a:tailEnd type="none" w="med" len="med"/>
                    </a:lnR>
                    <a:lnT w="9525" cap="flat" cmpd="sng" algn="ctr">
                      <a:solidFill>
                        <a:srgbClr val="C9CDD4"/>
                      </a:solidFill>
                      <a:prstDash val="solid"/>
                      <a:round/>
                      <a:headEnd type="none" w="med" len="med"/>
                      <a:tailEnd type="none" w="med" len="med"/>
                    </a:lnT>
                    <a:lnB w="9525" cap="flat" cmpd="sng" algn="ctr">
                      <a:solidFill>
                        <a:srgbClr val="C9CDD4"/>
                      </a:solidFill>
                      <a:prstDash val="solid"/>
                      <a:round/>
                      <a:headEnd type="none" w="med" len="med"/>
                      <a:tailEnd type="none" w="med" len="med"/>
                    </a:lnB>
                    <a:solidFill>
                      <a:srgbClr val="9A003B"/>
                    </a:solidFill>
                  </a:tcPr>
                </a:tc>
                <a:extLst>
                  <a:ext uri="{0D108BD9-81ED-4DB2-BD59-A6C34878D82A}">
                    <a16:rowId xmlns:a16="http://schemas.microsoft.com/office/drawing/2014/main" val="10000"/>
                  </a:ext>
                </a:extLst>
              </a:tr>
              <a:tr h="438912">
                <a:tc>
                  <a:txBody>
                    <a:bodyPr/>
                    <a:lstStyle/>
                    <a:p>
                      <a:pPr marL="0" indent="0">
                        <a:buNone/>
                      </a:pPr>
                      <a:r>
                        <a:rPr lang="en-US" sz="1050" dirty="0">
                          <a:solidFill>
                            <a:srgbClr val="000000"/>
                          </a:solidFill>
                          <a:latin typeface="Calibri" pitchFamily="34" charset="0"/>
                          <a:ea typeface="Calibri" pitchFamily="34" charset="-122"/>
                          <a:cs typeface="Calibri" pitchFamily="34" charset="-120"/>
                        </a:rPr>
                        <a:t>TC2</a:t>
                      </a:r>
                      <a:endParaRPr lang="en-US" sz="1050" dirty="0">
                        <a:latin typeface="Calibri" charset="0"/>
                        <a:ea typeface="Calibri" charset="0"/>
                        <a:cs typeface="Calibri" charset="0"/>
                      </a:endParaRPr>
                    </a:p>
                  </a:txBody>
                  <a:tcPr anchor="ctr">
                    <a:lnL w="9525" cap="flat" cmpd="sng" algn="ctr">
                      <a:solidFill>
                        <a:srgbClr val="C9CDD4"/>
                      </a:solidFill>
                      <a:prstDash val="solid"/>
                      <a:round/>
                      <a:headEnd type="none" w="med" len="med"/>
                      <a:tailEnd type="none" w="med" len="med"/>
                    </a:lnL>
                    <a:lnR w="9525" cap="flat" cmpd="sng" algn="ctr">
                      <a:solidFill>
                        <a:srgbClr val="C9CDD4"/>
                      </a:solidFill>
                      <a:prstDash val="solid"/>
                      <a:round/>
                      <a:headEnd type="none" w="med" len="med"/>
                      <a:tailEnd type="none" w="med" len="med"/>
                    </a:lnR>
                    <a:lnT w="9525" cap="flat" cmpd="sng" algn="ctr">
                      <a:solidFill>
                        <a:srgbClr val="C9CDD4"/>
                      </a:solidFill>
                      <a:prstDash val="solid"/>
                      <a:round/>
                      <a:headEnd type="none" w="med" len="med"/>
                      <a:tailEnd type="none" w="med" len="med"/>
                    </a:lnT>
                    <a:lnB w="9525" cap="flat" cmpd="sng" algn="ctr">
                      <a:solidFill>
                        <a:srgbClr val="C9CDD4"/>
                      </a:solidFill>
                      <a:prstDash val="solid"/>
                      <a:round/>
                      <a:headEnd type="none" w="med" len="med"/>
                      <a:tailEnd type="none" w="med" len="med"/>
                    </a:lnB>
                  </a:tcPr>
                </a:tc>
                <a:tc>
                  <a:txBody>
                    <a:bodyPr/>
                    <a:lstStyle/>
                    <a:p>
                      <a:pPr marL="0" indent="0">
                        <a:buNone/>
                      </a:pPr>
                      <a:r>
                        <a:rPr lang="en-US" sz="1050" dirty="0">
                          <a:solidFill>
                            <a:srgbClr val="000000"/>
                          </a:solidFill>
                          <a:latin typeface="Calibri" pitchFamily="34" charset="0"/>
                          <a:ea typeface="Calibri" pitchFamily="34" charset="-122"/>
                          <a:cs typeface="Calibri" pitchFamily="34" charset="-120"/>
                        </a:rPr>
                        <a:t>Pipeline matches the training definition</a:t>
                      </a:r>
                      <a:endParaRPr lang="en-US" sz="1050" dirty="0">
                        <a:latin typeface="Calibri" charset="0"/>
                        <a:ea typeface="Calibri" charset="0"/>
                        <a:cs typeface="Calibri" charset="0"/>
                      </a:endParaRPr>
                    </a:p>
                  </a:txBody>
                  <a:tcPr anchor="ctr">
                    <a:lnL w="9525" cap="flat" cmpd="sng" algn="ctr">
                      <a:solidFill>
                        <a:srgbClr val="C9CDD4"/>
                      </a:solidFill>
                      <a:prstDash val="solid"/>
                      <a:round/>
                      <a:headEnd type="none" w="med" len="med"/>
                      <a:tailEnd type="none" w="med" len="med"/>
                    </a:lnL>
                    <a:lnR w="9525" cap="flat" cmpd="sng" algn="ctr">
                      <a:solidFill>
                        <a:srgbClr val="C9CDD4"/>
                      </a:solidFill>
                      <a:prstDash val="solid"/>
                      <a:round/>
                      <a:headEnd type="none" w="med" len="med"/>
                      <a:tailEnd type="none" w="med" len="med"/>
                    </a:lnR>
                    <a:lnT w="9525" cap="flat" cmpd="sng" algn="ctr">
                      <a:solidFill>
                        <a:srgbClr val="C9CDD4"/>
                      </a:solidFill>
                      <a:prstDash val="solid"/>
                      <a:round/>
                      <a:headEnd type="none" w="med" len="med"/>
                      <a:tailEnd type="none" w="med" len="med"/>
                    </a:lnT>
                    <a:lnB w="9525" cap="flat" cmpd="sng" algn="ctr">
                      <a:solidFill>
                        <a:srgbClr val="C9CDD4"/>
                      </a:solidFill>
                      <a:prstDash val="solid"/>
                      <a:round/>
                      <a:headEnd type="none" w="med" len="med"/>
                      <a:tailEnd type="none" w="med" len="med"/>
                    </a:lnB>
                  </a:tcPr>
                </a:tc>
                <a:tc>
                  <a:txBody>
                    <a:bodyPr/>
                    <a:lstStyle/>
                    <a:p>
                      <a:pPr marL="0" indent="0">
                        <a:buNone/>
                      </a:pPr>
                      <a:r>
                        <a:rPr lang="en-US" sz="1050" dirty="0">
                          <a:solidFill>
                            <a:srgbClr val="000000"/>
                          </a:solidFill>
                          <a:latin typeface="Calibri" pitchFamily="34" charset="0"/>
                          <a:ea typeface="Calibri" pitchFamily="34" charset="-122"/>
                          <a:cs typeface="Calibri" pitchFamily="34" charset="-120"/>
                        </a:rPr>
                        <a:t>Matched fixture exactly</a:t>
                      </a:r>
                      <a:endParaRPr lang="en-US" sz="1050" dirty="0">
                        <a:latin typeface="Calibri" charset="0"/>
                        <a:ea typeface="Calibri" charset="0"/>
                        <a:cs typeface="Calibri" charset="0"/>
                      </a:endParaRPr>
                    </a:p>
                  </a:txBody>
                  <a:tcPr anchor="ctr">
                    <a:lnL w="9525" cap="flat" cmpd="sng" algn="ctr">
                      <a:solidFill>
                        <a:srgbClr val="C9CDD4"/>
                      </a:solidFill>
                      <a:prstDash val="solid"/>
                      <a:round/>
                      <a:headEnd type="none" w="med" len="med"/>
                      <a:tailEnd type="none" w="med" len="med"/>
                    </a:lnL>
                    <a:lnR w="9525" cap="flat" cmpd="sng" algn="ctr">
                      <a:solidFill>
                        <a:srgbClr val="C9CDD4"/>
                      </a:solidFill>
                      <a:prstDash val="solid"/>
                      <a:round/>
                      <a:headEnd type="none" w="med" len="med"/>
                      <a:tailEnd type="none" w="med" len="med"/>
                    </a:lnR>
                    <a:lnT w="9525" cap="flat" cmpd="sng" algn="ctr">
                      <a:solidFill>
                        <a:srgbClr val="C9CDD4"/>
                      </a:solidFill>
                      <a:prstDash val="solid"/>
                      <a:round/>
                      <a:headEnd type="none" w="med" len="med"/>
                      <a:tailEnd type="none" w="med" len="med"/>
                    </a:lnT>
                    <a:lnB w="9525" cap="flat" cmpd="sng" algn="ctr">
                      <a:solidFill>
                        <a:srgbClr val="C9CDD4"/>
                      </a:solidFill>
                      <a:prstDash val="solid"/>
                      <a:round/>
                      <a:headEnd type="none" w="med" len="med"/>
                      <a:tailEnd type="none" w="med" len="med"/>
                    </a:lnB>
                  </a:tcPr>
                </a:tc>
                <a:tc>
                  <a:txBody>
                    <a:bodyPr/>
                    <a:lstStyle/>
                    <a:p>
                      <a:pPr marL="0" indent="0">
                        <a:buNone/>
                      </a:pPr>
                      <a:r>
                        <a:rPr lang="en-US" sz="1050" dirty="0">
                          <a:solidFill>
                            <a:srgbClr val="000000"/>
                          </a:solidFill>
                          <a:latin typeface="Calibri" pitchFamily="34" charset="0"/>
                          <a:ea typeface="Calibri" pitchFamily="34" charset="-122"/>
                          <a:cs typeface="Calibri" pitchFamily="34" charset="-120"/>
                        </a:rPr>
                        <a:t>Pass</a:t>
                      </a:r>
                      <a:endParaRPr lang="en-US" sz="1050" dirty="0">
                        <a:latin typeface="Calibri" charset="0"/>
                        <a:ea typeface="Calibri" charset="0"/>
                        <a:cs typeface="Calibri" charset="0"/>
                      </a:endParaRPr>
                    </a:p>
                  </a:txBody>
                  <a:tcPr anchor="ctr">
                    <a:lnL w="9525" cap="flat" cmpd="sng" algn="ctr">
                      <a:solidFill>
                        <a:srgbClr val="C9CDD4"/>
                      </a:solidFill>
                      <a:prstDash val="solid"/>
                      <a:round/>
                      <a:headEnd type="none" w="med" len="med"/>
                      <a:tailEnd type="none" w="med" len="med"/>
                    </a:lnL>
                    <a:lnR w="9525" cap="flat" cmpd="sng" algn="ctr">
                      <a:solidFill>
                        <a:srgbClr val="C9CDD4"/>
                      </a:solidFill>
                      <a:prstDash val="solid"/>
                      <a:round/>
                      <a:headEnd type="none" w="med" len="med"/>
                      <a:tailEnd type="none" w="med" len="med"/>
                    </a:lnR>
                    <a:lnT w="9525" cap="flat" cmpd="sng" algn="ctr">
                      <a:solidFill>
                        <a:srgbClr val="C9CDD4"/>
                      </a:solidFill>
                      <a:prstDash val="solid"/>
                      <a:round/>
                      <a:headEnd type="none" w="med" len="med"/>
                      <a:tailEnd type="none" w="med" len="med"/>
                    </a:lnT>
                    <a:lnB w="9525" cap="flat" cmpd="sng" algn="ctr">
                      <a:solidFill>
                        <a:srgbClr val="C9CDD4"/>
                      </a:solidFill>
                      <a:prstDash val="solid"/>
                      <a:round/>
                      <a:headEnd type="none" w="med" len="med"/>
                      <a:tailEnd type="none" w="med" len="med"/>
                    </a:lnB>
                  </a:tcPr>
                </a:tc>
                <a:extLst>
                  <a:ext uri="{0D108BD9-81ED-4DB2-BD59-A6C34878D82A}">
                    <a16:rowId xmlns:a16="http://schemas.microsoft.com/office/drawing/2014/main" val="10001"/>
                  </a:ext>
                </a:extLst>
              </a:tr>
              <a:tr h="438912">
                <a:tc>
                  <a:txBody>
                    <a:bodyPr/>
                    <a:lstStyle/>
                    <a:p>
                      <a:pPr marL="0" indent="0">
                        <a:buNone/>
                      </a:pPr>
                      <a:r>
                        <a:rPr lang="en-US" sz="1050" dirty="0">
                          <a:solidFill>
                            <a:srgbClr val="000000"/>
                          </a:solidFill>
                          <a:latin typeface="Calibri" pitchFamily="34" charset="0"/>
                          <a:ea typeface="Calibri" pitchFamily="34" charset="-122"/>
                          <a:cs typeface="Calibri" pitchFamily="34" charset="-120"/>
                        </a:rPr>
                        <a:t>TC3</a:t>
                      </a:r>
                      <a:endParaRPr lang="en-US" sz="1050" dirty="0">
                        <a:latin typeface="Calibri" charset="0"/>
                        <a:ea typeface="Calibri" charset="0"/>
                        <a:cs typeface="Calibri" charset="0"/>
                      </a:endParaRPr>
                    </a:p>
                  </a:txBody>
                  <a:tcPr anchor="ctr">
                    <a:lnL w="9525" cap="flat" cmpd="sng" algn="ctr">
                      <a:solidFill>
                        <a:srgbClr val="C9CDD4"/>
                      </a:solidFill>
                      <a:prstDash val="solid"/>
                      <a:round/>
                      <a:headEnd type="none" w="med" len="med"/>
                      <a:tailEnd type="none" w="med" len="med"/>
                    </a:lnL>
                    <a:lnR w="9525" cap="flat" cmpd="sng" algn="ctr">
                      <a:solidFill>
                        <a:srgbClr val="C9CDD4"/>
                      </a:solidFill>
                      <a:prstDash val="solid"/>
                      <a:round/>
                      <a:headEnd type="none" w="med" len="med"/>
                      <a:tailEnd type="none" w="med" len="med"/>
                    </a:lnR>
                    <a:lnT w="9525" cap="flat" cmpd="sng" algn="ctr">
                      <a:solidFill>
                        <a:srgbClr val="C9CDD4"/>
                      </a:solidFill>
                      <a:prstDash val="solid"/>
                      <a:round/>
                      <a:headEnd type="none" w="med" len="med"/>
                      <a:tailEnd type="none" w="med" len="med"/>
                    </a:lnT>
                    <a:lnB w="9525" cap="flat" cmpd="sng" algn="ctr">
                      <a:solidFill>
                        <a:srgbClr val="C9CDD4"/>
                      </a:solidFill>
                      <a:prstDash val="solid"/>
                      <a:round/>
                      <a:headEnd type="none" w="med" len="med"/>
                      <a:tailEnd type="none" w="med" len="med"/>
                    </a:lnB>
                  </a:tcPr>
                </a:tc>
                <a:tc>
                  <a:txBody>
                    <a:bodyPr/>
                    <a:lstStyle/>
                    <a:p>
                      <a:pPr marL="0" indent="0">
                        <a:buNone/>
                      </a:pPr>
                      <a:r>
                        <a:rPr lang="en-US" sz="1050" dirty="0">
                          <a:solidFill>
                            <a:srgbClr val="000000"/>
                          </a:solidFill>
                          <a:latin typeface="Calibri" pitchFamily="34" charset="0"/>
                          <a:ea typeface="Calibri" pitchFamily="34" charset="-122"/>
                          <a:cs typeface="Calibri" pitchFamily="34" charset="-120"/>
                        </a:rPr>
                        <a:t>Tracks differ only where emoji occur</a:t>
                      </a:r>
                      <a:endParaRPr lang="en-US" sz="1050" dirty="0">
                        <a:latin typeface="Calibri" charset="0"/>
                        <a:ea typeface="Calibri" charset="0"/>
                        <a:cs typeface="Calibri" charset="0"/>
                      </a:endParaRPr>
                    </a:p>
                  </a:txBody>
                  <a:tcPr anchor="ctr">
                    <a:lnL w="9525" cap="flat" cmpd="sng" algn="ctr">
                      <a:solidFill>
                        <a:srgbClr val="C9CDD4"/>
                      </a:solidFill>
                      <a:prstDash val="solid"/>
                      <a:round/>
                      <a:headEnd type="none" w="med" len="med"/>
                      <a:tailEnd type="none" w="med" len="med"/>
                    </a:lnL>
                    <a:lnR w="9525" cap="flat" cmpd="sng" algn="ctr">
                      <a:solidFill>
                        <a:srgbClr val="C9CDD4"/>
                      </a:solidFill>
                      <a:prstDash val="solid"/>
                      <a:round/>
                      <a:headEnd type="none" w="med" len="med"/>
                      <a:tailEnd type="none" w="med" len="med"/>
                    </a:lnR>
                    <a:lnT w="9525" cap="flat" cmpd="sng" algn="ctr">
                      <a:solidFill>
                        <a:srgbClr val="C9CDD4"/>
                      </a:solidFill>
                      <a:prstDash val="solid"/>
                      <a:round/>
                      <a:headEnd type="none" w="med" len="med"/>
                      <a:tailEnd type="none" w="med" len="med"/>
                    </a:lnT>
                    <a:lnB w="9525" cap="flat" cmpd="sng" algn="ctr">
                      <a:solidFill>
                        <a:srgbClr val="C9CDD4"/>
                      </a:solidFill>
                      <a:prstDash val="solid"/>
                      <a:round/>
                      <a:headEnd type="none" w="med" len="med"/>
                      <a:tailEnd type="none" w="med" len="med"/>
                    </a:lnB>
                  </a:tcPr>
                </a:tc>
                <a:tc>
                  <a:txBody>
                    <a:bodyPr/>
                    <a:lstStyle/>
                    <a:p>
                      <a:pPr marL="0" indent="0">
                        <a:buNone/>
                      </a:pPr>
                      <a:r>
                        <a:rPr lang="en-US" sz="1050" dirty="0">
                          <a:solidFill>
                            <a:srgbClr val="000000"/>
                          </a:solidFill>
                          <a:latin typeface="Calibri" pitchFamily="34" charset="0"/>
                          <a:ea typeface="Calibri" pitchFamily="34" charset="-122"/>
                          <a:cs typeface="Calibri" pitchFamily="34" charset="-120"/>
                        </a:rPr>
                        <a:t>12.1% of rows differ</a:t>
                      </a:r>
                      <a:endParaRPr lang="en-US" sz="1050" dirty="0">
                        <a:latin typeface="Calibri" charset="0"/>
                        <a:ea typeface="Calibri" charset="0"/>
                        <a:cs typeface="Calibri" charset="0"/>
                      </a:endParaRPr>
                    </a:p>
                  </a:txBody>
                  <a:tcPr anchor="ctr">
                    <a:lnL w="9525" cap="flat" cmpd="sng" algn="ctr">
                      <a:solidFill>
                        <a:srgbClr val="C9CDD4"/>
                      </a:solidFill>
                      <a:prstDash val="solid"/>
                      <a:round/>
                      <a:headEnd type="none" w="med" len="med"/>
                      <a:tailEnd type="none" w="med" len="med"/>
                    </a:lnL>
                    <a:lnR w="9525" cap="flat" cmpd="sng" algn="ctr">
                      <a:solidFill>
                        <a:srgbClr val="C9CDD4"/>
                      </a:solidFill>
                      <a:prstDash val="solid"/>
                      <a:round/>
                      <a:headEnd type="none" w="med" len="med"/>
                      <a:tailEnd type="none" w="med" len="med"/>
                    </a:lnR>
                    <a:lnT w="9525" cap="flat" cmpd="sng" algn="ctr">
                      <a:solidFill>
                        <a:srgbClr val="C9CDD4"/>
                      </a:solidFill>
                      <a:prstDash val="solid"/>
                      <a:round/>
                      <a:headEnd type="none" w="med" len="med"/>
                      <a:tailEnd type="none" w="med" len="med"/>
                    </a:lnT>
                    <a:lnB w="9525" cap="flat" cmpd="sng" algn="ctr">
                      <a:solidFill>
                        <a:srgbClr val="C9CDD4"/>
                      </a:solidFill>
                      <a:prstDash val="solid"/>
                      <a:round/>
                      <a:headEnd type="none" w="med" len="med"/>
                      <a:tailEnd type="none" w="med" len="med"/>
                    </a:lnB>
                  </a:tcPr>
                </a:tc>
                <a:tc>
                  <a:txBody>
                    <a:bodyPr/>
                    <a:lstStyle/>
                    <a:p>
                      <a:pPr marL="0" indent="0">
                        <a:buNone/>
                      </a:pPr>
                      <a:r>
                        <a:rPr lang="en-US" sz="1050" dirty="0">
                          <a:solidFill>
                            <a:srgbClr val="000000"/>
                          </a:solidFill>
                          <a:latin typeface="Calibri" pitchFamily="34" charset="0"/>
                          <a:ea typeface="Calibri" pitchFamily="34" charset="-122"/>
                          <a:cs typeface="Calibri" pitchFamily="34" charset="-120"/>
                        </a:rPr>
                        <a:t>Pass</a:t>
                      </a:r>
                      <a:endParaRPr lang="en-US" sz="1050" dirty="0">
                        <a:latin typeface="Calibri" charset="0"/>
                        <a:ea typeface="Calibri" charset="0"/>
                        <a:cs typeface="Calibri" charset="0"/>
                      </a:endParaRPr>
                    </a:p>
                  </a:txBody>
                  <a:tcPr anchor="ctr">
                    <a:lnL w="9525" cap="flat" cmpd="sng" algn="ctr">
                      <a:solidFill>
                        <a:srgbClr val="C9CDD4"/>
                      </a:solidFill>
                      <a:prstDash val="solid"/>
                      <a:round/>
                      <a:headEnd type="none" w="med" len="med"/>
                      <a:tailEnd type="none" w="med" len="med"/>
                    </a:lnL>
                    <a:lnR w="9525" cap="flat" cmpd="sng" algn="ctr">
                      <a:solidFill>
                        <a:srgbClr val="C9CDD4"/>
                      </a:solidFill>
                      <a:prstDash val="solid"/>
                      <a:round/>
                      <a:headEnd type="none" w="med" len="med"/>
                      <a:tailEnd type="none" w="med" len="med"/>
                    </a:lnR>
                    <a:lnT w="9525" cap="flat" cmpd="sng" algn="ctr">
                      <a:solidFill>
                        <a:srgbClr val="C9CDD4"/>
                      </a:solidFill>
                      <a:prstDash val="solid"/>
                      <a:round/>
                      <a:headEnd type="none" w="med" len="med"/>
                      <a:tailEnd type="none" w="med" len="med"/>
                    </a:lnT>
                    <a:lnB w="9525" cap="flat" cmpd="sng" algn="ctr">
                      <a:solidFill>
                        <a:srgbClr val="C9CDD4"/>
                      </a:solidFill>
                      <a:prstDash val="solid"/>
                      <a:round/>
                      <a:headEnd type="none" w="med" len="med"/>
                      <a:tailEnd type="none" w="med" len="med"/>
                    </a:lnB>
                  </a:tcPr>
                </a:tc>
                <a:extLst>
                  <a:ext uri="{0D108BD9-81ED-4DB2-BD59-A6C34878D82A}">
                    <a16:rowId xmlns:a16="http://schemas.microsoft.com/office/drawing/2014/main" val="10002"/>
                  </a:ext>
                </a:extLst>
              </a:tr>
              <a:tr h="438912">
                <a:tc>
                  <a:txBody>
                    <a:bodyPr/>
                    <a:lstStyle/>
                    <a:p>
                      <a:pPr marL="0" indent="0">
                        <a:buNone/>
                      </a:pPr>
                      <a:r>
                        <a:rPr lang="en-US" sz="1050" dirty="0">
                          <a:solidFill>
                            <a:srgbClr val="000000"/>
                          </a:solidFill>
                          <a:latin typeface="Calibri" pitchFamily="34" charset="0"/>
                          <a:ea typeface="Calibri" pitchFamily="34" charset="-122"/>
                          <a:cs typeface="Calibri" pitchFamily="34" charset="-120"/>
                        </a:rPr>
                        <a:t>TC9</a:t>
                      </a:r>
                      <a:endParaRPr lang="en-US" sz="1050" dirty="0">
                        <a:latin typeface="Calibri" charset="0"/>
                        <a:ea typeface="Calibri" charset="0"/>
                        <a:cs typeface="Calibri" charset="0"/>
                      </a:endParaRPr>
                    </a:p>
                  </a:txBody>
                  <a:tcPr anchor="ctr">
                    <a:lnL w="9525" cap="flat" cmpd="sng" algn="ctr">
                      <a:solidFill>
                        <a:srgbClr val="C9CDD4"/>
                      </a:solidFill>
                      <a:prstDash val="solid"/>
                      <a:round/>
                      <a:headEnd type="none" w="med" len="med"/>
                      <a:tailEnd type="none" w="med" len="med"/>
                    </a:lnL>
                    <a:lnR w="9525" cap="flat" cmpd="sng" algn="ctr">
                      <a:solidFill>
                        <a:srgbClr val="C9CDD4"/>
                      </a:solidFill>
                      <a:prstDash val="solid"/>
                      <a:round/>
                      <a:headEnd type="none" w="med" len="med"/>
                      <a:tailEnd type="none" w="med" len="med"/>
                    </a:lnR>
                    <a:lnT w="9525" cap="flat" cmpd="sng" algn="ctr">
                      <a:solidFill>
                        <a:srgbClr val="C9CDD4"/>
                      </a:solidFill>
                      <a:prstDash val="solid"/>
                      <a:round/>
                      <a:headEnd type="none" w="med" len="med"/>
                      <a:tailEnd type="none" w="med" len="med"/>
                    </a:lnT>
                    <a:lnB w="9525" cap="flat" cmpd="sng" algn="ctr">
                      <a:solidFill>
                        <a:srgbClr val="C9CDD4"/>
                      </a:solidFill>
                      <a:prstDash val="solid"/>
                      <a:round/>
                      <a:headEnd type="none" w="med" len="med"/>
                      <a:tailEnd type="none" w="med" len="med"/>
                    </a:lnB>
                  </a:tcPr>
                </a:tc>
                <a:tc>
                  <a:txBody>
                    <a:bodyPr/>
                    <a:lstStyle/>
                    <a:p>
                      <a:pPr marL="0" indent="0">
                        <a:buNone/>
                      </a:pPr>
                      <a:r>
                        <a:rPr lang="en-US" sz="1050" dirty="0">
                          <a:solidFill>
                            <a:srgbClr val="000000"/>
                          </a:solidFill>
                          <a:latin typeface="Calibri" pitchFamily="34" charset="0"/>
                          <a:ea typeface="Calibri" pitchFamily="34" charset="-122"/>
                          <a:cs typeface="Calibri" pitchFamily="34" charset="-120"/>
                        </a:rPr>
                        <a:t>Classify emoji-only input</a:t>
                      </a:r>
                      <a:endParaRPr lang="en-US" sz="1050" dirty="0">
                        <a:latin typeface="Calibri" charset="0"/>
                        <a:ea typeface="Calibri" charset="0"/>
                        <a:cs typeface="Calibri" charset="0"/>
                      </a:endParaRPr>
                    </a:p>
                  </a:txBody>
                  <a:tcPr anchor="ctr">
                    <a:lnL w="9525" cap="flat" cmpd="sng" algn="ctr">
                      <a:solidFill>
                        <a:srgbClr val="C9CDD4"/>
                      </a:solidFill>
                      <a:prstDash val="solid"/>
                      <a:round/>
                      <a:headEnd type="none" w="med" len="med"/>
                      <a:tailEnd type="none" w="med" len="med"/>
                    </a:lnL>
                    <a:lnR w="9525" cap="flat" cmpd="sng" algn="ctr">
                      <a:solidFill>
                        <a:srgbClr val="C9CDD4"/>
                      </a:solidFill>
                      <a:prstDash val="solid"/>
                      <a:round/>
                      <a:headEnd type="none" w="med" len="med"/>
                      <a:tailEnd type="none" w="med" len="med"/>
                    </a:lnR>
                    <a:lnT w="9525" cap="flat" cmpd="sng" algn="ctr">
                      <a:solidFill>
                        <a:srgbClr val="C9CDD4"/>
                      </a:solidFill>
                      <a:prstDash val="solid"/>
                      <a:round/>
                      <a:headEnd type="none" w="med" len="med"/>
                      <a:tailEnd type="none" w="med" len="med"/>
                    </a:lnT>
                    <a:lnB w="9525" cap="flat" cmpd="sng" algn="ctr">
                      <a:solidFill>
                        <a:srgbClr val="C9CDD4"/>
                      </a:solidFill>
                      <a:prstDash val="solid"/>
                      <a:round/>
                      <a:headEnd type="none" w="med" len="med"/>
                      <a:tailEnd type="none" w="med" len="med"/>
                    </a:lnB>
                  </a:tcPr>
                </a:tc>
                <a:tc>
                  <a:txBody>
                    <a:bodyPr/>
                    <a:lstStyle/>
                    <a:p>
                      <a:pPr marL="0" indent="0">
                        <a:buNone/>
                      </a:pPr>
                      <a:r>
                        <a:rPr lang="en-US" sz="1050" dirty="0">
                          <a:solidFill>
                            <a:srgbClr val="000000"/>
                          </a:solidFill>
                          <a:latin typeface="Calibri" pitchFamily="34" charset="0"/>
                          <a:ea typeface="Calibri" pitchFamily="34" charset="-122"/>
                          <a:cs typeface="Calibri" pitchFamily="34" charset="-120"/>
                        </a:rPr>
                        <a:t>Handled safely</a:t>
                      </a:r>
                      <a:endParaRPr lang="en-US" sz="1050" dirty="0">
                        <a:latin typeface="Calibri" charset="0"/>
                        <a:ea typeface="Calibri" charset="0"/>
                        <a:cs typeface="Calibri" charset="0"/>
                      </a:endParaRPr>
                    </a:p>
                  </a:txBody>
                  <a:tcPr anchor="ctr">
                    <a:lnL w="9525" cap="flat" cmpd="sng" algn="ctr">
                      <a:solidFill>
                        <a:srgbClr val="C9CDD4"/>
                      </a:solidFill>
                      <a:prstDash val="solid"/>
                      <a:round/>
                      <a:headEnd type="none" w="med" len="med"/>
                      <a:tailEnd type="none" w="med" len="med"/>
                    </a:lnL>
                    <a:lnR w="9525" cap="flat" cmpd="sng" algn="ctr">
                      <a:solidFill>
                        <a:srgbClr val="C9CDD4"/>
                      </a:solidFill>
                      <a:prstDash val="solid"/>
                      <a:round/>
                      <a:headEnd type="none" w="med" len="med"/>
                      <a:tailEnd type="none" w="med" len="med"/>
                    </a:lnR>
                    <a:lnT w="9525" cap="flat" cmpd="sng" algn="ctr">
                      <a:solidFill>
                        <a:srgbClr val="C9CDD4"/>
                      </a:solidFill>
                      <a:prstDash val="solid"/>
                      <a:round/>
                      <a:headEnd type="none" w="med" len="med"/>
                      <a:tailEnd type="none" w="med" len="med"/>
                    </a:lnT>
                    <a:lnB w="9525" cap="flat" cmpd="sng" algn="ctr">
                      <a:solidFill>
                        <a:srgbClr val="C9CDD4"/>
                      </a:solidFill>
                      <a:prstDash val="solid"/>
                      <a:round/>
                      <a:headEnd type="none" w="med" len="med"/>
                      <a:tailEnd type="none" w="med" len="med"/>
                    </a:lnB>
                  </a:tcPr>
                </a:tc>
                <a:tc>
                  <a:txBody>
                    <a:bodyPr/>
                    <a:lstStyle/>
                    <a:p>
                      <a:pPr marL="0" indent="0">
                        <a:buNone/>
                      </a:pPr>
                      <a:r>
                        <a:rPr lang="en-US" sz="1050" dirty="0">
                          <a:solidFill>
                            <a:srgbClr val="000000"/>
                          </a:solidFill>
                          <a:latin typeface="Calibri" pitchFamily="34" charset="0"/>
                          <a:ea typeface="Calibri" pitchFamily="34" charset="-122"/>
                          <a:cs typeface="Calibri" pitchFamily="34" charset="-120"/>
                        </a:rPr>
                        <a:t>Pass</a:t>
                      </a:r>
                      <a:endParaRPr lang="en-US" sz="1050" dirty="0">
                        <a:latin typeface="Calibri" charset="0"/>
                        <a:ea typeface="Calibri" charset="0"/>
                        <a:cs typeface="Calibri" charset="0"/>
                      </a:endParaRPr>
                    </a:p>
                  </a:txBody>
                  <a:tcPr anchor="ctr">
                    <a:lnL w="9525" cap="flat" cmpd="sng" algn="ctr">
                      <a:solidFill>
                        <a:srgbClr val="C9CDD4"/>
                      </a:solidFill>
                      <a:prstDash val="solid"/>
                      <a:round/>
                      <a:headEnd type="none" w="med" len="med"/>
                      <a:tailEnd type="none" w="med" len="med"/>
                    </a:lnL>
                    <a:lnR w="9525" cap="flat" cmpd="sng" algn="ctr">
                      <a:solidFill>
                        <a:srgbClr val="C9CDD4"/>
                      </a:solidFill>
                      <a:prstDash val="solid"/>
                      <a:round/>
                      <a:headEnd type="none" w="med" len="med"/>
                      <a:tailEnd type="none" w="med" len="med"/>
                    </a:lnR>
                    <a:lnT w="9525" cap="flat" cmpd="sng" algn="ctr">
                      <a:solidFill>
                        <a:srgbClr val="C9CDD4"/>
                      </a:solidFill>
                      <a:prstDash val="solid"/>
                      <a:round/>
                      <a:headEnd type="none" w="med" len="med"/>
                      <a:tailEnd type="none" w="med" len="med"/>
                    </a:lnT>
                    <a:lnB w="9525" cap="flat" cmpd="sng" algn="ctr">
                      <a:solidFill>
                        <a:srgbClr val="C9CDD4"/>
                      </a:solidFill>
                      <a:prstDash val="solid"/>
                      <a:round/>
                      <a:headEnd type="none" w="med" len="med"/>
                      <a:tailEnd type="none" w="med" len="med"/>
                    </a:lnB>
                  </a:tcPr>
                </a:tc>
                <a:extLst>
                  <a:ext uri="{0D108BD9-81ED-4DB2-BD59-A6C34878D82A}">
                    <a16:rowId xmlns:a16="http://schemas.microsoft.com/office/drawing/2014/main" val="10003"/>
                  </a:ext>
                </a:extLst>
              </a:tr>
              <a:tr h="438912">
                <a:tc>
                  <a:txBody>
                    <a:bodyPr/>
                    <a:lstStyle/>
                    <a:p>
                      <a:pPr marL="0" indent="0">
                        <a:buNone/>
                      </a:pPr>
                      <a:r>
                        <a:rPr lang="en-US" sz="1050" dirty="0">
                          <a:solidFill>
                            <a:srgbClr val="000000"/>
                          </a:solidFill>
                          <a:latin typeface="Calibri" pitchFamily="34" charset="0"/>
                          <a:ea typeface="Calibri" pitchFamily="34" charset="-122"/>
                          <a:cs typeface="Calibri" pitchFamily="34" charset="-120"/>
                        </a:rPr>
                        <a:t>TC11</a:t>
                      </a:r>
                      <a:endParaRPr lang="en-US" sz="1050" dirty="0">
                        <a:latin typeface="Calibri" charset="0"/>
                        <a:ea typeface="Calibri" charset="0"/>
                        <a:cs typeface="Calibri" charset="0"/>
                      </a:endParaRPr>
                    </a:p>
                  </a:txBody>
                  <a:tcPr anchor="ctr">
                    <a:lnL w="9525" cap="flat" cmpd="sng" algn="ctr">
                      <a:solidFill>
                        <a:srgbClr val="C9CDD4"/>
                      </a:solidFill>
                      <a:prstDash val="solid"/>
                      <a:round/>
                      <a:headEnd type="none" w="med" len="med"/>
                      <a:tailEnd type="none" w="med" len="med"/>
                    </a:lnL>
                    <a:lnR w="9525" cap="flat" cmpd="sng" algn="ctr">
                      <a:solidFill>
                        <a:srgbClr val="C9CDD4"/>
                      </a:solidFill>
                      <a:prstDash val="solid"/>
                      <a:round/>
                      <a:headEnd type="none" w="med" len="med"/>
                      <a:tailEnd type="none" w="med" len="med"/>
                    </a:lnR>
                    <a:lnT w="9525" cap="flat" cmpd="sng" algn="ctr">
                      <a:solidFill>
                        <a:srgbClr val="C9CDD4"/>
                      </a:solidFill>
                      <a:prstDash val="solid"/>
                      <a:round/>
                      <a:headEnd type="none" w="med" len="med"/>
                      <a:tailEnd type="none" w="med" len="med"/>
                    </a:lnT>
                    <a:lnB w="9525" cap="flat" cmpd="sng" algn="ctr">
                      <a:solidFill>
                        <a:srgbClr val="C9CDD4"/>
                      </a:solidFill>
                      <a:prstDash val="solid"/>
                      <a:round/>
                      <a:headEnd type="none" w="med" len="med"/>
                      <a:tailEnd type="none" w="med" len="med"/>
                    </a:lnB>
                  </a:tcPr>
                </a:tc>
                <a:tc>
                  <a:txBody>
                    <a:bodyPr/>
                    <a:lstStyle/>
                    <a:p>
                      <a:pPr marL="0" indent="0">
                        <a:buNone/>
                      </a:pPr>
                      <a:r>
                        <a:rPr lang="en-US" sz="1050" dirty="0">
                          <a:solidFill>
                            <a:srgbClr val="000000"/>
                          </a:solidFill>
                          <a:latin typeface="Calibri" pitchFamily="34" charset="0"/>
                          <a:ea typeface="Calibri" pitchFamily="34" charset="-122"/>
                          <a:cs typeface="Calibri" pitchFamily="34" charset="-120"/>
                        </a:rPr>
                        <a:t>Starts with no manual setup</a:t>
                      </a:r>
                      <a:endParaRPr lang="en-US" sz="1050" dirty="0">
                        <a:latin typeface="Calibri" charset="0"/>
                        <a:ea typeface="Calibri" charset="0"/>
                        <a:cs typeface="Calibri" charset="0"/>
                      </a:endParaRPr>
                    </a:p>
                  </a:txBody>
                  <a:tcPr anchor="ctr">
                    <a:lnL w="9525" cap="flat" cmpd="sng" algn="ctr">
                      <a:solidFill>
                        <a:srgbClr val="C9CDD4"/>
                      </a:solidFill>
                      <a:prstDash val="solid"/>
                      <a:round/>
                      <a:headEnd type="none" w="med" len="med"/>
                      <a:tailEnd type="none" w="med" len="med"/>
                    </a:lnL>
                    <a:lnR w="9525" cap="flat" cmpd="sng" algn="ctr">
                      <a:solidFill>
                        <a:srgbClr val="C9CDD4"/>
                      </a:solidFill>
                      <a:prstDash val="solid"/>
                      <a:round/>
                      <a:headEnd type="none" w="med" len="med"/>
                      <a:tailEnd type="none" w="med" len="med"/>
                    </a:lnR>
                    <a:lnT w="9525" cap="flat" cmpd="sng" algn="ctr">
                      <a:solidFill>
                        <a:srgbClr val="C9CDD4"/>
                      </a:solidFill>
                      <a:prstDash val="solid"/>
                      <a:round/>
                      <a:headEnd type="none" w="med" len="med"/>
                      <a:tailEnd type="none" w="med" len="med"/>
                    </a:lnT>
                    <a:lnB w="9525" cap="flat" cmpd="sng" algn="ctr">
                      <a:solidFill>
                        <a:srgbClr val="C9CDD4"/>
                      </a:solidFill>
                      <a:prstDash val="solid"/>
                      <a:round/>
                      <a:headEnd type="none" w="med" len="med"/>
                      <a:tailEnd type="none" w="med" len="med"/>
                    </a:lnB>
                  </a:tcPr>
                </a:tc>
                <a:tc>
                  <a:txBody>
                    <a:bodyPr/>
                    <a:lstStyle/>
                    <a:p>
                      <a:pPr marL="0" indent="0">
                        <a:buNone/>
                      </a:pPr>
                      <a:r>
                        <a:rPr lang="en-US" sz="1050" dirty="0">
                          <a:solidFill>
                            <a:srgbClr val="000000"/>
                          </a:solidFill>
                          <a:latin typeface="Calibri" pitchFamily="34" charset="0"/>
                          <a:ea typeface="Calibri" pitchFamily="34" charset="-122"/>
                          <a:cs typeface="Calibri" pitchFamily="34" charset="-120"/>
                        </a:rPr>
                        <a:t>4 / 4 models loaded</a:t>
                      </a:r>
                      <a:endParaRPr lang="en-US" sz="1050" dirty="0">
                        <a:latin typeface="Calibri" charset="0"/>
                        <a:ea typeface="Calibri" charset="0"/>
                        <a:cs typeface="Calibri" charset="0"/>
                      </a:endParaRPr>
                    </a:p>
                  </a:txBody>
                  <a:tcPr anchor="ctr">
                    <a:lnL w="9525" cap="flat" cmpd="sng" algn="ctr">
                      <a:solidFill>
                        <a:srgbClr val="C9CDD4"/>
                      </a:solidFill>
                      <a:prstDash val="solid"/>
                      <a:round/>
                      <a:headEnd type="none" w="med" len="med"/>
                      <a:tailEnd type="none" w="med" len="med"/>
                    </a:lnL>
                    <a:lnR w="9525" cap="flat" cmpd="sng" algn="ctr">
                      <a:solidFill>
                        <a:srgbClr val="C9CDD4"/>
                      </a:solidFill>
                      <a:prstDash val="solid"/>
                      <a:round/>
                      <a:headEnd type="none" w="med" len="med"/>
                      <a:tailEnd type="none" w="med" len="med"/>
                    </a:lnR>
                    <a:lnT w="9525" cap="flat" cmpd="sng" algn="ctr">
                      <a:solidFill>
                        <a:srgbClr val="C9CDD4"/>
                      </a:solidFill>
                      <a:prstDash val="solid"/>
                      <a:round/>
                      <a:headEnd type="none" w="med" len="med"/>
                      <a:tailEnd type="none" w="med" len="med"/>
                    </a:lnT>
                    <a:lnB w="9525" cap="flat" cmpd="sng" algn="ctr">
                      <a:solidFill>
                        <a:srgbClr val="C9CDD4"/>
                      </a:solidFill>
                      <a:prstDash val="solid"/>
                      <a:round/>
                      <a:headEnd type="none" w="med" len="med"/>
                      <a:tailEnd type="none" w="med" len="med"/>
                    </a:lnB>
                  </a:tcPr>
                </a:tc>
                <a:tc>
                  <a:txBody>
                    <a:bodyPr/>
                    <a:lstStyle/>
                    <a:p>
                      <a:pPr marL="0" indent="0">
                        <a:buNone/>
                      </a:pPr>
                      <a:r>
                        <a:rPr lang="en-US" sz="1050" dirty="0">
                          <a:solidFill>
                            <a:srgbClr val="000000"/>
                          </a:solidFill>
                          <a:latin typeface="Calibri" pitchFamily="34" charset="0"/>
                          <a:ea typeface="Calibri" pitchFamily="34" charset="-122"/>
                          <a:cs typeface="Calibri" pitchFamily="34" charset="-120"/>
                        </a:rPr>
                        <a:t>Pass</a:t>
                      </a:r>
                      <a:endParaRPr lang="en-US" sz="1050" dirty="0">
                        <a:latin typeface="Calibri" charset="0"/>
                        <a:ea typeface="Calibri" charset="0"/>
                        <a:cs typeface="Calibri" charset="0"/>
                      </a:endParaRPr>
                    </a:p>
                  </a:txBody>
                  <a:tcPr anchor="ctr">
                    <a:lnL w="9525" cap="flat" cmpd="sng" algn="ctr">
                      <a:solidFill>
                        <a:srgbClr val="C9CDD4"/>
                      </a:solidFill>
                      <a:prstDash val="solid"/>
                      <a:round/>
                      <a:headEnd type="none" w="med" len="med"/>
                      <a:tailEnd type="none" w="med" len="med"/>
                    </a:lnL>
                    <a:lnR w="9525" cap="flat" cmpd="sng" algn="ctr">
                      <a:solidFill>
                        <a:srgbClr val="C9CDD4"/>
                      </a:solidFill>
                      <a:prstDash val="solid"/>
                      <a:round/>
                      <a:headEnd type="none" w="med" len="med"/>
                      <a:tailEnd type="none" w="med" len="med"/>
                    </a:lnR>
                    <a:lnT w="9525" cap="flat" cmpd="sng" algn="ctr">
                      <a:solidFill>
                        <a:srgbClr val="C9CDD4"/>
                      </a:solidFill>
                      <a:prstDash val="solid"/>
                      <a:round/>
                      <a:headEnd type="none" w="med" len="med"/>
                      <a:tailEnd type="none" w="med" len="med"/>
                    </a:lnT>
                    <a:lnB w="9525" cap="flat" cmpd="sng" algn="ctr">
                      <a:solidFill>
                        <a:srgbClr val="C9CDD4"/>
                      </a:solidFill>
                      <a:prstDash val="solid"/>
                      <a:round/>
                      <a:headEnd type="none" w="med" len="med"/>
                      <a:tailEnd type="none" w="med" len="med"/>
                    </a:lnB>
                  </a:tcPr>
                </a:tc>
                <a:extLst>
                  <a:ext uri="{0D108BD9-81ED-4DB2-BD59-A6C34878D82A}">
                    <a16:rowId xmlns:a16="http://schemas.microsoft.com/office/drawing/2014/main" val="10004"/>
                  </a:ext>
                </a:extLst>
              </a:tr>
            </a:tbl>
          </a:graphicData>
        </a:graphic>
      </p:graphicFrame>
      <p:pic>
        <p:nvPicPr>
          <p:cNvPr id="20" name="Image 0" descr="D:\assigments_7_students\krish\figures\gantt_planned_vs_actual.png"/>
          <p:cNvPicPr>
            <a:picLocks noChangeAspect="1"/>
          </p:cNvPicPr>
          <p:nvPr/>
        </p:nvPicPr>
        <p:blipFill>
          <a:blip r:embed="rId3"/>
          <a:stretch>
            <a:fillRect/>
          </a:stretch>
        </p:blipFill>
        <p:spPr>
          <a:xfrm>
            <a:off x="6400800" y="3950208"/>
            <a:ext cx="3749040" cy="2029968"/>
          </a:xfrm>
          <a:prstGeom prst="rect">
            <a:avLst/>
          </a:prstGeom>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1045159"/>
          </a:xfrm>
          <a:prstGeom prst="rect">
            <a:avLst/>
          </a:prstGeom>
          <a:solidFill>
            <a:srgbClr val="9A003B"/>
          </a:solidFill>
          <a:ln w="12700">
            <a:solidFill>
              <a:srgbClr val="9A003B"/>
            </a:solidFill>
            <a:prstDash val="solid"/>
          </a:ln>
        </p:spPr>
      </p:sp>
      <p:sp>
        <p:nvSpPr>
          <p:cNvPr id="3" name="Text 1"/>
          <p:cNvSpPr txBox="1"/>
          <p:nvPr/>
        </p:nvSpPr>
        <p:spPr>
          <a:xfrm>
            <a:off x="228600" y="109728"/>
            <a:ext cx="11704320" cy="825703"/>
          </a:xfrm>
          <a:prstGeom prst="rect">
            <a:avLst/>
          </a:prstGeom>
          <a:noFill/>
          <a:ln/>
        </p:spPr>
        <p:txBody>
          <a:bodyPr wrap="square" lIns="0" tIns="0" rIns="0" bIns="0" rtlCol="0" anchor="ctr"/>
          <a:lstStyle/>
          <a:p>
            <a:pPr marL="0" indent="0">
              <a:lnSpc>
                <a:spcPct val="95000"/>
              </a:lnSpc>
              <a:buNone/>
            </a:pPr>
            <a:r>
              <a:rPr lang="en-US" sz="2500" dirty="0">
                <a:solidFill>
                  <a:srgbClr val="FFFFFF"/>
                </a:solidFill>
                <a:latin typeface="Calibri" pitchFamily="34" charset="0"/>
                <a:ea typeface="Calibri" pitchFamily="34" charset="-122"/>
                <a:cs typeface="Calibri" pitchFamily="34" charset="-120"/>
              </a:rPr>
              <a:t>Implementation: System Architecture &amp; Evidence V</a:t>
            </a:r>
            <a:endParaRPr lang="en-US" sz="2500" dirty="0"/>
          </a:p>
        </p:txBody>
      </p:sp>
      <p:sp>
        <p:nvSpPr>
          <p:cNvPr id="4" name="Text 2"/>
          <p:cNvSpPr txBox="1"/>
          <p:nvPr/>
        </p:nvSpPr>
        <p:spPr>
          <a:xfrm>
            <a:off x="10515600" y="5806440"/>
            <a:ext cx="1463040" cy="749808"/>
          </a:xfrm>
          <a:prstGeom prst="rect">
            <a:avLst/>
          </a:prstGeom>
          <a:noFill/>
          <a:ln/>
        </p:spPr>
        <p:txBody>
          <a:bodyPr wrap="square" lIns="0" tIns="0" rIns="0" bIns="0" rtlCol="0" anchor="b"/>
          <a:lstStyle/>
          <a:p>
            <a:pPr marL="0" indent="0" algn="r">
              <a:lnSpc>
                <a:spcPct val="85000"/>
              </a:lnSpc>
              <a:buNone/>
            </a:pPr>
            <a:r>
              <a:rPr lang="en-US" sz="1150" b="1" dirty="0">
                <a:solidFill>
                  <a:srgbClr val="9A003B"/>
                </a:solidFill>
                <a:latin typeface="Calibri" pitchFamily="34" charset="0"/>
                <a:ea typeface="Calibri" pitchFamily="34" charset="-122"/>
                <a:cs typeface="Calibri" pitchFamily="34" charset="-120"/>
              </a:rPr>
              <a:t>Sheffield</a:t>
            </a:r>
            <a:endParaRPr lang="en-US" sz="1150" dirty="0"/>
          </a:p>
          <a:p>
            <a:pPr marL="0" indent="0" algn="r">
              <a:lnSpc>
                <a:spcPct val="85000"/>
              </a:lnSpc>
              <a:buNone/>
            </a:pPr>
            <a:r>
              <a:rPr lang="en-US" sz="1150" b="1" dirty="0">
                <a:solidFill>
                  <a:srgbClr val="9A003B"/>
                </a:solidFill>
                <a:latin typeface="Calibri" pitchFamily="34" charset="0"/>
                <a:ea typeface="Calibri" pitchFamily="34" charset="-122"/>
                <a:cs typeface="Calibri" pitchFamily="34" charset="-120"/>
              </a:rPr>
              <a:t>Hallam</a:t>
            </a:r>
            <a:endParaRPr lang="en-US" sz="1150" dirty="0"/>
          </a:p>
          <a:p>
            <a:pPr marL="0" indent="0" algn="r">
              <a:lnSpc>
                <a:spcPct val="85000"/>
              </a:lnSpc>
              <a:buNone/>
            </a:pPr>
            <a:r>
              <a:rPr lang="en-US" sz="1150" b="1" dirty="0">
                <a:solidFill>
                  <a:srgbClr val="9A003B"/>
                </a:solidFill>
                <a:latin typeface="Calibri" pitchFamily="34" charset="0"/>
                <a:ea typeface="Calibri" pitchFamily="34" charset="-122"/>
                <a:cs typeface="Calibri" pitchFamily="34" charset="-120"/>
              </a:rPr>
              <a:t>University</a:t>
            </a:r>
            <a:endParaRPr lang="en-US" sz="1150" dirty="0"/>
          </a:p>
        </p:txBody>
      </p:sp>
      <p:sp>
        <p:nvSpPr>
          <p:cNvPr id="5" name="Shape 3"/>
          <p:cNvSpPr/>
          <p:nvPr/>
        </p:nvSpPr>
        <p:spPr>
          <a:xfrm>
            <a:off x="0" y="6624828"/>
            <a:ext cx="4063898" cy="233172"/>
          </a:xfrm>
          <a:prstGeom prst="rect">
            <a:avLst/>
          </a:prstGeom>
          <a:solidFill>
            <a:srgbClr val="4D001E"/>
          </a:solidFill>
          <a:ln w="12700">
            <a:solidFill>
              <a:srgbClr val="4D001E"/>
            </a:solidFill>
            <a:prstDash val="solid"/>
          </a:ln>
        </p:spPr>
      </p:sp>
      <p:sp>
        <p:nvSpPr>
          <p:cNvPr id="6" name="Shape 4"/>
          <p:cNvSpPr/>
          <p:nvPr/>
        </p:nvSpPr>
        <p:spPr>
          <a:xfrm>
            <a:off x="4063898" y="6624828"/>
            <a:ext cx="4063898" cy="233172"/>
          </a:xfrm>
          <a:prstGeom prst="rect">
            <a:avLst/>
          </a:prstGeom>
          <a:solidFill>
            <a:srgbClr val="74002C"/>
          </a:solidFill>
          <a:ln w="12700">
            <a:solidFill>
              <a:srgbClr val="74002C"/>
            </a:solidFill>
            <a:prstDash val="solid"/>
          </a:ln>
        </p:spPr>
      </p:sp>
      <p:sp>
        <p:nvSpPr>
          <p:cNvPr id="7" name="Shape 5"/>
          <p:cNvSpPr/>
          <p:nvPr/>
        </p:nvSpPr>
        <p:spPr>
          <a:xfrm>
            <a:off x="8127797" y="6624828"/>
            <a:ext cx="4063898" cy="233172"/>
          </a:xfrm>
          <a:prstGeom prst="rect">
            <a:avLst/>
          </a:prstGeom>
          <a:solidFill>
            <a:srgbClr val="9A003B"/>
          </a:solidFill>
          <a:ln w="12700">
            <a:solidFill>
              <a:srgbClr val="9A003B"/>
            </a:solidFill>
            <a:prstDash val="solid"/>
          </a:ln>
        </p:spPr>
      </p:sp>
      <p:sp>
        <p:nvSpPr>
          <p:cNvPr id="8" name="Text 6"/>
          <p:cNvSpPr txBox="1"/>
          <p:nvPr/>
        </p:nvSpPr>
        <p:spPr>
          <a:xfrm>
            <a:off x="1143000" y="6624828"/>
            <a:ext cx="2743200" cy="233172"/>
          </a:xfrm>
          <a:prstGeom prst="rect">
            <a:avLst/>
          </a:prstGeom>
          <a:noFill/>
          <a:ln/>
        </p:spPr>
        <p:txBody>
          <a:bodyPr wrap="square" lIns="0" tIns="0" rIns="0" bIns="0" rtlCol="0" anchor="ctr"/>
          <a:lstStyle/>
          <a:p>
            <a:pPr marL="0" indent="0">
              <a:buNone/>
            </a:pPr>
            <a:r>
              <a:rPr lang="en-US" sz="900" dirty="0">
                <a:solidFill>
                  <a:srgbClr val="FFFFFF"/>
                </a:solidFill>
                <a:latin typeface="Calibri" pitchFamily="34" charset="0"/>
                <a:ea typeface="Calibri" pitchFamily="34" charset="-122"/>
                <a:cs typeface="Calibri" pitchFamily="34" charset="-120"/>
              </a:rPr>
              <a:t>[Student Initials]  (SHU)</a:t>
            </a:r>
            <a:endParaRPr lang="en-US" sz="900" dirty="0"/>
          </a:p>
        </p:txBody>
      </p:sp>
      <p:sp>
        <p:nvSpPr>
          <p:cNvPr id="9" name="Text 7"/>
          <p:cNvSpPr txBox="1"/>
          <p:nvPr/>
        </p:nvSpPr>
        <p:spPr>
          <a:xfrm>
            <a:off x="5276088" y="6624828"/>
            <a:ext cx="2743200" cy="233172"/>
          </a:xfrm>
          <a:prstGeom prst="rect">
            <a:avLst/>
          </a:prstGeom>
          <a:noFill/>
          <a:ln/>
        </p:spPr>
        <p:txBody>
          <a:bodyPr wrap="square" lIns="0" tIns="0" rIns="0" bIns="0" rtlCol="0" anchor="ctr"/>
          <a:lstStyle/>
          <a:p>
            <a:pPr marL="0" indent="0">
              <a:buNone/>
            </a:pPr>
            <a:r>
              <a:rPr lang="en-US" sz="900" dirty="0">
                <a:solidFill>
                  <a:srgbClr val="FFFFFF"/>
                </a:solidFill>
                <a:latin typeface="Calibri" pitchFamily="34" charset="0"/>
                <a:ea typeface="Calibri" pitchFamily="34" charset="-122"/>
                <a:cs typeface="Calibri" pitchFamily="34" charset="-120"/>
              </a:rPr>
              <a:t>Does the Emoji Matter?</a:t>
            </a:r>
            <a:endParaRPr lang="en-US" sz="900" dirty="0"/>
          </a:p>
        </p:txBody>
      </p:sp>
      <p:sp>
        <p:nvSpPr>
          <p:cNvPr id="10" name="Text 8"/>
          <p:cNvSpPr txBox="1"/>
          <p:nvPr/>
        </p:nvSpPr>
        <p:spPr>
          <a:xfrm>
            <a:off x="9235440" y="6624828"/>
            <a:ext cx="1645920" cy="233172"/>
          </a:xfrm>
          <a:prstGeom prst="rect">
            <a:avLst/>
          </a:prstGeom>
          <a:noFill/>
          <a:ln/>
        </p:spPr>
        <p:txBody>
          <a:bodyPr wrap="square" lIns="0" tIns="0" rIns="0" bIns="0" rtlCol="0" anchor="ctr"/>
          <a:lstStyle/>
          <a:p>
            <a:pPr marL="0" indent="0">
              <a:buNone/>
            </a:pPr>
            <a:r>
              <a:rPr lang="en-US" sz="900" dirty="0">
                <a:solidFill>
                  <a:srgbClr val="FFFFFF"/>
                </a:solidFill>
                <a:latin typeface="Calibri" pitchFamily="34" charset="0"/>
                <a:ea typeface="Calibri" pitchFamily="34" charset="-122"/>
                <a:cs typeface="Calibri" pitchFamily="34" charset="-120"/>
              </a:rPr>
              <a:t>September 2026</a:t>
            </a:r>
            <a:endParaRPr lang="en-US" sz="900" dirty="0"/>
          </a:p>
        </p:txBody>
      </p:sp>
      <p:sp>
        <p:nvSpPr>
          <p:cNvPr id="11" name="Text 9"/>
          <p:cNvSpPr txBox="1"/>
          <p:nvPr/>
        </p:nvSpPr>
        <p:spPr>
          <a:xfrm>
            <a:off x="10881360" y="6624828"/>
            <a:ext cx="1161288" cy="233172"/>
          </a:xfrm>
          <a:prstGeom prst="rect">
            <a:avLst/>
          </a:prstGeom>
          <a:noFill/>
          <a:ln/>
        </p:spPr>
        <p:txBody>
          <a:bodyPr wrap="square" lIns="0" tIns="0" rIns="0" bIns="0" rtlCol="0" anchor="ctr"/>
          <a:lstStyle/>
          <a:p>
            <a:pPr marL="0" indent="0" algn="r">
              <a:buNone/>
            </a:pPr>
            <a:r>
              <a:rPr lang="en-US" sz="900" dirty="0">
                <a:solidFill>
                  <a:srgbClr val="FFFFFF"/>
                </a:solidFill>
                <a:latin typeface="Calibri" pitchFamily="34" charset="0"/>
                <a:ea typeface="Calibri" pitchFamily="34" charset="-122"/>
                <a:cs typeface="Calibri" pitchFamily="34" charset="-120"/>
              </a:rPr>
              <a:t>23 / 43</a:t>
            </a:r>
            <a:endParaRPr lang="en-US" sz="900" dirty="0"/>
          </a:p>
        </p:txBody>
      </p:sp>
      <p:sp>
        <p:nvSpPr>
          <p:cNvPr id="12" name="Text 10"/>
          <p:cNvSpPr txBox="1"/>
          <p:nvPr/>
        </p:nvSpPr>
        <p:spPr>
          <a:xfrm>
            <a:off x="566928" y="1298448"/>
            <a:ext cx="11055096" cy="274320"/>
          </a:xfrm>
          <a:prstGeom prst="rect">
            <a:avLst/>
          </a:prstGeom>
          <a:noFill/>
          <a:ln/>
        </p:spPr>
        <p:txBody>
          <a:bodyPr wrap="square" lIns="0" tIns="0" rIns="0" bIns="0" rtlCol="0" anchor="t"/>
          <a:lstStyle/>
          <a:p>
            <a:pPr marL="0" indent="0">
              <a:lnSpc>
                <a:spcPct val="106000"/>
              </a:lnSpc>
              <a:buNone/>
            </a:pPr>
            <a:r>
              <a:rPr lang="en-US" sz="1500" b="1" dirty="0">
                <a:solidFill>
                  <a:srgbClr val="000000"/>
                </a:solidFill>
                <a:latin typeface="Calibri" pitchFamily="34" charset="0"/>
                <a:ea typeface="Calibri" pitchFamily="34" charset="-122"/>
                <a:cs typeface="Calibri" pitchFamily="34" charset="-120"/>
              </a:rPr>
              <a:t>Project Alignment Check: live prototype interface</a:t>
            </a:r>
            <a:endParaRPr lang="en-US" sz="1500" dirty="0"/>
          </a:p>
        </p:txBody>
      </p:sp>
      <p:pic>
        <p:nvPicPr>
          <p:cNvPr id="13" name="Image 0" descr="D:\assigments_7_students\krish\figures\app_tracks.png"/>
          <p:cNvPicPr>
            <a:picLocks noChangeAspect="1"/>
          </p:cNvPicPr>
          <p:nvPr/>
        </p:nvPicPr>
        <p:blipFill>
          <a:blip r:embed="rId3"/>
          <a:stretch>
            <a:fillRect/>
          </a:stretch>
        </p:blipFill>
        <p:spPr>
          <a:xfrm>
            <a:off x="566928" y="1664208"/>
            <a:ext cx="7040880" cy="4690872"/>
          </a:xfrm>
          <a:prstGeom prst="rect">
            <a:avLst/>
          </a:prstGeom>
        </p:spPr>
      </p:pic>
      <p:sp>
        <p:nvSpPr>
          <p:cNvPr id="14" name="Shape 11"/>
          <p:cNvSpPr/>
          <p:nvPr/>
        </p:nvSpPr>
        <p:spPr>
          <a:xfrm>
            <a:off x="7863840" y="1664208"/>
            <a:ext cx="3758184" cy="384048"/>
          </a:xfrm>
          <a:prstGeom prst="rect">
            <a:avLst/>
          </a:prstGeom>
          <a:solidFill>
            <a:srgbClr val="2764B4"/>
          </a:solidFill>
          <a:ln w="12700">
            <a:solidFill>
              <a:srgbClr val="2764B4"/>
            </a:solidFill>
            <a:prstDash val="solid"/>
          </a:ln>
        </p:spPr>
      </p:sp>
      <p:sp>
        <p:nvSpPr>
          <p:cNvPr id="15" name="Text 12"/>
          <p:cNvSpPr txBox="1"/>
          <p:nvPr/>
        </p:nvSpPr>
        <p:spPr>
          <a:xfrm>
            <a:off x="7991856" y="1664208"/>
            <a:ext cx="3502152" cy="384048"/>
          </a:xfrm>
          <a:prstGeom prst="rect">
            <a:avLst/>
          </a:prstGeom>
          <a:noFill/>
          <a:ln/>
        </p:spPr>
        <p:txBody>
          <a:bodyPr wrap="square" lIns="0" tIns="0" rIns="0" bIns="0" rtlCol="0" anchor="ctr"/>
          <a:lstStyle/>
          <a:p>
            <a:pPr marL="0" indent="0">
              <a:buNone/>
            </a:pPr>
            <a:r>
              <a:rPr lang="en-US" sz="1500" b="1" dirty="0">
                <a:solidFill>
                  <a:srgbClr val="FFFFFF"/>
                </a:solidFill>
                <a:latin typeface="Calibri" pitchFamily="34" charset="0"/>
                <a:ea typeface="Calibri" pitchFamily="34" charset="-122"/>
                <a:cs typeface="Calibri" pitchFamily="34" charset="-120"/>
              </a:rPr>
              <a:t>How it closes the loop</a:t>
            </a:r>
            <a:endParaRPr lang="en-US" sz="1500" dirty="0"/>
          </a:p>
        </p:txBody>
      </p:sp>
      <p:sp>
        <p:nvSpPr>
          <p:cNvPr id="16" name="Shape 13"/>
          <p:cNvSpPr/>
          <p:nvPr/>
        </p:nvSpPr>
        <p:spPr>
          <a:xfrm>
            <a:off x="7863840" y="2048256"/>
            <a:ext cx="3758184" cy="3639312"/>
          </a:xfrm>
          <a:prstGeom prst="rect">
            <a:avLst/>
          </a:prstGeom>
          <a:solidFill>
            <a:srgbClr val="E9EFF7"/>
          </a:solidFill>
          <a:ln w="12700">
            <a:solidFill>
              <a:srgbClr val="E9EFF7"/>
            </a:solidFill>
            <a:prstDash val="solid"/>
          </a:ln>
        </p:spPr>
      </p:sp>
      <p:sp>
        <p:nvSpPr>
          <p:cNvPr id="17" name="Text 14"/>
          <p:cNvSpPr txBox="1"/>
          <p:nvPr/>
        </p:nvSpPr>
        <p:spPr>
          <a:xfrm>
            <a:off x="8065008" y="2167128"/>
            <a:ext cx="3355848" cy="3429000"/>
          </a:xfrm>
          <a:prstGeom prst="rect">
            <a:avLst/>
          </a:prstGeom>
          <a:noFill/>
          <a:ln/>
        </p:spPr>
        <p:txBody>
          <a:bodyPr wrap="square" lIns="0" tIns="0" rIns="0" bIns="0" rtlCol="0" anchor="t"/>
          <a:lstStyle/>
          <a:p>
            <a:pPr marL="177800" indent="-177800">
              <a:lnSpc>
                <a:spcPct val="106000"/>
              </a:lnSpc>
              <a:spcAft>
                <a:spcPts val="800"/>
              </a:spcAft>
              <a:buSzPct val="100000"/>
              <a:buChar char="•"/>
            </a:pPr>
            <a:r>
              <a:rPr lang="en-US" sz="1200" dirty="0">
                <a:solidFill>
                  <a:srgbClr val="000000"/>
                </a:solidFill>
                <a:latin typeface="Calibri" pitchFamily="34" charset="0"/>
                <a:ea typeface="Calibri" pitchFamily="34" charset="-122"/>
                <a:cs typeface="Calibri" pitchFamily="34" charset="-120"/>
              </a:rPr>
              <a:t>The application loads the same model files and the same tuned thresholds that produced the reported results, so what the user sees is what was evaluated</a:t>
            </a:r>
            <a:endParaRPr lang="en-US" sz="1200" dirty="0"/>
          </a:p>
          <a:p>
            <a:pPr marL="177800" indent="-177800">
              <a:lnSpc>
                <a:spcPct val="106000"/>
              </a:lnSpc>
              <a:spcAft>
                <a:spcPts val="800"/>
              </a:spcAft>
              <a:buSzPct val="100000"/>
              <a:buChar char="•"/>
            </a:pPr>
            <a:r>
              <a:rPr lang="en-US" sz="1200" dirty="0">
                <a:solidFill>
                  <a:srgbClr val="000000"/>
                </a:solidFill>
                <a:latin typeface="Calibri" pitchFamily="34" charset="0"/>
                <a:ea typeface="Calibri" pitchFamily="34" charset="-122"/>
                <a:cs typeface="Calibri" pitchFamily="34" charset="-120"/>
              </a:rPr>
              <a:t>It shows the labels that appeared only when emoji were kept, and the labels that were lost</a:t>
            </a:r>
            <a:endParaRPr lang="en-US" sz="1200" dirty="0"/>
          </a:p>
          <a:p>
            <a:pPr marL="177800" indent="-177800">
              <a:lnSpc>
                <a:spcPct val="106000"/>
              </a:lnSpc>
              <a:spcAft>
                <a:spcPts val="800"/>
              </a:spcAft>
              <a:buSzPct val="100000"/>
              <a:buChar char="•"/>
            </a:pPr>
            <a:r>
              <a:rPr lang="en-US" sz="1200" dirty="0">
                <a:solidFill>
                  <a:srgbClr val="000000"/>
                </a:solidFill>
                <a:latin typeface="Calibri" pitchFamily="34" charset="0"/>
                <a:ea typeface="Calibri" pitchFamily="34" charset="-122"/>
                <a:cs typeface="Calibri" pitchFamily="34" charset="-120"/>
              </a:rPr>
              <a:t>The per-emotion probability chart puts both tracks side by side against the tuned threshold</a:t>
            </a:r>
            <a:endParaRPr lang="en-US" sz="1200" dirty="0"/>
          </a:p>
          <a:p>
            <a:pPr marL="177800" indent="-177800">
              <a:lnSpc>
                <a:spcPct val="106000"/>
              </a:lnSpc>
              <a:spcAft>
                <a:spcPts val="800"/>
              </a:spcAft>
              <a:buSzPct val="100000"/>
              <a:buChar char="•"/>
            </a:pPr>
            <a:r>
              <a:rPr lang="en-US" sz="1200" dirty="0">
                <a:solidFill>
                  <a:srgbClr val="000000"/>
                </a:solidFill>
                <a:latin typeface="Calibri" pitchFamily="34" charset="0"/>
                <a:ea typeface="Calibri" pitchFamily="34" charset="-122"/>
                <a:cs typeface="Calibri" pitchFamily="34" charset="-120"/>
              </a:rPr>
              <a:t>The stage-by-stage pipeline view makes the single fork visible for any text the user supplies</a:t>
            </a:r>
            <a:endParaRPr lang="en-US" sz="1200" dirty="0"/>
          </a:p>
          <a:p>
            <a:pPr marL="177800" indent="-177800">
              <a:lnSpc>
                <a:spcPct val="106000"/>
              </a:lnSpc>
              <a:spcAft>
                <a:spcPts val="800"/>
              </a:spcAft>
              <a:buSzPct val="100000"/>
              <a:buChar char="•"/>
            </a:pPr>
            <a:r>
              <a:rPr lang="en-US" sz="1200" dirty="0">
                <a:solidFill>
                  <a:srgbClr val="000000"/>
                </a:solidFill>
                <a:latin typeface="Calibri" pitchFamily="34" charset="0"/>
                <a:ea typeface="Calibri" pitchFamily="34" charset="-122"/>
                <a:cs typeface="Calibri" pitchFamily="34" charset="-120"/>
              </a:rPr>
              <a:t>Together this turns the experiment from a table of numbers into something a practitioner can try on their own text</a:t>
            </a:r>
            <a:endParaRPr lang="en-US" sz="12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914400" y="2514600"/>
            <a:ext cx="10360152" cy="658368"/>
          </a:xfrm>
          <a:prstGeom prst="rect">
            <a:avLst/>
          </a:prstGeom>
          <a:noFill/>
          <a:ln/>
        </p:spPr>
        <p:txBody>
          <a:bodyPr wrap="square" lIns="0" tIns="0" rIns="0" bIns="0" rtlCol="0" anchor="ctr"/>
          <a:lstStyle/>
          <a:p>
            <a:pPr marL="0" indent="0" algn="ctr">
              <a:buNone/>
            </a:pPr>
            <a:r>
              <a:rPr lang="en-US" sz="3400" dirty="0">
                <a:solidFill>
                  <a:srgbClr val="000000"/>
                </a:solidFill>
                <a:latin typeface="Calibri" pitchFamily="34" charset="0"/>
                <a:ea typeface="Calibri" pitchFamily="34" charset="-122"/>
                <a:cs typeface="Calibri" pitchFamily="34" charset="-120"/>
              </a:rPr>
              <a:t>6.  Results</a:t>
            </a:r>
            <a:endParaRPr lang="en-US" sz="3400" dirty="0"/>
          </a:p>
        </p:txBody>
      </p:sp>
      <p:sp>
        <p:nvSpPr>
          <p:cNvPr id="3" name="Shape 1"/>
          <p:cNvSpPr/>
          <p:nvPr/>
        </p:nvSpPr>
        <p:spPr>
          <a:xfrm>
            <a:off x="2258568" y="3502152"/>
            <a:ext cx="7680960" cy="32004"/>
          </a:xfrm>
          <a:prstGeom prst="rect">
            <a:avLst/>
          </a:prstGeom>
          <a:solidFill>
            <a:srgbClr val="CC0000"/>
          </a:solidFill>
          <a:ln w="12700">
            <a:solidFill>
              <a:srgbClr val="CC0000"/>
            </a:solidFill>
            <a:prstDash val="solid"/>
          </a:ln>
        </p:spPr>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1045159"/>
          </a:xfrm>
          <a:prstGeom prst="rect">
            <a:avLst/>
          </a:prstGeom>
          <a:solidFill>
            <a:srgbClr val="9A003B"/>
          </a:solidFill>
          <a:ln w="12700">
            <a:solidFill>
              <a:srgbClr val="9A003B"/>
            </a:solidFill>
            <a:prstDash val="solid"/>
          </a:ln>
        </p:spPr>
      </p:sp>
      <p:sp>
        <p:nvSpPr>
          <p:cNvPr id="3" name="Text 1"/>
          <p:cNvSpPr txBox="1"/>
          <p:nvPr/>
        </p:nvSpPr>
        <p:spPr>
          <a:xfrm>
            <a:off x="228600" y="109728"/>
            <a:ext cx="11704320" cy="825703"/>
          </a:xfrm>
          <a:prstGeom prst="rect">
            <a:avLst/>
          </a:prstGeom>
          <a:noFill/>
          <a:ln/>
        </p:spPr>
        <p:txBody>
          <a:bodyPr wrap="square" lIns="0" tIns="0" rIns="0" bIns="0" rtlCol="0" anchor="ctr"/>
          <a:lstStyle/>
          <a:p>
            <a:pPr marL="0" indent="0">
              <a:lnSpc>
                <a:spcPct val="95000"/>
              </a:lnSpc>
              <a:buNone/>
            </a:pPr>
            <a:r>
              <a:rPr lang="en-US" sz="2500" dirty="0">
                <a:solidFill>
                  <a:srgbClr val="FFFFFF"/>
                </a:solidFill>
                <a:latin typeface="Calibri" pitchFamily="34" charset="0"/>
                <a:ea typeface="Calibri" pitchFamily="34" charset="-122"/>
                <a:cs typeface="Calibri" pitchFamily="34" charset="-120"/>
              </a:rPr>
              <a:t>Results: Outcomes and Question Alignment I</a:t>
            </a:r>
            <a:endParaRPr lang="en-US" sz="2500" dirty="0"/>
          </a:p>
        </p:txBody>
      </p:sp>
      <p:sp>
        <p:nvSpPr>
          <p:cNvPr id="4" name="Text 2"/>
          <p:cNvSpPr txBox="1"/>
          <p:nvPr/>
        </p:nvSpPr>
        <p:spPr>
          <a:xfrm>
            <a:off x="10515600" y="5806440"/>
            <a:ext cx="1463040" cy="749808"/>
          </a:xfrm>
          <a:prstGeom prst="rect">
            <a:avLst/>
          </a:prstGeom>
          <a:noFill/>
          <a:ln/>
        </p:spPr>
        <p:txBody>
          <a:bodyPr wrap="square" lIns="0" tIns="0" rIns="0" bIns="0" rtlCol="0" anchor="b"/>
          <a:lstStyle/>
          <a:p>
            <a:pPr marL="0" indent="0" algn="r">
              <a:lnSpc>
                <a:spcPct val="85000"/>
              </a:lnSpc>
              <a:buNone/>
            </a:pPr>
            <a:r>
              <a:rPr lang="en-US" sz="1150" b="1" dirty="0">
                <a:solidFill>
                  <a:srgbClr val="9A003B"/>
                </a:solidFill>
                <a:latin typeface="Calibri" pitchFamily="34" charset="0"/>
                <a:ea typeface="Calibri" pitchFamily="34" charset="-122"/>
                <a:cs typeface="Calibri" pitchFamily="34" charset="-120"/>
              </a:rPr>
              <a:t>Sheffield</a:t>
            </a:r>
            <a:endParaRPr lang="en-US" sz="1150" dirty="0"/>
          </a:p>
          <a:p>
            <a:pPr marL="0" indent="0" algn="r">
              <a:lnSpc>
                <a:spcPct val="85000"/>
              </a:lnSpc>
              <a:buNone/>
            </a:pPr>
            <a:r>
              <a:rPr lang="en-US" sz="1150" b="1" dirty="0">
                <a:solidFill>
                  <a:srgbClr val="9A003B"/>
                </a:solidFill>
                <a:latin typeface="Calibri" pitchFamily="34" charset="0"/>
                <a:ea typeface="Calibri" pitchFamily="34" charset="-122"/>
                <a:cs typeface="Calibri" pitchFamily="34" charset="-120"/>
              </a:rPr>
              <a:t>Hallam</a:t>
            </a:r>
            <a:endParaRPr lang="en-US" sz="1150" dirty="0"/>
          </a:p>
          <a:p>
            <a:pPr marL="0" indent="0" algn="r">
              <a:lnSpc>
                <a:spcPct val="85000"/>
              </a:lnSpc>
              <a:buNone/>
            </a:pPr>
            <a:r>
              <a:rPr lang="en-US" sz="1150" b="1" dirty="0">
                <a:solidFill>
                  <a:srgbClr val="9A003B"/>
                </a:solidFill>
                <a:latin typeface="Calibri" pitchFamily="34" charset="0"/>
                <a:ea typeface="Calibri" pitchFamily="34" charset="-122"/>
                <a:cs typeface="Calibri" pitchFamily="34" charset="-120"/>
              </a:rPr>
              <a:t>University</a:t>
            </a:r>
            <a:endParaRPr lang="en-US" sz="1150" dirty="0"/>
          </a:p>
        </p:txBody>
      </p:sp>
      <p:sp>
        <p:nvSpPr>
          <p:cNvPr id="5" name="Shape 3"/>
          <p:cNvSpPr/>
          <p:nvPr/>
        </p:nvSpPr>
        <p:spPr>
          <a:xfrm>
            <a:off x="0" y="6624828"/>
            <a:ext cx="4063898" cy="233172"/>
          </a:xfrm>
          <a:prstGeom prst="rect">
            <a:avLst/>
          </a:prstGeom>
          <a:solidFill>
            <a:srgbClr val="4D001E"/>
          </a:solidFill>
          <a:ln w="12700">
            <a:solidFill>
              <a:srgbClr val="4D001E"/>
            </a:solidFill>
            <a:prstDash val="solid"/>
          </a:ln>
        </p:spPr>
      </p:sp>
      <p:sp>
        <p:nvSpPr>
          <p:cNvPr id="6" name="Shape 4"/>
          <p:cNvSpPr/>
          <p:nvPr/>
        </p:nvSpPr>
        <p:spPr>
          <a:xfrm>
            <a:off x="4063898" y="6624828"/>
            <a:ext cx="4063898" cy="233172"/>
          </a:xfrm>
          <a:prstGeom prst="rect">
            <a:avLst/>
          </a:prstGeom>
          <a:solidFill>
            <a:srgbClr val="74002C"/>
          </a:solidFill>
          <a:ln w="12700">
            <a:solidFill>
              <a:srgbClr val="74002C"/>
            </a:solidFill>
            <a:prstDash val="solid"/>
          </a:ln>
        </p:spPr>
      </p:sp>
      <p:sp>
        <p:nvSpPr>
          <p:cNvPr id="7" name="Shape 5"/>
          <p:cNvSpPr/>
          <p:nvPr/>
        </p:nvSpPr>
        <p:spPr>
          <a:xfrm>
            <a:off x="8127797" y="6624828"/>
            <a:ext cx="4063898" cy="233172"/>
          </a:xfrm>
          <a:prstGeom prst="rect">
            <a:avLst/>
          </a:prstGeom>
          <a:solidFill>
            <a:srgbClr val="9A003B"/>
          </a:solidFill>
          <a:ln w="12700">
            <a:solidFill>
              <a:srgbClr val="9A003B"/>
            </a:solidFill>
            <a:prstDash val="solid"/>
          </a:ln>
        </p:spPr>
      </p:sp>
      <p:sp>
        <p:nvSpPr>
          <p:cNvPr id="8" name="Text 6"/>
          <p:cNvSpPr txBox="1"/>
          <p:nvPr/>
        </p:nvSpPr>
        <p:spPr>
          <a:xfrm>
            <a:off x="1143000" y="6624828"/>
            <a:ext cx="2743200" cy="233172"/>
          </a:xfrm>
          <a:prstGeom prst="rect">
            <a:avLst/>
          </a:prstGeom>
          <a:noFill/>
          <a:ln/>
        </p:spPr>
        <p:txBody>
          <a:bodyPr wrap="square" lIns="0" tIns="0" rIns="0" bIns="0" rtlCol="0" anchor="ctr"/>
          <a:lstStyle/>
          <a:p>
            <a:pPr marL="0" indent="0">
              <a:buNone/>
            </a:pPr>
            <a:r>
              <a:rPr lang="en-US" sz="900" dirty="0">
                <a:solidFill>
                  <a:srgbClr val="FFFFFF"/>
                </a:solidFill>
                <a:latin typeface="Calibri" pitchFamily="34" charset="0"/>
                <a:ea typeface="Calibri" pitchFamily="34" charset="-122"/>
                <a:cs typeface="Calibri" pitchFamily="34" charset="-120"/>
              </a:rPr>
              <a:t>[Student Initials]  (SHU)</a:t>
            </a:r>
            <a:endParaRPr lang="en-US" sz="900" dirty="0"/>
          </a:p>
        </p:txBody>
      </p:sp>
      <p:sp>
        <p:nvSpPr>
          <p:cNvPr id="9" name="Text 7"/>
          <p:cNvSpPr txBox="1"/>
          <p:nvPr/>
        </p:nvSpPr>
        <p:spPr>
          <a:xfrm>
            <a:off x="5276088" y="6624828"/>
            <a:ext cx="2743200" cy="233172"/>
          </a:xfrm>
          <a:prstGeom prst="rect">
            <a:avLst/>
          </a:prstGeom>
          <a:noFill/>
          <a:ln/>
        </p:spPr>
        <p:txBody>
          <a:bodyPr wrap="square" lIns="0" tIns="0" rIns="0" bIns="0" rtlCol="0" anchor="ctr"/>
          <a:lstStyle/>
          <a:p>
            <a:pPr marL="0" indent="0">
              <a:buNone/>
            </a:pPr>
            <a:r>
              <a:rPr lang="en-US" sz="900" dirty="0">
                <a:solidFill>
                  <a:srgbClr val="FFFFFF"/>
                </a:solidFill>
                <a:latin typeface="Calibri" pitchFamily="34" charset="0"/>
                <a:ea typeface="Calibri" pitchFamily="34" charset="-122"/>
                <a:cs typeface="Calibri" pitchFamily="34" charset="-120"/>
              </a:rPr>
              <a:t>Does the Emoji Matter?</a:t>
            </a:r>
            <a:endParaRPr lang="en-US" sz="900" dirty="0"/>
          </a:p>
        </p:txBody>
      </p:sp>
      <p:sp>
        <p:nvSpPr>
          <p:cNvPr id="10" name="Text 8"/>
          <p:cNvSpPr txBox="1"/>
          <p:nvPr/>
        </p:nvSpPr>
        <p:spPr>
          <a:xfrm>
            <a:off x="9235440" y="6624828"/>
            <a:ext cx="1645920" cy="233172"/>
          </a:xfrm>
          <a:prstGeom prst="rect">
            <a:avLst/>
          </a:prstGeom>
          <a:noFill/>
          <a:ln/>
        </p:spPr>
        <p:txBody>
          <a:bodyPr wrap="square" lIns="0" tIns="0" rIns="0" bIns="0" rtlCol="0" anchor="ctr"/>
          <a:lstStyle/>
          <a:p>
            <a:pPr marL="0" indent="0">
              <a:buNone/>
            </a:pPr>
            <a:r>
              <a:rPr lang="en-US" sz="900" dirty="0">
                <a:solidFill>
                  <a:srgbClr val="FFFFFF"/>
                </a:solidFill>
                <a:latin typeface="Calibri" pitchFamily="34" charset="0"/>
                <a:ea typeface="Calibri" pitchFamily="34" charset="-122"/>
                <a:cs typeface="Calibri" pitchFamily="34" charset="-120"/>
              </a:rPr>
              <a:t>September 2026</a:t>
            </a:r>
            <a:endParaRPr lang="en-US" sz="900" dirty="0"/>
          </a:p>
        </p:txBody>
      </p:sp>
      <p:sp>
        <p:nvSpPr>
          <p:cNvPr id="11" name="Text 9"/>
          <p:cNvSpPr txBox="1"/>
          <p:nvPr/>
        </p:nvSpPr>
        <p:spPr>
          <a:xfrm>
            <a:off x="10881360" y="6624828"/>
            <a:ext cx="1161288" cy="233172"/>
          </a:xfrm>
          <a:prstGeom prst="rect">
            <a:avLst/>
          </a:prstGeom>
          <a:noFill/>
          <a:ln/>
        </p:spPr>
        <p:txBody>
          <a:bodyPr wrap="square" lIns="0" tIns="0" rIns="0" bIns="0" rtlCol="0" anchor="ctr"/>
          <a:lstStyle/>
          <a:p>
            <a:pPr marL="0" indent="0" algn="r">
              <a:buNone/>
            </a:pPr>
            <a:r>
              <a:rPr lang="en-US" sz="900" dirty="0">
                <a:solidFill>
                  <a:srgbClr val="FFFFFF"/>
                </a:solidFill>
                <a:latin typeface="Calibri" pitchFamily="34" charset="0"/>
                <a:ea typeface="Calibri" pitchFamily="34" charset="-122"/>
                <a:cs typeface="Calibri" pitchFamily="34" charset="-120"/>
              </a:rPr>
              <a:t>25 / 43</a:t>
            </a:r>
            <a:endParaRPr lang="en-US" sz="900" dirty="0"/>
          </a:p>
        </p:txBody>
      </p:sp>
      <p:sp>
        <p:nvSpPr>
          <p:cNvPr id="12" name="Text 10"/>
          <p:cNvSpPr txBox="1"/>
          <p:nvPr/>
        </p:nvSpPr>
        <p:spPr>
          <a:xfrm>
            <a:off x="566928" y="1298448"/>
            <a:ext cx="11055096" cy="274320"/>
          </a:xfrm>
          <a:prstGeom prst="rect">
            <a:avLst/>
          </a:prstGeom>
          <a:noFill/>
          <a:ln/>
        </p:spPr>
        <p:txBody>
          <a:bodyPr wrap="square" lIns="0" tIns="0" rIns="0" bIns="0" rtlCol="0" anchor="t"/>
          <a:lstStyle/>
          <a:p>
            <a:pPr marL="0" indent="0">
              <a:lnSpc>
                <a:spcPct val="106000"/>
              </a:lnSpc>
              <a:buNone/>
            </a:pPr>
            <a:r>
              <a:rPr lang="en-US" sz="1500" b="1" dirty="0">
                <a:solidFill>
                  <a:srgbClr val="000000"/>
                </a:solidFill>
                <a:latin typeface="Calibri" pitchFamily="34" charset="0"/>
                <a:ea typeface="Calibri" pitchFamily="34" charset="-122"/>
                <a:cs typeface="Calibri" pitchFamily="34" charset="-120"/>
              </a:rPr>
              <a:t>Project Results &amp; Key Findings: corpus profile and the opportunity available</a:t>
            </a:r>
            <a:endParaRPr lang="en-US" sz="1500" dirty="0"/>
          </a:p>
        </p:txBody>
      </p:sp>
      <p:pic>
        <p:nvPicPr>
          <p:cNvPr id="13" name="Image 0" descr="D:\assigments_7_students\krish\figures\label_distribution.png"/>
          <p:cNvPicPr>
            <a:picLocks noChangeAspect="1"/>
          </p:cNvPicPr>
          <p:nvPr/>
        </p:nvPicPr>
        <p:blipFill>
          <a:blip r:embed="rId3"/>
          <a:stretch>
            <a:fillRect/>
          </a:stretch>
        </p:blipFill>
        <p:spPr>
          <a:xfrm>
            <a:off x="566928" y="1682496"/>
            <a:ext cx="7040880" cy="3172968"/>
          </a:xfrm>
          <a:prstGeom prst="rect">
            <a:avLst/>
          </a:prstGeom>
        </p:spPr>
      </p:pic>
      <p:sp>
        <p:nvSpPr>
          <p:cNvPr id="14" name="Text 11"/>
          <p:cNvSpPr txBox="1"/>
          <p:nvPr/>
        </p:nvSpPr>
        <p:spPr>
          <a:xfrm>
            <a:off x="566928" y="4937760"/>
            <a:ext cx="7040880" cy="365760"/>
          </a:xfrm>
          <a:prstGeom prst="rect">
            <a:avLst/>
          </a:prstGeom>
          <a:noFill/>
          <a:ln/>
        </p:spPr>
        <p:txBody>
          <a:bodyPr wrap="square" lIns="0" tIns="0" rIns="0" bIns="0" rtlCol="0" anchor="t"/>
          <a:lstStyle/>
          <a:p>
            <a:pPr marL="0" indent="0" algn="ctr">
              <a:lnSpc>
                <a:spcPct val="100000"/>
              </a:lnSpc>
              <a:buNone/>
            </a:pPr>
            <a:r>
              <a:rPr lang="en-US" sz="1050" dirty="0">
                <a:solidFill>
                  <a:srgbClr val="5C5C5C"/>
                </a:solidFill>
                <a:latin typeface="Calibri" pitchFamily="34" charset="0"/>
                <a:ea typeface="Calibri" pitchFamily="34" charset="-122"/>
                <a:cs typeface="Calibri" pitchFamily="34" charset="-120"/>
              </a:rPr>
              <a:t>Label distribution across the eleven emotions, from the project's own exploratory analysis. The imbalance is severe: joy and anger are common, trust and surprise are rare.</a:t>
            </a:r>
            <a:endParaRPr lang="en-US" sz="1050" dirty="0"/>
          </a:p>
        </p:txBody>
      </p:sp>
      <p:sp>
        <p:nvSpPr>
          <p:cNvPr id="15" name="Shape 12"/>
          <p:cNvSpPr/>
          <p:nvPr/>
        </p:nvSpPr>
        <p:spPr>
          <a:xfrm>
            <a:off x="7863840" y="1682496"/>
            <a:ext cx="3758184" cy="384048"/>
          </a:xfrm>
          <a:prstGeom prst="rect">
            <a:avLst/>
          </a:prstGeom>
          <a:solidFill>
            <a:srgbClr val="2764B4"/>
          </a:solidFill>
          <a:ln w="12700">
            <a:solidFill>
              <a:srgbClr val="2764B4"/>
            </a:solidFill>
            <a:prstDash val="solid"/>
          </a:ln>
        </p:spPr>
      </p:sp>
      <p:sp>
        <p:nvSpPr>
          <p:cNvPr id="16" name="Text 13"/>
          <p:cNvSpPr txBox="1"/>
          <p:nvPr/>
        </p:nvSpPr>
        <p:spPr>
          <a:xfrm>
            <a:off x="7991856" y="1682496"/>
            <a:ext cx="3502152" cy="384048"/>
          </a:xfrm>
          <a:prstGeom prst="rect">
            <a:avLst/>
          </a:prstGeom>
          <a:noFill/>
          <a:ln/>
        </p:spPr>
        <p:txBody>
          <a:bodyPr wrap="square" lIns="0" tIns="0" rIns="0" bIns="0" rtlCol="0" anchor="ctr"/>
          <a:lstStyle/>
          <a:p>
            <a:pPr marL="0" indent="0">
              <a:buNone/>
            </a:pPr>
            <a:r>
              <a:rPr lang="en-US" sz="1500" b="1" dirty="0">
                <a:solidFill>
                  <a:srgbClr val="FFFFFF"/>
                </a:solidFill>
                <a:latin typeface="Calibri" pitchFamily="34" charset="0"/>
                <a:ea typeface="Calibri" pitchFamily="34" charset="-122"/>
                <a:cs typeface="Calibri" pitchFamily="34" charset="-120"/>
              </a:rPr>
              <a:t>Splits used</a:t>
            </a:r>
            <a:endParaRPr lang="en-US" sz="1500" dirty="0"/>
          </a:p>
        </p:txBody>
      </p:sp>
      <p:sp>
        <p:nvSpPr>
          <p:cNvPr id="17" name="Shape 14"/>
          <p:cNvSpPr/>
          <p:nvPr/>
        </p:nvSpPr>
        <p:spPr>
          <a:xfrm>
            <a:off x="7863840" y="2066544"/>
            <a:ext cx="3758184" cy="1536192"/>
          </a:xfrm>
          <a:prstGeom prst="rect">
            <a:avLst/>
          </a:prstGeom>
          <a:solidFill>
            <a:srgbClr val="F4DDE6"/>
          </a:solidFill>
          <a:ln/>
        </p:spPr>
      </p:sp>
      <p:sp>
        <p:nvSpPr>
          <p:cNvPr id="18" name="Text 15"/>
          <p:cNvSpPr txBox="1"/>
          <p:nvPr/>
        </p:nvSpPr>
        <p:spPr>
          <a:xfrm>
            <a:off x="8065008" y="2167128"/>
            <a:ext cx="3355848" cy="1325880"/>
          </a:xfrm>
          <a:prstGeom prst="rect">
            <a:avLst/>
          </a:prstGeom>
          <a:noFill/>
          <a:ln/>
        </p:spPr>
        <p:txBody>
          <a:bodyPr wrap="square" lIns="0" tIns="0" rIns="0" bIns="0" rtlCol="0" anchor="t"/>
          <a:lstStyle/>
          <a:p>
            <a:pPr marL="177800" indent="-177800">
              <a:lnSpc>
                <a:spcPct val="106000"/>
              </a:lnSpc>
              <a:spcAft>
                <a:spcPts val="800"/>
              </a:spcAft>
              <a:buSzPct val="100000"/>
              <a:buChar char="•"/>
            </a:pPr>
            <a:r>
              <a:rPr lang="en-US" sz="1200" dirty="0">
                <a:solidFill>
                  <a:srgbClr val="000000"/>
                </a:solidFill>
                <a:latin typeface="Calibri" pitchFamily="34" charset="0"/>
                <a:ea typeface="Calibri" pitchFamily="34" charset="-122"/>
                <a:cs typeface="Calibri" pitchFamily="34" charset="-120"/>
              </a:rPr>
              <a:t>6,838 training tweets</a:t>
            </a:r>
            <a:endParaRPr lang="en-US" sz="1200" dirty="0"/>
          </a:p>
          <a:p>
            <a:pPr marL="177800" indent="-177800">
              <a:lnSpc>
                <a:spcPct val="106000"/>
              </a:lnSpc>
              <a:spcAft>
                <a:spcPts val="800"/>
              </a:spcAft>
              <a:buSzPct val="100000"/>
              <a:buChar char="•"/>
            </a:pPr>
            <a:r>
              <a:rPr lang="en-US" sz="1200" dirty="0">
                <a:solidFill>
                  <a:srgbClr val="000000"/>
                </a:solidFill>
                <a:latin typeface="Calibri" pitchFamily="34" charset="0"/>
                <a:ea typeface="Calibri" pitchFamily="34" charset="-122"/>
                <a:cs typeface="Calibri" pitchFamily="34" charset="-120"/>
              </a:rPr>
              <a:t>886 development tweets, used for every reported metric</a:t>
            </a:r>
            <a:endParaRPr lang="en-US" sz="1200" dirty="0"/>
          </a:p>
          <a:p>
            <a:pPr marL="177800" indent="-177800">
              <a:lnSpc>
                <a:spcPct val="106000"/>
              </a:lnSpc>
              <a:spcAft>
                <a:spcPts val="800"/>
              </a:spcAft>
              <a:buSzPct val="100000"/>
              <a:buChar char="•"/>
            </a:pPr>
            <a:r>
              <a:rPr lang="en-US" sz="1200" dirty="0">
                <a:solidFill>
                  <a:srgbClr val="000000"/>
                </a:solidFill>
                <a:latin typeface="Calibri" pitchFamily="34" charset="0"/>
                <a:ea typeface="Calibri" pitchFamily="34" charset="-122"/>
                <a:cs typeface="Calibri" pitchFamily="34" charset="-120"/>
              </a:rPr>
              <a:t>3,259 test tweets, deliberately preserved unused</a:t>
            </a:r>
            <a:endParaRPr lang="en-US" sz="1200" dirty="0"/>
          </a:p>
        </p:txBody>
      </p:sp>
      <p:sp>
        <p:nvSpPr>
          <p:cNvPr id="19" name="Shape 16"/>
          <p:cNvSpPr/>
          <p:nvPr/>
        </p:nvSpPr>
        <p:spPr>
          <a:xfrm>
            <a:off x="7863840" y="3785616"/>
            <a:ext cx="3758184" cy="384048"/>
          </a:xfrm>
          <a:prstGeom prst="rect">
            <a:avLst/>
          </a:prstGeom>
          <a:solidFill>
            <a:srgbClr val="2764B4"/>
          </a:solidFill>
          <a:ln w="12700">
            <a:solidFill>
              <a:srgbClr val="2764B4"/>
            </a:solidFill>
            <a:prstDash val="solid"/>
          </a:ln>
        </p:spPr>
      </p:sp>
      <p:sp>
        <p:nvSpPr>
          <p:cNvPr id="20" name="Text 17"/>
          <p:cNvSpPr txBox="1"/>
          <p:nvPr/>
        </p:nvSpPr>
        <p:spPr>
          <a:xfrm>
            <a:off x="7991856" y="3785616"/>
            <a:ext cx="3502152" cy="384048"/>
          </a:xfrm>
          <a:prstGeom prst="rect">
            <a:avLst/>
          </a:prstGeom>
          <a:noFill/>
          <a:ln/>
        </p:spPr>
        <p:txBody>
          <a:bodyPr wrap="square" lIns="0" tIns="0" rIns="0" bIns="0" rtlCol="0" anchor="ctr"/>
          <a:lstStyle/>
          <a:p>
            <a:pPr marL="0" indent="0">
              <a:buNone/>
            </a:pPr>
            <a:r>
              <a:rPr lang="en-US" sz="1500" b="1" dirty="0">
                <a:solidFill>
                  <a:srgbClr val="FFFFFF"/>
                </a:solidFill>
                <a:latin typeface="Calibri" pitchFamily="34" charset="0"/>
                <a:ea typeface="Calibri" pitchFamily="34" charset="-122"/>
                <a:cs typeface="Calibri" pitchFamily="34" charset="-120"/>
              </a:rPr>
              <a:t>Emoji density bounds the claim</a:t>
            </a:r>
            <a:endParaRPr lang="en-US" sz="1500" dirty="0"/>
          </a:p>
        </p:txBody>
      </p:sp>
      <p:sp>
        <p:nvSpPr>
          <p:cNvPr id="21" name="Shape 18"/>
          <p:cNvSpPr/>
          <p:nvPr/>
        </p:nvSpPr>
        <p:spPr>
          <a:xfrm>
            <a:off x="7863840" y="4169664"/>
            <a:ext cx="3758184" cy="1581912"/>
          </a:xfrm>
          <a:prstGeom prst="rect">
            <a:avLst/>
          </a:prstGeom>
          <a:solidFill>
            <a:srgbClr val="F4DDE6"/>
          </a:solidFill>
          <a:ln/>
        </p:spPr>
      </p:sp>
      <p:sp>
        <p:nvSpPr>
          <p:cNvPr id="22" name="Text 19"/>
          <p:cNvSpPr txBox="1"/>
          <p:nvPr/>
        </p:nvSpPr>
        <p:spPr>
          <a:xfrm>
            <a:off x="8065008" y="4270248"/>
            <a:ext cx="3355848" cy="1371600"/>
          </a:xfrm>
          <a:prstGeom prst="rect">
            <a:avLst/>
          </a:prstGeom>
          <a:noFill/>
          <a:ln/>
        </p:spPr>
        <p:txBody>
          <a:bodyPr wrap="square" lIns="0" tIns="0" rIns="0" bIns="0" rtlCol="0" anchor="t"/>
          <a:lstStyle/>
          <a:p>
            <a:pPr marL="0" indent="0">
              <a:lnSpc>
                <a:spcPct val="106000"/>
              </a:lnSpc>
              <a:buNone/>
            </a:pPr>
            <a:r>
              <a:rPr lang="en-US" sz="1200" dirty="0">
                <a:solidFill>
                  <a:srgbClr val="000000"/>
                </a:solidFill>
                <a:latin typeface="Calibri" pitchFamily="34" charset="0"/>
                <a:ea typeface="Calibri" pitchFamily="34" charset="-122"/>
                <a:cs typeface="Calibri" pitchFamily="34" charset="-120"/>
              </a:rPr>
              <a:t>Only 11.3% of training tweets contain emoji, but 24.8% of development tweets do. Any effect is produced by a minority of rows, and the split on which the effect is measured is less diluted than the training split.</a:t>
            </a:r>
            <a:endParaRPr lang="en-US" sz="12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1045159"/>
          </a:xfrm>
          <a:prstGeom prst="rect">
            <a:avLst/>
          </a:prstGeom>
          <a:solidFill>
            <a:srgbClr val="9A003B"/>
          </a:solidFill>
          <a:ln w="12700">
            <a:solidFill>
              <a:srgbClr val="9A003B"/>
            </a:solidFill>
            <a:prstDash val="solid"/>
          </a:ln>
        </p:spPr>
      </p:sp>
      <p:sp>
        <p:nvSpPr>
          <p:cNvPr id="3" name="Text 1"/>
          <p:cNvSpPr txBox="1"/>
          <p:nvPr/>
        </p:nvSpPr>
        <p:spPr>
          <a:xfrm>
            <a:off x="228600" y="109728"/>
            <a:ext cx="11704320" cy="825703"/>
          </a:xfrm>
          <a:prstGeom prst="rect">
            <a:avLst/>
          </a:prstGeom>
          <a:noFill/>
          <a:ln/>
        </p:spPr>
        <p:txBody>
          <a:bodyPr wrap="square" lIns="0" tIns="0" rIns="0" bIns="0" rtlCol="0" anchor="ctr"/>
          <a:lstStyle/>
          <a:p>
            <a:pPr marL="0" indent="0">
              <a:lnSpc>
                <a:spcPct val="95000"/>
              </a:lnSpc>
              <a:buNone/>
            </a:pPr>
            <a:r>
              <a:rPr lang="en-US" sz="2500" dirty="0">
                <a:solidFill>
                  <a:srgbClr val="FFFFFF"/>
                </a:solidFill>
                <a:latin typeface="Calibri" pitchFamily="34" charset="0"/>
                <a:ea typeface="Calibri" pitchFamily="34" charset="-122"/>
                <a:cs typeface="Calibri" pitchFamily="34" charset="-120"/>
              </a:rPr>
              <a:t>Results: Outcomes and Question Alignment II</a:t>
            </a:r>
            <a:endParaRPr lang="en-US" sz="2500" dirty="0"/>
          </a:p>
        </p:txBody>
      </p:sp>
      <p:sp>
        <p:nvSpPr>
          <p:cNvPr id="4" name="Text 2"/>
          <p:cNvSpPr txBox="1"/>
          <p:nvPr/>
        </p:nvSpPr>
        <p:spPr>
          <a:xfrm>
            <a:off x="10515600" y="5806440"/>
            <a:ext cx="1463040" cy="749808"/>
          </a:xfrm>
          <a:prstGeom prst="rect">
            <a:avLst/>
          </a:prstGeom>
          <a:noFill/>
          <a:ln/>
        </p:spPr>
        <p:txBody>
          <a:bodyPr wrap="square" lIns="0" tIns="0" rIns="0" bIns="0" rtlCol="0" anchor="b"/>
          <a:lstStyle/>
          <a:p>
            <a:pPr marL="0" indent="0" algn="r">
              <a:lnSpc>
                <a:spcPct val="85000"/>
              </a:lnSpc>
              <a:buNone/>
            </a:pPr>
            <a:r>
              <a:rPr lang="en-US" sz="1150" b="1" dirty="0">
                <a:solidFill>
                  <a:srgbClr val="9A003B"/>
                </a:solidFill>
                <a:latin typeface="Calibri" pitchFamily="34" charset="0"/>
                <a:ea typeface="Calibri" pitchFamily="34" charset="-122"/>
                <a:cs typeface="Calibri" pitchFamily="34" charset="-120"/>
              </a:rPr>
              <a:t>Sheffield</a:t>
            </a:r>
            <a:endParaRPr lang="en-US" sz="1150" dirty="0"/>
          </a:p>
          <a:p>
            <a:pPr marL="0" indent="0" algn="r">
              <a:lnSpc>
                <a:spcPct val="85000"/>
              </a:lnSpc>
              <a:buNone/>
            </a:pPr>
            <a:r>
              <a:rPr lang="en-US" sz="1150" b="1" dirty="0">
                <a:solidFill>
                  <a:srgbClr val="9A003B"/>
                </a:solidFill>
                <a:latin typeface="Calibri" pitchFamily="34" charset="0"/>
                <a:ea typeface="Calibri" pitchFamily="34" charset="-122"/>
                <a:cs typeface="Calibri" pitchFamily="34" charset="-120"/>
              </a:rPr>
              <a:t>Hallam</a:t>
            </a:r>
            <a:endParaRPr lang="en-US" sz="1150" dirty="0"/>
          </a:p>
          <a:p>
            <a:pPr marL="0" indent="0" algn="r">
              <a:lnSpc>
                <a:spcPct val="85000"/>
              </a:lnSpc>
              <a:buNone/>
            </a:pPr>
            <a:r>
              <a:rPr lang="en-US" sz="1150" b="1" dirty="0">
                <a:solidFill>
                  <a:srgbClr val="9A003B"/>
                </a:solidFill>
                <a:latin typeface="Calibri" pitchFamily="34" charset="0"/>
                <a:ea typeface="Calibri" pitchFamily="34" charset="-122"/>
                <a:cs typeface="Calibri" pitchFamily="34" charset="-120"/>
              </a:rPr>
              <a:t>University</a:t>
            </a:r>
            <a:endParaRPr lang="en-US" sz="1150" dirty="0"/>
          </a:p>
        </p:txBody>
      </p:sp>
      <p:sp>
        <p:nvSpPr>
          <p:cNvPr id="5" name="Shape 3"/>
          <p:cNvSpPr/>
          <p:nvPr/>
        </p:nvSpPr>
        <p:spPr>
          <a:xfrm>
            <a:off x="0" y="6624828"/>
            <a:ext cx="4063898" cy="233172"/>
          </a:xfrm>
          <a:prstGeom prst="rect">
            <a:avLst/>
          </a:prstGeom>
          <a:solidFill>
            <a:srgbClr val="4D001E"/>
          </a:solidFill>
          <a:ln w="12700">
            <a:solidFill>
              <a:srgbClr val="4D001E"/>
            </a:solidFill>
            <a:prstDash val="solid"/>
          </a:ln>
        </p:spPr>
      </p:sp>
      <p:sp>
        <p:nvSpPr>
          <p:cNvPr id="6" name="Shape 4"/>
          <p:cNvSpPr/>
          <p:nvPr/>
        </p:nvSpPr>
        <p:spPr>
          <a:xfrm>
            <a:off x="4063898" y="6624828"/>
            <a:ext cx="4063898" cy="233172"/>
          </a:xfrm>
          <a:prstGeom prst="rect">
            <a:avLst/>
          </a:prstGeom>
          <a:solidFill>
            <a:srgbClr val="74002C"/>
          </a:solidFill>
          <a:ln w="12700">
            <a:solidFill>
              <a:srgbClr val="74002C"/>
            </a:solidFill>
            <a:prstDash val="solid"/>
          </a:ln>
        </p:spPr>
      </p:sp>
      <p:sp>
        <p:nvSpPr>
          <p:cNvPr id="7" name="Shape 5"/>
          <p:cNvSpPr/>
          <p:nvPr/>
        </p:nvSpPr>
        <p:spPr>
          <a:xfrm>
            <a:off x="8127797" y="6624828"/>
            <a:ext cx="4063898" cy="233172"/>
          </a:xfrm>
          <a:prstGeom prst="rect">
            <a:avLst/>
          </a:prstGeom>
          <a:solidFill>
            <a:srgbClr val="9A003B"/>
          </a:solidFill>
          <a:ln w="12700">
            <a:solidFill>
              <a:srgbClr val="9A003B"/>
            </a:solidFill>
            <a:prstDash val="solid"/>
          </a:ln>
        </p:spPr>
      </p:sp>
      <p:sp>
        <p:nvSpPr>
          <p:cNvPr id="8" name="Text 6"/>
          <p:cNvSpPr txBox="1"/>
          <p:nvPr/>
        </p:nvSpPr>
        <p:spPr>
          <a:xfrm>
            <a:off x="1143000" y="6624828"/>
            <a:ext cx="2743200" cy="233172"/>
          </a:xfrm>
          <a:prstGeom prst="rect">
            <a:avLst/>
          </a:prstGeom>
          <a:noFill/>
          <a:ln/>
        </p:spPr>
        <p:txBody>
          <a:bodyPr wrap="square" lIns="0" tIns="0" rIns="0" bIns="0" rtlCol="0" anchor="ctr"/>
          <a:lstStyle/>
          <a:p>
            <a:pPr marL="0" indent="0">
              <a:buNone/>
            </a:pPr>
            <a:r>
              <a:rPr lang="en-US" sz="900" dirty="0">
                <a:solidFill>
                  <a:srgbClr val="FFFFFF"/>
                </a:solidFill>
                <a:latin typeface="Calibri" pitchFamily="34" charset="0"/>
                <a:ea typeface="Calibri" pitchFamily="34" charset="-122"/>
                <a:cs typeface="Calibri" pitchFamily="34" charset="-120"/>
              </a:rPr>
              <a:t>[Student Initials]  (SHU)</a:t>
            </a:r>
            <a:endParaRPr lang="en-US" sz="900" dirty="0"/>
          </a:p>
        </p:txBody>
      </p:sp>
      <p:sp>
        <p:nvSpPr>
          <p:cNvPr id="9" name="Text 7"/>
          <p:cNvSpPr txBox="1"/>
          <p:nvPr/>
        </p:nvSpPr>
        <p:spPr>
          <a:xfrm>
            <a:off x="5276088" y="6624828"/>
            <a:ext cx="2743200" cy="233172"/>
          </a:xfrm>
          <a:prstGeom prst="rect">
            <a:avLst/>
          </a:prstGeom>
          <a:noFill/>
          <a:ln/>
        </p:spPr>
        <p:txBody>
          <a:bodyPr wrap="square" lIns="0" tIns="0" rIns="0" bIns="0" rtlCol="0" anchor="ctr"/>
          <a:lstStyle/>
          <a:p>
            <a:pPr marL="0" indent="0">
              <a:buNone/>
            </a:pPr>
            <a:r>
              <a:rPr lang="en-US" sz="900" dirty="0">
                <a:solidFill>
                  <a:srgbClr val="FFFFFF"/>
                </a:solidFill>
                <a:latin typeface="Calibri" pitchFamily="34" charset="0"/>
                <a:ea typeface="Calibri" pitchFamily="34" charset="-122"/>
                <a:cs typeface="Calibri" pitchFamily="34" charset="-120"/>
              </a:rPr>
              <a:t>Does the Emoji Matter?</a:t>
            </a:r>
            <a:endParaRPr lang="en-US" sz="900" dirty="0"/>
          </a:p>
        </p:txBody>
      </p:sp>
      <p:sp>
        <p:nvSpPr>
          <p:cNvPr id="10" name="Text 8"/>
          <p:cNvSpPr txBox="1"/>
          <p:nvPr/>
        </p:nvSpPr>
        <p:spPr>
          <a:xfrm>
            <a:off x="9235440" y="6624828"/>
            <a:ext cx="1645920" cy="233172"/>
          </a:xfrm>
          <a:prstGeom prst="rect">
            <a:avLst/>
          </a:prstGeom>
          <a:noFill/>
          <a:ln/>
        </p:spPr>
        <p:txBody>
          <a:bodyPr wrap="square" lIns="0" tIns="0" rIns="0" bIns="0" rtlCol="0" anchor="ctr"/>
          <a:lstStyle/>
          <a:p>
            <a:pPr marL="0" indent="0">
              <a:buNone/>
            </a:pPr>
            <a:r>
              <a:rPr lang="en-US" sz="900" dirty="0">
                <a:solidFill>
                  <a:srgbClr val="FFFFFF"/>
                </a:solidFill>
                <a:latin typeface="Calibri" pitchFamily="34" charset="0"/>
                <a:ea typeface="Calibri" pitchFamily="34" charset="-122"/>
                <a:cs typeface="Calibri" pitchFamily="34" charset="-120"/>
              </a:rPr>
              <a:t>September 2026</a:t>
            </a:r>
            <a:endParaRPr lang="en-US" sz="900" dirty="0"/>
          </a:p>
        </p:txBody>
      </p:sp>
      <p:sp>
        <p:nvSpPr>
          <p:cNvPr id="11" name="Text 9"/>
          <p:cNvSpPr txBox="1"/>
          <p:nvPr/>
        </p:nvSpPr>
        <p:spPr>
          <a:xfrm>
            <a:off x="10881360" y="6624828"/>
            <a:ext cx="1161288" cy="233172"/>
          </a:xfrm>
          <a:prstGeom prst="rect">
            <a:avLst/>
          </a:prstGeom>
          <a:noFill/>
          <a:ln/>
        </p:spPr>
        <p:txBody>
          <a:bodyPr wrap="square" lIns="0" tIns="0" rIns="0" bIns="0" rtlCol="0" anchor="ctr"/>
          <a:lstStyle/>
          <a:p>
            <a:pPr marL="0" indent="0" algn="r">
              <a:buNone/>
            </a:pPr>
            <a:r>
              <a:rPr lang="en-US" sz="900" dirty="0">
                <a:solidFill>
                  <a:srgbClr val="FFFFFF"/>
                </a:solidFill>
                <a:latin typeface="Calibri" pitchFamily="34" charset="0"/>
                <a:ea typeface="Calibri" pitchFamily="34" charset="-122"/>
                <a:cs typeface="Calibri" pitchFamily="34" charset="-120"/>
              </a:rPr>
              <a:t>26 / 43</a:t>
            </a:r>
            <a:endParaRPr lang="en-US" sz="900" dirty="0"/>
          </a:p>
        </p:txBody>
      </p:sp>
      <p:sp>
        <p:nvSpPr>
          <p:cNvPr id="12" name="Text 10"/>
          <p:cNvSpPr txBox="1"/>
          <p:nvPr/>
        </p:nvSpPr>
        <p:spPr>
          <a:xfrm>
            <a:off x="566928" y="1298448"/>
            <a:ext cx="11055096" cy="274320"/>
          </a:xfrm>
          <a:prstGeom prst="rect">
            <a:avLst/>
          </a:prstGeom>
          <a:noFill/>
          <a:ln/>
        </p:spPr>
        <p:txBody>
          <a:bodyPr wrap="square" lIns="0" tIns="0" rIns="0" bIns="0" rtlCol="0" anchor="t"/>
          <a:lstStyle/>
          <a:p>
            <a:pPr marL="0" indent="0">
              <a:lnSpc>
                <a:spcPct val="106000"/>
              </a:lnSpc>
              <a:buNone/>
            </a:pPr>
            <a:r>
              <a:rPr lang="en-US" sz="1500" b="1" dirty="0">
                <a:solidFill>
                  <a:srgbClr val="000000"/>
                </a:solidFill>
                <a:latin typeface="Calibri" pitchFamily="34" charset="0"/>
                <a:ea typeface="Calibri" pitchFamily="34" charset="-122"/>
                <a:cs typeface="Calibri" pitchFamily="34" charset="-120"/>
              </a:rPr>
              <a:t>Performance of the four conditions, development split</a:t>
            </a:r>
            <a:endParaRPr lang="en-US" sz="1500" dirty="0"/>
          </a:p>
        </p:txBody>
      </p:sp>
      <p:pic>
        <p:nvPicPr>
          <p:cNvPr id="13" name="Image 0" descr="D:\assigments_7_students\krish\figures\overall_performance.png"/>
          <p:cNvPicPr>
            <a:picLocks noChangeAspect="1"/>
          </p:cNvPicPr>
          <p:nvPr/>
        </p:nvPicPr>
        <p:blipFill>
          <a:blip r:embed="rId3"/>
          <a:stretch>
            <a:fillRect/>
          </a:stretch>
        </p:blipFill>
        <p:spPr>
          <a:xfrm>
            <a:off x="566928" y="1682496"/>
            <a:ext cx="6400800" cy="3035808"/>
          </a:xfrm>
          <a:prstGeom prst="rect">
            <a:avLst/>
          </a:prstGeom>
        </p:spPr>
      </p:pic>
      <p:sp>
        <p:nvSpPr>
          <p:cNvPr id="14" name="Text 11"/>
          <p:cNvSpPr txBox="1"/>
          <p:nvPr/>
        </p:nvSpPr>
        <p:spPr>
          <a:xfrm>
            <a:off x="566928" y="4791456"/>
            <a:ext cx="6400800" cy="365760"/>
          </a:xfrm>
          <a:prstGeom prst="rect">
            <a:avLst/>
          </a:prstGeom>
          <a:noFill/>
          <a:ln/>
        </p:spPr>
        <p:txBody>
          <a:bodyPr wrap="square" lIns="0" tIns="0" rIns="0" bIns="0" rtlCol="0" anchor="t"/>
          <a:lstStyle/>
          <a:p>
            <a:pPr marL="0" indent="0" algn="ctr">
              <a:lnSpc>
                <a:spcPct val="100000"/>
              </a:lnSpc>
              <a:buNone/>
            </a:pPr>
            <a:r>
              <a:rPr lang="en-US" sz="1050" dirty="0">
                <a:solidFill>
                  <a:srgbClr val="5C5C5C"/>
                </a:solidFill>
                <a:latin typeface="Calibri" pitchFamily="34" charset="0"/>
                <a:ea typeface="Calibri" pitchFamily="34" charset="-122"/>
                <a:cs typeface="Calibri" pitchFamily="34" charset="-120"/>
              </a:rPr>
              <a:t>Micro-F1, Macro-F1 and label accuracy for the four conditions.</a:t>
            </a:r>
            <a:endParaRPr lang="en-US" sz="1050" dirty="0"/>
          </a:p>
        </p:txBody>
      </p:sp>
      <p:graphicFrame>
        <p:nvGraphicFramePr>
          <p:cNvPr id="27" name="Table 0"/>
          <p:cNvGraphicFramePr>
            <a:graphicFrameLocks noGrp="1"/>
          </p:cNvGraphicFramePr>
          <p:nvPr>
            <p:extLst>
              <p:ext uri="{D42A27DB-BD31-4B8C-83A1-F6EECF244321}">
                <p14:modId xmlns:p14="http://schemas.microsoft.com/office/powerpoint/2010/main" val="1579011935"/>
              </p:ext>
            </p:extLst>
          </p:nvPr>
        </p:nvGraphicFramePr>
        <p:xfrm>
          <a:off x="7178040" y="1682496"/>
          <a:ext cx="4443984" cy="2139696"/>
        </p:xfrm>
        <a:graphic>
          <a:graphicData uri="http://schemas.openxmlformats.org/drawingml/2006/table">
            <a:tbl>
              <a:tblPr/>
              <a:tblGrid>
                <a:gridCol w="1060704">
                  <a:extLst>
                    <a:ext uri="{9D8B030D-6E8A-4147-A177-3AD203B41FA5}">
                      <a16:colId xmlns:a16="http://schemas.microsoft.com/office/drawing/2014/main" val="20000"/>
                    </a:ext>
                  </a:extLst>
                </a:gridCol>
                <a:gridCol w="1042416">
                  <a:extLst>
                    <a:ext uri="{9D8B030D-6E8A-4147-A177-3AD203B41FA5}">
                      <a16:colId xmlns:a16="http://schemas.microsoft.com/office/drawing/2014/main" val="20001"/>
                    </a:ext>
                  </a:extLst>
                </a:gridCol>
                <a:gridCol w="786384">
                  <a:extLst>
                    <a:ext uri="{9D8B030D-6E8A-4147-A177-3AD203B41FA5}">
                      <a16:colId xmlns:a16="http://schemas.microsoft.com/office/drawing/2014/main" val="20002"/>
                    </a:ext>
                  </a:extLst>
                </a:gridCol>
                <a:gridCol w="822960">
                  <a:extLst>
                    <a:ext uri="{9D8B030D-6E8A-4147-A177-3AD203B41FA5}">
                      <a16:colId xmlns:a16="http://schemas.microsoft.com/office/drawing/2014/main" val="20003"/>
                    </a:ext>
                  </a:extLst>
                </a:gridCol>
                <a:gridCol w="731520">
                  <a:extLst>
                    <a:ext uri="{9D8B030D-6E8A-4147-A177-3AD203B41FA5}">
                      <a16:colId xmlns:a16="http://schemas.microsoft.com/office/drawing/2014/main" val="20004"/>
                    </a:ext>
                  </a:extLst>
                </a:gridCol>
              </a:tblGrid>
              <a:tr h="420624">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Model</a:t>
                      </a:r>
                      <a:endParaRPr lang="en-US" sz="1200" dirty="0">
                        <a:latin typeface="Calibri" charset="0"/>
                        <a:ea typeface="Calibri" charset="0"/>
                        <a:cs typeface="Calibri" charset="0"/>
                      </a:endParaRPr>
                    </a:p>
                  </a:txBody>
                  <a:tcPr anchor="ctr">
                    <a:lnL w="9525" cap="flat" cmpd="sng" algn="ctr">
                      <a:solidFill>
                        <a:srgbClr val="C9CDD4"/>
                      </a:solidFill>
                      <a:prstDash val="solid"/>
                      <a:round/>
                      <a:headEnd type="none" w="med" len="med"/>
                      <a:tailEnd type="none" w="med" len="med"/>
                    </a:lnL>
                    <a:lnR w="9525" cap="flat" cmpd="sng" algn="ctr">
                      <a:solidFill>
                        <a:srgbClr val="C9CDD4"/>
                      </a:solidFill>
                      <a:prstDash val="solid"/>
                      <a:round/>
                      <a:headEnd type="none" w="med" len="med"/>
                      <a:tailEnd type="none" w="med" len="med"/>
                    </a:lnR>
                    <a:lnT w="9525" cap="flat" cmpd="sng" algn="ctr">
                      <a:solidFill>
                        <a:srgbClr val="C9CDD4"/>
                      </a:solidFill>
                      <a:prstDash val="solid"/>
                      <a:round/>
                      <a:headEnd type="none" w="med" len="med"/>
                      <a:tailEnd type="none" w="med" len="med"/>
                    </a:lnT>
                    <a:lnB w="9525" cap="flat" cmpd="sng" algn="ctr">
                      <a:solidFill>
                        <a:srgbClr val="C9CDD4"/>
                      </a:solidFill>
                      <a:prstDash val="solid"/>
                      <a:round/>
                      <a:headEnd type="none" w="med" len="med"/>
                      <a:tailEnd type="none" w="med" len="med"/>
                    </a:lnB>
                    <a:solidFill>
                      <a:srgbClr val="9A003B"/>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Track</a:t>
                      </a:r>
                      <a:endParaRPr lang="en-US" sz="1200" dirty="0">
                        <a:latin typeface="Calibri" charset="0"/>
                        <a:ea typeface="Calibri" charset="0"/>
                        <a:cs typeface="Calibri" charset="0"/>
                      </a:endParaRPr>
                    </a:p>
                  </a:txBody>
                  <a:tcPr anchor="ctr">
                    <a:lnL w="9525" cap="flat" cmpd="sng" algn="ctr">
                      <a:solidFill>
                        <a:srgbClr val="C9CDD4"/>
                      </a:solidFill>
                      <a:prstDash val="solid"/>
                      <a:round/>
                      <a:headEnd type="none" w="med" len="med"/>
                      <a:tailEnd type="none" w="med" len="med"/>
                    </a:lnL>
                    <a:lnR w="9525" cap="flat" cmpd="sng" algn="ctr">
                      <a:solidFill>
                        <a:srgbClr val="C9CDD4"/>
                      </a:solidFill>
                      <a:prstDash val="solid"/>
                      <a:round/>
                      <a:headEnd type="none" w="med" len="med"/>
                      <a:tailEnd type="none" w="med" len="med"/>
                    </a:lnR>
                    <a:lnT w="9525" cap="flat" cmpd="sng" algn="ctr">
                      <a:solidFill>
                        <a:srgbClr val="C9CDD4"/>
                      </a:solidFill>
                      <a:prstDash val="solid"/>
                      <a:round/>
                      <a:headEnd type="none" w="med" len="med"/>
                      <a:tailEnd type="none" w="med" len="med"/>
                    </a:lnT>
                    <a:lnB w="9525" cap="flat" cmpd="sng" algn="ctr">
                      <a:solidFill>
                        <a:srgbClr val="C9CDD4"/>
                      </a:solidFill>
                      <a:prstDash val="solid"/>
                      <a:round/>
                      <a:headEnd type="none" w="med" len="med"/>
                      <a:tailEnd type="none" w="med" len="med"/>
                    </a:lnB>
                    <a:solidFill>
                      <a:srgbClr val="9A003B"/>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Micro-F1</a:t>
                      </a:r>
                      <a:endParaRPr lang="en-US" sz="1200" dirty="0">
                        <a:latin typeface="Calibri" charset="0"/>
                        <a:ea typeface="Calibri" charset="0"/>
                        <a:cs typeface="Calibri" charset="0"/>
                      </a:endParaRPr>
                    </a:p>
                  </a:txBody>
                  <a:tcPr anchor="ctr">
                    <a:lnL w="9525" cap="flat" cmpd="sng" algn="ctr">
                      <a:solidFill>
                        <a:srgbClr val="C9CDD4"/>
                      </a:solidFill>
                      <a:prstDash val="solid"/>
                      <a:round/>
                      <a:headEnd type="none" w="med" len="med"/>
                      <a:tailEnd type="none" w="med" len="med"/>
                    </a:lnL>
                    <a:lnR w="9525" cap="flat" cmpd="sng" algn="ctr">
                      <a:solidFill>
                        <a:srgbClr val="C9CDD4"/>
                      </a:solidFill>
                      <a:prstDash val="solid"/>
                      <a:round/>
                      <a:headEnd type="none" w="med" len="med"/>
                      <a:tailEnd type="none" w="med" len="med"/>
                    </a:lnR>
                    <a:lnT w="9525" cap="flat" cmpd="sng" algn="ctr">
                      <a:solidFill>
                        <a:srgbClr val="C9CDD4"/>
                      </a:solidFill>
                      <a:prstDash val="solid"/>
                      <a:round/>
                      <a:headEnd type="none" w="med" len="med"/>
                      <a:tailEnd type="none" w="med" len="med"/>
                    </a:lnT>
                    <a:lnB w="9525" cap="flat" cmpd="sng" algn="ctr">
                      <a:solidFill>
                        <a:srgbClr val="C9CDD4"/>
                      </a:solidFill>
                      <a:prstDash val="solid"/>
                      <a:round/>
                      <a:headEnd type="none" w="med" len="med"/>
                      <a:tailEnd type="none" w="med" len="med"/>
                    </a:lnB>
                    <a:solidFill>
                      <a:srgbClr val="9A003B"/>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Macro-F1</a:t>
                      </a:r>
                      <a:endParaRPr lang="en-US" sz="1200" dirty="0">
                        <a:latin typeface="Calibri" charset="0"/>
                        <a:ea typeface="Calibri" charset="0"/>
                        <a:cs typeface="Calibri" charset="0"/>
                      </a:endParaRPr>
                    </a:p>
                  </a:txBody>
                  <a:tcPr anchor="ctr">
                    <a:lnL w="9525" cap="flat" cmpd="sng" algn="ctr">
                      <a:solidFill>
                        <a:srgbClr val="C9CDD4"/>
                      </a:solidFill>
                      <a:prstDash val="solid"/>
                      <a:round/>
                      <a:headEnd type="none" w="med" len="med"/>
                      <a:tailEnd type="none" w="med" len="med"/>
                    </a:lnL>
                    <a:lnR w="9525" cap="flat" cmpd="sng" algn="ctr">
                      <a:solidFill>
                        <a:srgbClr val="C9CDD4"/>
                      </a:solidFill>
                      <a:prstDash val="solid"/>
                      <a:round/>
                      <a:headEnd type="none" w="med" len="med"/>
                      <a:tailEnd type="none" w="med" len="med"/>
                    </a:lnR>
                    <a:lnT w="9525" cap="flat" cmpd="sng" algn="ctr">
                      <a:solidFill>
                        <a:srgbClr val="C9CDD4"/>
                      </a:solidFill>
                      <a:prstDash val="solid"/>
                      <a:round/>
                      <a:headEnd type="none" w="med" len="med"/>
                      <a:tailEnd type="none" w="med" len="med"/>
                    </a:lnT>
                    <a:lnB w="9525" cap="flat" cmpd="sng" algn="ctr">
                      <a:solidFill>
                        <a:srgbClr val="C9CDD4"/>
                      </a:solidFill>
                      <a:prstDash val="solid"/>
                      <a:round/>
                      <a:headEnd type="none" w="med" len="med"/>
                      <a:tailEnd type="none" w="med" len="med"/>
                    </a:lnB>
                    <a:solidFill>
                      <a:srgbClr val="9A003B"/>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Label acc</a:t>
                      </a:r>
                      <a:endParaRPr lang="en-US" sz="1200" dirty="0">
                        <a:latin typeface="Calibri" charset="0"/>
                        <a:ea typeface="Calibri" charset="0"/>
                        <a:cs typeface="Calibri" charset="0"/>
                      </a:endParaRPr>
                    </a:p>
                  </a:txBody>
                  <a:tcPr anchor="ctr">
                    <a:lnL w="9525" cap="flat" cmpd="sng" algn="ctr">
                      <a:solidFill>
                        <a:srgbClr val="C9CDD4"/>
                      </a:solidFill>
                      <a:prstDash val="solid"/>
                      <a:round/>
                      <a:headEnd type="none" w="med" len="med"/>
                      <a:tailEnd type="none" w="med" len="med"/>
                    </a:lnL>
                    <a:lnR w="9525" cap="flat" cmpd="sng" algn="ctr">
                      <a:solidFill>
                        <a:srgbClr val="C9CDD4"/>
                      </a:solidFill>
                      <a:prstDash val="solid"/>
                      <a:round/>
                      <a:headEnd type="none" w="med" len="med"/>
                      <a:tailEnd type="none" w="med" len="med"/>
                    </a:lnR>
                    <a:lnT w="9525" cap="flat" cmpd="sng" algn="ctr">
                      <a:solidFill>
                        <a:srgbClr val="C9CDD4"/>
                      </a:solidFill>
                      <a:prstDash val="solid"/>
                      <a:round/>
                      <a:headEnd type="none" w="med" len="med"/>
                      <a:tailEnd type="none" w="med" len="med"/>
                    </a:lnT>
                    <a:lnB w="9525" cap="flat" cmpd="sng" algn="ctr">
                      <a:solidFill>
                        <a:srgbClr val="C9CDD4"/>
                      </a:solidFill>
                      <a:prstDash val="solid"/>
                      <a:round/>
                      <a:headEnd type="none" w="med" len="med"/>
                      <a:tailEnd type="none" w="med" len="med"/>
                    </a:lnB>
                    <a:solidFill>
                      <a:srgbClr val="9A003B"/>
                    </a:solidFill>
                  </a:tcPr>
                </a:tc>
                <a:extLst>
                  <a:ext uri="{0D108BD9-81ED-4DB2-BD59-A6C34878D82A}">
                    <a16:rowId xmlns:a16="http://schemas.microsoft.com/office/drawing/2014/main" val="10000"/>
                  </a:ext>
                </a:extLst>
              </a:tr>
              <a:tr h="420624">
                <a:tc>
                  <a:txBody>
                    <a:bodyPr/>
                    <a:lstStyle/>
                    <a:p>
                      <a:pPr marL="0" indent="0">
                        <a:buNone/>
                      </a:pPr>
                      <a:r>
                        <a:rPr lang="en-US" sz="1050" dirty="0">
                          <a:solidFill>
                            <a:srgbClr val="000000"/>
                          </a:solidFill>
                          <a:latin typeface="Calibri" pitchFamily="34" charset="0"/>
                          <a:ea typeface="Calibri" pitchFamily="34" charset="-122"/>
                          <a:cs typeface="Calibri" pitchFamily="34" charset="-120"/>
                        </a:rPr>
                        <a:t>BiLSTM</a:t>
                      </a:r>
                      <a:endParaRPr lang="en-US" sz="1050" dirty="0">
                        <a:latin typeface="Calibri" charset="0"/>
                        <a:ea typeface="Calibri" charset="0"/>
                        <a:cs typeface="Calibri" charset="0"/>
                      </a:endParaRPr>
                    </a:p>
                  </a:txBody>
                  <a:tcPr anchor="ctr">
                    <a:lnL w="9525" cap="flat" cmpd="sng" algn="ctr">
                      <a:solidFill>
                        <a:srgbClr val="C9CDD4"/>
                      </a:solidFill>
                      <a:prstDash val="solid"/>
                      <a:round/>
                      <a:headEnd type="none" w="med" len="med"/>
                      <a:tailEnd type="none" w="med" len="med"/>
                    </a:lnL>
                    <a:lnR w="9525" cap="flat" cmpd="sng" algn="ctr">
                      <a:solidFill>
                        <a:srgbClr val="C9CDD4"/>
                      </a:solidFill>
                      <a:prstDash val="solid"/>
                      <a:round/>
                      <a:headEnd type="none" w="med" len="med"/>
                      <a:tailEnd type="none" w="med" len="med"/>
                    </a:lnR>
                    <a:lnT w="9525" cap="flat" cmpd="sng" algn="ctr">
                      <a:solidFill>
                        <a:srgbClr val="C9CDD4"/>
                      </a:solidFill>
                      <a:prstDash val="solid"/>
                      <a:round/>
                      <a:headEnd type="none" w="med" len="med"/>
                      <a:tailEnd type="none" w="med" len="med"/>
                    </a:lnT>
                    <a:lnB w="9525" cap="flat" cmpd="sng" algn="ctr">
                      <a:solidFill>
                        <a:srgbClr val="C9CDD4"/>
                      </a:solidFill>
                      <a:prstDash val="solid"/>
                      <a:round/>
                      <a:headEnd type="none" w="med" len="med"/>
                      <a:tailEnd type="none" w="med" len="med"/>
                    </a:lnB>
                  </a:tcPr>
                </a:tc>
                <a:tc>
                  <a:txBody>
                    <a:bodyPr/>
                    <a:lstStyle/>
                    <a:p>
                      <a:pPr marL="0" indent="0">
                        <a:buNone/>
                      </a:pPr>
                      <a:r>
                        <a:rPr lang="en-US" sz="1050" dirty="0">
                          <a:solidFill>
                            <a:srgbClr val="000000"/>
                          </a:solidFill>
                          <a:latin typeface="Calibri" pitchFamily="34" charset="0"/>
                          <a:ea typeface="Calibri" pitchFamily="34" charset="-122"/>
                          <a:cs typeface="Calibri" pitchFamily="34" charset="-120"/>
                        </a:rPr>
                        <a:t>Without emoji</a:t>
                      </a:r>
                      <a:endParaRPr lang="en-US" sz="1050" dirty="0">
                        <a:latin typeface="Calibri" charset="0"/>
                        <a:ea typeface="Calibri" charset="0"/>
                        <a:cs typeface="Calibri" charset="0"/>
                      </a:endParaRPr>
                    </a:p>
                  </a:txBody>
                  <a:tcPr anchor="ctr">
                    <a:lnL w="9525" cap="flat" cmpd="sng" algn="ctr">
                      <a:solidFill>
                        <a:srgbClr val="C9CDD4"/>
                      </a:solidFill>
                      <a:prstDash val="solid"/>
                      <a:round/>
                      <a:headEnd type="none" w="med" len="med"/>
                      <a:tailEnd type="none" w="med" len="med"/>
                    </a:lnL>
                    <a:lnR w="9525" cap="flat" cmpd="sng" algn="ctr">
                      <a:solidFill>
                        <a:srgbClr val="C9CDD4"/>
                      </a:solidFill>
                      <a:prstDash val="solid"/>
                      <a:round/>
                      <a:headEnd type="none" w="med" len="med"/>
                      <a:tailEnd type="none" w="med" len="med"/>
                    </a:lnR>
                    <a:lnT w="9525" cap="flat" cmpd="sng" algn="ctr">
                      <a:solidFill>
                        <a:srgbClr val="C9CDD4"/>
                      </a:solidFill>
                      <a:prstDash val="solid"/>
                      <a:round/>
                      <a:headEnd type="none" w="med" len="med"/>
                      <a:tailEnd type="none" w="med" len="med"/>
                    </a:lnT>
                    <a:lnB w="9525" cap="flat" cmpd="sng" algn="ctr">
                      <a:solidFill>
                        <a:srgbClr val="C9CDD4"/>
                      </a:solidFill>
                      <a:prstDash val="solid"/>
                      <a:round/>
                      <a:headEnd type="none" w="med" len="med"/>
                      <a:tailEnd type="none" w="med" len="med"/>
                    </a:lnB>
                  </a:tcPr>
                </a:tc>
                <a:tc>
                  <a:txBody>
                    <a:bodyPr/>
                    <a:lstStyle/>
                    <a:p>
                      <a:pPr marL="0" indent="0">
                        <a:buNone/>
                      </a:pPr>
                      <a:r>
                        <a:rPr lang="en-US" sz="1050" dirty="0">
                          <a:solidFill>
                            <a:srgbClr val="000000"/>
                          </a:solidFill>
                          <a:latin typeface="Calibri" pitchFamily="34" charset="0"/>
                          <a:ea typeface="Calibri" pitchFamily="34" charset="-122"/>
                          <a:cs typeface="Calibri" pitchFamily="34" charset="-120"/>
                        </a:rPr>
                        <a:t>53.63</a:t>
                      </a:r>
                      <a:endParaRPr lang="en-US" sz="1050" dirty="0">
                        <a:latin typeface="Calibri" charset="0"/>
                        <a:ea typeface="Calibri" charset="0"/>
                        <a:cs typeface="Calibri" charset="0"/>
                      </a:endParaRPr>
                    </a:p>
                  </a:txBody>
                  <a:tcPr anchor="ctr">
                    <a:lnL w="9525" cap="flat" cmpd="sng" algn="ctr">
                      <a:solidFill>
                        <a:srgbClr val="C9CDD4"/>
                      </a:solidFill>
                      <a:prstDash val="solid"/>
                      <a:round/>
                      <a:headEnd type="none" w="med" len="med"/>
                      <a:tailEnd type="none" w="med" len="med"/>
                    </a:lnL>
                    <a:lnR w="9525" cap="flat" cmpd="sng" algn="ctr">
                      <a:solidFill>
                        <a:srgbClr val="C9CDD4"/>
                      </a:solidFill>
                      <a:prstDash val="solid"/>
                      <a:round/>
                      <a:headEnd type="none" w="med" len="med"/>
                      <a:tailEnd type="none" w="med" len="med"/>
                    </a:lnR>
                    <a:lnT w="9525" cap="flat" cmpd="sng" algn="ctr">
                      <a:solidFill>
                        <a:srgbClr val="C9CDD4"/>
                      </a:solidFill>
                      <a:prstDash val="solid"/>
                      <a:round/>
                      <a:headEnd type="none" w="med" len="med"/>
                      <a:tailEnd type="none" w="med" len="med"/>
                    </a:lnT>
                    <a:lnB w="9525" cap="flat" cmpd="sng" algn="ctr">
                      <a:solidFill>
                        <a:srgbClr val="C9CDD4"/>
                      </a:solidFill>
                      <a:prstDash val="solid"/>
                      <a:round/>
                      <a:headEnd type="none" w="med" len="med"/>
                      <a:tailEnd type="none" w="med" len="med"/>
                    </a:lnB>
                  </a:tcPr>
                </a:tc>
                <a:tc>
                  <a:txBody>
                    <a:bodyPr/>
                    <a:lstStyle/>
                    <a:p>
                      <a:pPr marL="0" indent="0">
                        <a:buNone/>
                      </a:pPr>
                      <a:r>
                        <a:rPr lang="en-US" sz="1050" dirty="0">
                          <a:solidFill>
                            <a:srgbClr val="000000"/>
                          </a:solidFill>
                          <a:latin typeface="Calibri" pitchFamily="34" charset="0"/>
                          <a:ea typeface="Calibri" pitchFamily="34" charset="-122"/>
                          <a:cs typeface="Calibri" pitchFamily="34" charset="-120"/>
                        </a:rPr>
                        <a:t>47.86</a:t>
                      </a:r>
                      <a:endParaRPr lang="en-US" sz="1050" dirty="0">
                        <a:latin typeface="Calibri" charset="0"/>
                        <a:ea typeface="Calibri" charset="0"/>
                        <a:cs typeface="Calibri" charset="0"/>
                      </a:endParaRPr>
                    </a:p>
                  </a:txBody>
                  <a:tcPr anchor="ctr">
                    <a:lnL w="9525" cap="flat" cmpd="sng" algn="ctr">
                      <a:solidFill>
                        <a:srgbClr val="C9CDD4"/>
                      </a:solidFill>
                      <a:prstDash val="solid"/>
                      <a:round/>
                      <a:headEnd type="none" w="med" len="med"/>
                      <a:tailEnd type="none" w="med" len="med"/>
                    </a:lnL>
                    <a:lnR w="9525" cap="flat" cmpd="sng" algn="ctr">
                      <a:solidFill>
                        <a:srgbClr val="C9CDD4"/>
                      </a:solidFill>
                      <a:prstDash val="solid"/>
                      <a:round/>
                      <a:headEnd type="none" w="med" len="med"/>
                      <a:tailEnd type="none" w="med" len="med"/>
                    </a:lnR>
                    <a:lnT w="9525" cap="flat" cmpd="sng" algn="ctr">
                      <a:solidFill>
                        <a:srgbClr val="C9CDD4"/>
                      </a:solidFill>
                      <a:prstDash val="solid"/>
                      <a:round/>
                      <a:headEnd type="none" w="med" len="med"/>
                      <a:tailEnd type="none" w="med" len="med"/>
                    </a:lnT>
                    <a:lnB w="9525" cap="flat" cmpd="sng" algn="ctr">
                      <a:solidFill>
                        <a:srgbClr val="C9CDD4"/>
                      </a:solidFill>
                      <a:prstDash val="solid"/>
                      <a:round/>
                      <a:headEnd type="none" w="med" len="med"/>
                      <a:tailEnd type="none" w="med" len="med"/>
                    </a:lnB>
                  </a:tcPr>
                </a:tc>
                <a:tc>
                  <a:txBody>
                    <a:bodyPr/>
                    <a:lstStyle/>
                    <a:p>
                      <a:pPr marL="0" indent="0">
                        <a:buNone/>
                      </a:pPr>
                      <a:r>
                        <a:rPr lang="en-US" sz="1050" dirty="0">
                          <a:solidFill>
                            <a:srgbClr val="000000"/>
                          </a:solidFill>
                          <a:latin typeface="Calibri" pitchFamily="34" charset="0"/>
                          <a:ea typeface="Calibri" pitchFamily="34" charset="-122"/>
                          <a:cs typeface="Calibri" pitchFamily="34" charset="-120"/>
                        </a:rPr>
                        <a:t>74.02</a:t>
                      </a:r>
                      <a:endParaRPr lang="en-US" sz="1050" dirty="0">
                        <a:latin typeface="Calibri" charset="0"/>
                        <a:ea typeface="Calibri" charset="0"/>
                        <a:cs typeface="Calibri" charset="0"/>
                      </a:endParaRPr>
                    </a:p>
                  </a:txBody>
                  <a:tcPr anchor="ctr">
                    <a:lnL w="9525" cap="flat" cmpd="sng" algn="ctr">
                      <a:solidFill>
                        <a:srgbClr val="C9CDD4"/>
                      </a:solidFill>
                      <a:prstDash val="solid"/>
                      <a:round/>
                      <a:headEnd type="none" w="med" len="med"/>
                      <a:tailEnd type="none" w="med" len="med"/>
                    </a:lnL>
                    <a:lnR w="9525" cap="flat" cmpd="sng" algn="ctr">
                      <a:solidFill>
                        <a:srgbClr val="C9CDD4"/>
                      </a:solidFill>
                      <a:prstDash val="solid"/>
                      <a:round/>
                      <a:headEnd type="none" w="med" len="med"/>
                      <a:tailEnd type="none" w="med" len="med"/>
                    </a:lnR>
                    <a:lnT w="9525" cap="flat" cmpd="sng" algn="ctr">
                      <a:solidFill>
                        <a:srgbClr val="C9CDD4"/>
                      </a:solidFill>
                      <a:prstDash val="solid"/>
                      <a:round/>
                      <a:headEnd type="none" w="med" len="med"/>
                      <a:tailEnd type="none" w="med" len="med"/>
                    </a:lnT>
                    <a:lnB w="9525" cap="flat" cmpd="sng" algn="ctr">
                      <a:solidFill>
                        <a:srgbClr val="C9CDD4"/>
                      </a:solidFill>
                      <a:prstDash val="solid"/>
                      <a:round/>
                      <a:headEnd type="none" w="med" len="med"/>
                      <a:tailEnd type="none" w="med" len="med"/>
                    </a:lnB>
                  </a:tcPr>
                </a:tc>
                <a:extLst>
                  <a:ext uri="{0D108BD9-81ED-4DB2-BD59-A6C34878D82A}">
                    <a16:rowId xmlns:a16="http://schemas.microsoft.com/office/drawing/2014/main" val="10001"/>
                  </a:ext>
                </a:extLst>
              </a:tr>
              <a:tr h="420624">
                <a:tc>
                  <a:txBody>
                    <a:bodyPr/>
                    <a:lstStyle/>
                    <a:p>
                      <a:pPr marL="0" indent="0">
                        <a:buNone/>
                      </a:pPr>
                      <a:r>
                        <a:rPr lang="en-US" sz="1050" b="1" dirty="0">
                          <a:solidFill>
                            <a:srgbClr val="000000"/>
                          </a:solidFill>
                          <a:latin typeface="Calibri" pitchFamily="34" charset="0"/>
                          <a:ea typeface="Calibri" pitchFamily="34" charset="-122"/>
                          <a:cs typeface="Calibri" pitchFamily="34" charset="-120"/>
                        </a:rPr>
                        <a:t>BiLSTM</a:t>
                      </a:r>
                      <a:endParaRPr lang="en-US" sz="1050" dirty="0">
                        <a:latin typeface="Calibri" charset="0"/>
                        <a:ea typeface="Calibri" charset="0"/>
                        <a:cs typeface="Calibri" charset="0"/>
                      </a:endParaRPr>
                    </a:p>
                  </a:txBody>
                  <a:tcPr anchor="ctr">
                    <a:lnL w="9525" cap="flat" cmpd="sng" algn="ctr">
                      <a:solidFill>
                        <a:srgbClr val="C9CDD4"/>
                      </a:solidFill>
                      <a:prstDash val="solid"/>
                      <a:round/>
                      <a:headEnd type="none" w="med" len="med"/>
                      <a:tailEnd type="none" w="med" len="med"/>
                    </a:lnL>
                    <a:lnR w="9525" cap="flat" cmpd="sng" algn="ctr">
                      <a:solidFill>
                        <a:srgbClr val="C9CDD4"/>
                      </a:solidFill>
                      <a:prstDash val="solid"/>
                      <a:round/>
                      <a:headEnd type="none" w="med" len="med"/>
                      <a:tailEnd type="none" w="med" len="med"/>
                    </a:lnR>
                    <a:lnT w="9525" cap="flat" cmpd="sng" algn="ctr">
                      <a:solidFill>
                        <a:srgbClr val="C9CDD4"/>
                      </a:solidFill>
                      <a:prstDash val="solid"/>
                      <a:round/>
                      <a:headEnd type="none" w="med" len="med"/>
                      <a:tailEnd type="none" w="med" len="med"/>
                    </a:lnT>
                    <a:lnB w="9525" cap="flat" cmpd="sng" algn="ctr">
                      <a:solidFill>
                        <a:srgbClr val="C9CDD4"/>
                      </a:solidFill>
                      <a:prstDash val="solid"/>
                      <a:round/>
                      <a:headEnd type="none" w="med" len="med"/>
                      <a:tailEnd type="none" w="med" len="med"/>
                    </a:lnB>
                  </a:tcPr>
                </a:tc>
                <a:tc>
                  <a:txBody>
                    <a:bodyPr/>
                    <a:lstStyle/>
                    <a:p>
                      <a:pPr marL="0" indent="0">
                        <a:buNone/>
                      </a:pPr>
                      <a:r>
                        <a:rPr lang="en-US" sz="1050" b="1" dirty="0">
                          <a:solidFill>
                            <a:srgbClr val="9A003B"/>
                          </a:solidFill>
                          <a:latin typeface="Calibri" pitchFamily="34" charset="0"/>
                          <a:ea typeface="Calibri" pitchFamily="34" charset="-122"/>
                          <a:cs typeface="Calibri" pitchFamily="34" charset="-120"/>
                        </a:rPr>
                        <a:t>With emoji</a:t>
                      </a:r>
                      <a:endParaRPr lang="en-US" sz="1050" dirty="0">
                        <a:latin typeface="Calibri" charset="0"/>
                        <a:ea typeface="Calibri" charset="0"/>
                        <a:cs typeface="Calibri" charset="0"/>
                      </a:endParaRPr>
                    </a:p>
                  </a:txBody>
                  <a:tcPr anchor="ctr">
                    <a:lnL w="9525" cap="flat" cmpd="sng" algn="ctr">
                      <a:solidFill>
                        <a:srgbClr val="C9CDD4"/>
                      </a:solidFill>
                      <a:prstDash val="solid"/>
                      <a:round/>
                      <a:headEnd type="none" w="med" len="med"/>
                      <a:tailEnd type="none" w="med" len="med"/>
                    </a:lnL>
                    <a:lnR w="9525" cap="flat" cmpd="sng" algn="ctr">
                      <a:solidFill>
                        <a:srgbClr val="C9CDD4"/>
                      </a:solidFill>
                      <a:prstDash val="solid"/>
                      <a:round/>
                      <a:headEnd type="none" w="med" len="med"/>
                      <a:tailEnd type="none" w="med" len="med"/>
                    </a:lnR>
                    <a:lnT w="9525" cap="flat" cmpd="sng" algn="ctr">
                      <a:solidFill>
                        <a:srgbClr val="C9CDD4"/>
                      </a:solidFill>
                      <a:prstDash val="solid"/>
                      <a:round/>
                      <a:headEnd type="none" w="med" len="med"/>
                      <a:tailEnd type="none" w="med" len="med"/>
                    </a:lnT>
                    <a:lnB w="9525" cap="flat" cmpd="sng" algn="ctr">
                      <a:solidFill>
                        <a:srgbClr val="C9CDD4"/>
                      </a:solidFill>
                      <a:prstDash val="solid"/>
                      <a:round/>
                      <a:headEnd type="none" w="med" len="med"/>
                      <a:tailEnd type="none" w="med" len="med"/>
                    </a:lnB>
                  </a:tcPr>
                </a:tc>
                <a:tc>
                  <a:txBody>
                    <a:bodyPr/>
                    <a:lstStyle/>
                    <a:p>
                      <a:pPr marL="0" indent="0">
                        <a:buNone/>
                      </a:pPr>
                      <a:r>
                        <a:rPr lang="en-US" sz="1050" b="1" dirty="0">
                          <a:solidFill>
                            <a:srgbClr val="9A003B"/>
                          </a:solidFill>
                          <a:latin typeface="Calibri" pitchFamily="34" charset="0"/>
                          <a:ea typeface="Calibri" pitchFamily="34" charset="-122"/>
                          <a:cs typeface="Calibri" pitchFamily="34" charset="-120"/>
                        </a:rPr>
                        <a:t>55.65</a:t>
                      </a:r>
                      <a:endParaRPr lang="en-US" sz="1050" dirty="0">
                        <a:latin typeface="Calibri" charset="0"/>
                        <a:ea typeface="Calibri" charset="0"/>
                        <a:cs typeface="Calibri" charset="0"/>
                      </a:endParaRPr>
                    </a:p>
                  </a:txBody>
                  <a:tcPr anchor="ctr">
                    <a:lnL w="9525" cap="flat" cmpd="sng" algn="ctr">
                      <a:solidFill>
                        <a:srgbClr val="C9CDD4"/>
                      </a:solidFill>
                      <a:prstDash val="solid"/>
                      <a:round/>
                      <a:headEnd type="none" w="med" len="med"/>
                      <a:tailEnd type="none" w="med" len="med"/>
                    </a:lnL>
                    <a:lnR w="9525" cap="flat" cmpd="sng" algn="ctr">
                      <a:solidFill>
                        <a:srgbClr val="C9CDD4"/>
                      </a:solidFill>
                      <a:prstDash val="solid"/>
                      <a:round/>
                      <a:headEnd type="none" w="med" len="med"/>
                      <a:tailEnd type="none" w="med" len="med"/>
                    </a:lnR>
                    <a:lnT w="9525" cap="flat" cmpd="sng" algn="ctr">
                      <a:solidFill>
                        <a:srgbClr val="C9CDD4"/>
                      </a:solidFill>
                      <a:prstDash val="solid"/>
                      <a:round/>
                      <a:headEnd type="none" w="med" len="med"/>
                      <a:tailEnd type="none" w="med" len="med"/>
                    </a:lnT>
                    <a:lnB w="9525" cap="flat" cmpd="sng" algn="ctr">
                      <a:solidFill>
                        <a:srgbClr val="C9CDD4"/>
                      </a:solidFill>
                      <a:prstDash val="solid"/>
                      <a:round/>
                      <a:headEnd type="none" w="med" len="med"/>
                      <a:tailEnd type="none" w="med" len="med"/>
                    </a:lnB>
                  </a:tcPr>
                </a:tc>
                <a:tc>
                  <a:txBody>
                    <a:bodyPr/>
                    <a:lstStyle/>
                    <a:p>
                      <a:pPr marL="0" indent="0">
                        <a:buNone/>
                      </a:pPr>
                      <a:r>
                        <a:rPr lang="en-US" sz="1050" b="1" dirty="0">
                          <a:solidFill>
                            <a:srgbClr val="9A003B"/>
                          </a:solidFill>
                          <a:latin typeface="Calibri" pitchFamily="34" charset="0"/>
                          <a:ea typeface="Calibri" pitchFamily="34" charset="-122"/>
                          <a:cs typeface="Calibri" pitchFamily="34" charset="-120"/>
                        </a:rPr>
                        <a:t>48.86</a:t>
                      </a:r>
                      <a:endParaRPr lang="en-US" sz="1050" dirty="0">
                        <a:latin typeface="Calibri" charset="0"/>
                        <a:ea typeface="Calibri" charset="0"/>
                        <a:cs typeface="Calibri" charset="0"/>
                      </a:endParaRPr>
                    </a:p>
                  </a:txBody>
                  <a:tcPr anchor="ctr">
                    <a:lnL w="9525" cap="flat" cmpd="sng" algn="ctr">
                      <a:solidFill>
                        <a:srgbClr val="C9CDD4"/>
                      </a:solidFill>
                      <a:prstDash val="solid"/>
                      <a:round/>
                      <a:headEnd type="none" w="med" len="med"/>
                      <a:tailEnd type="none" w="med" len="med"/>
                    </a:lnL>
                    <a:lnR w="9525" cap="flat" cmpd="sng" algn="ctr">
                      <a:solidFill>
                        <a:srgbClr val="C9CDD4"/>
                      </a:solidFill>
                      <a:prstDash val="solid"/>
                      <a:round/>
                      <a:headEnd type="none" w="med" len="med"/>
                      <a:tailEnd type="none" w="med" len="med"/>
                    </a:lnR>
                    <a:lnT w="9525" cap="flat" cmpd="sng" algn="ctr">
                      <a:solidFill>
                        <a:srgbClr val="C9CDD4"/>
                      </a:solidFill>
                      <a:prstDash val="solid"/>
                      <a:round/>
                      <a:headEnd type="none" w="med" len="med"/>
                      <a:tailEnd type="none" w="med" len="med"/>
                    </a:lnT>
                    <a:lnB w="9525" cap="flat" cmpd="sng" algn="ctr">
                      <a:solidFill>
                        <a:srgbClr val="C9CDD4"/>
                      </a:solidFill>
                      <a:prstDash val="solid"/>
                      <a:round/>
                      <a:headEnd type="none" w="med" len="med"/>
                      <a:tailEnd type="none" w="med" len="med"/>
                    </a:lnB>
                  </a:tcPr>
                </a:tc>
                <a:tc>
                  <a:txBody>
                    <a:bodyPr/>
                    <a:lstStyle/>
                    <a:p>
                      <a:pPr marL="0" indent="0">
                        <a:buNone/>
                      </a:pPr>
                      <a:r>
                        <a:rPr lang="en-US" sz="1050" b="1" dirty="0">
                          <a:solidFill>
                            <a:srgbClr val="9A003B"/>
                          </a:solidFill>
                          <a:latin typeface="Calibri" pitchFamily="34" charset="0"/>
                          <a:ea typeface="Calibri" pitchFamily="34" charset="-122"/>
                          <a:cs typeface="Calibri" pitchFamily="34" charset="-120"/>
                        </a:rPr>
                        <a:t>75.85</a:t>
                      </a:r>
                      <a:endParaRPr lang="en-US" sz="1050" dirty="0">
                        <a:latin typeface="Calibri" charset="0"/>
                        <a:ea typeface="Calibri" charset="0"/>
                        <a:cs typeface="Calibri" charset="0"/>
                      </a:endParaRPr>
                    </a:p>
                  </a:txBody>
                  <a:tcPr anchor="ctr">
                    <a:lnL w="9525" cap="flat" cmpd="sng" algn="ctr">
                      <a:solidFill>
                        <a:srgbClr val="C9CDD4"/>
                      </a:solidFill>
                      <a:prstDash val="solid"/>
                      <a:round/>
                      <a:headEnd type="none" w="med" len="med"/>
                      <a:tailEnd type="none" w="med" len="med"/>
                    </a:lnL>
                    <a:lnR w="9525" cap="flat" cmpd="sng" algn="ctr">
                      <a:solidFill>
                        <a:srgbClr val="C9CDD4"/>
                      </a:solidFill>
                      <a:prstDash val="solid"/>
                      <a:round/>
                      <a:headEnd type="none" w="med" len="med"/>
                      <a:tailEnd type="none" w="med" len="med"/>
                    </a:lnR>
                    <a:lnT w="9525" cap="flat" cmpd="sng" algn="ctr">
                      <a:solidFill>
                        <a:srgbClr val="C9CDD4"/>
                      </a:solidFill>
                      <a:prstDash val="solid"/>
                      <a:round/>
                      <a:headEnd type="none" w="med" len="med"/>
                      <a:tailEnd type="none" w="med" len="med"/>
                    </a:lnT>
                    <a:lnB w="9525" cap="flat" cmpd="sng" algn="ctr">
                      <a:solidFill>
                        <a:srgbClr val="C9CDD4"/>
                      </a:solidFill>
                      <a:prstDash val="solid"/>
                      <a:round/>
                      <a:headEnd type="none" w="med" len="med"/>
                      <a:tailEnd type="none" w="med" len="med"/>
                    </a:lnB>
                  </a:tcPr>
                </a:tc>
                <a:extLst>
                  <a:ext uri="{0D108BD9-81ED-4DB2-BD59-A6C34878D82A}">
                    <a16:rowId xmlns:a16="http://schemas.microsoft.com/office/drawing/2014/main" val="10002"/>
                  </a:ext>
                </a:extLst>
              </a:tr>
              <a:tr h="420624">
                <a:tc>
                  <a:txBody>
                    <a:bodyPr/>
                    <a:lstStyle/>
                    <a:p>
                      <a:pPr marL="0" indent="0">
                        <a:buNone/>
                      </a:pPr>
                      <a:r>
                        <a:rPr lang="en-US" sz="1050" dirty="0">
                          <a:solidFill>
                            <a:srgbClr val="000000"/>
                          </a:solidFill>
                          <a:latin typeface="Calibri" pitchFamily="34" charset="0"/>
                          <a:ea typeface="Calibri" pitchFamily="34" charset="-122"/>
                          <a:cs typeface="Calibri" pitchFamily="34" charset="-120"/>
                        </a:rPr>
                        <a:t>Transformer</a:t>
                      </a:r>
                      <a:endParaRPr lang="en-US" sz="1050" dirty="0">
                        <a:latin typeface="Calibri" charset="0"/>
                        <a:ea typeface="Calibri" charset="0"/>
                        <a:cs typeface="Calibri" charset="0"/>
                      </a:endParaRPr>
                    </a:p>
                  </a:txBody>
                  <a:tcPr anchor="ctr">
                    <a:lnL w="9525" cap="flat" cmpd="sng" algn="ctr">
                      <a:solidFill>
                        <a:srgbClr val="C9CDD4"/>
                      </a:solidFill>
                      <a:prstDash val="solid"/>
                      <a:round/>
                      <a:headEnd type="none" w="med" len="med"/>
                      <a:tailEnd type="none" w="med" len="med"/>
                    </a:lnL>
                    <a:lnR w="9525" cap="flat" cmpd="sng" algn="ctr">
                      <a:solidFill>
                        <a:srgbClr val="C9CDD4"/>
                      </a:solidFill>
                      <a:prstDash val="solid"/>
                      <a:round/>
                      <a:headEnd type="none" w="med" len="med"/>
                      <a:tailEnd type="none" w="med" len="med"/>
                    </a:lnR>
                    <a:lnT w="9525" cap="flat" cmpd="sng" algn="ctr">
                      <a:solidFill>
                        <a:srgbClr val="C9CDD4"/>
                      </a:solidFill>
                      <a:prstDash val="solid"/>
                      <a:round/>
                      <a:headEnd type="none" w="med" len="med"/>
                      <a:tailEnd type="none" w="med" len="med"/>
                    </a:lnT>
                    <a:lnB w="9525" cap="flat" cmpd="sng" algn="ctr">
                      <a:solidFill>
                        <a:srgbClr val="C9CDD4"/>
                      </a:solidFill>
                      <a:prstDash val="solid"/>
                      <a:round/>
                      <a:headEnd type="none" w="med" len="med"/>
                      <a:tailEnd type="none" w="med" len="med"/>
                    </a:lnB>
                  </a:tcPr>
                </a:tc>
                <a:tc>
                  <a:txBody>
                    <a:bodyPr/>
                    <a:lstStyle/>
                    <a:p>
                      <a:pPr marL="0" indent="0">
                        <a:buNone/>
                      </a:pPr>
                      <a:r>
                        <a:rPr lang="en-US" sz="1050" dirty="0">
                          <a:solidFill>
                            <a:srgbClr val="000000"/>
                          </a:solidFill>
                          <a:latin typeface="Calibri" pitchFamily="34" charset="0"/>
                          <a:ea typeface="Calibri" pitchFamily="34" charset="-122"/>
                          <a:cs typeface="Calibri" pitchFamily="34" charset="-120"/>
                        </a:rPr>
                        <a:t>Without emoji</a:t>
                      </a:r>
                      <a:endParaRPr lang="en-US" sz="1050" dirty="0">
                        <a:latin typeface="Calibri" charset="0"/>
                        <a:ea typeface="Calibri" charset="0"/>
                        <a:cs typeface="Calibri" charset="0"/>
                      </a:endParaRPr>
                    </a:p>
                  </a:txBody>
                  <a:tcPr anchor="ctr">
                    <a:lnL w="9525" cap="flat" cmpd="sng" algn="ctr">
                      <a:solidFill>
                        <a:srgbClr val="C9CDD4"/>
                      </a:solidFill>
                      <a:prstDash val="solid"/>
                      <a:round/>
                      <a:headEnd type="none" w="med" len="med"/>
                      <a:tailEnd type="none" w="med" len="med"/>
                    </a:lnL>
                    <a:lnR w="9525" cap="flat" cmpd="sng" algn="ctr">
                      <a:solidFill>
                        <a:srgbClr val="C9CDD4"/>
                      </a:solidFill>
                      <a:prstDash val="solid"/>
                      <a:round/>
                      <a:headEnd type="none" w="med" len="med"/>
                      <a:tailEnd type="none" w="med" len="med"/>
                    </a:lnR>
                    <a:lnT w="9525" cap="flat" cmpd="sng" algn="ctr">
                      <a:solidFill>
                        <a:srgbClr val="C9CDD4"/>
                      </a:solidFill>
                      <a:prstDash val="solid"/>
                      <a:round/>
                      <a:headEnd type="none" w="med" len="med"/>
                      <a:tailEnd type="none" w="med" len="med"/>
                    </a:lnT>
                    <a:lnB w="9525" cap="flat" cmpd="sng" algn="ctr">
                      <a:solidFill>
                        <a:srgbClr val="C9CDD4"/>
                      </a:solidFill>
                      <a:prstDash val="solid"/>
                      <a:round/>
                      <a:headEnd type="none" w="med" len="med"/>
                      <a:tailEnd type="none" w="med" len="med"/>
                    </a:lnB>
                  </a:tcPr>
                </a:tc>
                <a:tc>
                  <a:txBody>
                    <a:bodyPr/>
                    <a:lstStyle/>
                    <a:p>
                      <a:pPr marL="0" indent="0">
                        <a:buNone/>
                      </a:pPr>
                      <a:r>
                        <a:rPr lang="en-US" sz="1050" dirty="0">
                          <a:solidFill>
                            <a:srgbClr val="000000"/>
                          </a:solidFill>
                          <a:latin typeface="Calibri" pitchFamily="34" charset="0"/>
                          <a:ea typeface="Calibri" pitchFamily="34" charset="-122"/>
                          <a:cs typeface="Calibri" pitchFamily="34" charset="-120"/>
                        </a:rPr>
                        <a:t>47.29</a:t>
                      </a:r>
                      <a:endParaRPr lang="en-US" sz="1050" dirty="0">
                        <a:latin typeface="Calibri" charset="0"/>
                        <a:ea typeface="Calibri" charset="0"/>
                        <a:cs typeface="Calibri" charset="0"/>
                      </a:endParaRPr>
                    </a:p>
                  </a:txBody>
                  <a:tcPr anchor="ctr">
                    <a:lnL w="9525" cap="flat" cmpd="sng" algn="ctr">
                      <a:solidFill>
                        <a:srgbClr val="C9CDD4"/>
                      </a:solidFill>
                      <a:prstDash val="solid"/>
                      <a:round/>
                      <a:headEnd type="none" w="med" len="med"/>
                      <a:tailEnd type="none" w="med" len="med"/>
                    </a:lnL>
                    <a:lnR w="9525" cap="flat" cmpd="sng" algn="ctr">
                      <a:solidFill>
                        <a:srgbClr val="C9CDD4"/>
                      </a:solidFill>
                      <a:prstDash val="solid"/>
                      <a:round/>
                      <a:headEnd type="none" w="med" len="med"/>
                      <a:tailEnd type="none" w="med" len="med"/>
                    </a:lnR>
                    <a:lnT w="9525" cap="flat" cmpd="sng" algn="ctr">
                      <a:solidFill>
                        <a:srgbClr val="C9CDD4"/>
                      </a:solidFill>
                      <a:prstDash val="solid"/>
                      <a:round/>
                      <a:headEnd type="none" w="med" len="med"/>
                      <a:tailEnd type="none" w="med" len="med"/>
                    </a:lnT>
                    <a:lnB w="9525" cap="flat" cmpd="sng" algn="ctr">
                      <a:solidFill>
                        <a:srgbClr val="C9CDD4"/>
                      </a:solidFill>
                      <a:prstDash val="solid"/>
                      <a:round/>
                      <a:headEnd type="none" w="med" len="med"/>
                      <a:tailEnd type="none" w="med" len="med"/>
                    </a:lnB>
                  </a:tcPr>
                </a:tc>
                <a:tc>
                  <a:txBody>
                    <a:bodyPr/>
                    <a:lstStyle/>
                    <a:p>
                      <a:pPr marL="0" indent="0">
                        <a:buNone/>
                      </a:pPr>
                      <a:r>
                        <a:rPr lang="en-US" sz="1050" dirty="0">
                          <a:solidFill>
                            <a:srgbClr val="000000"/>
                          </a:solidFill>
                          <a:latin typeface="Calibri" pitchFamily="34" charset="0"/>
                          <a:ea typeface="Calibri" pitchFamily="34" charset="-122"/>
                          <a:cs typeface="Calibri" pitchFamily="34" charset="-120"/>
                        </a:rPr>
                        <a:t>44.36</a:t>
                      </a:r>
                      <a:endParaRPr lang="en-US" sz="1050" dirty="0">
                        <a:latin typeface="Calibri" charset="0"/>
                        <a:ea typeface="Calibri" charset="0"/>
                        <a:cs typeface="Calibri" charset="0"/>
                      </a:endParaRPr>
                    </a:p>
                  </a:txBody>
                  <a:tcPr anchor="ctr">
                    <a:lnL w="9525" cap="flat" cmpd="sng" algn="ctr">
                      <a:solidFill>
                        <a:srgbClr val="C9CDD4"/>
                      </a:solidFill>
                      <a:prstDash val="solid"/>
                      <a:round/>
                      <a:headEnd type="none" w="med" len="med"/>
                      <a:tailEnd type="none" w="med" len="med"/>
                    </a:lnL>
                    <a:lnR w="9525" cap="flat" cmpd="sng" algn="ctr">
                      <a:solidFill>
                        <a:srgbClr val="C9CDD4"/>
                      </a:solidFill>
                      <a:prstDash val="solid"/>
                      <a:round/>
                      <a:headEnd type="none" w="med" len="med"/>
                      <a:tailEnd type="none" w="med" len="med"/>
                    </a:lnR>
                    <a:lnT w="9525" cap="flat" cmpd="sng" algn="ctr">
                      <a:solidFill>
                        <a:srgbClr val="C9CDD4"/>
                      </a:solidFill>
                      <a:prstDash val="solid"/>
                      <a:round/>
                      <a:headEnd type="none" w="med" len="med"/>
                      <a:tailEnd type="none" w="med" len="med"/>
                    </a:lnT>
                    <a:lnB w="9525" cap="flat" cmpd="sng" algn="ctr">
                      <a:solidFill>
                        <a:srgbClr val="C9CDD4"/>
                      </a:solidFill>
                      <a:prstDash val="solid"/>
                      <a:round/>
                      <a:headEnd type="none" w="med" len="med"/>
                      <a:tailEnd type="none" w="med" len="med"/>
                    </a:lnB>
                  </a:tcPr>
                </a:tc>
                <a:tc>
                  <a:txBody>
                    <a:bodyPr/>
                    <a:lstStyle/>
                    <a:p>
                      <a:pPr marL="0" indent="0">
                        <a:buNone/>
                      </a:pPr>
                      <a:r>
                        <a:rPr lang="en-US" sz="1050" dirty="0">
                          <a:solidFill>
                            <a:srgbClr val="000000"/>
                          </a:solidFill>
                          <a:latin typeface="Calibri" pitchFamily="34" charset="0"/>
                          <a:ea typeface="Calibri" pitchFamily="34" charset="-122"/>
                          <a:cs typeface="Calibri" pitchFamily="34" charset="-120"/>
                        </a:rPr>
                        <a:t>70.19</a:t>
                      </a:r>
                      <a:endParaRPr lang="en-US" sz="1050" dirty="0">
                        <a:latin typeface="Calibri" charset="0"/>
                        <a:ea typeface="Calibri" charset="0"/>
                        <a:cs typeface="Calibri" charset="0"/>
                      </a:endParaRPr>
                    </a:p>
                  </a:txBody>
                  <a:tcPr anchor="ctr">
                    <a:lnL w="9525" cap="flat" cmpd="sng" algn="ctr">
                      <a:solidFill>
                        <a:srgbClr val="C9CDD4"/>
                      </a:solidFill>
                      <a:prstDash val="solid"/>
                      <a:round/>
                      <a:headEnd type="none" w="med" len="med"/>
                      <a:tailEnd type="none" w="med" len="med"/>
                    </a:lnL>
                    <a:lnR w="9525" cap="flat" cmpd="sng" algn="ctr">
                      <a:solidFill>
                        <a:srgbClr val="C9CDD4"/>
                      </a:solidFill>
                      <a:prstDash val="solid"/>
                      <a:round/>
                      <a:headEnd type="none" w="med" len="med"/>
                      <a:tailEnd type="none" w="med" len="med"/>
                    </a:lnR>
                    <a:lnT w="9525" cap="flat" cmpd="sng" algn="ctr">
                      <a:solidFill>
                        <a:srgbClr val="C9CDD4"/>
                      </a:solidFill>
                      <a:prstDash val="solid"/>
                      <a:round/>
                      <a:headEnd type="none" w="med" len="med"/>
                      <a:tailEnd type="none" w="med" len="med"/>
                    </a:lnT>
                    <a:lnB w="9525" cap="flat" cmpd="sng" algn="ctr">
                      <a:solidFill>
                        <a:srgbClr val="C9CDD4"/>
                      </a:solidFill>
                      <a:prstDash val="solid"/>
                      <a:round/>
                      <a:headEnd type="none" w="med" len="med"/>
                      <a:tailEnd type="none" w="med" len="med"/>
                    </a:lnB>
                  </a:tcPr>
                </a:tc>
                <a:extLst>
                  <a:ext uri="{0D108BD9-81ED-4DB2-BD59-A6C34878D82A}">
                    <a16:rowId xmlns:a16="http://schemas.microsoft.com/office/drawing/2014/main" val="10003"/>
                  </a:ext>
                </a:extLst>
              </a:tr>
              <a:tr h="420624">
                <a:tc>
                  <a:txBody>
                    <a:bodyPr/>
                    <a:lstStyle/>
                    <a:p>
                      <a:pPr marL="0" indent="0">
                        <a:buNone/>
                      </a:pPr>
                      <a:r>
                        <a:rPr lang="en-US" sz="1050" b="1" dirty="0">
                          <a:solidFill>
                            <a:srgbClr val="000000"/>
                          </a:solidFill>
                          <a:latin typeface="Calibri" pitchFamily="34" charset="0"/>
                          <a:ea typeface="Calibri" pitchFamily="34" charset="-122"/>
                          <a:cs typeface="Calibri" pitchFamily="34" charset="-120"/>
                        </a:rPr>
                        <a:t>Transformer</a:t>
                      </a:r>
                      <a:endParaRPr lang="en-US" sz="1050" dirty="0">
                        <a:latin typeface="Calibri" charset="0"/>
                        <a:ea typeface="Calibri" charset="0"/>
                        <a:cs typeface="Calibri" charset="0"/>
                      </a:endParaRPr>
                    </a:p>
                  </a:txBody>
                  <a:tcPr anchor="ctr">
                    <a:lnL w="9525" cap="flat" cmpd="sng" algn="ctr">
                      <a:solidFill>
                        <a:srgbClr val="C9CDD4"/>
                      </a:solidFill>
                      <a:prstDash val="solid"/>
                      <a:round/>
                      <a:headEnd type="none" w="med" len="med"/>
                      <a:tailEnd type="none" w="med" len="med"/>
                    </a:lnL>
                    <a:lnR w="9525" cap="flat" cmpd="sng" algn="ctr">
                      <a:solidFill>
                        <a:srgbClr val="C9CDD4"/>
                      </a:solidFill>
                      <a:prstDash val="solid"/>
                      <a:round/>
                      <a:headEnd type="none" w="med" len="med"/>
                      <a:tailEnd type="none" w="med" len="med"/>
                    </a:lnR>
                    <a:lnT w="9525" cap="flat" cmpd="sng" algn="ctr">
                      <a:solidFill>
                        <a:srgbClr val="C9CDD4"/>
                      </a:solidFill>
                      <a:prstDash val="solid"/>
                      <a:round/>
                      <a:headEnd type="none" w="med" len="med"/>
                      <a:tailEnd type="none" w="med" len="med"/>
                    </a:lnT>
                    <a:lnB w="9525" cap="flat" cmpd="sng" algn="ctr">
                      <a:solidFill>
                        <a:srgbClr val="C9CDD4"/>
                      </a:solidFill>
                      <a:prstDash val="solid"/>
                      <a:round/>
                      <a:headEnd type="none" w="med" len="med"/>
                      <a:tailEnd type="none" w="med" len="med"/>
                    </a:lnB>
                  </a:tcPr>
                </a:tc>
                <a:tc>
                  <a:txBody>
                    <a:bodyPr/>
                    <a:lstStyle/>
                    <a:p>
                      <a:pPr marL="0" indent="0">
                        <a:buNone/>
                      </a:pPr>
                      <a:r>
                        <a:rPr lang="en-US" sz="1050" b="1" dirty="0">
                          <a:solidFill>
                            <a:srgbClr val="9A003B"/>
                          </a:solidFill>
                          <a:latin typeface="Calibri" pitchFamily="34" charset="0"/>
                          <a:ea typeface="Calibri" pitchFamily="34" charset="-122"/>
                          <a:cs typeface="Calibri" pitchFamily="34" charset="-120"/>
                        </a:rPr>
                        <a:t>With emoji</a:t>
                      </a:r>
                      <a:endParaRPr lang="en-US" sz="1050" dirty="0">
                        <a:latin typeface="Calibri" charset="0"/>
                        <a:ea typeface="Calibri" charset="0"/>
                        <a:cs typeface="Calibri" charset="0"/>
                      </a:endParaRPr>
                    </a:p>
                  </a:txBody>
                  <a:tcPr anchor="ctr">
                    <a:lnL w="9525" cap="flat" cmpd="sng" algn="ctr">
                      <a:solidFill>
                        <a:srgbClr val="C9CDD4"/>
                      </a:solidFill>
                      <a:prstDash val="solid"/>
                      <a:round/>
                      <a:headEnd type="none" w="med" len="med"/>
                      <a:tailEnd type="none" w="med" len="med"/>
                    </a:lnL>
                    <a:lnR w="9525" cap="flat" cmpd="sng" algn="ctr">
                      <a:solidFill>
                        <a:srgbClr val="C9CDD4"/>
                      </a:solidFill>
                      <a:prstDash val="solid"/>
                      <a:round/>
                      <a:headEnd type="none" w="med" len="med"/>
                      <a:tailEnd type="none" w="med" len="med"/>
                    </a:lnR>
                    <a:lnT w="9525" cap="flat" cmpd="sng" algn="ctr">
                      <a:solidFill>
                        <a:srgbClr val="C9CDD4"/>
                      </a:solidFill>
                      <a:prstDash val="solid"/>
                      <a:round/>
                      <a:headEnd type="none" w="med" len="med"/>
                      <a:tailEnd type="none" w="med" len="med"/>
                    </a:lnT>
                    <a:lnB w="9525" cap="flat" cmpd="sng" algn="ctr">
                      <a:solidFill>
                        <a:srgbClr val="C9CDD4"/>
                      </a:solidFill>
                      <a:prstDash val="solid"/>
                      <a:round/>
                      <a:headEnd type="none" w="med" len="med"/>
                      <a:tailEnd type="none" w="med" len="med"/>
                    </a:lnB>
                  </a:tcPr>
                </a:tc>
                <a:tc>
                  <a:txBody>
                    <a:bodyPr/>
                    <a:lstStyle/>
                    <a:p>
                      <a:pPr marL="0" indent="0">
                        <a:buNone/>
                      </a:pPr>
                      <a:r>
                        <a:rPr lang="en-US" sz="1050" b="1" dirty="0">
                          <a:solidFill>
                            <a:srgbClr val="9A003B"/>
                          </a:solidFill>
                          <a:latin typeface="Calibri" pitchFamily="34" charset="0"/>
                          <a:ea typeface="Calibri" pitchFamily="34" charset="-122"/>
                          <a:cs typeface="Calibri" pitchFamily="34" charset="-120"/>
                        </a:rPr>
                        <a:t>51.00</a:t>
                      </a:r>
                      <a:endParaRPr lang="en-US" sz="1050" dirty="0">
                        <a:latin typeface="Calibri" charset="0"/>
                        <a:ea typeface="Calibri" charset="0"/>
                        <a:cs typeface="Calibri" charset="0"/>
                      </a:endParaRPr>
                    </a:p>
                  </a:txBody>
                  <a:tcPr anchor="ctr">
                    <a:lnL w="9525" cap="flat" cmpd="sng" algn="ctr">
                      <a:solidFill>
                        <a:srgbClr val="C9CDD4"/>
                      </a:solidFill>
                      <a:prstDash val="solid"/>
                      <a:round/>
                      <a:headEnd type="none" w="med" len="med"/>
                      <a:tailEnd type="none" w="med" len="med"/>
                    </a:lnL>
                    <a:lnR w="9525" cap="flat" cmpd="sng" algn="ctr">
                      <a:solidFill>
                        <a:srgbClr val="C9CDD4"/>
                      </a:solidFill>
                      <a:prstDash val="solid"/>
                      <a:round/>
                      <a:headEnd type="none" w="med" len="med"/>
                      <a:tailEnd type="none" w="med" len="med"/>
                    </a:lnR>
                    <a:lnT w="9525" cap="flat" cmpd="sng" algn="ctr">
                      <a:solidFill>
                        <a:srgbClr val="C9CDD4"/>
                      </a:solidFill>
                      <a:prstDash val="solid"/>
                      <a:round/>
                      <a:headEnd type="none" w="med" len="med"/>
                      <a:tailEnd type="none" w="med" len="med"/>
                    </a:lnT>
                    <a:lnB w="9525" cap="flat" cmpd="sng" algn="ctr">
                      <a:solidFill>
                        <a:srgbClr val="C9CDD4"/>
                      </a:solidFill>
                      <a:prstDash val="solid"/>
                      <a:round/>
                      <a:headEnd type="none" w="med" len="med"/>
                      <a:tailEnd type="none" w="med" len="med"/>
                    </a:lnB>
                  </a:tcPr>
                </a:tc>
                <a:tc>
                  <a:txBody>
                    <a:bodyPr/>
                    <a:lstStyle/>
                    <a:p>
                      <a:pPr marL="0" indent="0">
                        <a:buNone/>
                      </a:pPr>
                      <a:r>
                        <a:rPr lang="en-US" sz="1050" b="1" dirty="0">
                          <a:solidFill>
                            <a:srgbClr val="9A003B"/>
                          </a:solidFill>
                          <a:latin typeface="Calibri" pitchFamily="34" charset="0"/>
                          <a:ea typeface="Calibri" pitchFamily="34" charset="-122"/>
                          <a:cs typeface="Calibri" pitchFamily="34" charset="-120"/>
                        </a:rPr>
                        <a:t>47.30</a:t>
                      </a:r>
                      <a:endParaRPr lang="en-US" sz="1050" dirty="0">
                        <a:latin typeface="Calibri" charset="0"/>
                        <a:ea typeface="Calibri" charset="0"/>
                        <a:cs typeface="Calibri" charset="0"/>
                      </a:endParaRPr>
                    </a:p>
                  </a:txBody>
                  <a:tcPr anchor="ctr">
                    <a:lnL w="9525" cap="flat" cmpd="sng" algn="ctr">
                      <a:solidFill>
                        <a:srgbClr val="C9CDD4"/>
                      </a:solidFill>
                      <a:prstDash val="solid"/>
                      <a:round/>
                      <a:headEnd type="none" w="med" len="med"/>
                      <a:tailEnd type="none" w="med" len="med"/>
                    </a:lnL>
                    <a:lnR w="9525" cap="flat" cmpd="sng" algn="ctr">
                      <a:solidFill>
                        <a:srgbClr val="C9CDD4"/>
                      </a:solidFill>
                      <a:prstDash val="solid"/>
                      <a:round/>
                      <a:headEnd type="none" w="med" len="med"/>
                      <a:tailEnd type="none" w="med" len="med"/>
                    </a:lnR>
                    <a:lnT w="9525" cap="flat" cmpd="sng" algn="ctr">
                      <a:solidFill>
                        <a:srgbClr val="C9CDD4"/>
                      </a:solidFill>
                      <a:prstDash val="solid"/>
                      <a:round/>
                      <a:headEnd type="none" w="med" len="med"/>
                      <a:tailEnd type="none" w="med" len="med"/>
                    </a:lnT>
                    <a:lnB w="9525" cap="flat" cmpd="sng" algn="ctr">
                      <a:solidFill>
                        <a:srgbClr val="C9CDD4"/>
                      </a:solidFill>
                      <a:prstDash val="solid"/>
                      <a:round/>
                      <a:headEnd type="none" w="med" len="med"/>
                      <a:tailEnd type="none" w="med" len="med"/>
                    </a:lnB>
                  </a:tcPr>
                </a:tc>
                <a:tc>
                  <a:txBody>
                    <a:bodyPr/>
                    <a:lstStyle/>
                    <a:p>
                      <a:pPr marL="0" indent="0">
                        <a:buNone/>
                      </a:pPr>
                      <a:r>
                        <a:rPr lang="en-US" sz="1050" b="1" dirty="0">
                          <a:solidFill>
                            <a:srgbClr val="9A003B"/>
                          </a:solidFill>
                          <a:latin typeface="Calibri" pitchFamily="34" charset="0"/>
                          <a:ea typeface="Calibri" pitchFamily="34" charset="-122"/>
                          <a:cs typeface="Calibri" pitchFamily="34" charset="-120"/>
                        </a:rPr>
                        <a:t>72.63</a:t>
                      </a:r>
                      <a:endParaRPr lang="en-US" sz="1050" dirty="0">
                        <a:latin typeface="Calibri" charset="0"/>
                        <a:ea typeface="Calibri" charset="0"/>
                        <a:cs typeface="Calibri" charset="0"/>
                      </a:endParaRPr>
                    </a:p>
                  </a:txBody>
                  <a:tcPr anchor="ctr">
                    <a:lnL w="9525" cap="flat" cmpd="sng" algn="ctr">
                      <a:solidFill>
                        <a:srgbClr val="C9CDD4"/>
                      </a:solidFill>
                      <a:prstDash val="solid"/>
                      <a:round/>
                      <a:headEnd type="none" w="med" len="med"/>
                      <a:tailEnd type="none" w="med" len="med"/>
                    </a:lnL>
                    <a:lnR w="9525" cap="flat" cmpd="sng" algn="ctr">
                      <a:solidFill>
                        <a:srgbClr val="C9CDD4"/>
                      </a:solidFill>
                      <a:prstDash val="solid"/>
                      <a:round/>
                      <a:headEnd type="none" w="med" len="med"/>
                      <a:tailEnd type="none" w="med" len="med"/>
                    </a:lnR>
                    <a:lnT w="9525" cap="flat" cmpd="sng" algn="ctr">
                      <a:solidFill>
                        <a:srgbClr val="C9CDD4"/>
                      </a:solidFill>
                      <a:prstDash val="solid"/>
                      <a:round/>
                      <a:headEnd type="none" w="med" len="med"/>
                      <a:tailEnd type="none" w="med" len="med"/>
                    </a:lnT>
                    <a:lnB w="9525" cap="flat" cmpd="sng" algn="ctr">
                      <a:solidFill>
                        <a:srgbClr val="C9CDD4"/>
                      </a:solidFill>
                      <a:prstDash val="solid"/>
                      <a:round/>
                      <a:headEnd type="none" w="med" len="med"/>
                      <a:tailEnd type="none" w="med" len="med"/>
                    </a:lnB>
                  </a:tcPr>
                </a:tc>
                <a:extLst>
                  <a:ext uri="{0D108BD9-81ED-4DB2-BD59-A6C34878D82A}">
                    <a16:rowId xmlns:a16="http://schemas.microsoft.com/office/drawing/2014/main" val="10004"/>
                  </a:ext>
                </a:extLst>
              </a:tr>
            </a:tbl>
          </a:graphicData>
        </a:graphic>
      </p:graphicFrame>
      <p:sp>
        <p:nvSpPr>
          <p:cNvPr id="16" name="Shape 12"/>
          <p:cNvSpPr/>
          <p:nvPr/>
        </p:nvSpPr>
        <p:spPr>
          <a:xfrm>
            <a:off x="7178040" y="3767328"/>
            <a:ext cx="4443984" cy="384048"/>
          </a:xfrm>
          <a:prstGeom prst="rect">
            <a:avLst/>
          </a:prstGeom>
          <a:solidFill>
            <a:srgbClr val="2764B4"/>
          </a:solidFill>
          <a:ln w="12700">
            <a:solidFill>
              <a:srgbClr val="2764B4"/>
            </a:solidFill>
            <a:prstDash val="solid"/>
          </a:ln>
        </p:spPr>
      </p:sp>
      <p:sp>
        <p:nvSpPr>
          <p:cNvPr id="17" name="Text 13"/>
          <p:cNvSpPr txBox="1"/>
          <p:nvPr/>
        </p:nvSpPr>
        <p:spPr>
          <a:xfrm>
            <a:off x="7306056" y="3767328"/>
            <a:ext cx="4187952" cy="384048"/>
          </a:xfrm>
          <a:prstGeom prst="rect">
            <a:avLst/>
          </a:prstGeom>
          <a:noFill/>
          <a:ln/>
        </p:spPr>
        <p:txBody>
          <a:bodyPr wrap="square" lIns="0" tIns="0" rIns="0" bIns="0" rtlCol="0" anchor="ctr"/>
          <a:lstStyle/>
          <a:p>
            <a:pPr marL="0" indent="0">
              <a:buNone/>
            </a:pPr>
            <a:r>
              <a:rPr lang="en-US" sz="1500" b="1" dirty="0">
                <a:solidFill>
                  <a:srgbClr val="FFFFFF"/>
                </a:solidFill>
                <a:latin typeface="Calibri" pitchFamily="34" charset="0"/>
                <a:ea typeface="Calibri" pitchFamily="34" charset="-122"/>
                <a:cs typeface="Calibri" pitchFamily="34" charset="-120"/>
              </a:rPr>
              <a:t>Reading the table</a:t>
            </a:r>
            <a:endParaRPr lang="en-US" sz="1500" dirty="0"/>
          </a:p>
        </p:txBody>
      </p:sp>
      <p:sp>
        <p:nvSpPr>
          <p:cNvPr id="18" name="Shape 14"/>
          <p:cNvSpPr/>
          <p:nvPr/>
        </p:nvSpPr>
        <p:spPr>
          <a:xfrm>
            <a:off x="7178040" y="4151376"/>
            <a:ext cx="4443984" cy="1764792"/>
          </a:xfrm>
          <a:prstGeom prst="rect">
            <a:avLst/>
          </a:prstGeom>
          <a:solidFill>
            <a:srgbClr val="F4DDE6"/>
          </a:solidFill>
          <a:ln/>
        </p:spPr>
      </p:sp>
      <p:sp>
        <p:nvSpPr>
          <p:cNvPr id="19" name="Text 15"/>
          <p:cNvSpPr txBox="1"/>
          <p:nvPr/>
        </p:nvSpPr>
        <p:spPr>
          <a:xfrm>
            <a:off x="7379208" y="4270248"/>
            <a:ext cx="4041648" cy="1554480"/>
          </a:xfrm>
          <a:prstGeom prst="rect">
            <a:avLst/>
          </a:prstGeom>
          <a:noFill/>
          <a:ln/>
        </p:spPr>
        <p:txBody>
          <a:bodyPr wrap="square" lIns="0" tIns="0" rIns="0" bIns="0" rtlCol="0" anchor="t"/>
          <a:lstStyle/>
          <a:p>
            <a:pPr marL="177800" indent="-177800">
              <a:lnSpc>
                <a:spcPct val="106000"/>
              </a:lnSpc>
              <a:spcAft>
                <a:spcPts val="800"/>
              </a:spcAft>
              <a:buSzPct val="100000"/>
              <a:buChar char="•"/>
            </a:pPr>
            <a:r>
              <a:rPr lang="en-US" sz="1200" dirty="0">
                <a:solidFill>
                  <a:srgbClr val="000000"/>
                </a:solidFill>
                <a:latin typeface="Calibri" pitchFamily="34" charset="0"/>
                <a:ea typeface="Calibri" pitchFamily="34" charset="-122"/>
                <a:cs typeface="Calibri" pitchFamily="34" charset="-120"/>
              </a:rPr>
              <a:t>Keeping emoji as text improved both models on every headline metric</a:t>
            </a:r>
            <a:endParaRPr lang="en-US" sz="1200" dirty="0"/>
          </a:p>
          <a:p>
            <a:pPr marL="177800" indent="-177800">
              <a:lnSpc>
                <a:spcPct val="106000"/>
              </a:lnSpc>
              <a:spcAft>
                <a:spcPts val="800"/>
              </a:spcAft>
              <a:buSzPct val="100000"/>
              <a:buChar char="•"/>
            </a:pPr>
            <a:r>
              <a:rPr lang="en-US" sz="1200" dirty="0">
                <a:solidFill>
                  <a:srgbClr val="000000"/>
                </a:solidFill>
                <a:latin typeface="Calibri" pitchFamily="34" charset="0"/>
                <a:ea typeface="Calibri" pitchFamily="34" charset="-122"/>
                <a:cs typeface="Calibri" pitchFamily="34" charset="-120"/>
              </a:rPr>
              <a:t>The BiLSTM beat the Transformer here, which is expected: both were trained from scratch on 6,838 tweets, so the Transformer has no pre-training advantage</a:t>
            </a:r>
            <a:endParaRPr lang="en-US" sz="1200" dirty="0"/>
          </a:p>
          <a:p>
            <a:pPr marL="177800" indent="-177800">
              <a:lnSpc>
                <a:spcPct val="106000"/>
              </a:lnSpc>
              <a:spcAft>
                <a:spcPts val="800"/>
              </a:spcAft>
              <a:buSzPct val="100000"/>
              <a:buChar char="•"/>
            </a:pPr>
            <a:r>
              <a:rPr lang="en-US" sz="1200" dirty="0">
                <a:solidFill>
                  <a:srgbClr val="000000"/>
                </a:solidFill>
                <a:latin typeface="Calibri" pitchFamily="34" charset="0"/>
                <a:ea typeface="Calibri" pitchFamily="34" charset="-122"/>
                <a:cs typeface="Calibri" pitchFamily="34" charset="-120"/>
              </a:rPr>
              <a:t>The threshold was tuned per condition by sweeping 0.10 to 0.55 and taking the best Micro-F1</a:t>
            </a:r>
            <a:endParaRPr lang="en-US" sz="12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1045159"/>
          </a:xfrm>
          <a:prstGeom prst="rect">
            <a:avLst/>
          </a:prstGeom>
          <a:solidFill>
            <a:srgbClr val="9A003B"/>
          </a:solidFill>
          <a:ln w="12700">
            <a:solidFill>
              <a:srgbClr val="9A003B"/>
            </a:solidFill>
            <a:prstDash val="solid"/>
          </a:ln>
        </p:spPr>
      </p:sp>
      <p:sp>
        <p:nvSpPr>
          <p:cNvPr id="3" name="Text 1"/>
          <p:cNvSpPr txBox="1"/>
          <p:nvPr/>
        </p:nvSpPr>
        <p:spPr>
          <a:xfrm>
            <a:off x="228600" y="109728"/>
            <a:ext cx="11704320" cy="825703"/>
          </a:xfrm>
          <a:prstGeom prst="rect">
            <a:avLst/>
          </a:prstGeom>
          <a:noFill/>
          <a:ln/>
        </p:spPr>
        <p:txBody>
          <a:bodyPr wrap="square" lIns="0" tIns="0" rIns="0" bIns="0" rtlCol="0" anchor="ctr"/>
          <a:lstStyle/>
          <a:p>
            <a:pPr marL="0" indent="0">
              <a:lnSpc>
                <a:spcPct val="95000"/>
              </a:lnSpc>
              <a:buNone/>
            </a:pPr>
            <a:r>
              <a:rPr lang="en-US" sz="2500" dirty="0">
                <a:solidFill>
                  <a:srgbClr val="FFFFFF"/>
                </a:solidFill>
                <a:latin typeface="Calibri" pitchFamily="34" charset="0"/>
                <a:ea typeface="Calibri" pitchFamily="34" charset="-122"/>
                <a:cs typeface="Calibri" pitchFamily="34" charset="-120"/>
              </a:rPr>
              <a:t>Results: Outcomes and Question Alignment III</a:t>
            </a:r>
            <a:endParaRPr lang="en-US" sz="2500" dirty="0"/>
          </a:p>
        </p:txBody>
      </p:sp>
      <p:sp>
        <p:nvSpPr>
          <p:cNvPr id="4" name="Text 2"/>
          <p:cNvSpPr txBox="1"/>
          <p:nvPr/>
        </p:nvSpPr>
        <p:spPr>
          <a:xfrm>
            <a:off x="10515600" y="5806440"/>
            <a:ext cx="1463040" cy="749808"/>
          </a:xfrm>
          <a:prstGeom prst="rect">
            <a:avLst/>
          </a:prstGeom>
          <a:noFill/>
          <a:ln/>
        </p:spPr>
        <p:txBody>
          <a:bodyPr wrap="square" lIns="0" tIns="0" rIns="0" bIns="0" rtlCol="0" anchor="b"/>
          <a:lstStyle/>
          <a:p>
            <a:pPr marL="0" indent="0" algn="r">
              <a:lnSpc>
                <a:spcPct val="85000"/>
              </a:lnSpc>
              <a:buNone/>
            </a:pPr>
            <a:r>
              <a:rPr lang="en-US" sz="1150" b="1" dirty="0">
                <a:solidFill>
                  <a:srgbClr val="9A003B"/>
                </a:solidFill>
                <a:latin typeface="Calibri" pitchFamily="34" charset="0"/>
                <a:ea typeface="Calibri" pitchFamily="34" charset="-122"/>
                <a:cs typeface="Calibri" pitchFamily="34" charset="-120"/>
              </a:rPr>
              <a:t>Sheffield</a:t>
            </a:r>
            <a:endParaRPr lang="en-US" sz="1150" dirty="0"/>
          </a:p>
          <a:p>
            <a:pPr marL="0" indent="0" algn="r">
              <a:lnSpc>
                <a:spcPct val="85000"/>
              </a:lnSpc>
              <a:buNone/>
            </a:pPr>
            <a:r>
              <a:rPr lang="en-US" sz="1150" b="1" dirty="0">
                <a:solidFill>
                  <a:srgbClr val="9A003B"/>
                </a:solidFill>
                <a:latin typeface="Calibri" pitchFamily="34" charset="0"/>
                <a:ea typeface="Calibri" pitchFamily="34" charset="-122"/>
                <a:cs typeface="Calibri" pitchFamily="34" charset="-120"/>
              </a:rPr>
              <a:t>Hallam</a:t>
            </a:r>
            <a:endParaRPr lang="en-US" sz="1150" dirty="0"/>
          </a:p>
          <a:p>
            <a:pPr marL="0" indent="0" algn="r">
              <a:lnSpc>
                <a:spcPct val="85000"/>
              </a:lnSpc>
              <a:buNone/>
            </a:pPr>
            <a:r>
              <a:rPr lang="en-US" sz="1150" b="1" dirty="0">
                <a:solidFill>
                  <a:srgbClr val="9A003B"/>
                </a:solidFill>
                <a:latin typeface="Calibri" pitchFamily="34" charset="0"/>
                <a:ea typeface="Calibri" pitchFamily="34" charset="-122"/>
                <a:cs typeface="Calibri" pitchFamily="34" charset="-120"/>
              </a:rPr>
              <a:t>University</a:t>
            </a:r>
            <a:endParaRPr lang="en-US" sz="1150" dirty="0"/>
          </a:p>
        </p:txBody>
      </p:sp>
      <p:sp>
        <p:nvSpPr>
          <p:cNvPr id="5" name="Shape 3"/>
          <p:cNvSpPr/>
          <p:nvPr/>
        </p:nvSpPr>
        <p:spPr>
          <a:xfrm>
            <a:off x="0" y="6624828"/>
            <a:ext cx="4063898" cy="233172"/>
          </a:xfrm>
          <a:prstGeom prst="rect">
            <a:avLst/>
          </a:prstGeom>
          <a:solidFill>
            <a:srgbClr val="4D001E"/>
          </a:solidFill>
          <a:ln w="12700">
            <a:solidFill>
              <a:srgbClr val="4D001E"/>
            </a:solidFill>
            <a:prstDash val="solid"/>
          </a:ln>
        </p:spPr>
      </p:sp>
      <p:sp>
        <p:nvSpPr>
          <p:cNvPr id="6" name="Shape 4"/>
          <p:cNvSpPr/>
          <p:nvPr/>
        </p:nvSpPr>
        <p:spPr>
          <a:xfrm>
            <a:off x="4063898" y="6624828"/>
            <a:ext cx="4063898" cy="233172"/>
          </a:xfrm>
          <a:prstGeom prst="rect">
            <a:avLst/>
          </a:prstGeom>
          <a:solidFill>
            <a:srgbClr val="74002C"/>
          </a:solidFill>
          <a:ln w="12700">
            <a:solidFill>
              <a:srgbClr val="74002C"/>
            </a:solidFill>
            <a:prstDash val="solid"/>
          </a:ln>
        </p:spPr>
      </p:sp>
      <p:sp>
        <p:nvSpPr>
          <p:cNvPr id="7" name="Shape 5"/>
          <p:cNvSpPr/>
          <p:nvPr/>
        </p:nvSpPr>
        <p:spPr>
          <a:xfrm>
            <a:off x="8127797" y="6624828"/>
            <a:ext cx="4063898" cy="233172"/>
          </a:xfrm>
          <a:prstGeom prst="rect">
            <a:avLst/>
          </a:prstGeom>
          <a:solidFill>
            <a:srgbClr val="9A003B"/>
          </a:solidFill>
          <a:ln w="12700">
            <a:solidFill>
              <a:srgbClr val="9A003B"/>
            </a:solidFill>
            <a:prstDash val="solid"/>
          </a:ln>
        </p:spPr>
      </p:sp>
      <p:sp>
        <p:nvSpPr>
          <p:cNvPr id="8" name="Text 6"/>
          <p:cNvSpPr txBox="1"/>
          <p:nvPr/>
        </p:nvSpPr>
        <p:spPr>
          <a:xfrm>
            <a:off x="1143000" y="6624828"/>
            <a:ext cx="2743200" cy="233172"/>
          </a:xfrm>
          <a:prstGeom prst="rect">
            <a:avLst/>
          </a:prstGeom>
          <a:noFill/>
          <a:ln/>
        </p:spPr>
        <p:txBody>
          <a:bodyPr wrap="square" lIns="0" tIns="0" rIns="0" bIns="0" rtlCol="0" anchor="ctr"/>
          <a:lstStyle/>
          <a:p>
            <a:pPr marL="0" indent="0">
              <a:buNone/>
            </a:pPr>
            <a:r>
              <a:rPr lang="en-US" sz="900" dirty="0">
                <a:solidFill>
                  <a:srgbClr val="FFFFFF"/>
                </a:solidFill>
                <a:latin typeface="Calibri" pitchFamily="34" charset="0"/>
                <a:ea typeface="Calibri" pitchFamily="34" charset="-122"/>
                <a:cs typeface="Calibri" pitchFamily="34" charset="-120"/>
              </a:rPr>
              <a:t>[Student Initials]  (SHU)</a:t>
            </a:r>
            <a:endParaRPr lang="en-US" sz="900" dirty="0"/>
          </a:p>
        </p:txBody>
      </p:sp>
      <p:sp>
        <p:nvSpPr>
          <p:cNvPr id="9" name="Text 7"/>
          <p:cNvSpPr txBox="1"/>
          <p:nvPr/>
        </p:nvSpPr>
        <p:spPr>
          <a:xfrm>
            <a:off x="5276088" y="6624828"/>
            <a:ext cx="2743200" cy="233172"/>
          </a:xfrm>
          <a:prstGeom prst="rect">
            <a:avLst/>
          </a:prstGeom>
          <a:noFill/>
          <a:ln/>
        </p:spPr>
        <p:txBody>
          <a:bodyPr wrap="square" lIns="0" tIns="0" rIns="0" bIns="0" rtlCol="0" anchor="ctr"/>
          <a:lstStyle/>
          <a:p>
            <a:pPr marL="0" indent="0">
              <a:buNone/>
            </a:pPr>
            <a:r>
              <a:rPr lang="en-US" sz="900" dirty="0">
                <a:solidFill>
                  <a:srgbClr val="FFFFFF"/>
                </a:solidFill>
                <a:latin typeface="Calibri" pitchFamily="34" charset="0"/>
                <a:ea typeface="Calibri" pitchFamily="34" charset="-122"/>
                <a:cs typeface="Calibri" pitchFamily="34" charset="-120"/>
              </a:rPr>
              <a:t>Does the Emoji Matter?</a:t>
            </a:r>
            <a:endParaRPr lang="en-US" sz="900" dirty="0"/>
          </a:p>
        </p:txBody>
      </p:sp>
      <p:sp>
        <p:nvSpPr>
          <p:cNvPr id="10" name="Text 8"/>
          <p:cNvSpPr txBox="1"/>
          <p:nvPr/>
        </p:nvSpPr>
        <p:spPr>
          <a:xfrm>
            <a:off x="9235440" y="6624828"/>
            <a:ext cx="1645920" cy="233172"/>
          </a:xfrm>
          <a:prstGeom prst="rect">
            <a:avLst/>
          </a:prstGeom>
          <a:noFill/>
          <a:ln/>
        </p:spPr>
        <p:txBody>
          <a:bodyPr wrap="square" lIns="0" tIns="0" rIns="0" bIns="0" rtlCol="0" anchor="ctr"/>
          <a:lstStyle/>
          <a:p>
            <a:pPr marL="0" indent="0">
              <a:buNone/>
            </a:pPr>
            <a:r>
              <a:rPr lang="en-US" sz="900" dirty="0">
                <a:solidFill>
                  <a:srgbClr val="FFFFFF"/>
                </a:solidFill>
                <a:latin typeface="Calibri" pitchFamily="34" charset="0"/>
                <a:ea typeface="Calibri" pitchFamily="34" charset="-122"/>
                <a:cs typeface="Calibri" pitchFamily="34" charset="-120"/>
              </a:rPr>
              <a:t>September 2026</a:t>
            </a:r>
            <a:endParaRPr lang="en-US" sz="900" dirty="0"/>
          </a:p>
        </p:txBody>
      </p:sp>
      <p:sp>
        <p:nvSpPr>
          <p:cNvPr id="11" name="Text 9"/>
          <p:cNvSpPr txBox="1"/>
          <p:nvPr/>
        </p:nvSpPr>
        <p:spPr>
          <a:xfrm>
            <a:off x="10881360" y="6624828"/>
            <a:ext cx="1161288" cy="233172"/>
          </a:xfrm>
          <a:prstGeom prst="rect">
            <a:avLst/>
          </a:prstGeom>
          <a:noFill/>
          <a:ln/>
        </p:spPr>
        <p:txBody>
          <a:bodyPr wrap="square" lIns="0" tIns="0" rIns="0" bIns="0" rtlCol="0" anchor="ctr"/>
          <a:lstStyle/>
          <a:p>
            <a:pPr marL="0" indent="0" algn="r">
              <a:buNone/>
            </a:pPr>
            <a:r>
              <a:rPr lang="en-US" sz="900" dirty="0">
                <a:solidFill>
                  <a:srgbClr val="FFFFFF"/>
                </a:solidFill>
                <a:latin typeface="Calibri" pitchFamily="34" charset="0"/>
                <a:ea typeface="Calibri" pitchFamily="34" charset="-122"/>
                <a:cs typeface="Calibri" pitchFamily="34" charset="-120"/>
              </a:rPr>
              <a:t>27 / 43</a:t>
            </a:r>
            <a:endParaRPr lang="en-US" sz="900" dirty="0"/>
          </a:p>
        </p:txBody>
      </p:sp>
      <p:sp>
        <p:nvSpPr>
          <p:cNvPr id="12" name="Text 10"/>
          <p:cNvSpPr txBox="1"/>
          <p:nvPr/>
        </p:nvSpPr>
        <p:spPr>
          <a:xfrm>
            <a:off x="566928" y="1298448"/>
            <a:ext cx="11055096" cy="274320"/>
          </a:xfrm>
          <a:prstGeom prst="rect">
            <a:avLst/>
          </a:prstGeom>
          <a:noFill/>
          <a:ln/>
        </p:spPr>
        <p:txBody>
          <a:bodyPr wrap="square" lIns="0" tIns="0" rIns="0" bIns="0" rtlCol="0" anchor="t"/>
          <a:lstStyle/>
          <a:p>
            <a:pPr marL="0" indent="0">
              <a:lnSpc>
                <a:spcPct val="106000"/>
              </a:lnSpc>
              <a:buNone/>
            </a:pPr>
            <a:r>
              <a:rPr lang="en-US" sz="1500" b="1" dirty="0">
                <a:solidFill>
                  <a:srgbClr val="000000"/>
                </a:solidFill>
                <a:latin typeface="Calibri" pitchFamily="34" charset="0"/>
                <a:ea typeface="Calibri" pitchFamily="34" charset="-122"/>
                <a:cs typeface="Calibri" pitchFamily="34" charset="-120"/>
              </a:rPr>
              <a:t>The emoji effect, and how it varies by emotion</a:t>
            </a:r>
            <a:endParaRPr lang="en-US" sz="1500" dirty="0"/>
          </a:p>
        </p:txBody>
      </p:sp>
      <p:pic>
        <p:nvPicPr>
          <p:cNvPr id="13" name="Image 0" descr="D:\assigments_7_students\krish\figures\emoji_impact.png"/>
          <p:cNvPicPr>
            <a:picLocks noChangeAspect="1"/>
          </p:cNvPicPr>
          <p:nvPr/>
        </p:nvPicPr>
        <p:blipFill>
          <a:blip r:embed="rId3"/>
          <a:stretch>
            <a:fillRect/>
          </a:stretch>
        </p:blipFill>
        <p:spPr>
          <a:xfrm>
            <a:off x="566928" y="1682496"/>
            <a:ext cx="5029200" cy="2852928"/>
          </a:xfrm>
          <a:prstGeom prst="rect">
            <a:avLst/>
          </a:prstGeom>
        </p:spPr>
      </p:pic>
      <p:sp>
        <p:nvSpPr>
          <p:cNvPr id="14" name="Text 11"/>
          <p:cNvSpPr txBox="1"/>
          <p:nvPr/>
        </p:nvSpPr>
        <p:spPr>
          <a:xfrm>
            <a:off x="566928" y="4608576"/>
            <a:ext cx="5029200" cy="365760"/>
          </a:xfrm>
          <a:prstGeom prst="rect">
            <a:avLst/>
          </a:prstGeom>
          <a:noFill/>
          <a:ln/>
        </p:spPr>
        <p:txBody>
          <a:bodyPr wrap="square" lIns="0" tIns="0" rIns="0" bIns="0" rtlCol="0" anchor="t"/>
          <a:lstStyle/>
          <a:p>
            <a:pPr marL="0" indent="0" algn="ctr">
              <a:lnSpc>
                <a:spcPct val="100000"/>
              </a:lnSpc>
              <a:buNone/>
            </a:pPr>
            <a:r>
              <a:rPr lang="en-US" sz="1050" dirty="0">
                <a:solidFill>
                  <a:srgbClr val="5C5C5C"/>
                </a:solidFill>
                <a:latin typeface="Calibri" pitchFamily="34" charset="0"/>
                <a:ea typeface="Calibri" pitchFamily="34" charset="-122"/>
                <a:cs typeface="Calibri" pitchFamily="34" charset="-120"/>
              </a:rPr>
              <a:t>Aggregate emoji effect by architecture.</a:t>
            </a:r>
            <a:endParaRPr lang="en-US" sz="1050" dirty="0"/>
          </a:p>
        </p:txBody>
      </p:sp>
      <p:pic>
        <p:nvPicPr>
          <p:cNvPr id="15" name="Image 1" descr="D:\assigments_7_students\krish\figures\per_emotion_impact.png"/>
          <p:cNvPicPr>
            <a:picLocks noChangeAspect="1"/>
          </p:cNvPicPr>
          <p:nvPr/>
        </p:nvPicPr>
        <p:blipFill>
          <a:blip r:embed="rId4"/>
          <a:stretch>
            <a:fillRect/>
          </a:stretch>
        </p:blipFill>
        <p:spPr>
          <a:xfrm>
            <a:off x="5852160" y="1682496"/>
            <a:ext cx="5769864" cy="2743200"/>
          </a:xfrm>
          <a:prstGeom prst="rect">
            <a:avLst/>
          </a:prstGeom>
        </p:spPr>
      </p:pic>
      <p:sp>
        <p:nvSpPr>
          <p:cNvPr id="16" name="Text 12"/>
          <p:cNvSpPr txBox="1"/>
          <p:nvPr/>
        </p:nvSpPr>
        <p:spPr>
          <a:xfrm>
            <a:off x="5852160" y="4498848"/>
            <a:ext cx="5769864" cy="365760"/>
          </a:xfrm>
          <a:prstGeom prst="rect">
            <a:avLst/>
          </a:prstGeom>
          <a:noFill/>
          <a:ln/>
        </p:spPr>
        <p:txBody>
          <a:bodyPr wrap="square" lIns="0" tIns="0" rIns="0" bIns="0" rtlCol="0" anchor="t"/>
          <a:lstStyle/>
          <a:p>
            <a:pPr marL="0" indent="0" algn="ctr">
              <a:lnSpc>
                <a:spcPct val="100000"/>
              </a:lnSpc>
              <a:buNone/>
            </a:pPr>
            <a:r>
              <a:rPr lang="en-US" sz="1050" dirty="0">
                <a:solidFill>
                  <a:srgbClr val="5C5C5C"/>
                </a:solidFill>
                <a:latin typeface="Calibri" pitchFamily="34" charset="0"/>
                <a:ea typeface="Calibri" pitchFamily="34" charset="-122"/>
                <a:cs typeface="Calibri" pitchFamily="34" charset="-120"/>
              </a:rPr>
              <a:t>Per-emotion emoji effect, mean of the two architectures. The spread is far wider than the average suggests.</a:t>
            </a:r>
            <a:endParaRPr lang="en-US" sz="1050" dirty="0"/>
          </a:p>
        </p:txBody>
      </p:sp>
      <p:sp>
        <p:nvSpPr>
          <p:cNvPr id="17" name="Shape 13"/>
          <p:cNvSpPr/>
          <p:nvPr/>
        </p:nvSpPr>
        <p:spPr>
          <a:xfrm>
            <a:off x="566928" y="4956048"/>
            <a:ext cx="9829800" cy="384048"/>
          </a:xfrm>
          <a:prstGeom prst="rect">
            <a:avLst/>
          </a:prstGeom>
          <a:solidFill>
            <a:srgbClr val="2764B4"/>
          </a:solidFill>
          <a:ln w="12700">
            <a:solidFill>
              <a:srgbClr val="2764B4"/>
            </a:solidFill>
            <a:prstDash val="solid"/>
          </a:ln>
        </p:spPr>
      </p:sp>
      <p:sp>
        <p:nvSpPr>
          <p:cNvPr id="18" name="Text 14"/>
          <p:cNvSpPr txBox="1"/>
          <p:nvPr/>
        </p:nvSpPr>
        <p:spPr>
          <a:xfrm>
            <a:off x="694944" y="4956048"/>
            <a:ext cx="9573768" cy="384048"/>
          </a:xfrm>
          <a:prstGeom prst="rect">
            <a:avLst/>
          </a:prstGeom>
          <a:noFill/>
          <a:ln/>
        </p:spPr>
        <p:txBody>
          <a:bodyPr wrap="square" lIns="0" tIns="0" rIns="0" bIns="0" rtlCol="0" anchor="ctr"/>
          <a:lstStyle/>
          <a:p>
            <a:pPr marL="0" indent="0">
              <a:buNone/>
            </a:pPr>
            <a:r>
              <a:rPr lang="en-US" sz="1500" b="1" dirty="0">
                <a:solidFill>
                  <a:srgbClr val="FFFFFF"/>
                </a:solidFill>
                <a:latin typeface="Calibri" pitchFamily="34" charset="0"/>
                <a:ea typeface="Calibri" pitchFamily="34" charset="-122"/>
                <a:cs typeface="Calibri" pitchFamily="34" charset="-120"/>
              </a:rPr>
              <a:t>What the numbers say</a:t>
            </a:r>
            <a:endParaRPr lang="en-US" sz="1500" dirty="0"/>
          </a:p>
        </p:txBody>
      </p:sp>
      <p:sp>
        <p:nvSpPr>
          <p:cNvPr id="19" name="Shape 15"/>
          <p:cNvSpPr/>
          <p:nvPr/>
        </p:nvSpPr>
        <p:spPr>
          <a:xfrm>
            <a:off x="566928" y="5340096"/>
            <a:ext cx="9829800" cy="1005840"/>
          </a:xfrm>
          <a:prstGeom prst="rect">
            <a:avLst/>
          </a:prstGeom>
          <a:solidFill>
            <a:srgbClr val="E9EFF7"/>
          </a:solidFill>
          <a:ln w="12700">
            <a:solidFill>
              <a:srgbClr val="E9EFF7"/>
            </a:solidFill>
            <a:prstDash val="solid"/>
          </a:ln>
        </p:spPr>
      </p:sp>
      <p:sp>
        <p:nvSpPr>
          <p:cNvPr id="20" name="Text 16"/>
          <p:cNvSpPr txBox="1"/>
          <p:nvPr/>
        </p:nvSpPr>
        <p:spPr>
          <a:xfrm>
            <a:off x="768096" y="5413248"/>
            <a:ext cx="9427464" cy="749808"/>
          </a:xfrm>
          <a:prstGeom prst="rect">
            <a:avLst/>
          </a:prstGeom>
          <a:noFill/>
          <a:ln/>
        </p:spPr>
        <p:txBody>
          <a:bodyPr wrap="square" lIns="0" tIns="0" rIns="0" bIns="0" rtlCol="0" anchor="t"/>
          <a:lstStyle/>
          <a:p>
            <a:pPr marL="177800" indent="-177800">
              <a:lnSpc>
                <a:spcPct val="106000"/>
              </a:lnSpc>
              <a:spcAft>
                <a:spcPts val="800"/>
              </a:spcAft>
              <a:buSzPct val="100000"/>
              <a:buChar char="•"/>
            </a:pPr>
            <a:r>
              <a:rPr lang="en-US" sz="1200" dirty="0">
                <a:solidFill>
                  <a:srgbClr val="000000"/>
                </a:solidFill>
                <a:latin typeface="Calibri" pitchFamily="34" charset="0"/>
                <a:ea typeface="Calibri" pitchFamily="34" charset="-122"/>
                <a:cs typeface="Calibri" pitchFamily="34" charset="-120"/>
              </a:rPr>
              <a:t>The twelve tuning configurations span 7.4 Micro-F1 points, so a 2 to 4 point move is a meaningful share of the range a practitioner can reach by tuning; Macro-F1 moves in the same direction for both models</a:t>
            </a:r>
            <a:endParaRPr lang="en-US" sz="1200" dirty="0"/>
          </a:p>
          <a:p>
            <a:pPr marL="177800" indent="-177800">
              <a:lnSpc>
                <a:spcPct val="106000"/>
              </a:lnSpc>
              <a:spcAft>
                <a:spcPts val="800"/>
              </a:spcAft>
              <a:buSzPct val="100000"/>
              <a:buChar char="•"/>
            </a:pPr>
            <a:r>
              <a:rPr lang="en-US" sz="1200" dirty="0">
                <a:solidFill>
                  <a:srgbClr val="000000"/>
                </a:solidFill>
                <a:latin typeface="Calibri" pitchFamily="34" charset="0"/>
                <a:ea typeface="Calibri" pitchFamily="34" charset="-122"/>
                <a:cs typeface="Calibri" pitchFamily="34" charset="-120"/>
              </a:rPr>
              <a:t>At label level the movement runs from +11.80 points for sadness under the Transformer to -4.13 for anticipation under the BiLSTM, a range of nearly 16 points</a:t>
            </a:r>
            <a:endParaRPr lang="en-US" sz="12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1045159"/>
          </a:xfrm>
          <a:prstGeom prst="rect">
            <a:avLst/>
          </a:prstGeom>
          <a:solidFill>
            <a:srgbClr val="9A003B"/>
          </a:solidFill>
          <a:ln w="12700">
            <a:solidFill>
              <a:srgbClr val="9A003B"/>
            </a:solidFill>
            <a:prstDash val="solid"/>
          </a:ln>
        </p:spPr>
      </p:sp>
      <p:sp>
        <p:nvSpPr>
          <p:cNvPr id="3" name="Text 1"/>
          <p:cNvSpPr txBox="1"/>
          <p:nvPr/>
        </p:nvSpPr>
        <p:spPr>
          <a:xfrm>
            <a:off x="228600" y="109728"/>
            <a:ext cx="11704320" cy="825703"/>
          </a:xfrm>
          <a:prstGeom prst="rect">
            <a:avLst/>
          </a:prstGeom>
          <a:noFill/>
          <a:ln/>
        </p:spPr>
        <p:txBody>
          <a:bodyPr wrap="square" lIns="0" tIns="0" rIns="0" bIns="0" rtlCol="0" anchor="ctr"/>
          <a:lstStyle/>
          <a:p>
            <a:pPr marL="0" indent="0">
              <a:lnSpc>
                <a:spcPct val="95000"/>
              </a:lnSpc>
              <a:buNone/>
            </a:pPr>
            <a:r>
              <a:rPr lang="en-US" sz="2500" dirty="0">
                <a:solidFill>
                  <a:srgbClr val="FFFFFF"/>
                </a:solidFill>
                <a:latin typeface="Calibri" pitchFamily="34" charset="0"/>
                <a:ea typeface="Calibri" pitchFamily="34" charset="-122"/>
                <a:cs typeface="Calibri" pitchFamily="34" charset="-120"/>
              </a:rPr>
              <a:t>Results: Outcomes and Question Alignment IV</a:t>
            </a:r>
            <a:endParaRPr lang="en-US" sz="2500" dirty="0"/>
          </a:p>
        </p:txBody>
      </p:sp>
      <p:sp>
        <p:nvSpPr>
          <p:cNvPr id="4" name="Text 2"/>
          <p:cNvSpPr txBox="1"/>
          <p:nvPr/>
        </p:nvSpPr>
        <p:spPr>
          <a:xfrm>
            <a:off x="10515600" y="5806440"/>
            <a:ext cx="1463040" cy="749808"/>
          </a:xfrm>
          <a:prstGeom prst="rect">
            <a:avLst/>
          </a:prstGeom>
          <a:noFill/>
          <a:ln/>
        </p:spPr>
        <p:txBody>
          <a:bodyPr wrap="square" lIns="0" tIns="0" rIns="0" bIns="0" rtlCol="0" anchor="b"/>
          <a:lstStyle/>
          <a:p>
            <a:pPr marL="0" indent="0" algn="r">
              <a:lnSpc>
                <a:spcPct val="85000"/>
              </a:lnSpc>
              <a:buNone/>
            </a:pPr>
            <a:r>
              <a:rPr lang="en-US" sz="1150" b="1" dirty="0">
                <a:solidFill>
                  <a:srgbClr val="9A003B"/>
                </a:solidFill>
                <a:latin typeface="Calibri" pitchFamily="34" charset="0"/>
                <a:ea typeface="Calibri" pitchFamily="34" charset="-122"/>
                <a:cs typeface="Calibri" pitchFamily="34" charset="-120"/>
              </a:rPr>
              <a:t>Sheffield</a:t>
            </a:r>
            <a:endParaRPr lang="en-US" sz="1150" dirty="0"/>
          </a:p>
          <a:p>
            <a:pPr marL="0" indent="0" algn="r">
              <a:lnSpc>
                <a:spcPct val="85000"/>
              </a:lnSpc>
              <a:buNone/>
            </a:pPr>
            <a:r>
              <a:rPr lang="en-US" sz="1150" b="1" dirty="0">
                <a:solidFill>
                  <a:srgbClr val="9A003B"/>
                </a:solidFill>
                <a:latin typeface="Calibri" pitchFamily="34" charset="0"/>
                <a:ea typeface="Calibri" pitchFamily="34" charset="-122"/>
                <a:cs typeface="Calibri" pitchFamily="34" charset="-120"/>
              </a:rPr>
              <a:t>Hallam</a:t>
            </a:r>
            <a:endParaRPr lang="en-US" sz="1150" dirty="0"/>
          </a:p>
          <a:p>
            <a:pPr marL="0" indent="0" algn="r">
              <a:lnSpc>
                <a:spcPct val="85000"/>
              </a:lnSpc>
              <a:buNone/>
            </a:pPr>
            <a:r>
              <a:rPr lang="en-US" sz="1150" b="1" dirty="0">
                <a:solidFill>
                  <a:srgbClr val="9A003B"/>
                </a:solidFill>
                <a:latin typeface="Calibri" pitchFamily="34" charset="0"/>
                <a:ea typeface="Calibri" pitchFamily="34" charset="-122"/>
                <a:cs typeface="Calibri" pitchFamily="34" charset="-120"/>
              </a:rPr>
              <a:t>University</a:t>
            </a:r>
            <a:endParaRPr lang="en-US" sz="1150" dirty="0"/>
          </a:p>
        </p:txBody>
      </p:sp>
      <p:sp>
        <p:nvSpPr>
          <p:cNvPr id="5" name="Shape 3"/>
          <p:cNvSpPr/>
          <p:nvPr/>
        </p:nvSpPr>
        <p:spPr>
          <a:xfrm>
            <a:off x="0" y="6624828"/>
            <a:ext cx="4063898" cy="233172"/>
          </a:xfrm>
          <a:prstGeom prst="rect">
            <a:avLst/>
          </a:prstGeom>
          <a:solidFill>
            <a:srgbClr val="4D001E"/>
          </a:solidFill>
          <a:ln w="12700">
            <a:solidFill>
              <a:srgbClr val="4D001E"/>
            </a:solidFill>
            <a:prstDash val="solid"/>
          </a:ln>
        </p:spPr>
      </p:sp>
      <p:sp>
        <p:nvSpPr>
          <p:cNvPr id="6" name="Shape 4"/>
          <p:cNvSpPr/>
          <p:nvPr/>
        </p:nvSpPr>
        <p:spPr>
          <a:xfrm>
            <a:off x="4063898" y="6624828"/>
            <a:ext cx="4063898" cy="233172"/>
          </a:xfrm>
          <a:prstGeom prst="rect">
            <a:avLst/>
          </a:prstGeom>
          <a:solidFill>
            <a:srgbClr val="74002C"/>
          </a:solidFill>
          <a:ln w="12700">
            <a:solidFill>
              <a:srgbClr val="74002C"/>
            </a:solidFill>
            <a:prstDash val="solid"/>
          </a:ln>
        </p:spPr>
      </p:sp>
      <p:sp>
        <p:nvSpPr>
          <p:cNvPr id="7" name="Shape 5"/>
          <p:cNvSpPr/>
          <p:nvPr/>
        </p:nvSpPr>
        <p:spPr>
          <a:xfrm>
            <a:off x="8127797" y="6624828"/>
            <a:ext cx="4063898" cy="233172"/>
          </a:xfrm>
          <a:prstGeom prst="rect">
            <a:avLst/>
          </a:prstGeom>
          <a:solidFill>
            <a:srgbClr val="9A003B"/>
          </a:solidFill>
          <a:ln w="12700">
            <a:solidFill>
              <a:srgbClr val="9A003B"/>
            </a:solidFill>
            <a:prstDash val="solid"/>
          </a:ln>
        </p:spPr>
      </p:sp>
      <p:sp>
        <p:nvSpPr>
          <p:cNvPr id="8" name="Text 6"/>
          <p:cNvSpPr txBox="1"/>
          <p:nvPr/>
        </p:nvSpPr>
        <p:spPr>
          <a:xfrm>
            <a:off x="1143000" y="6624828"/>
            <a:ext cx="2743200" cy="233172"/>
          </a:xfrm>
          <a:prstGeom prst="rect">
            <a:avLst/>
          </a:prstGeom>
          <a:noFill/>
          <a:ln/>
        </p:spPr>
        <p:txBody>
          <a:bodyPr wrap="square" lIns="0" tIns="0" rIns="0" bIns="0" rtlCol="0" anchor="ctr"/>
          <a:lstStyle/>
          <a:p>
            <a:pPr marL="0" indent="0">
              <a:buNone/>
            </a:pPr>
            <a:r>
              <a:rPr lang="en-US" sz="900" dirty="0">
                <a:solidFill>
                  <a:srgbClr val="FFFFFF"/>
                </a:solidFill>
                <a:latin typeface="Calibri" pitchFamily="34" charset="0"/>
                <a:ea typeface="Calibri" pitchFamily="34" charset="-122"/>
                <a:cs typeface="Calibri" pitchFamily="34" charset="-120"/>
              </a:rPr>
              <a:t>[Student Initials]  (SHU)</a:t>
            </a:r>
            <a:endParaRPr lang="en-US" sz="900" dirty="0"/>
          </a:p>
        </p:txBody>
      </p:sp>
      <p:sp>
        <p:nvSpPr>
          <p:cNvPr id="9" name="Text 7"/>
          <p:cNvSpPr txBox="1"/>
          <p:nvPr/>
        </p:nvSpPr>
        <p:spPr>
          <a:xfrm>
            <a:off x="5276088" y="6624828"/>
            <a:ext cx="2743200" cy="233172"/>
          </a:xfrm>
          <a:prstGeom prst="rect">
            <a:avLst/>
          </a:prstGeom>
          <a:noFill/>
          <a:ln/>
        </p:spPr>
        <p:txBody>
          <a:bodyPr wrap="square" lIns="0" tIns="0" rIns="0" bIns="0" rtlCol="0" anchor="ctr"/>
          <a:lstStyle/>
          <a:p>
            <a:pPr marL="0" indent="0">
              <a:buNone/>
            </a:pPr>
            <a:r>
              <a:rPr lang="en-US" sz="900" dirty="0">
                <a:solidFill>
                  <a:srgbClr val="FFFFFF"/>
                </a:solidFill>
                <a:latin typeface="Calibri" pitchFamily="34" charset="0"/>
                <a:ea typeface="Calibri" pitchFamily="34" charset="-122"/>
                <a:cs typeface="Calibri" pitchFamily="34" charset="-120"/>
              </a:rPr>
              <a:t>Does the Emoji Matter?</a:t>
            </a:r>
            <a:endParaRPr lang="en-US" sz="900" dirty="0"/>
          </a:p>
        </p:txBody>
      </p:sp>
      <p:sp>
        <p:nvSpPr>
          <p:cNvPr id="10" name="Text 8"/>
          <p:cNvSpPr txBox="1"/>
          <p:nvPr/>
        </p:nvSpPr>
        <p:spPr>
          <a:xfrm>
            <a:off x="9235440" y="6624828"/>
            <a:ext cx="1645920" cy="233172"/>
          </a:xfrm>
          <a:prstGeom prst="rect">
            <a:avLst/>
          </a:prstGeom>
          <a:noFill/>
          <a:ln/>
        </p:spPr>
        <p:txBody>
          <a:bodyPr wrap="square" lIns="0" tIns="0" rIns="0" bIns="0" rtlCol="0" anchor="ctr"/>
          <a:lstStyle/>
          <a:p>
            <a:pPr marL="0" indent="0">
              <a:buNone/>
            </a:pPr>
            <a:r>
              <a:rPr lang="en-US" sz="900" dirty="0">
                <a:solidFill>
                  <a:srgbClr val="FFFFFF"/>
                </a:solidFill>
                <a:latin typeface="Calibri" pitchFamily="34" charset="0"/>
                <a:ea typeface="Calibri" pitchFamily="34" charset="-122"/>
                <a:cs typeface="Calibri" pitchFamily="34" charset="-120"/>
              </a:rPr>
              <a:t>September 2026</a:t>
            </a:r>
            <a:endParaRPr lang="en-US" sz="900" dirty="0"/>
          </a:p>
        </p:txBody>
      </p:sp>
      <p:sp>
        <p:nvSpPr>
          <p:cNvPr id="11" name="Text 9"/>
          <p:cNvSpPr txBox="1"/>
          <p:nvPr/>
        </p:nvSpPr>
        <p:spPr>
          <a:xfrm>
            <a:off x="10881360" y="6624828"/>
            <a:ext cx="1161288" cy="233172"/>
          </a:xfrm>
          <a:prstGeom prst="rect">
            <a:avLst/>
          </a:prstGeom>
          <a:noFill/>
          <a:ln/>
        </p:spPr>
        <p:txBody>
          <a:bodyPr wrap="square" lIns="0" tIns="0" rIns="0" bIns="0" rtlCol="0" anchor="ctr"/>
          <a:lstStyle/>
          <a:p>
            <a:pPr marL="0" indent="0" algn="r">
              <a:buNone/>
            </a:pPr>
            <a:r>
              <a:rPr lang="en-US" sz="900" dirty="0">
                <a:solidFill>
                  <a:srgbClr val="FFFFFF"/>
                </a:solidFill>
                <a:latin typeface="Calibri" pitchFamily="34" charset="0"/>
                <a:ea typeface="Calibri" pitchFamily="34" charset="-122"/>
                <a:cs typeface="Calibri" pitchFamily="34" charset="-120"/>
              </a:rPr>
              <a:t>28 / 43</a:t>
            </a:r>
            <a:endParaRPr lang="en-US" sz="900" dirty="0"/>
          </a:p>
        </p:txBody>
      </p:sp>
      <p:sp>
        <p:nvSpPr>
          <p:cNvPr id="12" name="Text 10"/>
          <p:cNvSpPr txBox="1"/>
          <p:nvPr/>
        </p:nvSpPr>
        <p:spPr>
          <a:xfrm>
            <a:off x="566928" y="1298448"/>
            <a:ext cx="11055096" cy="274320"/>
          </a:xfrm>
          <a:prstGeom prst="rect">
            <a:avLst/>
          </a:prstGeom>
          <a:noFill/>
          <a:ln/>
        </p:spPr>
        <p:txBody>
          <a:bodyPr wrap="square" lIns="0" tIns="0" rIns="0" bIns="0" rtlCol="0" anchor="t"/>
          <a:lstStyle/>
          <a:p>
            <a:pPr marL="0" indent="0">
              <a:lnSpc>
                <a:spcPct val="106000"/>
              </a:lnSpc>
              <a:buNone/>
            </a:pPr>
            <a:r>
              <a:rPr lang="en-US" sz="1500" b="1" dirty="0">
                <a:solidFill>
                  <a:srgbClr val="000000"/>
                </a:solidFill>
                <a:latin typeface="Calibri" pitchFamily="34" charset="0"/>
                <a:ea typeface="Calibri" pitchFamily="34" charset="-122"/>
                <a:cs typeface="Calibri" pitchFamily="34" charset="-120"/>
              </a:rPr>
              <a:t>Robustness checks</a:t>
            </a:r>
            <a:endParaRPr lang="en-US" sz="1500" dirty="0"/>
          </a:p>
        </p:txBody>
      </p:sp>
      <p:pic>
        <p:nvPicPr>
          <p:cNvPr id="13" name="Image 0" descr="D:\assigments_7_students\krish\figures\roc_lstm_with_emoji.png"/>
          <p:cNvPicPr>
            <a:picLocks noChangeAspect="1"/>
          </p:cNvPicPr>
          <p:nvPr/>
        </p:nvPicPr>
        <p:blipFill>
          <a:blip r:embed="rId3"/>
          <a:stretch>
            <a:fillRect/>
          </a:stretch>
        </p:blipFill>
        <p:spPr>
          <a:xfrm>
            <a:off x="566928" y="1682496"/>
            <a:ext cx="3611880" cy="2651760"/>
          </a:xfrm>
          <a:prstGeom prst="rect">
            <a:avLst/>
          </a:prstGeom>
        </p:spPr>
      </p:pic>
      <p:sp>
        <p:nvSpPr>
          <p:cNvPr id="14" name="Text 11"/>
          <p:cNvSpPr txBox="1"/>
          <p:nvPr/>
        </p:nvSpPr>
        <p:spPr>
          <a:xfrm>
            <a:off x="566928" y="4407408"/>
            <a:ext cx="3611880" cy="365760"/>
          </a:xfrm>
          <a:prstGeom prst="rect">
            <a:avLst/>
          </a:prstGeom>
          <a:noFill/>
          <a:ln/>
        </p:spPr>
        <p:txBody>
          <a:bodyPr wrap="square" lIns="0" tIns="0" rIns="0" bIns="0" rtlCol="0" anchor="t"/>
          <a:lstStyle/>
          <a:p>
            <a:pPr marL="0" indent="0" algn="ctr">
              <a:lnSpc>
                <a:spcPct val="100000"/>
              </a:lnSpc>
              <a:buNone/>
            </a:pPr>
            <a:r>
              <a:rPr lang="en-US" sz="1050" dirty="0">
                <a:solidFill>
                  <a:srgbClr val="5C5C5C"/>
                </a:solidFill>
                <a:latin typeface="Calibri" pitchFamily="34" charset="0"/>
                <a:ea typeface="Calibri" pitchFamily="34" charset="-122"/>
                <a:cs typeface="Calibri" pitchFamily="34" charset="-120"/>
              </a:rPr>
              <a:t>ROC curves per emotion, BiLSTM with emoji.</a:t>
            </a:r>
            <a:endParaRPr lang="en-US" sz="1050" dirty="0"/>
          </a:p>
        </p:txBody>
      </p:sp>
      <p:pic>
        <p:nvPicPr>
          <p:cNvPr id="15" name="Image 1" descr="D:\assigments_7_students\krish\figures\confusion_lstm_with_emoji.png"/>
          <p:cNvPicPr>
            <a:picLocks noChangeAspect="1"/>
          </p:cNvPicPr>
          <p:nvPr/>
        </p:nvPicPr>
        <p:blipFill>
          <a:blip r:embed="rId4"/>
          <a:stretch>
            <a:fillRect/>
          </a:stretch>
        </p:blipFill>
        <p:spPr>
          <a:xfrm>
            <a:off x="4434840" y="1682496"/>
            <a:ext cx="3822192" cy="2651760"/>
          </a:xfrm>
          <a:prstGeom prst="rect">
            <a:avLst/>
          </a:prstGeom>
        </p:spPr>
      </p:pic>
      <p:sp>
        <p:nvSpPr>
          <p:cNvPr id="16" name="Text 12"/>
          <p:cNvSpPr txBox="1"/>
          <p:nvPr/>
        </p:nvSpPr>
        <p:spPr>
          <a:xfrm>
            <a:off x="4434840" y="4407408"/>
            <a:ext cx="3822192" cy="365760"/>
          </a:xfrm>
          <a:prstGeom prst="rect">
            <a:avLst/>
          </a:prstGeom>
          <a:noFill/>
          <a:ln/>
        </p:spPr>
        <p:txBody>
          <a:bodyPr wrap="square" lIns="0" tIns="0" rIns="0" bIns="0" rtlCol="0" anchor="t"/>
          <a:lstStyle/>
          <a:p>
            <a:pPr marL="0" indent="0" algn="ctr">
              <a:lnSpc>
                <a:spcPct val="100000"/>
              </a:lnSpc>
              <a:buNone/>
            </a:pPr>
            <a:r>
              <a:rPr lang="en-US" sz="1050" dirty="0">
                <a:solidFill>
                  <a:srgbClr val="5C5C5C"/>
                </a:solidFill>
                <a:latin typeface="Calibri" pitchFamily="34" charset="0"/>
                <a:ea typeface="Calibri" pitchFamily="34" charset="-122"/>
                <a:cs typeface="Calibri" pitchFamily="34" charset="-120"/>
              </a:rPr>
              <a:t>Confusion matrices per emotion, same condition.</a:t>
            </a:r>
            <a:endParaRPr lang="en-US" sz="1050" dirty="0"/>
          </a:p>
        </p:txBody>
      </p:sp>
      <p:sp>
        <p:nvSpPr>
          <p:cNvPr id="17" name="Shape 13"/>
          <p:cNvSpPr/>
          <p:nvPr/>
        </p:nvSpPr>
        <p:spPr>
          <a:xfrm>
            <a:off x="8549640" y="1682496"/>
            <a:ext cx="3072384" cy="384048"/>
          </a:xfrm>
          <a:prstGeom prst="rect">
            <a:avLst/>
          </a:prstGeom>
          <a:solidFill>
            <a:srgbClr val="2764B4"/>
          </a:solidFill>
          <a:ln w="12700">
            <a:solidFill>
              <a:srgbClr val="2764B4"/>
            </a:solidFill>
            <a:prstDash val="solid"/>
          </a:ln>
        </p:spPr>
      </p:sp>
      <p:sp>
        <p:nvSpPr>
          <p:cNvPr id="18" name="Text 14"/>
          <p:cNvSpPr txBox="1"/>
          <p:nvPr/>
        </p:nvSpPr>
        <p:spPr>
          <a:xfrm>
            <a:off x="8677656" y="1682496"/>
            <a:ext cx="2816352" cy="384048"/>
          </a:xfrm>
          <a:prstGeom prst="rect">
            <a:avLst/>
          </a:prstGeom>
          <a:noFill/>
          <a:ln/>
        </p:spPr>
        <p:txBody>
          <a:bodyPr wrap="square" lIns="0" tIns="0" rIns="0" bIns="0" rtlCol="0" anchor="ctr"/>
          <a:lstStyle/>
          <a:p>
            <a:pPr marL="0" indent="0">
              <a:buNone/>
            </a:pPr>
            <a:r>
              <a:rPr lang="en-US" sz="1500" b="1" dirty="0">
                <a:solidFill>
                  <a:srgbClr val="FFFFFF"/>
                </a:solidFill>
                <a:latin typeface="Calibri" pitchFamily="34" charset="0"/>
                <a:ea typeface="Calibri" pitchFamily="34" charset="-122"/>
                <a:cs typeface="Calibri" pitchFamily="34" charset="-120"/>
              </a:rPr>
              <a:t>Three independent checks</a:t>
            </a:r>
            <a:endParaRPr lang="en-US" sz="1500" dirty="0"/>
          </a:p>
        </p:txBody>
      </p:sp>
      <p:sp>
        <p:nvSpPr>
          <p:cNvPr id="19" name="Shape 15"/>
          <p:cNvSpPr/>
          <p:nvPr/>
        </p:nvSpPr>
        <p:spPr>
          <a:xfrm>
            <a:off x="8549640" y="2066544"/>
            <a:ext cx="3072384" cy="2679192"/>
          </a:xfrm>
          <a:prstGeom prst="rect">
            <a:avLst/>
          </a:prstGeom>
          <a:solidFill>
            <a:srgbClr val="F4DDE6"/>
          </a:solidFill>
          <a:ln/>
        </p:spPr>
      </p:sp>
      <p:sp>
        <p:nvSpPr>
          <p:cNvPr id="20" name="Text 16"/>
          <p:cNvSpPr txBox="1"/>
          <p:nvPr/>
        </p:nvSpPr>
        <p:spPr>
          <a:xfrm>
            <a:off x="8750808" y="2167128"/>
            <a:ext cx="2670048" cy="2468880"/>
          </a:xfrm>
          <a:prstGeom prst="rect">
            <a:avLst/>
          </a:prstGeom>
          <a:noFill/>
          <a:ln/>
        </p:spPr>
        <p:txBody>
          <a:bodyPr wrap="square" lIns="0" tIns="0" rIns="0" bIns="0" rtlCol="0" anchor="t"/>
          <a:lstStyle/>
          <a:p>
            <a:pPr marL="177800" indent="-177800">
              <a:lnSpc>
                <a:spcPct val="106000"/>
              </a:lnSpc>
              <a:spcAft>
                <a:spcPts val="800"/>
              </a:spcAft>
              <a:buSzPct val="100000"/>
              <a:buChar char="•"/>
            </a:pPr>
            <a:r>
              <a:rPr lang="en-US" sz="1100" b="1" dirty="0">
                <a:solidFill>
                  <a:srgbClr val="000000"/>
                </a:solidFill>
                <a:latin typeface="Calibri" pitchFamily="34" charset="0"/>
                <a:ea typeface="Calibri" pitchFamily="34" charset="-122"/>
                <a:cs typeface="Calibri" pitchFamily="34" charset="-120"/>
              </a:rPr>
              <a:t>Threshold-free. </a:t>
            </a:r>
            <a:r>
              <a:rPr lang="en-US" sz="1100" dirty="0">
                <a:solidFill>
                  <a:srgbClr val="000000"/>
                </a:solidFill>
                <a:latin typeface="Calibri" pitchFamily="34" charset="0"/>
                <a:ea typeface="Calibri" pitchFamily="34" charset="-122"/>
                <a:cs typeface="Calibri" pitchFamily="34" charset="-120"/>
              </a:rPr>
              <a:t>ROC-AUC rose for both models, so the gain does not depend on the chosen cut-off.</a:t>
            </a:r>
            <a:endParaRPr lang="en-US" sz="1100" dirty="0"/>
          </a:p>
          <a:p>
            <a:pPr marL="177800" indent="-177800">
              <a:lnSpc>
                <a:spcPct val="106000"/>
              </a:lnSpc>
              <a:spcAft>
                <a:spcPts val="800"/>
              </a:spcAft>
              <a:buSzPct val="100000"/>
              <a:buChar char="•"/>
            </a:pPr>
            <a:r>
              <a:rPr lang="en-US" sz="1100" b="1" dirty="0">
                <a:solidFill>
                  <a:srgbClr val="000000"/>
                </a:solidFill>
                <a:latin typeface="Calibri" pitchFamily="34" charset="0"/>
                <a:ea typeface="Calibri" pitchFamily="34" charset="-122"/>
                <a:cs typeface="Calibri" pitchFamily="34" charset="-120"/>
              </a:rPr>
              <a:t>Error structure. </a:t>
            </a:r>
            <a:r>
              <a:rPr lang="en-US" sz="1100" dirty="0">
                <a:solidFill>
                  <a:srgbClr val="000000"/>
                </a:solidFill>
                <a:latin typeface="Calibri" pitchFamily="34" charset="0"/>
                <a:ea typeface="Calibri" pitchFamily="34" charset="-122"/>
                <a:cs typeface="Calibri" pitchFamily="34" charset="-120"/>
              </a:rPr>
              <a:t>The improvement comes from recovering true positives on emoji-bearing rows, not from predicting fewer labels.</a:t>
            </a:r>
            <a:endParaRPr lang="en-US" sz="1100" dirty="0"/>
          </a:p>
          <a:p>
            <a:pPr marL="177800" indent="-177800">
              <a:lnSpc>
                <a:spcPct val="106000"/>
              </a:lnSpc>
              <a:spcAft>
                <a:spcPts val="800"/>
              </a:spcAft>
              <a:buSzPct val="100000"/>
              <a:buChar char="•"/>
            </a:pPr>
            <a:r>
              <a:rPr lang="en-US" sz="1100" b="1" dirty="0">
                <a:solidFill>
                  <a:srgbClr val="000000"/>
                </a:solidFill>
                <a:latin typeface="Calibri" pitchFamily="34" charset="0"/>
                <a:ea typeface="Calibri" pitchFamily="34" charset="-122"/>
                <a:cs typeface="Calibri" pitchFamily="34" charset="-120"/>
              </a:rPr>
              <a:t>Reproducibility. </a:t>
            </a:r>
            <a:r>
              <a:rPr lang="en-US" sz="1100" dirty="0">
                <a:solidFill>
                  <a:srgbClr val="000000"/>
                </a:solidFill>
                <a:latin typeface="Calibri" pitchFamily="34" charset="0"/>
                <a:ea typeface="Calibri" pitchFamily="34" charset="-122"/>
                <a:cs typeface="Calibri" pitchFamily="34" charset="-120"/>
              </a:rPr>
              <a:t>The seed is fixed; two independent runs, one local and one on GPU, produced the same figures.</a:t>
            </a:r>
            <a:endParaRPr lang="en-US" sz="1100" dirty="0"/>
          </a:p>
        </p:txBody>
      </p:sp>
      <p:sp>
        <p:nvSpPr>
          <p:cNvPr id="21" name="Shape 17"/>
          <p:cNvSpPr/>
          <p:nvPr/>
        </p:nvSpPr>
        <p:spPr>
          <a:xfrm>
            <a:off x="566928" y="4956048"/>
            <a:ext cx="9829800" cy="384048"/>
          </a:xfrm>
          <a:prstGeom prst="rect">
            <a:avLst/>
          </a:prstGeom>
          <a:solidFill>
            <a:srgbClr val="2764B4"/>
          </a:solidFill>
          <a:ln w="12700">
            <a:solidFill>
              <a:srgbClr val="2764B4"/>
            </a:solidFill>
            <a:prstDash val="solid"/>
          </a:ln>
        </p:spPr>
      </p:sp>
      <p:sp>
        <p:nvSpPr>
          <p:cNvPr id="22" name="Text 18"/>
          <p:cNvSpPr txBox="1"/>
          <p:nvPr/>
        </p:nvSpPr>
        <p:spPr>
          <a:xfrm>
            <a:off x="694944" y="4956048"/>
            <a:ext cx="9573768" cy="384048"/>
          </a:xfrm>
          <a:prstGeom prst="rect">
            <a:avLst/>
          </a:prstGeom>
          <a:noFill/>
          <a:ln/>
        </p:spPr>
        <p:txBody>
          <a:bodyPr wrap="square" lIns="0" tIns="0" rIns="0" bIns="0" rtlCol="0" anchor="ctr"/>
          <a:lstStyle/>
          <a:p>
            <a:pPr marL="0" indent="0">
              <a:buNone/>
            </a:pPr>
            <a:r>
              <a:rPr lang="en-US" sz="1500" b="1" dirty="0">
                <a:solidFill>
                  <a:srgbClr val="FFFFFF"/>
                </a:solidFill>
                <a:latin typeface="Calibri" pitchFamily="34" charset="0"/>
                <a:ea typeface="Calibri" pitchFamily="34" charset="-122"/>
                <a:cs typeface="Calibri" pitchFamily="34" charset="-120"/>
              </a:rPr>
              <a:t>Precision and recall</a:t>
            </a:r>
            <a:endParaRPr lang="en-US" sz="1500" dirty="0"/>
          </a:p>
        </p:txBody>
      </p:sp>
      <p:sp>
        <p:nvSpPr>
          <p:cNvPr id="23" name="Shape 19"/>
          <p:cNvSpPr/>
          <p:nvPr/>
        </p:nvSpPr>
        <p:spPr>
          <a:xfrm>
            <a:off x="566928" y="5340096"/>
            <a:ext cx="9829800" cy="896112"/>
          </a:xfrm>
          <a:prstGeom prst="rect">
            <a:avLst/>
          </a:prstGeom>
          <a:solidFill>
            <a:srgbClr val="E9EFF7"/>
          </a:solidFill>
          <a:ln w="12700">
            <a:solidFill>
              <a:srgbClr val="E9EFF7"/>
            </a:solidFill>
            <a:prstDash val="solid"/>
          </a:ln>
        </p:spPr>
      </p:sp>
      <p:sp>
        <p:nvSpPr>
          <p:cNvPr id="24" name="Text 20"/>
          <p:cNvSpPr txBox="1"/>
          <p:nvPr/>
        </p:nvSpPr>
        <p:spPr>
          <a:xfrm>
            <a:off x="768096" y="5413248"/>
            <a:ext cx="9427464" cy="777240"/>
          </a:xfrm>
          <a:prstGeom prst="rect">
            <a:avLst/>
          </a:prstGeom>
          <a:noFill/>
          <a:ln/>
        </p:spPr>
        <p:txBody>
          <a:bodyPr wrap="square" lIns="0" tIns="0" rIns="0" bIns="0" rtlCol="0" anchor="t"/>
          <a:lstStyle/>
          <a:p>
            <a:pPr marL="0" indent="0">
              <a:lnSpc>
                <a:spcPct val="106000"/>
              </a:lnSpc>
              <a:buNone/>
            </a:pPr>
            <a:r>
              <a:rPr lang="en-US" sz="1250" dirty="0">
                <a:solidFill>
                  <a:srgbClr val="000000"/>
                </a:solidFill>
                <a:latin typeface="Calibri" pitchFamily="34" charset="0"/>
                <a:ea typeface="Calibri" pitchFamily="34" charset="-122"/>
                <a:cs typeface="Calibri" pitchFamily="34" charset="-120"/>
              </a:rPr>
              <a:t>Recall is consistently higher than precision across all four conditions, which is the expected effect of the positive-weighted loss used to counter class imbalance. The pattern holds on both tracks, so it is not introduced by the emoji step.</a:t>
            </a:r>
            <a:endParaRPr lang="en-US" sz="125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1045159"/>
          </a:xfrm>
          <a:prstGeom prst="rect">
            <a:avLst/>
          </a:prstGeom>
          <a:solidFill>
            <a:srgbClr val="9A003B"/>
          </a:solidFill>
          <a:ln w="12700">
            <a:solidFill>
              <a:srgbClr val="9A003B"/>
            </a:solidFill>
            <a:prstDash val="solid"/>
          </a:ln>
        </p:spPr>
      </p:sp>
      <p:sp>
        <p:nvSpPr>
          <p:cNvPr id="3" name="Text 1"/>
          <p:cNvSpPr txBox="1"/>
          <p:nvPr/>
        </p:nvSpPr>
        <p:spPr>
          <a:xfrm>
            <a:off x="228600" y="109728"/>
            <a:ext cx="11704320" cy="825703"/>
          </a:xfrm>
          <a:prstGeom prst="rect">
            <a:avLst/>
          </a:prstGeom>
          <a:noFill/>
          <a:ln/>
        </p:spPr>
        <p:txBody>
          <a:bodyPr wrap="square" lIns="0" tIns="0" rIns="0" bIns="0" rtlCol="0" anchor="ctr"/>
          <a:lstStyle/>
          <a:p>
            <a:pPr marL="0" indent="0">
              <a:lnSpc>
                <a:spcPct val="95000"/>
              </a:lnSpc>
              <a:buNone/>
            </a:pPr>
            <a:r>
              <a:rPr lang="en-US" sz="2500" dirty="0">
                <a:solidFill>
                  <a:srgbClr val="FFFFFF"/>
                </a:solidFill>
                <a:latin typeface="Calibri" pitchFamily="34" charset="0"/>
                <a:ea typeface="Calibri" pitchFamily="34" charset="-122"/>
                <a:cs typeface="Calibri" pitchFamily="34" charset="-120"/>
              </a:rPr>
              <a:t>Results: Outcomes and Question Alignment V</a:t>
            </a:r>
            <a:endParaRPr lang="en-US" sz="2500" dirty="0"/>
          </a:p>
        </p:txBody>
      </p:sp>
      <p:sp>
        <p:nvSpPr>
          <p:cNvPr id="4" name="Text 2"/>
          <p:cNvSpPr txBox="1"/>
          <p:nvPr/>
        </p:nvSpPr>
        <p:spPr>
          <a:xfrm>
            <a:off x="10515600" y="5806440"/>
            <a:ext cx="1463040" cy="749808"/>
          </a:xfrm>
          <a:prstGeom prst="rect">
            <a:avLst/>
          </a:prstGeom>
          <a:noFill/>
          <a:ln/>
        </p:spPr>
        <p:txBody>
          <a:bodyPr wrap="square" lIns="0" tIns="0" rIns="0" bIns="0" rtlCol="0" anchor="b"/>
          <a:lstStyle/>
          <a:p>
            <a:pPr marL="0" indent="0" algn="r">
              <a:lnSpc>
                <a:spcPct val="85000"/>
              </a:lnSpc>
              <a:buNone/>
            </a:pPr>
            <a:r>
              <a:rPr lang="en-US" sz="1150" b="1" dirty="0">
                <a:solidFill>
                  <a:srgbClr val="9A003B"/>
                </a:solidFill>
                <a:latin typeface="Calibri" pitchFamily="34" charset="0"/>
                <a:ea typeface="Calibri" pitchFamily="34" charset="-122"/>
                <a:cs typeface="Calibri" pitchFamily="34" charset="-120"/>
              </a:rPr>
              <a:t>Sheffield</a:t>
            </a:r>
            <a:endParaRPr lang="en-US" sz="1150" dirty="0"/>
          </a:p>
          <a:p>
            <a:pPr marL="0" indent="0" algn="r">
              <a:lnSpc>
                <a:spcPct val="85000"/>
              </a:lnSpc>
              <a:buNone/>
            </a:pPr>
            <a:r>
              <a:rPr lang="en-US" sz="1150" b="1" dirty="0">
                <a:solidFill>
                  <a:srgbClr val="9A003B"/>
                </a:solidFill>
                <a:latin typeface="Calibri" pitchFamily="34" charset="0"/>
                <a:ea typeface="Calibri" pitchFamily="34" charset="-122"/>
                <a:cs typeface="Calibri" pitchFamily="34" charset="-120"/>
              </a:rPr>
              <a:t>Hallam</a:t>
            </a:r>
            <a:endParaRPr lang="en-US" sz="1150" dirty="0"/>
          </a:p>
          <a:p>
            <a:pPr marL="0" indent="0" algn="r">
              <a:lnSpc>
                <a:spcPct val="85000"/>
              </a:lnSpc>
              <a:buNone/>
            </a:pPr>
            <a:r>
              <a:rPr lang="en-US" sz="1150" b="1" dirty="0">
                <a:solidFill>
                  <a:srgbClr val="9A003B"/>
                </a:solidFill>
                <a:latin typeface="Calibri" pitchFamily="34" charset="0"/>
                <a:ea typeface="Calibri" pitchFamily="34" charset="-122"/>
                <a:cs typeface="Calibri" pitchFamily="34" charset="-120"/>
              </a:rPr>
              <a:t>University</a:t>
            </a:r>
            <a:endParaRPr lang="en-US" sz="1150" dirty="0"/>
          </a:p>
        </p:txBody>
      </p:sp>
      <p:sp>
        <p:nvSpPr>
          <p:cNvPr id="5" name="Shape 3"/>
          <p:cNvSpPr/>
          <p:nvPr/>
        </p:nvSpPr>
        <p:spPr>
          <a:xfrm>
            <a:off x="0" y="6624828"/>
            <a:ext cx="4063898" cy="233172"/>
          </a:xfrm>
          <a:prstGeom prst="rect">
            <a:avLst/>
          </a:prstGeom>
          <a:solidFill>
            <a:srgbClr val="4D001E"/>
          </a:solidFill>
          <a:ln w="12700">
            <a:solidFill>
              <a:srgbClr val="4D001E"/>
            </a:solidFill>
            <a:prstDash val="solid"/>
          </a:ln>
        </p:spPr>
      </p:sp>
      <p:sp>
        <p:nvSpPr>
          <p:cNvPr id="6" name="Shape 4"/>
          <p:cNvSpPr/>
          <p:nvPr/>
        </p:nvSpPr>
        <p:spPr>
          <a:xfrm>
            <a:off x="4063898" y="6624828"/>
            <a:ext cx="4063898" cy="233172"/>
          </a:xfrm>
          <a:prstGeom prst="rect">
            <a:avLst/>
          </a:prstGeom>
          <a:solidFill>
            <a:srgbClr val="74002C"/>
          </a:solidFill>
          <a:ln w="12700">
            <a:solidFill>
              <a:srgbClr val="74002C"/>
            </a:solidFill>
            <a:prstDash val="solid"/>
          </a:ln>
        </p:spPr>
      </p:sp>
      <p:sp>
        <p:nvSpPr>
          <p:cNvPr id="7" name="Shape 5"/>
          <p:cNvSpPr/>
          <p:nvPr/>
        </p:nvSpPr>
        <p:spPr>
          <a:xfrm>
            <a:off x="8127797" y="6624828"/>
            <a:ext cx="4063898" cy="233172"/>
          </a:xfrm>
          <a:prstGeom prst="rect">
            <a:avLst/>
          </a:prstGeom>
          <a:solidFill>
            <a:srgbClr val="9A003B"/>
          </a:solidFill>
          <a:ln w="12700">
            <a:solidFill>
              <a:srgbClr val="9A003B"/>
            </a:solidFill>
            <a:prstDash val="solid"/>
          </a:ln>
        </p:spPr>
      </p:sp>
      <p:sp>
        <p:nvSpPr>
          <p:cNvPr id="8" name="Text 6"/>
          <p:cNvSpPr txBox="1"/>
          <p:nvPr/>
        </p:nvSpPr>
        <p:spPr>
          <a:xfrm>
            <a:off x="1143000" y="6624828"/>
            <a:ext cx="2743200" cy="233172"/>
          </a:xfrm>
          <a:prstGeom prst="rect">
            <a:avLst/>
          </a:prstGeom>
          <a:noFill/>
          <a:ln/>
        </p:spPr>
        <p:txBody>
          <a:bodyPr wrap="square" lIns="0" tIns="0" rIns="0" bIns="0" rtlCol="0" anchor="ctr"/>
          <a:lstStyle/>
          <a:p>
            <a:pPr marL="0" indent="0">
              <a:buNone/>
            </a:pPr>
            <a:r>
              <a:rPr lang="en-US" sz="900" dirty="0">
                <a:solidFill>
                  <a:srgbClr val="FFFFFF"/>
                </a:solidFill>
                <a:latin typeface="Calibri" pitchFamily="34" charset="0"/>
                <a:ea typeface="Calibri" pitchFamily="34" charset="-122"/>
                <a:cs typeface="Calibri" pitchFamily="34" charset="-120"/>
              </a:rPr>
              <a:t>[Student Initials]  (SHU)</a:t>
            </a:r>
            <a:endParaRPr lang="en-US" sz="900" dirty="0"/>
          </a:p>
        </p:txBody>
      </p:sp>
      <p:sp>
        <p:nvSpPr>
          <p:cNvPr id="9" name="Text 7"/>
          <p:cNvSpPr txBox="1"/>
          <p:nvPr/>
        </p:nvSpPr>
        <p:spPr>
          <a:xfrm>
            <a:off x="5276088" y="6624828"/>
            <a:ext cx="2743200" cy="233172"/>
          </a:xfrm>
          <a:prstGeom prst="rect">
            <a:avLst/>
          </a:prstGeom>
          <a:noFill/>
          <a:ln/>
        </p:spPr>
        <p:txBody>
          <a:bodyPr wrap="square" lIns="0" tIns="0" rIns="0" bIns="0" rtlCol="0" anchor="ctr"/>
          <a:lstStyle/>
          <a:p>
            <a:pPr marL="0" indent="0">
              <a:buNone/>
            </a:pPr>
            <a:r>
              <a:rPr lang="en-US" sz="900" dirty="0">
                <a:solidFill>
                  <a:srgbClr val="FFFFFF"/>
                </a:solidFill>
                <a:latin typeface="Calibri" pitchFamily="34" charset="0"/>
                <a:ea typeface="Calibri" pitchFamily="34" charset="-122"/>
                <a:cs typeface="Calibri" pitchFamily="34" charset="-120"/>
              </a:rPr>
              <a:t>Does the Emoji Matter?</a:t>
            </a:r>
            <a:endParaRPr lang="en-US" sz="900" dirty="0"/>
          </a:p>
        </p:txBody>
      </p:sp>
      <p:sp>
        <p:nvSpPr>
          <p:cNvPr id="10" name="Text 8"/>
          <p:cNvSpPr txBox="1"/>
          <p:nvPr/>
        </p:nvSpPr>
        <p:spPr>
          <a:xfrm>
            <a:off x="9235440" y="6624828"/>
            <a:ext cx="1645920" cy="233172"/>
          </a:xfrm>
          <a:prstGeom prst="rect">
            <a:avLst/>
          </a:prstGeom>
          <a:noFill/>
          <a:ln/>
        </p:spPr>
        <p:txBody>
          <a:bodyPr wrap="square" lIns="0" tIns="0" rIns="0" bIns="0" rtlCol="0" anchor="ctr"/>
          <a:lstStyle/>
          <a:p>
            <a:pPr marL="0" indent="0">
              <a:buNone/>
            </a:pPr>
            <a:r>
              <a:rPr lang="en-US" sz="900" dirty="0">
                <a:solidFill>
                  <a:srgbClr val="FFFFFF"/>
                </a:solidFill>
                <a:latin typeface="Calibri" pitchFamily="34" charset="0"/>
                <a:ea typeface="Calibri" pitchFamily="34" charset="-122"/>
                <a:cs typeface="Calibri" pitchFamily="34" charset="-120"/>
              </a:rPr>
              <a:t>September 2026</a:t>
            </a:r>
            <a:endParaRPr lang="en-US" sz="900" dirty="0"/>
          </a:p>
        </p:txBody>
      </p:sp>
      <p:sp>
        <p:nvSpPr>
          <p:cNvPr id="11" name="Text 9"/>
          <p:cNvSpPr txBox="1"/>
          <p:nvPr/>
        </p:nvSpPr>
        <p:spPr>
          <a:xfrm>
            <a:off x="10881360" y="6624828"/>
            <a:ext cx="1161288" cy="233172"/>
          </a:xfrm>
          <a:prstGeom prst="rect">
            <a:avLst/>
          </a:prstGeom>
          <a:noFill/>
          <a:ln/>
        </p:spPr>
        <p:txBody>
          <a:bodyPr wrap="square" lIns="0" tIns="0" rIns="0" bIns="0" rtlCol="0" anchor="ctr"/>
          <a:lstStyle/>
          <a:p>
            <a:pPr marL="0" indent="0" algn="r">
              <a:buNone/>
            </a:pPr>
            <a:r>
              <a:rPr lang="en-US" sz="900" dirty="0">
                <a:solidFill>
                  <a:srgbClr val="FFFFFF"/>
                </a:solidFill>
                <a:latin typeface="Calibri" pitchFamily="34" charset="0"/>
                <a:ea typeface="Calibri" pitchFamily="34" charset="-122"/>
                <a:cs typeface="Calibri" pitchFamily="34" charset="-120"/>
              </a:rPr>
              <a:t>29 / 43</a:t>
            </a:r>
            <a:endParaRPr lang="en-US" sz="900" dirty="0"/>
          </a:p>
        </p:txBody>
      </p:sp>
      <p:sp>
        <p:nvSpPr>
          <p:cNvPr id="12" name="Text 10"/>
          <p:cNvSpPr txBox="1"/>
          <p:nvPr/>
        </p:nvSpPr>
        <p:spPr>
          <a:xfrm>
            <a:off x="566928" y="1298448"/>
            <a:ext cx="11055096" cy="274320"/>
          </a:xfrm>
          <a:prstGeom prst="rect">
            <a:avLst/>
          </a:prstGeom>
          <a:noFill/>
          <a:ln/>
        </p:spPr>
        <p:txBody>
          <a:bodyPr wrap="square" lIns="0" tIns="0" rIns="0" bIns="0" rtlCol="0" anchor="t"/>
          <a:lstStyle/>
          <a:p>
            <a:pPr marL="0" indent="0">
              <a:lnSpc>
                <a:spcPct val="106000"/>
              </a:lnSpc>
              <a:buNone/>
            </a:pPr>
            <a:r>
              <a:rPr lang="en-US" sz="1500" b="1" dirty="0">
                <a:solidFill>
                  <a:srgbClr val="000000"/>
                </a:solidFill>
                <a:latin typeface="Calibri" pitchFamily="34" charset="0"/>
                <a:ea typeface="Calibri" pitchFamily="34" charset="-122"/>
                <a:cs typeface="Calibri" pitchFamily="34" charset="-120"/>
              </a:rPr>
              <a:t>Alignment to Research Question:</a:t>
            </a:r>
            <a:endParaRPr lang="en-US" sz="1500" dirty="0"/>
          </a:p>
        </p:txBody>
      </p:sp>
      <p:sp>
        <p:nvSpPr>
          <p:cNvPr id="13" name="Shape 11"/>
          <p:cNvSpPr/>
          <p:nvPr/>
        </p:nvSpPr>
        <p:spPr>
          <a:xfrm>
            <a:off x="566928" y="1664208"/>
            <a:ext cx="11055096" cy="384048"/>
          </a:xfrm>
          <a:prstGeom prst="rect">
            <a:avLst/>
          </a:prstGeom>
          <a:solidFill>
            <a:srgbClr val="2764B4"/>
          </a:solidFill>
          <a:ln w="12700">
            <a:solidFill>
              <a:srgbClr val="2764B4"/>
            </a:solidFill>
            <a:prstDash val="solid"/>
          </a:ln>
        </p:spPr>
      </p:sp>
      <p:sp>
        <p:nvSpPr>
          <p:cNvPr id="14" name="Text 12"/>
          <p:cNvSpPr txBox="1"/>
          <p:nvPr/>
        </p:nvSpPr>
        <p:spPr>
          <a:xfrm>
            <a:off x="694944" y="1664208"/>
            <a:ext cx="10799064" cy="384048"/>
          </a:xfrm>
          <a:prstGeom prst="rect">
            <a:avLst/>
          </a:prstGeom>
          <a:noFill/>
          <a:ln/>
        </p:spPr>
        <p:txBody>
          <a:bodyPr wrap="square" lIns="0" tIns="0" rIns="0" bIns="0" rtlCol="0" anchor="ctr"/>
          <a:lstStyle/>
          <a:p>
            <a:pPr marL="0" indent="0">
              <a:buNone/>
            </a:pPr>
            <a:r>
              <a:rPr lang="en-US" sz="1500" b="1" dirty="0">
                <a:solidFill>
                  <a:srgbClr val="FFFFFF"/>
                </a:solidFill>
                <a:latin typeface="Calibri" pitchFamily="34" charset="0"/>
                <a:ea typeface="Calibri" pitchFamily="34" charset="-122"/>
                <a:cs typeface="Calibri" pitchFamily="34" charset="-120"/>
              </a:rPr>
              <a:t>RQ1 — Does emoji handling affect performance, and by how much?</a:t>
            </a:r>
            <a:endParaRPr lang="en-US" sz="1500" dirty="0"/>
          </a:p>
        </p:txBody>
      </p:sp>
      <p:sp>
        <p:nvSpPr>
          <p:cNvPr id="15" name="Shape 13"/>
          <p:cNvSpPr/>
          <p:nvPr/>
        </p:nvSpPr>
        <p:spPr>
          <a:xfrm>
            <a:off x="566928" y="2048256"/>
            <a:ext cx="11055096" cy="1581912"/>
          </a:xfrm>
          <a:prstGeom prst="rect">
            <a:avLst/>
          </a:prstGeom>
          <a:solidFill>
            <a:srgbClr val="E9EFF7"/>
          </a:solidFill>
          <a:ln w="12700">
            <a:solidFill>
              <a:srgbClr val="E9EFF7"/>
            </a:solidFill>
            <a:prstDash val="solid"/>
          </a:ln>
        </p:spPr>
      </p:sp>
      <p:sp>
        <p:nvSpPr>
          <p:cNvPr id="16" name="Text 14"/>
          <p:cNvSpPr txBox="1"/>
          <p:nvPr/>
        </p:nvSpPr>
        <p:spPr>
          <a:xfrm>
            <a:off x="768096" y="2167128"/>
            <a:ext cx="10652760" cy="1371600"/>
          </a:xfrm>
          <a:prstGeom prst="rect">
            <a:avLst/>
          </a:prstGeom>
          <a:noFill/>
          <a:ln/>
        </p:spPr>
        <p:txBody>
          <a:bodyPr wrap="square" lIns="0" tIns="0" rIns="0" bIns="0" rtlCol="0" anchor="t"/>
          <a:lstStyle/>
          <a:p>
            <a:pPr marL="0" indent="0">
              <a:lnSpc>
                <a:spcPct val="106000"/>
              </a:lnSpc>
              <a:buNone/>
            </a:pPr>
            <a:r>
              <a:rPr lang="en-US" sz="1400" dirty="0">
                <a:solidFill>
                  <a:srgbClr val="000000"/>
                </a:solidFill>
                <a:latin typeface="Calibri" pitchFamily="34" charset="0"/>
                <a:ea typeface="Calibri" pitchFamily="34" charset="-122"/>
                <a:cs typeface="Calibri" pitchFamily="34" charset="-120"/>
              </a:rPr>
              <a:t>Yes. Converting emoji into text raised Micro-F1 by 2.03 points for the bidirectional LSTM and by 3.71 points for the Transformer encoder. Macro-F1 moved in the same direction for both, by 0.99 and 2.94 points, and threshold-free ROC-AUC rose for both. The effect is real on this corpus, and it favours keeping emoji as text rather than deleting them.</a:t>
            </a:r>
            <a:endParaRPr lang="en-US" sz="1400" dirty="0"/>
          </a:p>
        </p:txBody>
      </p:sp>
      <p:sp>
        <p:nvSpPr>
          <p:cNvPr id="17" name="Shape 15"/>
          <p:cNvSpPr/>
          <p:nvPr/>
        </p:nvSpPr>
        <p:spPr>
          <a:xfrm>
            <a:off x="566928" y="3675888"/>
            <a:ext cx="11055096" cy="384048"/>
          </a:xfrm>
          <a:prstGeom prst="rect">
            <a:avLst/>
          </a:prstGeom>
          <a:solidFill>
            <a:srgbClr val="2764B4"/>
          </a:solidFill>
          <a:ln w="12700">
            <a:solidFill>
              <a:srgbClr val="2764B4"/>
            </a:solidFill>
            <a:prstDash val="solid"/>
          </a:ln>
        </p:spPr>
      </p:sp>
      <p:sp>
        <p:nvSpPr>
          <p:cNvPr id="18" name="Text 16"/>
          <p:cNvSpPr txBox="1"/>
          <p:nvPr/>
        </p:nvSpPr>
        <p:spPr>
          <a:xfrm>
            <a:off x="694944" y="3675888"/>
            <a:ext cx="10799064" cy="384048"/>
          </a:xfrm>
          <a:prstGeom prst="rect">
            <a:avLst/>
          </a:prstGeom>
          <a:noFill/>
          <a:ln/>
        </p:spPr>
        <p:txBody>
          <a:bodyPr wrap="square" lIns="0" tIns="0" rIns="0" bIns="0" rtlCol="0" anchor="ctr"/>
          <a:lstStyle/>
          <a:p>
            <a:pPr marL="0" indent="0">
              <a:buNone/>
            </a:pPr>
            <a:r>
              <a:rPr lang="en-US" sz="1500" b="1" dirty="0">
                <a:solidFill>
                  <a:srgbClr val="FFFFFF"/>
                </a:solidFill>
                <a:latin typeface="Calibri" pitchFamily="34" charset="0"/>
                <a:ea typeface="Calibri" pitchFamily="34" charset="-122"/>
                <a:cs typeface="Calibri" pitchFamily="34" charset="-120"/>
              </a:rPr>
              <a:t>RQ2 — Is the effect the same across architectures and emotions?</a:t>
            </a:r>
            <a:endParaRPr lang="en-US" sz="1500" dirty="0"/>
          </a:p>
        </p:txBody>
      </p:sp>
      <p:sp>
        <p:nvSpPr>
          <p:cNvPr id="19" name="Shape 17"/>
          <p:cNvSpPr/>
          <p:nvPr/>
        </p:nvSpPr>
        <p:spPr>
          <a:xfrm>
            <a:off x="566928" y="4059936"/>
            <a:ext cx="11055096" cy="1444752"/>
          </a:xfrm>
          <a:prstGeom prst="rect">
            <a:avLst/>
          </a:prstGeom>
          <a:solidFill>
            <a:srgbClr val="E9EFF7"/>
          </a:solidFill>
          <a:ln w="12700">
            <a:solidFill>
              <a:srgbClr val="E9EFF7"/>
            </a:solidFill>
            <a:prstDash val="solid"/>
          </a:ln>
        </p:spPr>
      </p:sp>
      <p:sp>
        <p:nvSpPr>
          <p:cNvPr id="20" name="Text 18"/>
          <p:cNvSpPr txBox="1"/>
          <p:nvPr/>
        </p:nvSpPr>
        <p:spPr>
          <a:xfrm>
            <a:off x="768096" y="4160520"/>
            <a:ext cx="10652760" cy="1280160"/>
          </a:xfrm>
          <a:prstGeom prst="rect">
            <a:avLst/>
          </a:prstGeom>
          <a:noFill/>
          <a:ln/>
        </p:spPr>
        <p:txBody>
          <a:bodyPr wrap="square" lIns="0" tIns="0" rIns="0" bIns="0" rtlCol="0" anchor="t"/>
          <a:lstStyle/>
          <a:p>
            <a:pPr marL="0" indent="0">
              <a:lnSpc>
                <a:spcPct val="106000"/>
              </a:lnSpc>
              <a:buNone/>
            </a:pPr>
            <a:r>
              <a:rPr lang="en-US" sz="1350" dirty="0">
                <a:solidFill>
                  <a:srgbClr val="000000"/>
                </a:solidFill>
                <a:latin typeface="Calibri" pitchFamily="34" charset="0"/>
                <a:ea typeface="Calibri" pitchFamily="34" charset="-122"/>
                <a:cs typeface="Calibri" pitchFamily="34" charset="-120"/>
              </a:rPr>
              <a:t>No, on both counts. The effect is roughly 80 per cent larger for the Transformer than for the BiLSTM. It varies far more by emotion, from +11.80 points for sadness to -4.13 points for anticipation, a range of nearly 16 points. Emotions with clear emoji conventions gain most; emotions with no such convention gain little or lose. Because the pipeline forks at exactly one operation, these differences can be attributed to the emoji step itself and to nothing else.</a:t>
            </a:r>
            <a:endParaRPr lang="en-US" sz="135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914400" y="2514600"/>
            <a:ext cx="10360152" cy="658368"/>
          </a:xfrm>
          <a:prstGeom prst="rect">
            <a:avLst/>
          </a:prstGeom>
          <a:noFill/>
          <a:ln/>
        </p:spPr>
        <p:txBody>
          <a:bodyPr wrap="square" lIns="0" tIns="0" rIns="0" bIns="0" rtlCol="0" anchor="ctr"/>
          <a:lstStyle/>
          <a:p>
            <a:pPr marL="0" indent="0" algn="ctr">
              <a:buNone/>
            </a:pPr>
            <a:r>
              <a:rPr lang="en-US" sz="3400" dirty="0">
                <a:solidFill>
                  <a:srgbClr val="000000"/>
                </a:solidFill>
                <a:latin typeface="Calibri" pitchFamily="34" charset="0"/>
                <a:ea typeface="Calibri" pitchFamily="34" charset="-122"/>
                <a:cs typeface="Calibri" pitchFamily="34" charset="-120"/>
              </a:rPr>
              <a:t>7.  Evaluation</a:t>
            </a:r>
            <a:endParaRPr lang="en-US" sz="3400" dirty="0"/>
          </a:p>
        </p:txBody>
      </p:sp>
      <p:sp>
        <p:nvSpPr>
          <p:cNvPr id="3" name="Shape 1"/>
          <p:cNvSpPr/>
          <p:nvPr/>
        </p:nvSpPr>
        <p:spPr>
          <a:xfrm>
            <a:off x="2258568" y="3502152"/>
            <a:ext cx="7680960" cy="32004"/>
          </a:xfrm>
          <a:prstGeom prst="rect">
            <a:avLst/>
          </a:prstGeom>
          <a:solidFill>
            <a:srgbClr val="CC0000"/>
          </a:solidFill>
          <a:ln w="12700">
            <a:solidFill>
              <a:srgbClr val="CC0000"/>
            </a:solidFill>
            <a:prstDash val="solid"/>
          </a:ln>
        </p:spPr>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1045159"/>
          </a:xfrm>
          <a:prstGeom prst="rect">
            <a:avLst/>
          </a:prstGeom>
          <a:solidFill>
            <a:srgbClr val="9A003B"/>
          </a:solidFill>
          <a:ln w="12700">
            <a:solidFill>
              <a:srgbClr val="9A003B"/>
            </a:solidFill>
            <a:prstDash val="solid"/>
          </a:ln>
        </p:spPr>
      </p:sp>
      <p:sp>
        <p:nvSpPr>
          <p:cNvPr id="3" name="Text 1"/>
          <p:cNvSpPr txBox="1"/>
          <p:nvPr/>
        </p:nvSpPr>
        <p:spPr>
          <a:xfrm>
            <a:off x="228600" y="109728"/>
            <a:ext cx="11704320" cy="825703"/>
          </a:xfrm>
          <a:prstGeom prst="rect">
            <a:avLst/>
          </a:prstGeom>
          <a:noFill/>
          <a:ln/>
        </p:spPr>
        <p:txBody>
          <a:bodyPr wrap="square" lIns="0" tIns="0" rIns="0" bIns="0" rtlCol="0" anchor="ctr"/>
          <a:lstStyle/>
          <a:p>
            <a:pPr marL="0" indent="0">
              <a:lnSpc>
                <a:spcPct val="95000"/>
              </a:lnSpc>
              <a:buNone/>
            </a:pPr>
            <a:r>
              <a:rPr lang="en-US" sz="2500" dirty="0">
                <a:solidFill>
                  <a:srgbClr val="FFFFFF"/>
                </a:solidFill>
                <a:latin typeface="Calibri" pitchFamily="34" charset="0"/>
                <a:ea typeface="Calibri" pitchFamily="34" charset="-122"/>
                <a:cs typeface="Calibri" pitchFamily="34" charset="-120"/>
              </a:rPr>
              <a:t>Evaluation: Stakeholder Validation &amp; Project Discussion I</a:t>
            </a:r>
            <a:endParaRPr lang="en-US" sz="2500" dirty="0"/>
          </a:p>
        </p:txBody>
      </p:sp>
      <p:sp>
        <p:nvSpPr>
          <p:cNvPr id="4" name="Text 2"/>
          <p:cNvSpPr txBox="1"/>
          <p:nvPr/>
        </p:nvSpPr>
        <p:spPr>
          <a:xfrm>
            <a:off x="10515600" y="5806440"/>
            <a:ext cx="1463040" cy="749808"/>
          </a:xfrm>
          <a:prstGeom prst="rect">
            <a:avLst/>
          </a:prstGeom>
          <a:noFill/>
          <a:ln/>
        </p:spPr>
        <p:txBody>
          <a:bodyPr wrap="square" lIns="0" tIns="0" rIns="0" bIns="0" rtlCol="0" anchor="b"/>
          <a:lstStyle/>
          <a:p>
            <a:pPr marL="0" indent="0" algn="r">
              <a:lnSpc>
                <a:spcPct val="85000"/>
              </a:lnSpc>
              <a:buNone/>
            </a:pPr>
            <a:r>
              <a:rPr lang="en-US" sz="1150" b="1" dirty="0">
                <a:solidFill>
                  <a:srgbClr val="9A003B"/>
                </a:solidFill>
                <a:latin typeface="Calibri" pitchFamily="34" charset="0"/>
                <a:ea typeface="Calibri" pitchFamily="34" charset="-122"/>
                <a:cs typeface="Calibri" pitchFamily="34" charset="-120"/>
              </a:rPr>
              <a:t>Sheffield</a:t>
            </a:r>
            <a:endParaRPr lang="en-US" sz="1150" dirty="0"/>
          </a:p>
          <a:p>
            <a:pPr marL="0" indent="0" algn="r">
              <a:lnSpc>
                <a:spcPct val="85000"/>
              </a:lnSpc>
              <a:buNone/>
            </a:pPr>
            <a:r>
              <a:rPr lang="en-US" sz="1150" b="1" dirty="0">
                <a:solidFill>
                  <a:srgbClr val="9A003B"/>
                </a:solidFill>
                <a:latin typeface="Calibri" pitchFamily="34" charset="0"/>
                <a:ea typeface="Calibri" pitchFamily="34" charset="-122"/>
                <a:cs typeface="Calibri" pitchFamily="34" charset="-120"/>
              </a:rPr>
              <a:t>Hallam</a:t>
            </a:r>
            <a:endParaRPr lang="en-US" sz="1150" dirty="0"/>
          </a:p>
          <a:p>
            <a:pPr marL="0" indent="0" algn="r">
              <a:lnSpc>
                <a:spcPct val="85000"/>
              </a:lnSpc>
              <a:buNone/>
            </a:pPr>
            <a:r>
              <a:rPr lang="en-US" sz="1150" b="1" dirty="0">
                <a:solidFill>
                  <a:srgbClr val="9A003B"/>
                </a:solidFill>
                <a:latin typeface="Calibri" pitchFamily="34" charset="0"/>
                <a:ea typeface="Calibri" pitchFamily="34" charset="-122"/>
                <a:cs typeface="Calibri" pitchFamily="34" charset="-120"/>
              </a:rPr>
              <a:t>University</a:t>
            </a:r>
            <a:endParaRPr lang="en-US" sz="1150" dirty="0"/>
          </a:p>
        </p:txBody>
      </p:sp>
      <p:sp>
        <p:nvSpPr>
          <p:cNvPr id="5" name="Shape 3"/>
          <p:cNvSpPr/>
          <p:nvPr/>
        </p:nvSpPr>
        <p:spPr>
          <a:xfrm>
            <a:off x="0" y="6624828"/>
            <a:ext cx="4063898" cy="233172"/>
          </a:xfrm>
          <a:prstGeom prst="rect">
            <a:avLst/>
          </a:prstGeom>
          <a:solidFill>
            <a:srgbClr val="4D001E"/>
          </a:solidFill>
          <a:ln w="12700">
            <a:solidFill>
              <a:srgbClr val="4D001E"/>
            </a:solidFill>
            <a:prstDash val="solid"/>
          </a:ln>
        </p:spPr>
      </p:sp>
      <p:sp>
        <p:nvSpPr>
          <p:cNvPr id="6" name="Shape 4"/>
          <p:cNvSpPr/>
          <p:nvPr/>
        </p:nvSpPr>
        <p:spPr>
          <a:xfrm>
            <a:off x="4063898" y="6624828"/>
            <a:ext cx="4063898" cy="233172"/>
          </a:xfrm>
          <a:prstGeom prst="rect">
            <a:avLst/>
          </a:prstGeom>
          <a:solidFill>
            <a:srgbClr val="74002C"/>
          </a:solidFill>
          <a:ln w="12700">
            <a:solidFill>
              <a:srgbClr val="74002C"/>
            </a:solidFill>
            <a:prstDash val="solid"/>
          </a:ln>
        </p:spPr>
      </p:sp>
      <p:sp>
        <p:nvSpPr>
          <p:cNvPr id="7" name="Shape 5"/>
          <p:cNvSpPr/>
          <p:nvPr/>
        </p:nvSpPr>
        <p:spPr>
          <a:xfrm>
            <a:off x="8127797" y="6624828"/>
            <a:ext cx="4063898" cy="233172"/>
          </a:xfrm>
          <a:prstGeom prst="rect">
            <a:avLst/>
          </a:prstGeom>
          <a:solidFill>
            <a:srgbClr val="9A003B"/>
          </a:solidFill>
          <a:ln w="12700">
            <a:solidFill>
              <a:srgbClr val="9A003B"/>
            </a:solidFill>
            <a:prstDash val="solid"/>
          </a:ln>
        </p:spPr>
      </p:sp>
      <p:sp>
        <p:nvSpPr>
          <p:cNvPr id="8" name="Text 6"/>
          <p:cNvSpPr txBox="1"/>
          <p:nvPr/>
        </p:nvSpPr>
        <p:spPr>
          <a:xfrm>
            <a:off x="1143000" y="6624828"/>
            <a:ext cx="2743200" cy="233172"/>
          </a:xfrm>
          <a:prstGeom prst="rect">
            <a:avLst/>
          </a:prstGeom>
          <a:noFill/>
          <a:ln/>
        </p:spPr>
        <p:txBody>
          <a:bodyPr wrap="square" lIns="0" tIns="0" rIns="0" bIns="0" rtlCol="0" anchor="ctr"/>
          <a:lstStyle/>
          <a:p>
            <a:pPr marL="0" indent="0">
              <a:buNone/>
            </a:pPr>
            <a:r>
              <a:rPr lang="en-US" sz="900" dirty="0">
                <a:solidFill>
                  <a:srgbClr val="FFFFFF"/>
                </a:solidFill>
                <a:latin typeface="Calibri" pitchFamily="34" charset="0"/>
                <a:ea typeface="Calibri" pitchFamily="34" charset="-122"/>
                <a:cs typeface="Calibri" pitchFamily="34" charset="-120"/>
              </a:rPr>
              <a:t>[Student Initials]  (SHU)</a:t>
            </a:r>
            <a:endParaRPr lang="en-US" sz="900" dirty="0"/>
          </a:p>
        </p:txBody>
      </p:sp>
      <p:sp>
        <p:nvSpPr>
          <p:cNvPr id="9" name="Text 7"/>
          <p:cNvSpPr txBox="1"/>
          <p:nvPr/>
        </p:nvSpPr>
        <p:spPr>
          <a:xfrm>
            <a:off x="5276088" y="6624828"/>
            <a:ext cx="2743200" cy="233172"/>
          </a:xfrm>
          <a:prstGeom prst="rect">
            <a:avLst/>
          </a:prstGeom>
          <a:noFill/>
          <a:ln/>
        </p:spPr>
        <p:txBody>
          <a:bodyPr wrap="square" lIns="0" tIns="0" rIns="0" bIns="0" rtlCol="0" anchor="ctr"/>
          <a:lstStyle/>
          <a:p>
            <a:pPr marL="0" indent="0">
              <a:buNone/>
            </a:pPr>
            <a:r>
              <a:rPr lang="en-US" sz="900" dirty="0">
                <a:solidFill>
                  <a:srgbClr val="FFFFFF"/>
                </a:solidFill>
                <a:latin typeface="Calibri" pitchFamily="34" charset="0"/>
                <a:ea typeface="Calibri" pitchFamily="34" charset="-122"/>
                <a:cs typeface="Calibri" pitchFamily="34" charset="-120"/>
              </a:rPr>
              <a:t>Does the Emoji Matter?</a:t>
            </a:r>
            <a:endParaRPr lang="en-US" sz="900" dirty="0"/>
          </a:p>
        </p:txBody>
      </p:sp>
      <p:sp>
        <p:nvSpPr>
          <p:cNvPr id="10" name="Text 8"/>
          <p:cNvSpPr txBox="1"/>
          <p:nvPr/>
        </p:nvSpPr>
        <p:spPr>
          <a:xfrm>
            <a:off x="9235440" y="6624828"/>
            <a:ext cx="1645920" cy="233172"/>
          </a:xfrm>
          <a:prstGeom prst="rect">
            <a:avLst/>
          </a:prstGeom>
          <a:noFill/>
          <a:ln/>
        </p:spPr>
        <p:txBody>
          <a:bodyPr wrap="square" lIns="0" tIns="0" rIns="0" bIns="0" rtlCol="0" anchor="ctr"/>
          <a:lstStyle/>
          <a:p>
            <a:pPr marL="0" indent="0">
              <a:buNone/>
            </a:pPr>
            <a:r>
              <a:rPr lang="en-US" sz="900" dirty="0">
                <a:solidFill>
                  <a:srgbClr val="FFFFFF"/>
                </a:solidFill>
                <a:latin typeface="Calibri" pitchFamily="34" charset="0"/>
                <a:ea typeface="Calibri" pitchFamily="34" charset="-122"/>
                <a:cs typeface="Calibri" pitchFamily="34" charset="-120"/>
              </a:rPr>
              <a:t>September 2026</a:t>
            </a:r>
            <a:endParaRPr lang="en-US" sz="900" dirty="0"/>
          </a:p>
        </p:txBody>
      </p:sp>
      <p:sp>
        <p:nvSpPr>
          <p:cNvPr id="11" name="Text 9"/>
          <p:cNvSpPr txBox="1"/>
          <p:nvPr/>
        </p:nvSpPr>
        <p:spPr>
          <a:xfrm>
            <a:off x="10881360" y="6624828"/>
            <a:ext cx="1161288" cy="233172"/>
          </a:xfrm>
          <a:prstGeom prst="rect">
            <a:avLst/>
          </a:prstGeom>
          <a:noFill/>
          <a:ln/>
        </p:spPr>
        <p:txBody>
          <a:bodyPr wrap="square" lIns="0" tIns="0" rIns="0" bIns="0" rtlCol="0" anchor="ctr"/>
          <a:lstStyle/>
          <a:p>
            <a:pPr marL="0" indent="0" algn="r">
              <a:buNone/>
            </a:pPr>
            <a:r>
              <a:rPr lang="en-US" sz="900" dirty="0">
                <a:solidFill>
                  <a:srgbClr val="FFFFFF"/>
                </a:solidFill>
                <a:latin typeface="Calibri" pitchFamily="34" charset="0"/>
                <a:ea typeface="Calibri" pitchFamily="34" charset="-122"/>
                <a:cs typeface="Calibri" pitchFamily="34" charset="-120"/>
              </a:rPr>
              <a:t>31 / 43</a:t>
            </a:r>
            <a:endParaRPr lang="en-US" sz="900" dirty="0"/>
          </a:p>
        </p:txBody>
      </p:sp>
      <p:graphicFrame>
        <p:nvGraphicFramePr>
          <p:cNvPr id="32" name="Table 0"/>
          <p:cNvGraphicFramePr>
            <a:graphicFrameLocks noGrp="1"/>
          </p:cNvGraphicFramePr>
          <p:nvPr>
            <p:extLst>
              <p:ext uri="{D42A27DB-BD31-4B8C-83A1-F6EECF244321}">
                <p14:modId xmlns:p14="http://schemas.microsoft.com/office/powerpoint/2010/main" val="1579011935"/>
              </p:ext>
            </p:extLst>
          </p:nvPr>
        </p:nvGraphicFramePr>
        <p:xfrm>
          <a:off x="566928" y="1298448"/>
          <a:ext cx="11055096" cy="914400"/>
        </p:xfrm>
        <a:graphic>
          <a:graphicData uri="http://schemas.openxmlformats.org/drawingml/2006/table">
            <a:tbl>
              <a:tblPr/>
              <a:tblGrid>
                <a:gridCol w="3657600">
                  <a:extLst>
                    <a:ext uri="{9D8B030D-6E8A-4147-A177-3AD203B41FA5}">
                      <a16:colId xmlns:a16="http://schemas.microsoft.com/office/drawing/2014/main" val="20000"/>
                    </a:ext>
                  </a:extLst>
                </a:gridCol>
                <a:gridCol w="3657600">
                  <a:extLst>
                    <a:ext uri="{9D8B030D-6E8A-4147-A177-3AD203B41FA5}">
                      <a16:colId xmlns:a16="http://schemas.microsoft.com/office/drawing/2014/main" val="20001"/>
                    </a:ext>
                  </a:extLst>
                </a:gridCol>
                <a:gridCol w="3739896">
                  <a:extLst>
                    <a:ext uri="{9D8B030D-6E8A-4147-A177-3AD203B41FA5}">
                      <a16:colId xmlns:a16="http://schemas.microsoft.com/office/drawing/2014/main" val="20002"/>
                    </a:ext>
                  </a:extLst>
                </a:gridCol>
              </a:tblGrid>
              <a:tr h="475488">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Triangulation vector</a:t>
                      </a:r>
                      <a:endParaRPr lang="en-US" sz="1200" dirty="0">
                        <a:latin typeface="Calibri" charset="0"/>
                        <a:ea typeface="Calibri" charset="0"/>
                        <a:cs typeface="Calibri" charset="0"/>
                      </a:endParaRPr>
                    </a:p>
                  </a:txBody>
                  <a:tcPr anchor="ctr">
                    <a:lnL w="9525" cap="flat" cmpd="sng" algn="ctr">
                      <a:solidFill>
                        <a:srgbClr val="C9CDD4"/>
                      </a:solidFill>
                      <a:prstDash val="solid"/>
                      <a:round/>
                      <a:headEnd type="none" w="med" len="med"/>
                      <a:tailEnd type="none" w="med" len="med"/>
                    </a:lnL>
                    <a:lnR w="9525" cap="flat" cmpd="sng" algn="ctr">
                      <a:solidFill>
                        <a:srgbClr val="C9CDD4"/>
                      </a:solidFill>
                      <a:prstDash val="solid"/>
                      <a:round/>
                      <a:headEnd type="none" w="med" len="med"/>
                      <a:tailEnd type="none" w="med" len="med"/>
                    </a:lnR>
                    <a:lnT w="9525" cap="flat" cmpd="sng" algn="ctr">
                      <a:solidFill>
                        <a:srgbClr val="C9CDD4"/>
                      </a:solidFill>
                      <a:prstDash val="solid"/>
                      <a:round/>
                      <a:headEnd type="none" w="med" len="med"/>
                      <a:tailEnd type="none" w="med" len="med"/>
                    </a:lnT>
                    <a:lnB w="9525" cap="flat" cmpd="sng" algn="ctr">
                      <a:solidFill>
                        <a:srgbClr val="C9CDD4"/>
                      </a:solidFill>
                      <a:prstDash val="solid"/>
                      <a:round/>
                      <a:headEnd type="none" w="med" len="med"/>
                      <a:tailEnd type="none" w="med" len="med"/>
                    </a:lnB>
                    <a:solidFill>
                      <a:srgbClr val="9A003B"/>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Baseline environment: Track A, emoji removed</a:t>
                      </a:r>
                      <a:endParaRPr lang="en-US" sz="1200" dirty="0">
                        <a:latin typeface="Calibri" charset="0"/>
                        <a:ea typeface="Calibri" charset="0"/>
                        <a:cs typeface="Calibri" charset="0"/>
                      </a:endParaRPr>
                    </a:p>
                  </a:txBody>
                  <a:tcPr anchor="ctr">
                    <a:lnL w="9525" cap="flat" cmpd="sng" algn="ctr">
                      <a:solidFill>
                        <a:srgbClr val="C9CDD4"/>
                      </a:solidFill>
                      <a:prstDash val="solid"/>
                      <a:round/>
                      <a:headEnd type="none" w="med" len="med"/>
                      <a:tailEnd type="none" w="med" len="med"/>
                    </a:lnL>
                    <a:lnR w="9525" cap="flat" cmpd="sng" algn="ctr">
                      <a:solidFill>
                        <a:srgbClr val="C9CDD4"/>
                      </a:solidFill>
                      <a:prstDash val="solid"/>
                      <a:round/>
                      <a:headEnd type="none" w="med" len="med"/>
                      <a:tailEnd type="none" w="med" len="med"/>
                    </a:lnR>
                    <a:lnT w="9525" cap="flat" cmpd="sng" algn="ctr">
                      <a:solidFill>
                        <a:srgbClr val="C9CDD4"/>
                      </a:solidFill>
                      <a:prstDash val="solid"/>
                      <a:round/>
                      <a:headEnd type="none" w="med" len="med"/>
                      <a:tailEnd type="none" w="med" len="med"/>
                    </a:lnT>
                    <a:lnB w="9525" cap="flat" cmpd="sng" algn="ctr">
                      <a:solidFill>
                        <a:srgbClr val="C9CDD4"/>
                      </a:solidFill>
                      <a:prstDash val="solid"/>
                      <a:round/>
                      <a:headEnd type="none" w="med" len="med"/>
                      <a:tailEnd type="none" w="med" len="med"/>
                    </a:lnB>
                    <a:solidFill>
                      <a:srgbClr val="9A003B"/>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Proposed project artefact: Track B, emoji verbalised</a:t>
                      </a:r>
                      <a:endParaRPr lang="en-US" sz="1200" dirty="0">
                        <a:latin typeface="Calibri" charset="0"/>
                        <a:ea typeface="Calibri" charset="0"/>
                        <a:cs typeface="Calibri" charset="0"/>
                      </a:endParaRPr>
                    </a:p>
                  </a:txBody>
                  <a:tcPr anchor="ctr">
                    <a:lnL w="9525" cap="flat" cmpd="sng" algn="ctr">
                      <a:solidFill>
                        <a:srgbClr val="C9CDD4"/>
                      </a:solidFill>
                      <a:prstDash val="solid"/>
                      <a:round/>
                      <a:headEnd type="none" w="med" len="med"/>
                      <a:tailEnd type="none" w="med" len="med"/>
                    </a:lnL>
                    <a:lnR w="9525" cap="flat" cmpd="sng" algn="ctr">
                      <a:solidFill>
                        <a:srgbClr val="C9CDD4"/>
                      </a:solidFill>
                      <a:prstDash val="solid"/>
                      <a:round/>
                      <a:headEnd type="none" w="med" len="med"/>
                      <a:tailEnd type="none" w="med" len="med"/>
                    </a:lnR>
                    <a:lnT w="9525" cap="flat" cmpd="sng" algn="ctr">
                      <a:solidFill>
                        <a:srgbClr val="C9CDD4"/>
                      </a:solidFill>
                      <a:prstDash val="solid"/>
                      <a:round/>
                      <a:headEnd type="none" w="med" len="med"/>
                      <a:tailEnd type="none" w="med" len="med"/>
                    </a:lnT>
                    <a:lnB w="9525" cap="flat" cmpd="sng" algn="ctr">
                      <a:solidFill>
                        <a:srgbClr val="C9CDD4"/>
                      </a:solidFill>
                      <a:prstDash val="solid"/>
                      <a:round/>
                      <a:headEnd type="none" w="med" len="med"/>
                      <a:tailEnd type="none" w="med" len="med"/>
                    </a:lnB>
                    <a:solidFill>
                      <a:srgbClr val="9A003B"/>
                    </a:solidFill>
                  </a:tcPr>
                </a:tc>
                <a:extLst>
                  <a:ext uri="{0D108BD9-81ED-4DB2-BD59-A6C34878D82A}">
                    <a16:rowId xmlns:a16="http://schemas.microsoft.com/office/drawing/2014/main" val="10000"/>
                  </a:ext>
                </a:extLst>
              </a:tr>
              <a:tr h="475488">
                <a:tc>
                  <a:txBody>
                    <a:bodyPr/>
                    <a:lstStyle/>
                    <a:p>
                      <a:pPr marL="0" indent="0">
                        <a:buNone/>
                      </a:pPr>
                      <a:r>
                        <a:rPr lang="en-US" sz="1200" dirty="0">
                          <a:solidFill>
                            <a:srgbClr val="000000"/>
                          </a:solidFill>
                          <a:latin typeface="Calibri" pitchFamily="34" charset="0"/>
                          <a:ea typeface="Calibri" pitchFamily="34" charset="-122"/>
                          <a:cs typeface="Calibri" pitchFamily="34" charset="-120"/>
                        </a:rPr>
                        <a:t>Technical layer  ·  BiLSTM Micro-F1</a:t>
                      </a:r>
                      <a:endParaRPr lang="en-US" sz="1200" dirty="0">
                        <a:latin typeface="Calibri" charset="0"/>
                        <a:ea typeface="Calibri" charset="0"/>
                        <a:cs typeface="Calibri" charset="0"/>
                      </a:endParaRPr>
                    </a:p>
                  </a:txBody>
                  <a:tcPr anchor="ctr">
                    <a:lnL w="9525" cap="flat" cmpd="sng" algn="ctr">
                      <a:solidFill>
                        <a:srgbClr val="C9CDD4"/>
                      </a:solidFill>
                      <a:prstDash val="solid"/>
                      <a:round/>
                      <a:headEnd type="none" w="med" len="med"/>
                      <a:tailEnd type="none" w="med" len="med"/>
                    </a:lnL>
                    <a:lnR w="9525" cap="flat" cmpd="sng" algn="ctr">
                      <a:solidFill>
                        <a:srgbClr val="C9CDD4"/>
                      </a:solidFill>
                      <a:prstDash val="solid"/>
                      <a:round/>
                      <a:headEnd type="none" w="med" len="med"/>
                      <a:tailEnd type="none" w="med" len="med"/>
                    </a:lnR>
                    <a:lnT w="9525" cap="flat" cmpd="sng" algn="ctr">
                      <a:solidFill>
                        <a:srgbClr val="C9CDD4"/>
                      </a:solidFill>
                      <a:prstDash val="solid"/>
                      <a:round/>
                      <a:headEnd type="none" w="med" len="med"/>
                      <a:tailEnd type="none" w="med" len="med"/>
                    </a:lnT>
                    <a:lnB w="9525" cap="flat" cmpd="sng" algn="ctr">
                      <a:solidFill>
                        <a:srgbClr val="C9CDD4"/>
                      </a:solidFill>
                      <a:prstDash val="solid"/>
                      <a:round/>
                      <a:headEnd type="none" w="med" len="med"/>
                      <a:tailEnd type="none" w="med" len="med"/>
                    </a:lnB>
                  </a:tcPr>
                </a:tc>
                <a:tc>
                  <a:txBody>
                    <a:bodyPr/>
                    <a:lstStyle/>
                    <a:p>
                      <a:pPr marL="0" indent="0">
                        <a:buNone/>
                      </a:pPr>
                      <a:r>
                        <a:rPr lang="en-US" sz="1200" dirty="0">
                          <a:solidFill>
                            <a:srgbClr val="000000"/>
                          </a:solidFill>
                          <a:latin typeface="Calibri" pitchFamily="34" charset="0"/>
                          <a:ea typeface="Calibri" pitchFamily="34" charset="-122"/>
                          <a:cs typeface="Calibri" pitchFamily="34" charset="-120"/>
                        </a:rPr>
                        <a:t>53.63%</a:t>
                      </a:r>
                      <a:endParaRPr lang="en-US" sz="1200" dirty="0">
                        <a:latin typeface="Calibri" charset="0"/>
                        <a:ea typeface="Calibri" charset="0"/>
                        <a:cs typeface="Calibri" charset="0"/>
                      </a:endParaRPr>
                    </a:p>
                  </a:txBody>
                  <a:tcPr anchor="ctr">
                    <a:lnL w="9525" cap="flat" cmpd="sng" algn="ctr">
                      <a:solidFill>
                        <a:srgbClr val="C9CDD4"/>
                      </a:solidFill>
                      <a:prstDash val="solid"/>
                      <a:round/>
                      <a:headEnd type="none" w="med" len="med"/>
                      <a:tailEnd type="none" w="med" len="med"/>
                    </a:lnL>
                    <a:lnR w="9525" cap="flat" cmpd="sng" algn="ctr">
                      <a:solidFill>
                        <a:srgbClr val="C9CDD4"/>
                      </a:solidFill>
                      <a:prstDash val="solid"/>
                      <a:round/>
                      <a:headEnd type="none" w="med" len="med"/>
                      <a:tailEnd type="none" w="med" len="med"/>
                    </a:lnR>
                    <a:lnT w="9525" cap="flat" cmpd="sng" algn="ctr">
                      <a:solidFill>
                        <a:srgbClr val="C9CDD4"/>
                      </a:solidFill>
                      <a:prstDash val="solid"/>
                      <a:round/>
                      <a:headEnd type="none" w="med" len="med"/>
                      <a:tailEnd type="none" w="med" len="med"/>
                    </a:lnT>
                    <a:lnB w="9525" cap="flat" cmpd="sng" algn="ctr">
                      <a:solidFill>
                        <a:srgbClr val="C9CDD4"/>
                      </a:solidFill>
                      <a:prstDash val="solid"/>
                      <a:round/>
                      <a:headEnd type="none" w="med" len="med"/>
                      <a:tailEnd type="none" w="med" len="med"/>
                    </a:lnB>
                  </a:tcPr>
                </a:tc>
                <a:tc>
                  <a:txBody>
                    <a:bodyPr/>
                    <a:lstStyle/>
                    <a:p>
                      <a:pPr marL="0" indent="0">
                        <a:buNone/>
                      </a:pPr>
                      <a:r>
                        <a:rPr lang="en-US" sz="1200" dirty="0">
                          <a:solidFill>
                            <a:srgbClr val="000000"/>
                          </a:solidFill>
                          <a:latin typeface="Calibri" pitchFamily="34" charset="0"/>
                          <a:ea typeface="Calibri" pitchFamily="34" charset="-122"/>
                          <a:cs typeface="Calibri" pitchFamily="34" charset="-120"/>
                        </a:rPr>
                        <a:t>55.65%   (+2.03)</a:t>
                      </a:r>
                      <a:endParaRPr lang="en-US" sz="1200" dirty="0">
                        <a:latin typeface="Calibri" charset="0"/>
                        <a:ea typeface="Calibri" charset="0"/>
                        <a:cs typeface="Calibri" charset="0"/>
                      </a:endParaRPr>
                    </a:p>
                  </a:txBody>
                  <a:tcPr anchor="ctr">
                    <a:lnL w="9525" cap="flat" cmpd="sng" algn="ctr">
                      <a:solidFill>
                        <a:srgbClr val="C9CDD4"/>
                      </a:solidFill>
                      <a:prstDash val="solid"/>
                      <a:round/>
                      <a:headEnd type="none" w="med" len="med"/>
                      <a:tailEnd type="none" w="med" len="med"/>
                    </a:lnL>
                    <a:lnR w="9525" cap="flat" cmpd="sng" algn="ctr">
                      <a:solidFill>
                        <a:srgbClr val="C9CDD4"/>
                      </a:solidFill>
                      <a:prstDash val="solid"/>
                      <a:round/>
                      <a:headEnd type="none" w="med" len="med"/>
                      <a:tailEnd type="none" w="med" len="med"/>
                    </a:lnR>
                    <a:lnT w="9525" cap="flat" cmpd="sng" algn="ctr">
                      <a:solidFill>
                        <a:srgbClr val="C9CDD4"/>
                      </a:solidFill>
                      <a:prstDash val="solid"/>
                      <a:round/>
                      <a:headEnd type="none" w="med" len="med"/>
                      <a:tailEnd type="none" w="med" len="med"/>
                    </a:lnT>
                    <a:lnB w="9525" cap="flat" cmpd="sng" algn="ctr">
                      <a:solidFill>
                        <a:srgbClr val="C9CDD4"/>
                      </a:solidFill>
                      <a:prstDash val="solid"/>
                      <a:round/>
                      <a:headEnd type="none" w="med" len="med"/>
                      <a:tailEnd type="none" w="med" len="med"/>
                    </a:lnB>
                  </a:tcPr>
                </a:tc>
                <a:extLst>
                  <a:ext uri="{0D108BD9-81ED-4DB2-BD59-A6C34878D82A}">
                    <a16:rowId xmlns:a16="http://schemas.microsoft.com/office/drawing/2014/main" val="10001"/>
                  </a:ext>
                </a:extLst>
              </a:tr>
              <a:tr h="475488">
                <a:tc>
                  <a:txBody>
                    <a:bodyPr/>
                    <a:lstStyle/>
                    <a:p>
                      <a:pPr marL="0" indent="0">
                        <a:buNone/>
                      </a:pPr>
                      <a:r>
                        <a:rPr lang="en-US" sz="1200" dirty="0">
                          <a:solidFill>
                            <a:srgbClr val="000000"/>
                          </a:solidFill>
                          <a:latin typeface="Calibri" pitchFamily="34" charset="0"/>
                          <a:ea typeface="Calibri" pitchFamily="34" charset="-122"/>
                          <a:cs typeface="Calibri" pitchFamily="34" charset="-120"/>
                        </a:rPr>
                        <a:t>Technical layer  ·  Transformer Micro-F1</a:t>
                      </a:r>
                      <a:endParaRPr lang="en-US" sz="1200" dirty="0">
                        <a:latin typeface="Calibri" charset="0"/>
                        <a:ea typeface="Calibri" charset="0"/>
                        <a:cs typeface="Calibri" charset="0"/>
                      </a:endParaRPr>
                    </a:p>
                  </a:txBody>
                  <a:tcPr anchor="ctr">
                    <a:lnL w="9525" cap="flat" cmpd="sng" algn="ctr">
                      <a:solidFill>
                        <a:srgbClr val="C9CDD4"/>
                      </a:solidFill>
                      <a:prstDash val="solid"/>
                      <a:round/>
                      <a:headEnd type="none" w="med" len="med"/>
                      <a:tailEnd type="none" w="med" len="med"/>
                    </a:lnL>
                    <a:lnR w="9525" cap="flat" cmpd="sng" algn="ctr">
                      <a:solidFill>
                        <a:srgbClr val="C9CDD4"/>
                      </a:solidFill>
                      <a:prstDash val="solid"/>
                      <a:round/>
                      <a:headEnd type="none" w="med" len="med"/>
                      <a:tailEnd type="none" w="med" len="med"/>
                    </a:lnR>
                    <a:lnT w="9525" cap="flat" cmpd="sng" algn="ctr">
                      <a:solidFill>
                        <a:srgbClr val="C9CDD4"/>
                      </a:solidFill>
                      <a:prstDash val="solid"/>
                      <a:round/>
                      <a:headEnd type="none" w="med" len="med"/>
                      <a:tailEnd type="none" w="med" len="med"/>
                    </a:lnT>
                    <a:lnB w="9525" cap="flat" cmpd="sng" algn="ctr">
                      <a:solidFill>
                        <a:srgbClr val="C9CDD4"/>
                      </a:solidFill>
                      <a:prstDash val="solid"/>
                      <a:round/>
                      <a:headEnd type="none" w="med" len="med"/>
                      <a:tailEnd type="none" w="med" len="med"/>
                    </a:lnB>
                  </a:tcPr>
                </a:tc>
                <a:tc>
                  <a:txBody>
                    <a:bodyPr/>
                    <a:lstStyle/>
                    <a:p>
                      <a:pPr marL="0" indent="0">
                        <a:buNone/>
                      </a:pPr>
                      <a:r>
                        <a:rPr lang="en-US" sz="1200" dirty="0">
                          <a:solidFill>
                            <a:srgbClr val="000000"/>
                          </a:solidFill>
                          <a:latin typeface="Calibri" pitchFamily="34" charset="0"/>
                          <a:ea typeface="Calibri" pitchFamily="34" charset="-122"/>
                          <a:cs typeface="Calibri" pitchFamily="34" charset="-120"/>
                        </a:rPr>
                        <a:t>47.29%</a:t>
                      </a:r>
                      <a:endParaRPr lang="en-US" sz="1200" dirty="0">
                        <a:latin typeface="Calibri" charset="0"/>
                        <a:ea typeface="Calibri" charset="0"/>
                        <a:cs typeface="Calibri" charset="0"/>
                      </a:endParaRPr>
                    </a:p>
                  </a:txBody>
                  <a:tcPr anchor="ctr">
                    <a:lnL w="9525" cap="flat" cmpd="sng" algn="ctr">
                      <a:solidFill>
                        <a:srgbClr val="C9CDD4"/>
                      </a:solidFill>
                      <a:prstDash val="solid"/>
                      <a:round/>
                      <a:headEnd type="none" w="med" len="med"/>
                      <a:tailEnd type="none" w="med" len="med"/>
                    </a:lnL>
                    <a:lnR w="9525" cap="flat" cmpd="sng" algn="ctr">
                      <a:solidFill>
                        <a:srgbClr val="C9CDD4"/>
                      </a:solidFill>
                      <a:prstDash val="solid"/>
                      <a:round/>
                      <a:headEnd type="none" w="med" len="med"/>
                      <a:tailEnd type="none" w="med" len="med"/>
                    </a:lnR>
                    <a:lnT w="9525" cap="flat" cmpd="sng" algn="ctr">
                      <a:solidFill>
                        <a:srgbClr val="C9CDD4"/>
                      </a:solidFill>
                      <a:prstDash val="solid"/>
                      <a:round/>
                      <a:headEnd type="none" w="med" len="med"/>
                      <a:tailEnd type="none" w="med" len="med"/>
                    </a:lnT>
                    <a:lnB w="9525" cap="flat" cmpd="sng" algn="ctr">
                      <a:solidFill>
                        <a:srgbClr val="C9CDD4"/>
                      </a:solidFill>
                      <a:prstDash val="solid"/>
                      <a:round/>
                      <a:headEnd type="none" w="med" len="med"/>
                      <a:tailEnd type="none" w="med" len="med"/>
                    </a:lnB>
                  </a:tcPr>
                </a:tc>
                <a:tc>
                  <a:txBody>
                    <a:bodyPr/>
                    <a:lstStyle/>
                    <a:p>
                      <a:pPr marL="0" indent="0">
                        <a:buNone/>
                      </a:pPr>
                      <a:r>
                        <a:rPr lang="en-US" sz="1200" dirty="0">
                          <a:solidFill>
                            <a:srgbClr val="000000"/>
                          </a:solidFill>
                          <a:latin typeface="Calibri" pitchFamily="34" charset="0"/>
                          <a:ea typeface="Calibri" pitchFamily="34" charset="-122"/>
                          <a:cs typeface="Calibri" pitchFamily="34" charset="-120"/>
                        </a:rPr>
                        <a:t>51.00%   (+3.71)</a:t>
                      </a:r>
                      <a:endParaRPr lang="en-US" sz="1200" dirty="0">
                        <a:latin typeface="Calibri" charset="0"/>
                        <a:ea typeface="Calibri" charset="0"/>
                        <a:cs typeface="Calibri" charset="0"/>
                      </a:endParaRPr>
                    </a:p>
                  </a:txBody>
                  <a:tcPr anchor="ctr">
                    <a:lnL w="9525" cap="flat" cmpd="sng" algn="ctr">
                      <a:solidFill>
                        <a:srgbClr val="C9CDD4"/>
                      </a:solidFill>
                      <a:prstDash val="solid"/>
                      <a:round/>
                      <a:headEnd type="none" w="med" len="med"/>
                      <a:tailEnd type="none" w="med" len="med"/>
                    </a:lnL>
                    <a:lnR w="9525" cap="flat" cmpd="sng" algn="ctr">
                      <a:solidFill>
                        <a:srgbClr val="C9CDD4"/>
                      </a:solidFill>
                      <a:prstDash val="solid"/>
                      <a:round/>
                      <a:headEnd type="none" w="med" len="med"/>
                      <a:tailEnd type="none" w="med" len="med"/>
                    </a:lnR>
                    <a:lnT w="9525" cap="flat" cmpd="sng" algn="ctr">
                      <a:solidFill>
                        <a:srgbClr val="C9CDD4"/>
                      </a:solidFill>
                      <a:prstDash val="solid"/>
                      <a:round/>
                      <a:headEnd type="none" w="med" len="med"/>
                      <a:tailEnd type="none" w="med" len="med"/>
                    </a:lnT>
                    <a:lnB w="9525" cap="flat" cmpd="sng" algn="ctr">
                      <a:solidFill>
                        <a:srgbClr val="C9CDD4"/>
                      </a:solidFill>
                      <a:prstDash val="solid"/>
                      <a:round/>
                      <a:headEnd type="none" w="med" len="med"/>
                      <a:tailEnd type="none" w="med" len="med"/>
                    </a:lnB>
                  </a:tcPr>
                </a:tc>
                <a:extLst>
                  <a:ext uri="{0D108BD9-81ED-4DB2-BD59-A6C34878D82A}">
                    <a16:rowId xmlns:a16="http://schemas.microsoft.com/office/drawing/2014/main" val="10002"/>
                  </a:ext>
                </a:extLst>
              </a:tr>
              <a:tr h="475488">
                <a:tc>
                  <a:txBody>
                    <a:bodyPr/>
                    <a:lstStyle/>
                    <a:p>
                      <a:pPr marL="0" indent="0">
                        <a:buNone/>
                      </a:pPr>
                      <a:r>
                        <a:rPr lang="en-US" sz="1200" dirty="0">
                          <a:solidFill>
                            <a:srgbClr val="000000"/>
                          </a:solidFill>
                          <a:latin typeface="Calibri" pitchFamily="34" charset="0"/>
                          <a:ea typeface="Calibri" pitchFamily="34" charset="-122"/>
                          <a:cs typeface="Calibri" pitchFamily="34" charset="-120"/>
                        </a:rPr>
                        <a:t>Technical layer  ·  BiLSTM label accuracy</a:t>
                      </a:r>
                      <a:endParaRPr lang="en-US" sz="1200" dirty="0">
                        <a:latin typeface="Calibri" charset="0"/>
                        <a:ea typeface="Calibri" charset="0"/>
                        <a:cs typeface="Calibri" charset="0"/>
                      </a:endParaRPr>
                    </a:p>
                  </a:txBody>
                  <a:tcPr anchor="ctr">
                    <a:lnL w="9525" cap="flat" cmpd="sng" algn="ctr">
                      <a:solidFill>
                        <a:srgbClr val="C9CDD4"/>
                      </a:solidFill>
                      <a:prstDash val="solid"/>
                      <a:round/>
                      <a:headEnd type="none" w="med" len="med"/>
                      <a:tailEnd type="none" w="med" len="med"/>
                    </a:lnL>
                    <a:lnR w="9525" cap="flat" cmpd="sng" algn="ctr">
                      <a:solidFill>
                        <a:srgbClr val="C9CDD4"/>
                      </a:solidFill>
                      <a:prstDash val="solid"/>
                      <a:round/>
                      <a:headEnd type="none" w="med" len="med"/>
                      <a:tailEnd type="none" w="med" len="med"/>
                    </a:lnR>
                    <a:lnT w="9525" cap="flat" cmpd="sng" algn="ctr">
                      <a:solidFill>
                        <a:srgbClr val="C9CDD4"/>
                      </a:solidFill>
                      <a:prstDash val="solid"/>
                      <a:round/>
                      <a:headEnd type="none" w="med" len="med"/>
                      <a:tailEnd type="none" w="med" len="med"/>
                    </a:lnT>
                    <a:lnB w="9525" cap="flat" cmpd="sng" algn="ctr">
                      <a:solidFill>
                        <a:srgbClr val="C9CDD4"/>
                      </a:solidFill>
                      <a:prstDash val="solid"/>
                      <a:round/>
                      <a:headEnd type="none" w="med" len="med"/>
                      <a:tailEnd type="none" w="med" len="med"/>
                    </a:lnB>
                  </a:tcPr>
                </a:tc>
                <a:tc>
                  <a:txBody>
                    <a:bodyPr/>
                    <a:lstStyle/>
                    <a:p>
                      <a:pPr marL="0" indent="0">
                        <a:buNone/>
                      </a:pPr>
                      <a:r>
                        <a:rPr lang="en-US" sz="1200" dirty="0">
                          <a:solidFill>
                            <a:srgbClr val="000000"/>
                          </a:solidFill>
                          <a:latin typeface="Calibri" pitchFamily="34" charset="0"/>
                          <a:ea typeface="Calibri" pitchFamily="34" charset="-122"/>
                          <a:cs typeface="Calibri" pitchFamily="34" charset="-120"/>
                        </a:rPr>
                        <a:t>74.02%</a:t>
                      </a:r>
                      <a:endParaRPr lang="en-US" sz="1200" dirty="0">
                        <a:latin typeface="Calibri" charset="0"/>
                        <a:ea typeface="Calibri" charset="0"/>
                        <a:cs typeface="Calibri" charset="0"/>
                      </a:endParaRPr>
                    </a:p>
                  </a:txBody>
                  <a:tcPr anchor="ctr">
                    <a:lnL w="9525" cap="flat" cmpd="sng" algn="ctr">
                      <a:solidFill>
                        <a:srgbClr val="C9CDD4"/>
                      </a:solidFill>
                      <a:prstDash val="solid"/>
                      <a:round/>
                      <a:headEnd type="none" w="med" len="med"/>
                      <a:tailEnd type="none" w="med" len="med"/>
                    </a:lnL>
                    <a:lnR w="9525" cap="flat" cmpd="sng" algn="ctr">
                      <a:solidFill>
                        <a:srgbClr val="C9CDD4"/>
                      </a:solidFill>
                      <a:prstDash val="solid"/>
                      <a:round/>
                      <a:headEnd type="none" w="med" len="med"/>
                      <a:tailEnd type="none" w="med" len="med"/>
                    </a:lnR>
                    <a:lnT w="9525" cap="flat" cmpd="sng" algn="ctr">
                      <a:solidFill>
                        <a:srgbClr val="C9CDD4"/>
                      </a:solidFill>
                      <a:prstDash val="solid"/>
                      <a:round/>
                      <a:headEnd type="none" w="med" len="med"/>
                      <a:tailEnd type="none" w="med" len="med"/>
                    </a:lnT>
                    <a:lnB w="9525" cap="flat" cmpd="sng" algn="ctr">
                      <a:solidFill>
                        <a:srgbClr val="C9CDD4"/>
                      </a:solidFill>
                      <a:prstDash val="solid"/>
                      <a:round/>
                      <a:headEnd type="none" w="med" len="med"/>
                      <a:tailEnd type="none" w="med" len="med"/>
                    </a:lnB>
                  </a:tcPr>
                </a:tc>
                <a:tc>
                  <a:txBody>
                    <a:bodyPr/>
                    <a:lstStyle/>
                    <a:p>
                      <a:pPr marL="0" indent="0">
                        <a:buNone/>
                      </a:pPr>
                      <a:r>
                        <a:rPr lang="en-US" sz="1200" dirty="0">
                          <a:solidFill>
                            <a:srgbClr val="000000"/>
                          </a:solidFill>
                          <a:latin typeface="Calibri" pitchFamily="34" charset="0"/>
                          <a:ea typeface="Calibri" pitchFamily="34" charset="-122"/>
                          <a:cs typeface="Calibri" pitchFamily="34" charset="-120"/>
                        </a:rPr>
                        <a:t>75.85%   (+1.83)</a:t>
                      </a:r>
                      <a:endParaRPr lang="en-US" sz="1200" dirty="0">
                        <a:latin typeface="Calibri" charset="0"/>
                        <a:ea typeface="Calibri" charset="0"/>
                        <a:cs typeface="Calibri" charset="0"/>
                      </a:endParaRPr>
                    </a:p>
                  </a:txBody>
                  <a:tcPr anchor="ctr">
                    <a:lnL w="9525" cap="flat" cmpd="sng" algn="ctr">
                      <a:solidFill>
                        <a:srgbClr val="C9CDD4"/>
                      </a:solidFill>
                      <a:prstDash val="solid"/>
                      <a:round/>
                      <a:headEnd type="none" w="med" len="med"/>
                      <a:tailEnd type="none" w="med" len="med"/>
                    </a:lnL>
                    <a:lnR w="9525" cap="flat" cmpd="sng" algn="ctr">
                      <a:solidFill>
                        <a:srgbClr val="C9CDD4"/>
                      </a:solidFill>
                      <a:prstDash val="solid"/>
                      <a:round/>
                      <a:headEnd type="none" w="med" len="med"/>
                      <a:tailEnd type="none" w="med" len="med"/>
                    </a:lnR>
                    <a:lnT w="9525" cap="flat" cmpd="sng" algn="ctr">
                      <a:solidFill>
                        <a:srgbClr val="C9CDD4"/>
                      </a:solidFill>
                      <a:prstDash val="solid"/>
                      <a:round/>
                      <a:headEnd type="none" w="med" len="med"/>
                      <a:tailEnd type="none" w="med" len="med"/>
                    </a:lnT>
                    <a:lnB w="9525" cap="flat" cmpd="sng" algn="ctr">
                      <a:solidFill>
                        <a:srgbClr val="C9CDD4"/>
                      </a:solidFill>
                      <a:prstDash val="solid"/>
                      <a:round/>
                      <a:headEnd type="none" w="med" len="med"/>
                      <a:tailEnd type="none" w="med" len="med"/>
                    </a:lnB>
                  </a:tcPr>
                </a:tc>
                <a:extLst>
                  <a:ext uri="{0D108BD9-81ED-4DB2-BD59-A6C34878D82A}">
                    <a16:rowId xmlns:a16="http://schemas.microsoft.com/office/drawing/2014/main" val="10003"/>
                  </a:ext>
                </a:extLst>
              </a:tr>
              <a:tr h="475488">
                <a:tc>
                  <a:txBody>
                    <a:bodyPr/>
                    <a:lstStyle/>
                    <a:p>
                      <a:pPr marL="0" indent="0">
                        <a:buNone/>
                      </a:pPr>
                      <a:r>
                        <a:rPr lang="en-US" sz="1200" dirty="0">
                          <a:solidFill>
                            <a:srgbClr val="000000"/>
                          </a:solidFill>
                          <a:latin typeface="Calibri" pitchFamily="34" charset="0"/>
                          <a:ea typeface="Calibri" pitchFamily="34" charset="-122"/>
                          <a:cs typeface="Calibri" pitchFamily="34" charset="-120"/>
                        </a:rPr>
                        <a:t>Technical layer  ·  Subset accuracy, BiLSTM</a:t>
                      </a:r>
                      <a:endParaRPr lang="en-US" sz="1200" dirty="0">
                        <a:latin typeface="Calibri" charset="0"/>
                        <a:ea typeface="Calibri" charset="0"/>
                        <a:cs typeface="Calibri" charset="0"/>
                      </a:endParaRPr>
                    </a:p>
                  </a:txBody>
                  <a:tcPr anchor="ctr">
                    <a:lnL w="9525" cap="flat" cmpd="sng" algn="ctr">
                      <a:solidFill>
                        <a:srgbClr val="C9CDD4"/>
                      </a:solidFill>
                      <a:prstDash val="solid"/>
                      <a:round/>
                      <a:headEnd type="none" w="med" len="med"/>
                      <a:tailEnd type="none" w="med" len="med"/>
                    </a:lnL>
                    <a:lnR w="9525" cap="flat" cmpd="sng" algn="ctr">
                      <a:solidFill>
                        <a:srgbClr val="C9CDD4"/>
                      </a:solidFill>
                      <a:prstDash val="solid"/>
                      <a:round/>
                      <a:headEnd type="none" w="med" len="med"/>
                      <a:tailEnd type="none" w="med" len="med"/>
                    </a:lnR>
                    <a:lnT w="9525" cap="flat" cmpd="sng" algn="ctr">
                      <a:solidFill>
                        <a:srgbClr val="C9CDD4"/>
                      </a:solidFill>
                      <a:prstDash val="solid"/>
                      <a:round/>
                      <a:headEnd type="none" w="med" len="med"/>
                      <a:tailEnd type="none" w="med" len="med"/>
                    </a:lnT>
                    <a:lnB w="9525" cap="flat" cmpd="sng" algn="ctr">
                      <a:solidFill>
                        <a:srgbClr val="C9CDD4"/>
                      </a:solidFill>
                      <a:prstDash val="solid"/>
                      <a:round/>
                      <a:headEnd type="none" w="med" len="med"/>
                      <a:tailEnd type="none" w="med" len="med"/>
                    </a:lnB>
                  </a:tcPr>
                </a:tc>
                <a:tc>
                  <a:txBody>
                    <a:bodyPr/>
                    <a:lstStyle/>
                    <a:p>
                      <a:pPr marL="0" indent="0">
                        <a:buNone/>
                      </a:pPr>
                      <a:r>
                        <a:rPr lang="en-US" sz="1200" dirty="0">
                          <a:solidFill>
                            <a:srgbClr val="000000"/>
                          </a:solidFill>
                          <a:latin typeface="Calibri" pitchFamily="34" charset="0"/>
                          <a:ea typeface="Calibri" pitchFamily="34" charset="-122"/>
                          <a:cs typeface="Calibri" pitchFamily="34" charset="-120"/>
                        </a:rPr>
                        <a:t>5.53%</a:t>
                      </a:r>
                      <a:endParaRPr lang="en-US" sz="1200" dirty="0">
                        <a:latin typeface="Calibri" charset="0"/>
                        <a:ea typeface="Calibri" charset="0"/>
                        <a:cs typeface="Calibri" charset="0"/>
                      </a:endParaRPr>
                    </a:p>
                  </a:txBody>
                  <a:tcPr anchor="ctr">
                    <a:lnL w="9525" cap="flat" cmpd="sng" algn="ctr">
                      <a:solidFill>
                        <a:srgbClr val="C9CDD4"/>
                      </a:solidFill>
                      <a:prstDash val="solid"/>
                      <a:round/>
                      <a:headEnd type="none" w="med" len="med"/>
                      <a:tailEnd type="none" w="med" len="med"/>
                    </a:lnL>
                    <a:lnR w="9525" cap="flat" cmpd="sng" algn="ctr">
                      <a:solidFill>
                        <a:srgbClr val="C9CDD4"/>
                      </a:solidFill>
                      <a:prstDash val="solid"/>
                      <a:round/>
                      <a:headEnd type="none" w="med" len="med"/>
                      <a:tailEnd type="none" w="med" len="med"/>
                    </a:lnR>
                    <a:lnT w="9525" cap="flat" cmpd="sng" algn="ctr">
                      <a:solidFill>
                        <a:srgbClr val="C9CDD4"/>
                      </a:solidFill>
                      <a:prstDash val="solid"/>
                      <a:round/>
                      <a:headEnd type="none" w="med" len="med"/>
                      <a:tailEnd type="none" w="med" len="med"/>
                    </a:lnT>
                    <a:lnB w="9525" cap="flat" cmpd="sng" algn="ctr">
                      <a:solidFill>
                        <a:srgbClr val="C9CDD4"/>
                      </a:solidFill>
                      <a:prstDash val="solid"/>
                      <a:round/>
                      <a:headEnd type="none" w="med" len="med"/>
                      <a:tailEnd type="none" w="med" len="med"/>
                    </a:lnB>
                  </a:tcPr>
                </a:tc>
                <a:tc>
                  <a:txBody>
                    <a:bodyPr/>
                    <a:lstStyle/>
                    <a:p>
                      <a:pPr marL="0" indent="0">
                        <a:buNone/>
                      </a:pPr>
                      <a:r>
                        <a:rPr lang="en-US" sz="1200" dirty="0">
                          <a:solidFill>
                            <a:srgbClr val="000000"/>
                          </a:solidFill>
                          <a:latin typeface="Calibri" pitchFamily="34" charset="0"/>
                          <a:ea typeface="Calibri" pitchFamily="34" charset="-122"/>
                          <a:cs typeface="Calibri" pitchFamily="34" charset="-120"/>
                        </a:rPr>
                        <a:t>9.48%   (+3.95)</a:t>
                      </a:r>
                      <a:endParaRPr lang="en-US" sz="1200" dirty="0">
                        <a:latin typeface="Calibri" charset="0"/>
                        <a:ea typeface="Calibri" charset="0"/>
                        <a:cs typeface="Calibri" charset="0"/>
                      </a:endParaRPr>
                    </a:p>
                  </a:txBody>
                  <a:tcPr anchor="ctr">
                    <a:lnL w="9525" cap="flat" cmpd="sng" algn="ctr">
                      <a:solidFill>
                        <a:srgbClr val="C9CDD4"/>
                      </a:solidFill>
                      <a:prstDash val="solid"/>
                      <a:round/>
                      <a:headEnd type="none" w="med" len="med"/>
                      <a:tailEnd type="none" w="med" len="med"/>
                    </a:lnL>
                    <a:lnR w="9525" cap="flat" cmpd="sng" algn="ctr">
                      <a:solidFill>
                        <a:srgbClr val="C9CDD4"/>
                      </a:solidFill>
                      <a:prstDash val="solid"/>
                      <a:round/>
                      <a:headEnd type="none" w="med" len="med"/>
                      <a:tailEnd type="none" w="med" len="med"/>
                    </a:lnR>
                    <a:lnT w="9525" cap="flat" cmpd="sng" algn="ctr">
                      <a:solidFill>
                        <a:srgbClr val="C9CDD4"/>
                      </a:solidFill>
                      <a:prstDash val="solid"/>
                      <a:round/>
                      <a:headEnd type="none" w="med" len="med"/>
                      <a:tailEnd type="none" w="med" len="med"/>
                    </a:lnT>
                    <a:lnB w="9525" cap="flat" cmpd="sng" algn="ctr">
                      <a:solidFill>
                        <a:srgbClr val="C9CDD4"/>
                      </a:solidFill>
                      <a:prstDash val="solid"/>
                      <a:round/>
                      <a:headEnd type="none" w="med" len="med"/>
                      <a:tailEnd type="none" w="med" len="med"/>
                    </a:lnB>
                  </a:tcPr>
                </a:tc>
                <a:extLst>
                  <a:ext uri="{0D108BD9-81ED-4DB2-BD59-A6C34878D82A}">
                    <a16:rowId xmlns:a16="http://schemas.microsoft.com/office/drawing/2014/main" val="10004"/>
                  </a:ext>
                </a:extLst>
              </a:tr>
              <a:tr h="475488">
                <a:tc>
                  <a:txBody>
                    <a:bodyPr/>
                    <a:lstStyle/>
                    <a:p>
                      <a:pPr marL="0" indent="0">
                        <a:buNone/>
                      </a:pPr>
                      <a:r>
                        <a:rPr lang="en-US" sz="1200" dirty="0">
                          <a:solidFill>
                            <a:srgbClr val="000000"/>
                          </a:solidFill>
                          <a:latin typeface="Calibri" pitchFamily="34" charset="0"/>
                          <a:ea typeface="Calibri" pitchFamily="34" charset="-122"/>
                          <a:cs typeface="Calibri" pitchFamily="34" charset="-120"/>
                        </a:rPr>
                        <a:t>Strategic layer  ·  Basis for the preprocessing choice</a:t>
                      </a:r>
                      <a:endParaRPr lang="en-US" sz="1200" dirty="0">
                        <a:latin typeface="Calibri" charset="0"/>
                        <a:ea typeface="Calibri" charset="0"/>
                        <a:cs typeface="Calibri" charset="0"/>
                      </a:endParaRPr>
                    </a:p>
                  </a:txBody>
                  <a:tcPr anchor="ctr">
                    <a:lnL w="9525" cap="flat" cmpd="sng" algn="ctr">
                      <a:solidFill>
                        <a:srgbClr val="C9CDD4"/>
                      </a:solidFill>
                      <a:prstDash val="solid"/>
                      <a:round/>
                      <a:headEnd type="none" w="med" len="med"/>
                      <a:tailEnd type="none" w="med" len="med"/>
                    </a:lnL>
                    <a:lnR w="9525" cap="flat" cmpd="sng" algn="ctr">
                      <a:solidFill>
                        <a:srgbClr val="C9CDD4"/>
                      </a:solidFill>
                      <a:prstDash val="solid"/>
                      <a:round/>
                      <a:headEnd type="none" w="med" len="med"/>
                      <a:tailEnd type="none" w="med" len="med"/>
                    </a:lnR>
                    <a:lnT w="9525" cap="flat" cmpd="sng" algn="ctr">
                      <a:solidFill>
                        <a:srgbClr val="C9CDD4"/>
                      </a:solidFill>
                      <a:prstDash val="solid"/>
                      <a:round/>
                      <a:headEnd type="none" w="med" len="med"/>
                      <a:tailEnd type="none" w="med" len="med"/>
                    </a:lnT>
                    <a:lnB w="9525" cap="flat" cmpd="sng" algn="ctr">
                      <a:solidFill>
                        <a:srgbClr val="C9CDD4"/>
                      </a:solidFill>
                      <a:prstDash val="solid"/>
                      <a:round/>
                      <a:headEnd type="none" w="med" len="med"/>
                      <a:tailEnd type="none" w="med" len="med"/>
                    </a:lnB>
                  </a:tcPr>
                </a:tc>
                <a:tc>
                  <a:txBody>
                    <a:bodyPr/>
                    <a:lstStyle/>
                    <a:p>
                      <a:pPr marL="0" indent="0">
                        <a:buNone/>
                      </a:pPr>
                      <a:r>
                        <a:rPr lang="en-US" sz="1200" dirty="0">
                          <a:solidFill>
                            <a:srgbClr val="000000"/>
                          </a:solidFill>
                          <a:latin typeface="Calibri" pitchFamily="34" charset="0"/>
                          <a:ea typeface="Calibri" pitchFamily="34" charset="-122"/>
                          <a:cs typeface="Calibri" pitchFamily="34" charset="-120"/>
                        </a:rPr>
                        <a:t>An untested convention followed by habit</a:t>
                      </a:r>
                      <a:endParaRPr lang="en-US" sz="1200" dirty="0">
                        <a:latin typeface="Calibri" charset="0"/>
                        <a:ea typeface="Calibri" charset="0"/>
                        <a:cs typeface="Calibri" charset="0"/>
                      </a:endParaRPr>
                    </a:p>
                  </a:txBody>
                  <a:tcPr anchor="ctr">
                    <a:lnL w="9525" cap="flat" cmpd="sng" algn="ctr">
                      <a:solidFill>
                        <a:srgbClr val="C9CDD4"/>
                      </a:solidFill>
                      <a:prstDash val="solid"/>
                      <a:round/>
                      <a:headEnd type="none" w="med" len="med"/>
                      <a:tailEnd type="none" w="med" len="med"/>
                    </a:lnL>
                    <a:lnR w="9525" cap="flat" cmpd="sng" algn="ctr">
                      <a:solidFill>
                        <a:srgbClr val="C9CDD4"/>
                      </a:solidFill>
                      <a:prstDash val="solid"/>
                      <a:round/>
                      <a:headEnd type="none" w="med" len="med"/>
                      <a:tailEnd type="none" w="med" len="med"/>
                    </a:lnR>
                    <a:lnT w="9525" cap="flat" cmpd="sng" algn="ctr">
                      <a:solidFill>
                        <a:srgbClr val="C9CDD4"/>
                      </a:solidFill>
                      <a:prstDash val="solid"/>
                      <a:round/>
                      <a:headEnd type="none" w="med" len="med"/>
                      <a:tailEnd type="none" w="med" len="med"/>
                    </a:lnT>
                    <a:lnB w="9525" cap="flat" cmpd="sng" algn="ctr">
                      <a:solidFill>
                        <a:srgbClr val="C9CDD4"/>
                      </a:solidFill>
                      <a:prstDash val="solid"/>
                      <a:round/>
                      <a:headEnd type="none" w="med" len="med"/>
                      <a:tailEnd type="none" w="med" len="med"/>
                    </a:lnB>
                  </a:tcPr>
                </a:tc>
                <a:tc>
                  <a:txBody>
                    <a:bodyPr/>
                    <a:lstStyle/>
                    <a:p>
                      <a:pPr marL="0" indent="0">
                        <a:buNone/>
                      </a:pPr>
                      <a:r>
                        <a:rPr lang="en-US" sz="1200" dirty="0">
                          <a:solidFill>
                            <a:srgbClr val="000000"/>
                          </a:solidFill>
                          <a:latin typeface="Calibri" pitchFamily="34" charset="0"/>
                          <a:ea typeface="Calibri" pitchFamily="34" charset="-122"/>
                          <a:cs typeface="Calibri" pitchFamily="34" charset="-120"/>
                        </a:rPr>
                        <a:t>A measured effect under a single-fork design</a:t>
                      </a:r>
                      <a:endParaRPr lang="en-US" sz="1200" dirty="0">
                        <a:latin typeface="Calibri" charset="0"/>
                        <a:ea typeface="Calibri" charset="0"/>
                        <a:cs typeface="Calibri" charset="0"/>
                      </a:endParaRPr>
                    </a:p>
                  </a:txBody>
                  <a:tcPr anchor="ctr">
                    <a:lnL w="9525" cap="flat" cmpd="sng" algn="ctr">
                      <a:solidFill>
                        <a:srgbClr val="C9CDD4"/>
                      </a:solidFill>
                      <a:prstDash val="solid"/>
                      <a:round/>
                      <a:headEnd type="none" w="med" len="med"/>
                      <a:tailEnd type="none" w="med" len="med"/>
                    </a:lnL>
                    <a:lnR w="9525" cap="flat" cmpd="sng" algn="ctr">
                      <a:solidFill>
                        <a:srgbClr val="C9CDD4"/>
                      </a:solidFill>
                      <a:prstDash val="solid"/>
                      <a:round/>
                      <a:headEnd type="none" w="med" len="med"/>
                      <a:tailEnd type="none" w="med" len="med"/>
                    </a:lnR>
                    <a:lnT w="9525" cap="flat" cmpd="sng" algn="ctr">
                      <a:solidFill>
                        <a:srgbClr val="C9CDD4"/>
                      </a:solidFill>
                      <a:prstDash val="solid"/>
                      <a:round/>
                      <a:headEnd type="none" w="med" len="med"/>
                      <a:tailEnd type="none" w="med" len="med"/>
                    </a:lnT>
                    <a:lnB w="9525" cap="flat" cmpd="sng" algn="ctr">
                      <a:solidFill>
                        <a:srgbClr val="C9CDD4"/>
                      </a:solidFill>
                      <a:prstDash val="solid"/>
                      <a:round/>
                      <a:headEnd type="none" w="med" len="med"/>
                      <a:tailEnd type="none" w="med" len="med"/>
                    </a:lnB>
                  </a:tcPr>
                </a:tc>
                <a:extLst>
                  <a:ext uri="{0D108BD9-81ED-4DB2-BD59-A6C34878D82A}">
                    <a16:rowId xmlns:a16="http://schemas.microsoft.com/office/drawing/2014/main" val="10005"/>
                  </a:ext>
                </a:extLst>
              </a:tr>
              <a:tr h="475488">
                <a:tc>
                  <a:txBody>
                    <a:bodyPr/>
                    <a:lstStyle/>
                    <a:p>
                      <a:pPr marL="0" indent="0">
                        <a:buNone/>
                      </a:pPr>
                      <a:r>
                        <a:rPr lang="en-US" sz="1200" dirty="0">
                          <a:solidFill>
                            <a:srgbClr val="000000"/>
                          </a:solidFill>
                          <a:latin typeface="Calibri" pitchFamily="34" charset="0"/>
                          <a:ea typeface="Calibri" pitchFamily="34" charset="-122"/>
                          <a:cs typeface="Calibri" pitchFamily="34" charset="-120"/>
                        </a:rPr>
                        <a:t>Operational / socio-technical layer</a:t>
                      </a:r>
                      <a:endParaRPr lang="en-US" sz="1200" dirty="0">
                        <a:latin typeface="Calibri" charset="0"/>
                        <a:ea typeface="Calibri" charset="0"/>
                        <a:cs typeface="Calibri" charset="0"/>
                      </a:endParaRPr>
                    </a:p>
                  </a:txBody>
                  <a:tcPr anchor="ctr">
                    <a:lnL w="9525" cap="flat" cmpd="sng" algn="ctr">
                      <a:solidFill>
                        <a:srgbClr val="C9CDD4"/>
                      </a:solidFill>
                      <a:prstDash val="solid"/>
                      <a:round/>
                      <a:headEnd type="none" w="med" len="med"/>
                      <a:tailEnd type="none" w="med" len="med"/>
                    </a:lnL>
                    <a:lnR w="9525" cap="flat" cmpd="sng" algn="ctr">
                      <a:solidFill>
                        <a:srgbClr val="C9CDD4"/>
                      </a:solidFill>
                      <a:prstDash val="solid"/>
                      <a:round/>
                      <a:headEnd type="none" w="med" len="med"/>
                      <a:tailEnd type="none" w="med" len="med"/>
                    </a:lnR>
                    <a:lnT w="9525" cap="flat" cmpd="sng" algn="ctr">
                      <a:solidFill>
                        <a:srgbClr val="C9CDD4"/>
                      </a:solidFill>
                      <a:prstDash val="solid"/>
                      <a:round/>
                      <a:headEnd type="none" w="med" len="med"/>
                      <a:tailEnd type="none" w="med" len="med"/>
                    </a:lnT>
                    <a:lnB w="9525" cap="flat" cmpd="sng" algn="ctr">
                      <a:solidFill>
                        <a:srgbClr val="C9CDD4"/>
                      </a:solidFill>
                      <a:prstDash val="solid"/>
                      <a:round/>
                      <a:headEnd type="none" w="med" len="med"/>
                      <a:tailEnd type="none" w="med" len="med"/>
                    </a:lnB>
                  </a:tcPr>
                </a:tc>
                <a:tc>
                  <a:txBody>
                    <a:bodyPr/>
                    <a:lstStyle/>
                    <a:p>
                      <a:pPr marL="0" indent="0">
                        <a:buNone/>
                      </a:pPr>
                      <a:r>
                        <a:rPr lang="en-US" sz="1200" dirty="0">
                          <a:solidFill>
                            <a:srgbClr val="000000"/>
                          </a:solidFill>
                          <a:latin typeface="Calibri" pitchFamily="34" charset="0"/>
                          <a:ea typeface="Calibri" pitchFamily="34" charset="-122"/>
                          <a:cs typeface="Calibri" pitchFamily="34" charset="-120"/>
                        </a:rPr>
                        <a:t>No way to see what the emoji contributed</a:t>
                      </a:r>
                      <a:endParaRPr lang="en-US" sz="1200" dirty="0">
                        <a:latin typeface="Calibri" charset="0"/>
                        <a:ea typeface="Calibri" charset="0"/>
                        <a:cs typeface="Calibri" charset="0"/>
                      </a:endParaRPr>
                    </a:p>
                  </a:txBody>
                  <a:tcPr anchor="ctr">
                    <a:lnL w="9525" cap="flat" cmpd="sng" algn="ctr">
                      <a:solidFill>
                        <a:srgbClr val="C9CDD4"/>
                      </a:solidFill>
                      <a:prstDash val="solid"/>
                      <a:round/>
                      <a:headEnd type="none" w="med" len="med"/>
                      <a:tailEnd type="none" w="med" len="med"/>
                    </a:lnL>
                    <a:lnR w="9525" cap="flat" cmpd="sng" algn="ctr">
                      <a:solidFill>
                        <a:srgbClr val="C9CDD4"/>
                      </a:solidFill>
                      <a:prstDash val="solid"/>
                      <a:round/>
                      <a:headEnd type="none" w="med" len="med"/>
                      <a:tailEnd type="none" w="med" len="med"/>
                    </a:lnR>
                    <a:lnT w="9525" cap="flat" cmpd="sng" algn="ctr">
                      <a:solidFill>
                        <a:srgbClr val="C9CDD4"/>
                      </a:solidFill>
                      <a:prstDash val="solid"/>
                      <a:round/>
                      <a:headEnd type="none" w="med" len="med"/>
                      <a:tailEnd type="none" w="med" len="med"/>
                    </a:lnT>
                    <a:lnB w="9525" cap="flat" cmpd="sng" algn="ctr">
                      <a:solidFill>
                        <a:srgbClr val="C9CDD4"/>
                      </a:solidFill>
                      <a:prstDash val="solid"/>
                      <a:round/>
                      <a:headEnd type="none" w="med" len="med"/>
                      <a:tailEnd type="none" w="med" len="med"/>
                    </a:lnB>
                  </a:tcPr>
                </a:tc>
                <a:tc>
                  <a:txBody>
                    <a:bodyPr/>
                    <a:lstStyle/>
                    <a:p>
                      <a:pPr marL="0" indent="0">
                        <a:buNone/>
                      </a:pPr>
                      <a:r>
                        <a:rPr lang="en-US" sz="1200" dirty="0">
                          <a:solidFill>
                            <a:srgbClr val="000000"/>
                          </a:solidFill>
                          <a:latin typeface="Calibri" pitchFamily="34" charset="0"/>
                          <a:ea typeface="Calibri" pitchFamily="34" charset="-122"/>
                          <a:cs typeface="Calibri" pitchFamily="34" charset="-120"/>
                        </a:rPr>
                        <a:t>Side-by-side track comparison in the application</a:t>
                      </a:r>
                      <a:endParaRPr lang="en-US" sz="1200" dirty="0">
                        <a:latin typeface="Calibri" charset="0"/>
                        <a:ea typeface="Calibri" charset="0"/>
                        <a:cs typeface="Calibri" charset="0"/>
                      </a:endParaRPr>
                    </a:p>
                  </a:txBody>
                  <a:tcPr anchor="ctr">
                    <a:lnL w="9525" cap="flat" cmpd="sng" algn="ctr">
                      <a:solidFill>
                        <a:srgbClr val="C9CDD4"/>
                      </a:solidFill>
                      <a:prstDash val="solid"/>
                      <a:round/>
                      <a:headEnd type="none" w="med" len="med"/>
                      <a:tailEnd type="none" w="med" len="med"/>
                    </a:lnL>
                    <a:lnR w="9525" cap="flat" cmpd="sng" algn="ctr">
                      <a:solidFill>
                        <a:srgbClr val="C9CDD4"/>
                      </a:solidFill>
                      <a:prstDash val="solid"/>
                      <a:round/>
                      <a:headEnd type="none" w="med" len="med"/>
                      <a:tailEnd type="none" w="med" len="med"/>
                    </a:lnR>
                    <a:lnT w="9525" cap="flat" cmpd="sng" algn="ctr">
                      <a:solidFill>
                        <a:srgbClr val="C9CDD4"/>
                      </a:solidFill>
                      <a:prstDash val="solid"/>
                      <a:round/>
                      <a:headEnd type="none" w="med" len="med"/>
                      <a:tailEnd type="none" w="med" len="med"/>
                    </a:lnT>
                    <a:lnB w="9525" cap="flat" cmpd="sng" algn="ctr">
                      <a:solidFill>
                        <a:srgbClr val="C9CDD4"/>
                      </a:solidFill>
                      <a:prstDash val="solid"/>
                      <a:round/>
                      <a:headEnd type="none" w="med" len="med"/>
                      <a:tailEnd type="none" w="med" len="med"/>
                    </a:lnB>
                  </a:tcPr>
                </a:tc>
                <a:extLst>
                  <a:ext uri="{0D108BD9-81ED-4DB2-BD59-A6C34878D82A}">
                    <a16:rowId xmlns:a16="http://schemas.microsoft.com/office/drawing/2014/main" val="10006"/>
                  </a:ext>
                </a:extLst>
              </a:tr>
            </a:tbl>
          </a:graphicData>
        </a:graphic>
      </p:graphicFrame>
      <p:sp>
        <p:nvSpPr>
          <p:cNvPr id="13" name="Text 10"/>
          <p:cNvSpPr txBox="1"/>
          <p:nvPr/>
        </p:nvSpPr>
        <p:spPr>
          <a:xfrm>
            <a:off x="566928" y="4892040"/>
            <a:ext cx="11055096" cy="365760"/>
          </a:xfrm>
          <a:prstGeom prst="rect">
            <a:avLst/>
          </a:prstGeom>
          <a:noFill/>
          <a:ln/>
        </p:spPr>
        <p:txBody>
          <a:bodyPr wrap="square" lIns="0" tIns="0" rIns="0" bIns="0" rtlCol="0" anchor="t"/>
          <a:lstStyle/>
          <a:p>
            <a:pPr marL="0" indent="0" algn="ctr">
              <a:lnSpc>
                <a:spcPct val="100000"/>
              </a:lnSpc>
              <a:buNone/>
            </a:pPr>
            <a:r>
              <a:rPr lang="en-US" sz="1050" dirty="0">
                <a:solidFill>
                  <a:srgbClr val="5C5C5C"/>
                </a:solidFill>
                <a:latin typeface="Calibri" pitchFamily="34" charset="0"/>
                <a:ea typeface="Calibri" pitchFamily="34" charset="-122"/>
                <a:cs typeface="Calibri" pitchFamily="34" charset="-120"/>
              </a:rPr>
              <a:t>Table: performance metrics for the four conditions, produced by the project's own evaluation notebook. All figures are development-split results; the test split was preserved unused, so these are indicative rather than confirmed generalisation estimates.</a:t>
            </a:r>
            <a:endParaRPr lang="en-US" sz="1050" dirty="0"/>
          </a:p>
        </p:txBody>
      </p:sp>
      <p:sp>
        <p:nvSpPr>
          <p:cNvPr id="14" name="Shape 11"/>
          <p:cNvSpPr/>
          <p:nvPr/>
        </p:nvSpPr>
        <p:spPr>
          <a:xfrm>
            <a:off x="566928" y="5394960"/>
            <a:ext cx="9829800" cy="384048"/>
          </a:xfrm>
          <a:prstGeom prst="rect">
            <a:avLst/>
          </a:prstGeom>
          <a:solidFill>
            <a:srgbClr val="2764B4"/>
          </a:solidFill>
          <a:ln w="12700">
            <a:solidFill>
              <a:srgbClr val="2764B4"/>
            </a:solidFill>
            <a:prstDash val="solid"/>
          </a:ln>
        </p:spPr>
      </p:sp>
      <p:sp>
        <p:nvSpPr>
          <p:cNvPr id="15" name="Text 12"/>
          <p:cNvSpPr txBox="1"/>
          <p:nvPr/>
        </p:nvSpPr>
        <p:spPr>
          <a:xfrm>
            <a:off x="694944" y="5394960"/>
            <a:ext cx="9573768" cy="384048"/>
          </a:xfrm>
          <a:prstGeom prst="rect">
            <a:avLst/>
          </a:prstGeom>
          <a:noFill/>
          <a:ln/>
        </p:spPr>
        <p:txBody>
          <a:bodyPr wrap="square" lIns="0" tIns="0" rIns="0" bIns="0" rtlCol="0" anchor="ctr"/>
          <a:lstStyle/>
          <a:p>
            <a:pPr marL="0" indent="0">
              <a:buNone/>
            </a:pPr>
            <a:r>
              <a:rPr lang="en-US" sz="1500" b="1" dirty="0">
                <a:solidFill>
                  <a:srgbClr val="FFFFFF"/>
                </a:solidFill>
                <a:latin typeface="Calibri" pitchFamily="34" charset="0"/>
                <a:ea typeface="Calibri" pitchFamily="34" charset="-122"/>
                <a:cs typeface="Calibri" pitchFamily="34" charset="-120"/>
              </a:rPr>
              <a:t>Why this is convincing</a:t>
            </a:r>
            <a:endParaRPr lang="en-US" sz="1500" dirty="0"/>
          </a:p>
        </p:txBody>
      </p:sp>
      <p:sp>
        <p:nvSpPr>
          <p:cNvPr id="16" name="Shape 13"/>
          <p:cNvSpPr/>
          <p:nvPr/>
        </p:nvSpPr>
        <p:spPr>
          <a:xfrm>
            <a:off x="566928" y="5779008"/>
            <a:ext cx="9829800" cy="530352"/>
          </a:xfrm>
          <a:prstGeom prst="rect">
            <a:avLst/>
          </a:prstGeom>
          <a:solidFill>
            <a:srgbClr val="E9EFF7"/>
          </a:solidFill>
          <a:ln w="12700">
            <a:solidFill>
              <a:srgbClr val="E9EFF7"/>
            </a:solidFill>
            <a:prstDash val="solid"/>
          </a:ln>
        </p:spPr>
      </p:sp>
      <p:sp>
        <p:nvSpPr>
          <p:cNvPr id="17" name="Text 14"/>
          <p:cNvSpPr txBox="1"/>
          <p:nvPr/>
        </p:nvSpPr>
        <p:spPr>
          <a:xfrm>
            <a:off x="768096" y="5852160"/>
            <a:ext cx="9427464" cy="411480"/>
          </a:xfrm>
          <a:prstGeom prst="rect">
            <a:avLst/>
          </a:prstGeom>
          <a:noFill/>
          <a:ln/>
        </p:spPr>
        <p:txBody>
          <a:bodyPr wrap="square" lIns="0" tIns="0" rIns="0" bIns="0" rtlCol="0" anchor="t"/>
          <a:lstStyle/>
          <a:p>
            <a:pPr marL="0" indent="0">
              <a:lnSpc>
                <a:spcPct val="106000"/>
              </a:lnSpc>
              <a:buNone/>
            </a:pPr>
            <a:r>
              <a:rPr lang="en-US" sz="1250" dirty="0">
                <a:solidFill>
                  <a:srgbClr val="000000"/>
                </a:solidFill>
                <a:latin typeface="Calibri" pitchFamily="34" charset="0"/>
                <a:ea typeface="Calibri" pitchFamily="34" charset="-122"/>
                <a:cs typeface="Calibri" pitchFamily="34" charset="-120"/>
              </a:rPr>
              <a:t>Every vector moves in the same direction, which is what gives confidence that the improvement is the emoji step rather than noise in one metric.</a:t>
            </a:r>
            <a:endParaRPr lang="en-US" sz="125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1045159"/>
          </a:xfrm>
          <a:prstGeom prst="rect">
            <a:avLst/>
          </a:prstGeom>
          <a:solidFill>
            <a:srgbClr val="9A003B"/>
          </a:solidFill>
          <a:ln w="12700">
            <a:solidFill>
              <a:srgbClr val="9A003B"/>
            </a:solidFill>
            <a:prstDash val="solid"/>
          </a:ln>
        </p:spPr>
      </p:sp>
      <p:sp>
        <p:nvSpPr>
          <p:cNvPr id="3" name="Text 1"/>
          <p:cNvSpPr txBox="1"/>
          <p:nvPr/>
        </p:nvSpPr>
        <p:spPr>
          <a:xfrm>
            <a:off x="228600" y="109728"/>
            <a:ext cx="11704320" cy="825703"/>
          </a:xfrm>
          <a:prstGeom prst="rect">
            <a:avLst/>
          </a:prstGeom>
          <a:noFill/>
          <a:ln/>
        </p:spPr>
        <p:txBody>
          <a:bodyPr wrap="square" lIns="0" tIns="0" rIns="0" bIns="0" rtlCol="0" anchor="ctr"/>
          <a:lstStyle/>
          <a:p>
            <a:pPr marL="0" indent="0">
              <a:lnSpc>
                <a:spcPct val="95000"/>
              </a:lnSpc>
              <a:buNone/>
            </a:pPr>
            <a:r>
              <a:rPr lang="en-US" sz="2500" dirty="0">
                <a:solidFill>
                  <a:srgbClr val="FFFFFF"/>
                </a:solidFill>
                <a:latin typeface="Calibri" pitchFamily="34" charset="0"/>
                <a:ea typeface="Calibri" pitchFamily="34" charset="-122"/>
                <a:cs typeface="Calibri" pitchFamily="34" charset="-120"/>
              </a:rPr>
              <a:t>Evaluation: Stakeholder Validation &amp; Project Discussion II</a:t>
            </a:r>
            <a:endParaRPr lang="en-US" sz="2500" dirty="0"/>
          </a:p>
        </p:txBody>
      </p:sp>
      <p:sp>
        <p:nvSpPr>
          <p:cNvPr id="4" name="Text 2"/>
          <p:cNvSpPr txBox="1"/>
          <p:nvPr/>
        </p:nvSpPr>
        <p:spPr>
          <a:xfrm>
            <a:off x="10515600" y="5806440"/>
            <a:ext cx="1463040" cy="749808"/>
          </a:xfrm>
          <a:prstGeom prst="rect">
            <a:avLst/>
          </a:prstGeom>
          <a:noFill/>
          <a:ln/>
        </p:spPr>
        <p:txBody>
          <a:bodyPr wrap="square" lIns="0" tIns="0" rIns="0" bIns="0" rtlCol="0" anchor="b"/>
          <a:lstStyle/>
          <a:p>
            <a:pPr marL="0" indent="0" algn="r">
              <a:lnSpc>
                <a:spcPct val="85000"/>
              </a:lnSpc>
              <a:buNone/>
            </a:pPr>
            <a:r>
              <a:rPr lang="en-US" sz="1150" b="1" dirty="0">
                <a:solidFill>
                  <a:srgbClr val="9A003B"/>
                </a:solidFill>
                <a:latin typeface="Calibri" pitchFamily="34" charset="0"/>
                <a:ea typeface="Calibri" pitchFamily="34" charset="-122"/>
                <a:cs typeface="Calibri" pitchFamily="34" charset="-120"/>
              </a:rPr>
              <a:t>Sheffield</a:t>
            </a:r>
            <a:endParaRPr lang="en-US" sz="1150" dirty="0"/>
          </a:p>
          <a:p>
            <a:pPr marL="0" indent="0" algn="r">
              <a:lnSpc>
                <a:spcPct val="85000"/>
              </a:lnSpc>
              <a:buNone/>
            </a:pPr>
            <a:r>
              <a:rPr lang="en-US" sz="1150" b="1" dirty="0">
                <a:solidFill>
                  <a:srgbClr val="9A003B"/>
                </a:solidFill>
                <a:latin typeface="Calibri" pitchFamily="34" charset="0"/>
                <a:ea typeface="Calibri" pitchFamily="34" charset="-122"/>
                <a:cs typeface="Calibri" pitchFamily="34" charset="-120"/>
              </a:rPr>
              <a:t>Hallam</a:t>
            </a:r>
            <a:endParaRPr lang="en-US" sz="1150" dirty="0"/>
          </a:p>
          <a:p>
            <a:pPr marL="0" indent="0" algn="r">
              <a:lnSpc>
                <a:spcPct val="85000"/>
              </a:lnSpc>
              <a:buNone/>
            </a:pPr>
            <a:r>
              <a:rPr lang="en-US" sz="1150" b="1" dirty="0">
                <a:solidFill>
                  <a:srgbClr val="9A003B"/>
                </a:solidFill>
                <a:latin typeface="Calibri" pitchFamily="34" charset="0"/>
                <a:ea typeface="Calibri" pitchFamily="34" charset="-122"/>
                <a:cs typeface="Calibri" pitchFamily="34" charset="-120"/>
              </a:rPr>
              <a:t>University</a:t>
            </a:r>
            <a:endParaRPr lang="en-US" sz="1150" dirty="0"/>
          </a:p>
        </p:txBody>
      </p:sp>
      <p:sp>
        <p:nvSpPr>
          <p:cNvPr id="5" name="Shape 3"/>
          <p:cNvSpPr/>
          <p:nvPr/>
        </p:nvSpPr>
        <p:spPr>
          <a:xfrm>
            <a:off x="0" y="6624828"/>
            <a:ext cx="4063898" cy="233172"/>
          </a:xfrm>
          <a:prstGeom prst="rect">
            <a:avLst/>
          </a:prstGeom>
          <a:solidFill>
            <a:srgbClr val="4D001E"/>
          </a:solidFill>
          <a:ln w="12700">
            <a:solidFill>
              <a:srgbClr val="4D001E"/>
            </a:solidFill>
            <a:prstDash val="solid"/>
          </a:ln>
        </p:spPr>
      </p:sp>
      <p:sp>
        <p:nvSpPr>
          <p:cNvPr id="6" name="Shape 4"/>
          <p:cNvSpPr/>
          <p:nvPr/>
        </p:nvSpPr>
        <p:spPr>
          <a:xfrm>
            <a:off x="4063898" y="6624828"/>
            <a:ext cx="4063898" cy="233172"/>
          </a:xfrm>
          <a:prstGeom prst="rect">
            <a:avLst/>
          </a:prstGeom>
          <a:solidFill>
            <a:srgbClr val="74002C"/>
          </a:solidFill>
          <a:ln w="12700">
            <a:solidFill>
              <a:srgbClr val="74002C"/>
            </a:solidFill>
            <a:prstDash val="solid"/>
          </a:ln>
        </p:spPr>
      </p:sp>
      <p:sp>
        <p:nvSpPr>
          <p:cNvPr id="7" name="Shape 5"/>
          <p:cNvSpPr/>
          <p:nvPr/>
        </p:nvSpPr>
        <p:spPr>
          <a:xfrm>
            <a:off x="8127797" y="6624828"/>
            <a:ext cx="4063898" cy="233172"/>
          </a:xfrm>
          <a:prstGeom prst="rect">
            <a:avLst/>
          </a:prstGeom>
          <a:solidFill>
            <a:srgbClr val="9A003B"/>
          </a:solidFill>
          <a:ln w="12700">
            <a:solidFill>
              <a:srgbClr val="9A003B"/>
            </a:solidFill>
            <a:prstDash val="solid"/>
          </a:ln>
        </p:spPr>
      </p:sp>
      <p:sp>
        <p:nvSpPr>
          <p:cNvPr id="8" name="Text 6"/>
          <p:cNvSpPr txBox="1"/>
          <p:nvPr/>
        </p:nvSpPr>
        <p:spPr>
          <a:xfrm>
            <a:off x="1143000" y="6624828"/>
            <a:ext cx="2743200" cy="233172"/>
          </a:xfrm>
          <a:prstGeom prst="rect">
            <a:avLst/>
          </a:prstGeom>
          <a:noFill/>
          <a:ln/>
        </p:spPr>
        <p:txBody>
          <a:bodyPr wrap="square" lIns="0" tIns="0" rIns="0" bIns="0" rtlCol="0" anchor="ctr"/>
          <a:lstStyle/>
          <a:p>
            <a:pPr marL="0" indent="0">
              <a:buNone/>
            </a:pPr>
            <a:r>
              <a:rPr lang="en-US" sz="900" dirty="0">
                <a:solidFill>
                  <a:srgbClr val="FFFFFF"/>
                </a:solidFill>
                <a:latin typeface="Calibri" pitchFamily="34" charset="0"/>
                <a:ea typeface="Calibri" pitchFamily="34" charset="-122"/>
                <a:cs typeface="Calibri" pitchFamily="34" charset="-120"/>
              </a:rPr>
              <a:t>[Student Initials]  (SHU)</a:t>
            </a:r>
            <a:endParaRPr lang="en-US" sz="900" dirty="0"/>
          </a:p>
        </p:txBody>
      </p:sp>
      <p:sp>
        <p:nvSpPr>
          <p:cNvPr id="9" name="Text 7"/>
          <p:cNvSpPr txBox="1"/>
          <p:nvPr/>
        </p:nvSpPr>
        <p:spPr>
          <a:xfrm>
            <a:off x="5276088" y="6624828"/>
            <a:ext cx="2743200" cy="233172"/>
          </a:xfrm>
          <a:prstGeom prst="rect">
            <a:avLst/>
          </a:prstGeom>
          <a:noFill/>
          <a:ln/>
        </p:spPr>
        <p:txBody>
          <a:bodyPr wrap="square" lIns="0" tIns="0" rIns="0" bIns="0" rtlCol="0" anchor="ctr"/>
          <a:lstStyle/>
          <a:p>
            <a:pPr marL="0" indent="0">
              <a:buNone/>
            </a:pPr>
            <a:r>
              <a:rPr lang="en-US" sz="900" dirty="0">
                <a:solidFill>
                  <a:srgbClr val="FFFFFF"/>
                </a:solidFill>
                <a:latin typeface="Calibri" pitchFamily="34" charset="0"/>
                <a:ea typeface="Calibri" pitchFamily="34" charset="-122"/>
                <a:cs typeface="Calibri" pitchFamily="34" charset="-120"/>
              </a:rPr>
              <a:t>Does the Emoji Matter?</a:t>
            </a:r>
            <a:endParaRPr lang="en-US" sz="900" dirty="0"/>
          </a:p>
        </p:txBody>
      </p:sp>
      <p:sp>
        <p:nvSpPr>
          <p:cNvPr id="10" name="Text 8"/>
          <p:cNvSpPr txBox="1"/>
          <p:nvPr/>
        </p:nvSpPr>
        <p:spPr>
          <a:xfrm>
            <a:off x="9235440" y="6624828"/>
            <a:ext cx="1645920" cy="233172"/>
          </a:xfrm>
          <a:prstGeom prst="rect">
            <a:avLst/>
          </a:prstGeom>
          <a:noFill/>
          <a:ln/>
        </p:spPr>
        <p:txBody>
          <a:bodyPr wrap="square" lIns="0" tIns="0" rIns="0" bIns="0" rtlCol="0" anchor="ctr"/>
          <a:lstStyle/>
          <a:p>
            <a:pPr marL="0" indent="0">
              <a:buNone/>
            </a:pPr>
            <a:r>
              <a:rPr lang="en-US" sz="900" dirty="0">
                <a:solidFill>
                  <a:srgbClr val="FFFFFF"/>
                </a:solidFill>
                <a:latin typeface="Calibri" pitchFamily="34" charset="0"/>
                <a:ea typeface="Calibri" pitchFamily="34" charset="-122"/>
                <a:cs typeface="Calibri" pitchFamily="34" charset="-120"/>
              </a:rPr>
              <a:t>September 2026</a:t>
            </a:r>
            <a:endParaRPr lang="en-US" sz="900" dirty="0"/>
          </a:p>
        </p:txBody>
      </p:sp>
      <p:sp>
        <p:nvSpPr>
          <p:cNvPr id="11" name="Text 9"/>
          <p:cNvSpPr txBox="1"/>
          <p:nvPr/>
        </p:nvSpPr>
        <p:spPr>
          <a:xfrm>
            <a:off x="10881360" y="6624828"/>
            <a:ext cx="1161288" cy="233172"/>
          </a:xfrm>
          <a:prstGeom prst="rect">
            <a:avLst/>
          </a:prstGeom>
          <a:noFill/>
          <a:ln/>
        </p:spPr>
        <p:txBody>
          <a:bodyPr wrap="square" lIns="0" tIns="0" rIns="0" bIns="0" rtlCol="0" anchor="ctr"/>
          <a:lstStyle/>
          <a:p>
            <a:pPr marL="0" indent="0" algn="r">
              <a:buNone/>
            </a:pPr>
            <a:r>
              <a:rPr lang="en-US" sz="900" dirty="0">
                <a:solidFill>
                  <a:srgbClr val="FFFFFF"/>
                </a:solidFill>
                <a:latin typeface="Calibri" pitchFamily="34" charset="0"/>
                <a:ea typeface="Calibri" pitchFamily="34" charset="-122"/>
                <a:cs typeface="Calibri" pitchFamily="34" charset="-120"/>
              </a:rPr>
              <a:t>32 / 43</a:t>
            </a:r>
            <a:endParaRPr lang="en-US" sz="900" dirty="0"/>
          </a:p>
        </p:txBody>
      </p:sp>
      <p:sp>
        <p:nvSpPr>
          <p:cNvPr id="12" name="Text 10"/>
          <p:cNvSpPr txBox="1"/>
          <p:nvPr/>
        </p:nvSpPr>
        <p:spPr>
          <a:xfrm>
            <a:off x="749808" y="1298448"/>
            <a:ext cx="10872216" cy="2148840"/>
          </a:xfrm>
          <a:prstGeom prst="rect">
            <a:avLst/>
          </a:prstGeom>
          <a:noFill/>
          <a:ln/>
        </p:spPr>
        <p:txBody>
          <a:bodyPr wrap="square" lIns="0" tIns="0" rIns="0" bIns="0" rtlCol="0" anchor="t"/>
          <a:lstStyle/>
          <a:p>
            <a:pPr marL="177800" indent="-177800">
              <a:lnSpc>
                <a:spcPct val="106000"/>
              </a:lnSpc>
              <a:spcAft>
                <a:spcPts val="800"/>
              </a:spcAft>
              <a:buSzPct val="100000"/>
              <a:buChar char="•"/>
            </a:pPr>
            <a:r>
              <a:rPr lang="en-US" sz="1300" b="1" dirty="0">
                <a:solidFill>
                  <a:srgbClr val="000000"/>
                </a:solidFill>
                <a:latin typeface="Calibri" pitchFamily="34" charset="0"/>
                <a:ea typeface="Calibri" pitchFamily="34" charset="-122"/>
                <a:cs typeface="Calibri" pitchFamily="34" charset="-120"/>
              </a:rPr>
              <a:t>Applied Route: </a:t>
            </a:r>
            <a:r>
              <a:rPr lang="en-US" sz="1300" dirty="0">
                <a:solidFill>
                  <a:srgbClr val="000000"/>
                </a:solidFill>
                <a:latin typeface="Calibri" pitchFamily="34" charset="0"/>
                <a:ea typeface="Calibri" pitchFamily="34" charset="-122"/>
                <a:cs typeface="Calibri" pitchFamily="34" charset="-120"/>
              </a:rPr>
              <a:t>not applicable. The project involves no human participants, so there is no UAT cohort, no participant demographics, no cohort-selection rationale and no consent management. This was settled at the ethics stage, where both UREC screening questions were answered No.</a:t>
            </a:r>
            <a:endParaRPr lang="en-US" sz="1300" dirty="0"/>
          </a:p>
          <a:p>
            <a:pPr marL="177800" indent="-177800">
              <a:lnSpc>
                <a:spcPct val="106000"/>
              </a:lnSpc>
              <a:spcAft>
                <a:spcPts val="800"/>
              </a:spcAft>
              <a:buSzPct val="100000"/>
              <a:buChar char="•"/>
            </a:pPr>
            <a:r>
              <a:rPr lang="en-US" sz="1300" b="1" dirty="0">
                <a:solidFill>
                  <a:srgbClr val="000000"/>
                </a:solidFill>
                <a:latin typeface="Calibri" pitchFamily="34" charset="0"/>
                <a:ea typeface="Calibri" pitchFamily="34" charset="-122"/>
                <a:cs typeface="Calibri" pitchFamily="34" charset="-120"/>
              </a:rPr>
              <a:t>Systematic Route: </a:t>
            </a:r>
            <a:r>
              <a:rPr lang="en-US" sz="1300" dirty="0">
                <a:solidFill>
                  <a:srgbClr val="000000"/>
                </a:solidFill>
                <a:latin typeface="Calibri" pitchFamily="34" charset="0"/>
                <a:ea typeface="Calibri" pitchFamily="34" charset="-122"/>
                <a:cs typeface="Calibri" pitchFamily="34" charset="-120"/>
              </a:rPr>
              <a:t>supervisor critique at each milestone, reflective self-evaluation against the six objectives, and technical validation of the artefact against the Track A baseline shown on the previous slide.</a:t>
            </a:r>
            <a:endParaRPr lang="en-US" sz="1300" dirty="0"/>
          </a:p>
          <a:p>
            <a:pPr marL="177800" indent="-177800">
              <a:lnSpc>
                <a:spcPct val="106000"/>
              </a:lnSpc>
              <a:spcAft>
                <a:spcPts val="800"/>
              </a:spcAft>
              <a:buSzPct val="100000"/>
              <a:buChar char="•"/>
            </a:pPr>
            <a:r>
              <a:rPr lang="en-US" sz="1300" b="1" dirty="0">
                <a:solidFill>
                  <a:srgbClr val="000000"/>
                </a:solidFill>
                <a:latin typeface="Calibri" pitchFamily="34" charset="0"/>
                <a:ea typeface="Calibri" pitchFamily="34" charset="-122"/>
                <a:cs typeface="Calibri" pitchFamily="34" charset="-120"/>
              </a:rPr>
              <a:t>Feedback Application: </a:t>
            </a:r>
            <a:r>
              <a:rPr lang="en-US" sz="1300" dirty="0">
                <a:solidFill>
                  <a:srgbClr val="000000"/>
                </a:solidFill>
                <a:latin typeface="Calibri" pitchFamily="34" charset="0"/>
                <a:ea typeface="Calibri" pitchFamily="34" charset="-122"/>
                <a:cs typeface="Calibri" pitchFamily="34" charset="-120"/>
              </a:rPr>
              <a:t>supervisor advice to narrow the scope turned a general modelling exercise into a controlled experiment; review of early results led to reporting per-emotion figures rather than only the average; testing feedback added the empty-input guard and the stage-by-stage pipeline view to the application. Each of these changed the final artefact.</a:t>
            </a:r>
            <a:endParaRPr lang="en-US" sz="1300" dirty="0"/>
          </a:p>
        </p:txBody>
      </p:sp>
      <p:sp>
        <p:nvSpPr>
          <p:cNvPr id="13" name="Text 11"/>
          <p:cNvSpPr txBox="1"/>
          <p:nvPr/>
        </p:nvSpPr>
        <p:spPr>
          <a:xfrm>
            <a:off x="566928" y="3538728"/>
            <a:ext cx="11055096" cy="274320"/>
          </a:xfrm>
          <a:prstGeom prst="rect">
            <a:avLst/>
          </a:prstGeom>
          <a:noFill/>
          <a:ln/>
        </p:spPr>
        <p:txBody>
          <a:bodyPr wrap="square" lIns="0" tIns="0" rIns="0" bIns="0" rtlCol="0" anchor="t"/>
          <a:lstStyle/>
          <a:p>
            <a:pPr marL="0" indent="0">
              <a:lnSpc>
                <a:spcPct val="106000"/>
              </a:lnSpc>
              <a:buNone/>
            </a:pPr>
            <a:r>
              <a:rPr lang="en-US" sz="1500" b="1" dirty="0">
                <a:solidFill>
                  <a:srgbClr val="000000"/>
                </a:solidFill>
                <a:latin typeface="Calibri" pitchFamily="34" charset="0"/>
                <a:ea typeface="Calibri" pitchFamily="34" charset="-122"/>
                <a:cs typeface="Calibri" pitchFamily="34" charset="-120"/>
              </a:rPr>
              <a:t>Evaluation Alignment:</a:t>
            </a:r>
            <a:endParaRPr lang="en-US" sz="1500" dirty="0"/>
          </a:p>
        </p:txBody>
      </p:sp>
      <p:graphicFrame>
        <p:nvGraphicFramePr>
          <p:cNvPr id="33" name="Table 0"/>
          <p:cNvGraphicFramePr>
            <a:graphicFrameLocks noGrp="1"/>
          </p:cNvGraphicFramePr>
          <p:nvPr>
            <p:extLst>
              <p:ext uri="{D42A27DB-BD31-4B8C-83A1-F6EECF244321}">
                <p14:modId xmlns:p14="http://schemas.microsoft.com/office/powerpoint/2010/main" val="1579011935"/>
              </p:ext>
            </p:extLst>
          </p:nvPr>
        </p:nvGraphicFramePr>
        <p:xfrm>
          <a:off x="566928" y="3886200"/>
          <a:ext cx="9829800" cy="914400"/>
        </p:xfrm>
        <a:graphic>
          <a:graphicData uri="http://schemas.openxmlformats.org/drawingml/2006/table">
            <a:tbl>
              <a:tblPr/>
              <a:tblGrid>
                <a:gridCol w="3246120">
                  <a:extLst>
                    <a:ext uri="{9D8B030D-6E8A-4147-A177-3AD203B41FA5}">
                      <a16:colId xmlns:a16="http://schemas.microsoft.com/office/drawing/2014/main" val="20000"/>
                    </a:ext>
                  </a:extLst>
                </a:gridCol>
                <a:gridCol w="3749040">
                  <a:extLst>
                    <a:ext uri="{9D8B030D-6E8A-4147-A177-3AD203B41FA5}">
                      <a16:colId xmlns:a16="http://schemas.microsoft.com/office/drawing/2014/main" val="20001"/>
                    </a:ext>
                  </a:extLst>
                </a:gridCol>
                <a:gridCol w="2834640">
                  <a:extLst>
                    <a:ext uri="{9D8B030D-6E8A-4147-A177-3AD203B41FA5}">
                      <a16:colId xmlns:a16="http://schemas.microsoft.com/office/drawing/2014/main" val="20002"/>
                    </a:ext>
                  </a:extLst>
                </a:gridCol>
              </a:tblGrid>
              <a:tr h="411480">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Evaluation parameter</a:t>
                      </a:r>
                      <a:endParaRPr lang="en-US" sz="1200" dirty="0">
                        <a:latin typeface="Calibri" charset="0"/>
                        <a:ea typeface="Calibri" charset="0"/>
                        <a:cs typeface="Calibri" charset="0"/>
                      </a:endParaRPr>
                    </a:p>
                  </a:txBody>
                  <a:tcPr anchor="ctr">
                    <a:lnL w="9525" cap="flat" cmpd="sng" algn="ctr">
                      <a:solidFill>
                        <a:srgbClr val="C9CDD4"/>
                      </a:solidFill>
                      <a:prstDash val="solid"/>
                      <a:round/>
                      <a:headEnd type="none" w="med" len="med"/>
                      <a:tailEnd type="none" w="med" len="med"/>
                    </a:lnL>
                    <a:lnR w="9525" cap="flat" cmpd="sng" algn="ctr">
                      <a:solidFill>
                        <a:srgbClr val="C9CDD4"/>
                      </a:solidFill>
                      <a:prstDash val="solid"/>
                      <a:round/>
                      <a:headEnd type="none" w="med" len="med"/>
                      <a:tailEnd type="none" w="med" len="med"/>
                    </a:lnR>
                    <a:lnT w="9525" cap="flat" cmpd="sng" algn="ctr">
                      <a:solidFill>
                        <a:srgbClr val="C9CDD4"/>
                      </a:solidFill>
                      <a:prstDash val="solid"/>
                      <a:round/>
                      <a:headEnd type="none" w="med" len="med"/>
                      <a:tailEnd type="none" w="med" len="med"/>
                    </a:lnT>
                    <a:lnB w="9525" cap="flat" cmpd="sng" algn="ctr">
                      <a:solidFill>
                        <a:srgbClr val="C9CDD4"/>
                      </a:solidFill>
                      <a:prstDash val="solid"/>
                      <a:round/>
                      <a:headEnd type="none" w="med" len="med"/>
                      <a:tailEnd type="none" w="med" len="med"/>
                    </a:lnB>
                    <a:solidFill>
                      <a:srgbClr val="9A003B"/>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Original project goal it measures</a:t>
                      </a:r>
                      <a:endParaRPr lang="en-US" sz="1200" dirty="0">
                        <a:latin typeface="Calibri" charset="0"/>
                        <a:ea typeface="Calibri" charset="0"/>
                        <a:cs typeface="Calibri" charset="0"/>
                      </a:endParaRPr>
                    </a:p>
                  </a:txBody>
                  <a:tcPr anchor="ctr">
                    <a:lnL w="9525" cap="flat" cmpd="sng" algn="ctr">
                      <a:solidFill>
                        <a:srgbClr val="C9CDD4"/>
                      </a:solidFill>
                      <a:prstDash val="solid"/>
                      <a:round/>
                      <a:headEnd type="none" w="med" len="med"/>
                      <a:tailEnd type="none" w="med" len="med"/>
                    </a:lnL>
                    <a:lnR w="9525" cap="flat" cmpd="sng" algn="ctr">
                      <a:solidFill>
                        <a:srgbClr val="C9CDD4"/>
                      </a:solidFill>
                      <a:prstDash val="solid"/>
                      <a:round/>
                      <a:headEnd type="none" w="med" len="med"/>
                      <a:tailEnd type="none" w="med" len="med"/>
                    </a:lnR>
                    <a:lnT w="9525" cap="flat" cmpd="sng" algn="ctr">
                      <a:solidFill>
                        <a:srgbClr val="C9CDD4"/>
                      </a:solidFill>
                      <a:prstDash val="solid"/>
                      <a:round/>
                      <a:headEnd type="none" w="med" len="med"/>
                      <a:tailEnd type="none" w="med" len="med"/>
                    </a:lnT>
                    <a:lnB w="9525" cap="flat" cmpd="sng" algn="ctr">
                      <a:solidFill>
                        <a:srgbClr val="C9CDD4"/>
                      </a:solidFill>
                      <a:prstDash val="solid"/>
                      <a:round/>
                      <a:headEnd type="none" w="med" len="med"/>
                      <a:tailEnd type="none" w="med" len="med"/>
                    </a:lnB>
                    <a:solidFill>
                      <a:srgbClr val="9A003B"/>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Outcome</a:t>
                      </a:r>
                      <a:endParaRPr lang="en-US" sz="1200" dirty="0">
                        <a:latin typeface="Calibri" charset="0"/>
                        <a:ea typeface="Calibri" charset="0"/>
                        <a:cs typeface="Calibri" charset="0"/>
                      </a:endParaRPr>
                    </a:p>
                  </a:txBody>
                  <a:tcPr anchor="ctr">
                    <a:lnL w="9525" cap="flat" cmpd="sng" algn="ctr">
                      <a:solidFill>
                        <a:srgbClr val="C9CDD4"/>
                      </a:solidFill>
                      <a:prstDash val="solid"/>
                      <a:round/>
                      <a:headEnd type="none" w="med" len="med"/>
                      <a:tailEnd type="none" w="med" len="med"/>
                    </a:lnL>
                    <a:lnR w="9525" cap="flat" cmpd="sng" algn="ctr">
                      <a:solidFill>
                        <a:srgbClr val="C9CDD4"/>
                      </a:solidFill>
                      <a:prstDash val="solid"/>
                      <a:round/>
                      <a:headEnd type="none" w="med" len="med"/>
                      <a:tailEnd type="none" w="med" len="med"/>
                    </a:lnR>
                    <a:lnT w="9525" cap="flat" cmpd="sng" algn="ctr">
                      <a:solidFill>
                        <a:srgbClr val="C9CDD4"/>
                      </a:solidFill>
                      <a:prstDash val="solid"/>
                      <a:round/>
                      <a:headEnd type="none" w="med" len="med"/>
                      <a:tailEnd type="none" w="med" len="med"/>
                    </a:lnT>
                    <a:lnB w="9525" cap="flat" cmpd="sng" algn="ctr">
                      <a:solidFill>
                        <a:srgbClr val="C9CDD4"/>
                      </a:solidFill>
                      <a:prstDash val="solid"/>
                      <a:round/>
                      <a:headEnd type="none" w="med" len="med"/>
                      <a:tailEnd type="none" w="med" len="med"/>
                    </a:lnB>
                    <a:solidFill>
                      <a:srgbClr val="9A003B"/>
                    </a:solidFill>
                  </a:tcPr>
                </a:tc>
                <a:extLst>
                  <a:ext uri="{0D108BD9-81ED-4DB2-BD59-A6C34878D82A}">
                    <a16:rowId xmlns:a16="http://schemas.microsoft.com/office/drawing/2014/main" val="10000"/>
                  </a:ext>
                </a:extLst>
              </a:tr>
              <a:tr h="411480">
                <a:tc>
                  <a:txBody>
                    <a:bodyPr/>
                    <a:lstStyle/>
                    <a:p>
                      <a:pPr marL="0" indent="0">
                        <a:buNone/>
                      </a:pPr>
                      <a:r>
                        <a:rPr lang="en-US" sz="1150" dirty="0">
                          <a:solidFill>
                            <a:srgbClr val="000000"/>
                          </a:solidFill>
                          <a:latin typeface="Calibri" pitchFamily="34" charset="0"/>
                          <a:ea typeface="Calibri" pitchFamily="34" charset="-122"/>
                          <a:cs typeface="Calibri" pitchFamily="34" charset="-120"/>
                        </a:rPr>
                        <a:t>Micro-F1 difference between tracks</a:t>
                      </a:r>
                      <a:endParaRPr lang="en-US" sz="1150" dirty="0">
                        <a:latin typeface="Calibri" charset="0"/>
                        <a:ea typeface="Calibri" charset="0"/>
                        <a:cs typeface="Calibri" charset="0"/>
                      </a:endParaRPr>
                    </a:p>
                  </a:txBody>
                  <a:tcPr anchor="ctr">
                    <a:lnL w="9525" cap="flat" cmpd="sng" algn="ctr">
                      <a:solidFill>
                        <a:srgbClr val="C9CDD4"/>
                      </a:solidFill>
                      <a:prstDash val="solid"/>
                      <a:round/>
                      <a:headEnd type="none" w="med" len="med"/>
                      <a:tailEnd type="none" w="med" len="med"/>
                    </a:lnL>
                    <a:lnR w="9525" cap="flat" cmpd="sng" algn="ctr">
                      <a:solidFill>
                        <a:srgbClr val="C9CDD4"/>
                      </a:solidFill>
                      <a:prstDash val="solid"/>
                      <a:round/>
                      <a:headEnd type="none" w="med" len="med"/>
                      <a:tailEnd type="none" w="med" len="med"/>
                    </a:lnR>
                    <a:lnT w="9525" cap="flat" cmpd="sng" algn="ctr">
                      <a:solidFill>
                        <a:srgbClr val="C9CDD4"/>
                      </a:solidFill>
                      <a:prstDash val="solid"/>
                      <a:round/>
                      <a:headEnd type="none" w="med" len="med"/>
                      <a:tailEnd type="none" w="med" len="med"/>
                    </a:lnT>
                    <a:lnB w="9525" cap="flat" cmpd="sng" algn="ctr">
                      <a:solidFill>
                        <a:srgbClr val="C9CDD4"/>
                      </a:solidFill>
                      <a:prstDash val="solid"/>
                      <a:round/>
                      <a:headEnd type="none" w="med" len="med"/>
                      <a:tailEnd type="none" w="med" len="med"/>
                    </a:lnB>
                  </a:tcPr>
                </a:tc>
                <a:tc>
                  <a:txBody>
                    <a:bodyPr/>
                    <a:lstStyle/>
                    <a:p>
                      <a:pPr marL="0" indent="0">
                        <a:buNone/>
                      </a:pPr>
                      <a:r>
                        <a:rPr lang="en-US" sz="1150" dirty="0">
                          <a:solidFill>
                            <a:srgbClr val="000000"/>
                          </a:solidFill>
                          <a:latin typeface="Calibri" pitchFamily="34" charset="0"/>
                          <a:ea typeface="Calibri" pitchFamily="34" charset="-122"/>
                          <a:cs typeface="Calibri" pitchFamily="34" charset="-120"/>
                        </a:rPr>
                        <a:t>O5  ·  compute the difference between tracks</a:t>
                      </a:r>
                      <a:endParaRPr lang="en-US" sz="1150" dirty="0">
                        <a:latin typeface="Calibri" charset="0"/>
                        <a:ea typeface="Calibri" charset="0"/>
                        <a:cs typeface="Calibri" charset="0"/>
                      </a:endParaRPr>
                    </a:p>
                  </a:txBody>
                  <a:tcPr anchor="ctr">
                    <a:lnL w="9525" cap="flat" cmpd="sng" algn="ctr">
                      <a:solidFill>
                        <a:srgbClr val="C9CDD4"/>
                      </a:solidFill>
                      <a:prstDash val="solid"/>
                      <a:round/>
                      <a:headEnd type="none" w="med" len="med"/>
                      <a:tailEnd type="none" w="med" len="med"/>
                    </a:lnL>
                    <a:lnR w="9525" cap="flat" cmpd="sng" algn="ctr">
                      <a:solidFill>
                        <a:srgbClr val="C9CDD4"/>
                      </a:solidFill>
                      <a:prstDash val="solid"/>
                      <a:round/>
                      <a:headEnd type="none" w="med" len="med"/>
                      <a:tailEnd type="none" w="med" len="med"/>
                    </a:lnR>
                    <a:lnT w="9525" cap="flat" cmpd="sng" algn="ctr">
                      <a:solidFill>
                        <a:srgbClr val="C9CDD4"/>
                      </a:solidFill>
                      <a:prstDash val="solid"/>
                      <a:round/>
                      <a:headEnd type="none" w="med" len="med"/>
                      <a:tailEnd type="none" w="med" len="med"/>
                    </a:lnT>
                    <a:lnB w="9525" cap="flat" cmpd="sng" algn="ctr">
                      <a:solidFill>
                        <a:srgbClr val="C9CDD4"/>
                      </a:solidFill>
                      <a:prstDash val="solid"/>
                      <a:round/>
                      <a:headEnd type="none" w="med" len="med"/>
                      <a:tailEnd type="none" w="med" len="med"/>
                    </a:lnB>
                  </a:tcPr>
                </a:tc>
                <a:tc>
                  <a:txBody>
                    <a:bodyPr/>
                    <a:lstStyle/>
                    <a:p>
                      <a:pPr marL="0" indent="0">
                        <a:buNone/>
                      </a:pPr>
                      <a:r>
                        <a:rPr lang="en-US" sz="1150" dirty="0">
                          <a:solidFill>
                            <a:srgbClr val="000000"/>
                          </a:solidFill>
                          <a:latin typeface="Calibri" pitchFamily="34" charset="0"/>
                          <a:ea typeface="Calibri" pitchFamily="34" charset="-122"/>
                          <a:cs typeface="Calibri" pitchFamily="34" charset="-120"/>
                        </a:rPr>
                        <a:t>Measured: +2.03 and +3.71</a:t>
                      </a:r>
                      <a:endParaRPr lang="en-US" sz="1150" dirty="0">
                        <a:latin typeface="Calibri" charset="0"/>
                        <a:ea typeface="Calibri" charset="0"/>
                        <a:cs typeface="Calibri" charset="0"/>
                      </a:endParaRPr>
                    </a:p>
                  </a:txBody>
                  <a:tcPr anchor="ctr">
                    <a:lnL w="9525" cap="flat" cmpd="sng" algn="ctr">
                      <a:solidFill>
                        <a:srgbClr val="C9CDD4"/>
                      </a:solidFill>
                      <a:prstDash val="solid"/>
                      <a:round/>
                      <a:headEnd type="none" w="med" len="med"/>
                      <a:tailEnd type="none" w="med" len="med"/>
                    </a:lnL>
                    <a:lnR w="9525" cap="flat" cmpd="sng" algn="ctr">
                      <a:solidFill>
                        <a:srgbClr val="C9CDD4"/>
                      </a:solidFill>
                      <a:prstDash val="solid"/>
                      <a:round/>
                      <a:headEnd type="none" w="med" len="med"/>
                      <a:tailEnd type="none" w="med" len="med"/>
                    </a:lnR>
                    <a:lnT w="9525" cap="flat" cmpd="sng" algn="ctr">
                      <a:solidFill>
                        <a:srgbClr val="C9CDD4"/>
                      </a:solidFill>
                      <a:prstDash val="solid"/>
                      <a:round/>
                      <a:headEnd type="none" w="med" len="med"/>
                      <a:tailEnd type="none" w="med" len="med"/>
                    </a:lnT>
                    <a:lnB w="9525" cap="flat" cmpd="sng" algn="ctr">
                      <a:solidFill>
                        <a:srgbClr val="C9CDD4"/>
                      </a:solidFill>
                      <a:prstDash val="solid"/>
                      <a:round/>
                      <a:headEnd type="none" w="med" len="med"/>
                      <a:tailEnd type="none" w="med" len="med"/>
                    </a:lnB>
                  </a:tcPr>
                </a:tc>
                <a:extLst>
                  <a:ext uri="{0D108BD9-81ED-4DB2-BD59-A6C34878D82A}">
                    <a16:rowId xmlns:a16="http://schemas.microsoft.com/office/drawing/2014/main" val="10001"/>
                  </a:ext>
                </a:extLst>
              </a:tr>
              <a:tr h="411480">
                <a:tc>
                  <a:txBody>
                    <a:bodyPr/>
                    <a:lstStyle/>
                    <a:p>
                      <a:pPr marL="0" indent="0">
                        <a:buNone/>
                      </a:pPr>
                      <a:r>
                        <a:rPr lang="en-US" sz="1150" dirty="0">
                          <a:solidFill>
                            <a:srgbClr val="000000"/>
                          </a:solidFill>
                          <a:latin typeface="Calibri" pitchFamily="34" charset="0"/>
                          <a:ea typeface="Calibri" pitchFamily="34" charset="-122"/>
                          <a:cs typeface="Calibri" pitchFamily="34" charset="-120"/>
                        </a:rPr>
                        <a:t>Per-emotion F1 difference</a:t>
                      </a:r>
                      <a:endParaRPr lang="en-US" sz="1150" dirty="0">
                        <a:latin typeface="Calibri" charset="0"/>
                        <a:ea typeface="Calibri" charset="0"/>
                        <a:cs typeface="Calibri" charset="0"/>
                      </a:endParaRPr>
                    </a:p>
                  </a:txBody>
                  <a:tcPr anchor="ctr">
                    <a:lnL w="9525" cap="flat" cmpd="sng" algn="ctr">
                      <a:solidFill>
                        <a:srgbClr val="C9CDD4"/>
                      </a:solidFill>
                      <a:prstDash val="solid"/>
                      <a:round/>
                      <a:headEnd type="none" w="med" len="med"/>
                      <a:tailEnd type="none" w="med" len="med"/>
                    </a:lnL>
                    <a:lnR w="9525" cap="flat" cmpd="sng" algn="ctr">
                      <a:solidFill>
                        <a:srgbClr val="C9CDD4"/>
                      </a:solidFill>
                      <a:prstDash val="solid"/>
                      <a:round/>
                      <a:headEnd type="none" w="med" len="med"/>
                      <a:tailEnd type="none" w="med" len="med"/>
                    </a:lnR>
                    <a:lnT w="9525" cap="flat" cmpd="sng" algn="ctr">
                      <a:solidFill>
                        <a:srgbClr val="C9CDD4"/>
                      </a:solidFill>
                      <a:prstDash val="solid"/>
                      <a:round/>
                      <a:headEnd type="none" w="med" len="med"/>
                      <a:tailEnd type="none" w="med" len="med"/>
                    </a:lnT>
                    <a:lnB w="9525" cap="flat" cmpd="sng" algn="ctr">
                      <a:solidFill>
                        <a:srgbClr val="C9CDD4"/>
                      </a:solidFill>
                      <a:prstDash val="solid"/>
                      <a:round/>
                      <a:headEnd type="none" w="med" len="med"/>
                      <a:tailEnd type="none" w="med" len="med"/>
                    </a:lnB>
                  </a:tcPr>
                </a:tc>
                <a:tc>
                  <a:txBody>
                    <a:bodyPr/>
                    <a:lstStyle/>
                    <a:p>
                      <a:pPr marL="0" indent="0">
                        <a:buNone/>
                      </a:pPr>
                      <a:r>
                        <a:rPr lang="en-US" sz="1150" dirty="0">
                          <a:solidFill>
                            <a:srgbClr val="000000"/>
                          </a:solidFill>
                          <a:latin typeface="Calibri" pitchFamily="34" charset="0"/>
                          <a:ea typeface="Calibri" pitchFamily="34" charset="-122"/>
                          <a:cs typeface="Calibri" pitchFamily="34" charset="-120"/>
                        </a:rPr>
                        <a:t>RQ2  ·  does the effect depend on the emotion</a:t>
                      </a:r>
                      <a:endParaRPr lang="en-US" sz="1150" dirty="0">
                        <a:latin typeface="Calibri" charset="0"/>
                        <a:ea typeface="Calibri" charset="0"/>
                        <a:cs typeface="Calibri" charset="0"/>
                      </a:endParaRPr>
                    </a:p>
                  </a:txBody>
                  <a:tcPr anchor="ctr">
                    <a:lnL w="9525" cap="flat" cmpd="sng" algn="ctr">
                      <a:solidFill>
                        <a:srgbClr val="C9CDD4"/>
                      </a:solidFill>
                      <a:prstDash val="solid"/>
                      <a:round/>
                      <a:headEnd type="none" w="med" len="med"/>
                      <a:tailEnd type="none" w="med" len="med"/>
                    </a:lnL>
                    <a:lnR w="9525" cap="flat" cmpd="sng" algn="ctr">
                      <a:solidFill>
                        <a:srgbClr val="C9CDD4"/>
                      </a:solidFill>
                      <a:prstDash val="solid"/>
                      <a:round/>
                      <a:headEnd type="none" w="med" len="med"/>
                      <a:tailEnd type="none" w="med" len="med"/>
                    </a:lnR>
                    <a:lnT w="9525" cap="flat" cmpd="sng" algn="ctr">
                      <a:solidFill>
                        <a:srgbClr val="C9CDD4"/>
                      </a:solidFill>
                      <a:prstDash val="solid"/>
                      <a:round/>
                      <a:headEnd type="none" w="med" len="med"/>
                      <a:tailEnd type="none" w="med" len="med"/>
                    </a:lnT>
                    <a:lnB w="9525" cap="flat" cmpd="sng" algn="ctr">
                      <a:solidFill>
                        <a:srgbClr val="C9CDD4"/>
                      </a:solidFill>
                      <a:prstDash val="solid"/>
                      <a:round/>
                      <a:headEnd type="none" w="med" len="med"/>
                      <a:tailEnd type="none" w="med" len="med"/>
                    </a:lnB>
                  </a:tcPr>
                </a:tc>
                <a:tc>
                  <a:txBody>
                    <a:bodyPr/>
                    <a:lstStyle/>
                    <a:p>
                      <a:pPr marL="0" indent="0">
                        <a:buNone/>
                      </a:pPr>
                      <a:r>
                        <a:rPr lang="en-US" sz="1150" dirty="0">
                          <a:solidFill>
                            <a:srgbClr val="000000"/>
                          </a:solidFill>
                          <a:latin typeface="Calibri" pitchFamily="34" charset="0"/>
                          <a:ea typeface="Calibri" pitchFamily="34" charset="-122"/>
                          <a:cs typeface="Calibri" pitchFamily="34" charset="-120"/>
                        </a:rPr>
                        <a:t>Measured: range of 15.9 points</a:t>
                      </a:r>
                      <a:endParaRPr lang="en-US" sz="1150" dirty="0">
                        <a:latin typeface="Calibri" charset="0"/>
                        <a:ea typeface="Calibri" charset="0"/>
                        <a:cs typeface="Calibri" charset="0"/>
                      </a:endParaRPr>
                    </a:p>
                  </a:txBody>
                  <a:tcPr anchor="ctr">
                    <a:lnL w="9525" cap="flat" cmpd="sng" algn="ctr">
                      <a:solidFill>
                        <a:srgbClr val="C9CDD4"/>
                      </a:solidFill>
                      <a:prstDash val="solid"/>
                      <a:round/>
                      <a:headEnd type="none" w="med" len="med"/>
                      <a:tailEnd type="none" w="med" len="med"/>
                    </a:lnL>
                    <a:lnR w="9525" cap="flat" cmpd="sng" algn="ctr">
                      <a:solidFill>
                        <a:srgbClr val="C9CDD4"/>
                      </a:solidFill>
                      <a:prstDash val="solid"/>
                      <a:round/>
                      <a:headEnd type="none" w="med" len="med"/>
                      <a:tailEnd type="none" w="med" len="med"/>
                    </a:lnR>
                    <a:lnT w="9525" cap="flat" cmpd="sng" algn="ctr">
                      <a:solidFill>
                        <a:srgbClr val="C9CDD4"/>
                      </a:solidFill>
                      <a:prstDash val="solid"/>
                      <a:round/>
                      <a:headEnd type="none" w="med" len="med"/>
                      <a:tailEnd type="none" w="med" len="med"/>
                    </a:lnT>
                    <a:lnB w="9525" cap="flat" cmpd="sng" algn="ctr">
                      <a:solidFill>
                        <a:srgbClr val="C9CDD4"/>
                      </a:solidFill>
                      <a:prstDash val="solid"/>
                      <a:round/>
                      <a:headEnd type="none" w="med" len="med"/>
                      <a:tailEnd type="none" w="med" len="med"/>
                    </a:lnB>
                  </a:tcPr>
                </a:tc>
                <a:extLst>
                  <a:ext uri="{0D108BD9-81ED-4DB2-BD59-A6C34878D82A}">
                    <a16:rowId xmlns:a16="http://schemas.microsoft.com/office/drawing/2014/main" val="10002"/>
                  </a:ext>
                </a:extLst>
              </a:tr>
              <a:tr h="411480">
                <a:tc>
                  <a:txBody>
                    <a:bodyPr/>
                    <a:lstStyle/>
                    <a:p>
                      <a:pPr marL="0" indent="0">
                        <a:buNone/>
                      </a:pPr>
                      <a:r>
                        <a:rPr lang="en-US" sz="1150" dirty="0">
                          <a:solidFill>
                            <a:srgbClr val="000000"/>
                          </a:solidFill>
                          <a:latin typeface="Calibri" pitchFamily="34" charset="0"/>
                          <a:ea typeface="Calibri" pitchFamily="34" charset="-122"/>
                          <a:cs typeface="Calibri" pitchFamily="34" charset="-120"/>
                        </a:rPr>
                        <a:t>Fixture test on every model load</a:t>
                      </a:r>
                      <a:endParaRPr lang="en-US" sz="1150" dirty="0">
                        <a:latin typeface="Calibri" charset="0"/>
                        <a:ea typeface="Calibri" charset="0"/>
                        <a:cs typeface="Calibri" charset="0"/>
                      </a:endParaRPr>
                    </a:p>
                  </a:txBody>
                  <a:tcPr anchor="ctr">
                    <a:lnL w="9525" cap="flat" cmpd="sng" algn="ctr">
                      <a:solidFill>
                        <a:srgbClr val="C9CDD4"/>
                      </a:solidFill>
                      <a:prstDash val="solid"/>
                      <a:round/>
                      <a:headEnd type="none" w="med" len="med"/>
                      <a:tailEnd type="none" w="med" len="med"/>
                    </a:lnL>
                    <a:lnR w="9525" cap="flat" cmpd="sng" algn="ctr">
                      <a:solidFill>
                        <a:srgbClr val="C9CDD4"/>
                      </a:solidFill>
                      <a:prstDash val="solid"/>
                      <a:round/>
                      <a:headEnd type="none" w="med" len="med"/>
                      <a:tailEnd type="none" w="med" len="med"/>
                    </a:lnR>
                    <a:lnT w="9525" cap="flat" cmpd="sng" algn="ctr">
                      <a:solidFill>
                        <a:srgbClr val="C9CDD4"/>
                      </a:solidFill>
                      <a:prstDash val="solid"/>
                      <a:round/>
                      <a:headEnd type="none" w="med" len="med"/>
                      <a:tailEnd type="none" w="med" len="med"/>
                    </a:lnT>
                    <a:lnB w="9525" cap="flat" cmpd="sng" algn="ctr">
                      <a:solidFill>
                        <a:srgbClr val="C9CDD4"/>
                      </a:solidFill>
                      <a:prstDash val="solid"/>
                      <a:round/>
                      <a:headEnd type="none" w="med" len="med"/>
                      <a:tailEnd type="none" w="med" len="med"/>
                    </a:lnB>
                  </a:tcPr>
                </a:tc>
                <a:tc>
                  <a:txBody>
                    <a:bodyPr/>
                    <a:lstStyle/>
                    <a:p>
                      <a:pPr marL="0" indent="0">
                        <a:buNone/>
                      </a:pPr>
                      <a:r>
                        <a:rPr lang="en-US" sz="1150" dirty="0">
                          <a:solidFill>
                            <a:srgbClr val="000000"/>
                          </a:solidFill>
                          <a:latin typeface="Calibri" pitchFamily="34" charset="0"/>
                          <a:ea typeface="Calibri" pitchFamily="34" charset="-122"/>
                          <a:cs typeface="Calibri" pitchFamily="34" charset="-120"/>
                        </a:rPr>
                        <a:t>O2  ·  pipeline splits at a single step</a:t>
                      </a:r>
                      <a:endParaRPr lang="en-US" sz="1150" dirty="0">
                        <a:latin typeface="Calibri" charset="0"/>
                        <a:ea typeface="Calibri" charset="0"/>
                        <a:cs typeface="Calibri" charset="0"/>
                      </a:endParaRPr>
                    </a:p>
                  </a:txBody>
                  <a:tcPr anchor="ctr">
                    <a:lnL w="9525" cap="flat" cmpd="sng" algn="ctr">
                      <a:solidFill>
                        <a:srgbClr val="C9CDD4"/>
                      </a:solidFill>
                      <a:prstDash val="solid"/>
                      <a:round/>
                      <a:headEnd type="none" w="med" len="med"/>
                      <a:tailEnd type="none" w="med" len="med"/>
                    </a:lnL>
                    <a:lnR w="9525" cap="flat" cmpd="sng" algn="ctr">
                      <a:solidFill>
                        <a:srgbClr val="C9CDD4"/>
                      </a:solidFill>
                      <a:prstDash val="solid"/>
                      <a:round/>
                      <a:headEnd type="none" w="med" len="med"/>
                      <a:tailEnd type="none" w="med" len="med"/>
                    </a:lnR>
                    <a:lnT w="9525" cap="flat" cmpd="sng" algn="ctr">
                      <a:solidFill>
                        <a:srgbClr val="C9CDD4"/>
                      </a:solidFill>
                      <a:prstDash val="solid"/>
                      <a:round/>
                      <a:headEnd type="none" w="med" len="med"/>
                      <a:tailEnd type="none" w="med" len="med"/>
                    </a:lnT>
                    <a:lnB w="9525" cap="flat" cmpd="sng" algn="ctr">
                      <a:solidFill>
                        <a:srgbClr val="C9CDD4"/>
                      </a:solidFill>
                      <a:prstDash val="solid"/>
                      <a:round/>
                      <a:headEnd type="none" w="med" len="med"/>
                      <a:tailEnd type="none" w="med" len="med"/>
                    </a:lnB>
                  </a:tcPr>
                </a:tc>
                <a:tc>
                  <a:txBody>
                    <a:bodyPr/>
                    <a:lstStyle/>
                    <a:p>
                      <a:pPr marL="0" indent="0">
                        <a:buNone/>
                      </a:pPr>
                      <a:r>
                        <a:rPr lang="en-US" sz="1150" dirty="0">
                          <a:solidFill>
                            <a:srgbClr val="000000"/>
                          </a:solidFill>
                          <a:latin typeface="Calibri" pitchFamily="34" charset="0"/>
                          <a:ea typeface="Calibri" pitchFamily="34" charset="-122"/>
                          <a:cs typeface="Calibri" pitchFamily="34" charset="-120"/>
                        </a:rPr>
                        <a:t>Serving matches training exactly</a:t>
                      </a:r>
                      <a:endParaRPr lang="en-US" sz="1150" dirty="0">
                        <a:latin typeface="Calibri" charset="0"/>
                        <a:ea typeface="Calibri" charset="0"/>
                        <a:cs typeface="Calibri" charset="0"/>
                      </a:endParaRPr>
                    </a:p>
                  </a:txBody>
                  <a:tcPr anchor="ctr">
                    <a:lnL w="9525" cap="flat" cmpd="sng" algn="ctr">
                      <a:solidFill>
                        <a:srgbClr val="C9CDD4"/>
                      </a:solidFill>
                      <a:prstDash val="solid"/>
                      <a:round/>
                      <a:headEnd type="none" w="med" len="med"/>
                      <a:tailEnd type="none" w="med" len="med"/>
                    </a:lnL>
                    <a:lnR w="9525" cap="flat" cmpd="sng" algn="ctr">
                      <a:solidFill>
                        <a:srgbClr val="C9CDD4"/>
                      </a:solidFill>
                      <a:prstDash val="solid"/>
                      <a:round/>
                      <a:headEnd type="none" w="med" len="med"/>
                      <a:tailEnd type="none" w="med" len="med"/>
                    </a:lnR>
                    <a:lnT w="9525" cap="flat" cmpd="sng" algn="ctr">
                      <a:solidFill>
                        <a:srgbClr val="C9CDD4"/>
                      </a:solidFill>
                      <a:prstDash val="solid"/>
                      <a:round/>
                      <a:headEnd type="none" w="med" len="med"/>
                      <a:tailEnd type="none" w="med" len="med"/>
                    </a:lnT>
                    <a:lnB w="9525" cap="flat" cmpd="sng" algn="ctr">
                      <a:solidFill>
                        <a:srgbClr val="C9CDD4"/>
                      </a:solidFill>
                      <a:prstDash val="solid"/>
                      <a:round/>
                      <a:headEnd type="none" w="med" len="med"/>
                      <a:tailEnd type="none" w="med" len="med"/>
                    </a:lnB>
                  </a:tcPr>
                </a:tc>
                <a:extLst>
                  <a:ext uri="{0D108BD9-81ED-4DB2-BD59-A6C34878D82A}">
                    <a16:rowId xmlns:a16="http://schemas.microsoft.com/office/drawing/2014/main" val="10003"/>
                  </a:ext>
                </a:extLst>
              </a:tr>
              <a:tr h="411480">
                <a:tc>
                  <a:txBody>
                    <a:bodyPr/>
                    <a:lstStyle/>
                    <a:p>
                      <a:pPr marL="0" indent="0">
                        <a:buNone/>
                      </a:pPr>
                      <a:r>
                        <a:rPr lang="en-US" sz="1150" dirty="0">
                          <a:solidFill>
                            <a:srgbClr val="000000"/>
                          </a:solidFill>
                          <a:latin typeface="Calibri" pitchFamily="34" charset="0"/>
                          <a:ea typeface="Calibri" pitchFamily="34" charset="-122"/>
                          <a:cs typeface="Calibri" pitchFamily="34" charset="-120"/>
                        </a:rPr>
                        <a:t>Twelve system test cases</a:t>
                      </a:r>
                      <a:endParaRPr lang="en-US" sz="1150" dirty="0">
                        <a:latin typeface="Calibri" charset="0"/>
                        <a:ea typeface="Calibri" charset="0"/>
                        <a:cs typeface="Calibri" charset="0"/>
                      </a:endParaRPr>
                    </a:p>
                  </a:txBody>
                  <a:tcPr anchor="ctr">
                    <a:lnL w="9525" cap="flat" cmpd="sng" algn="ctr">
                      <a:solidFill>
                        <a:srgbClr val="C9CDD4"/>
                      </a:solidFill>
                      <a:prstDash val="solid"/>
                      <a:round/>
                      <a:headEnd type="none" w="med" len="med"/>
                      <a:tailEnd type="none" w="med" len="med"/>
                    </a:lnL>
                    <a:lnR w="9525" cap="flat" cmpd="sng" algn="ctr">
                      <a:solidFill>
                        <a:srgbClr val="C9CDD4"/>
                      </a:solidFill>
                      <a:prstDash val="solid"/>
                      <a:round/>
                      <a:headEnd type="none" w="med" len="med"/>
                      <a:tailEnd type="none" w="med" len="med"/>
                    </a:lnR>
                    <a:lnT w="9525" cap="flat" cmpd="sng" algn="ctr">
                      <a:solidFill>
                        <a:srgbClr val="C9CDD4"/>
                      </a:solidFill>
                      <a:prstDash val="solid"/>
                      <a:round/>
                      <a:headEnd type="none" w="med" len="med"/>
                      <a:tailEnd type="none" w="med" len="med"/>
                    </a:lnT>
                    <a:lnB w="9525" cap="flat" cmpd="sng" algn="ctr">
                      <a:solidFill>
                        <a:srgbClr val="C9CDD4"/>
                      </a:solidFill>
                      <a:prstDash val="solid"/>
                      <a:round/>
                      <a:headEnd type="none" w="med" len="med"/>
                      <a:tailEnd type="none" w="med" len="med"/>
                    </a:lnB>
                  </a:tcPr>
                </a:tc>
                <a:tc>
                  <a:txBody>
                    <a:bodyPr/>
                    <a:lstStyle/>
                    <a:p>
                      <a:pPr marL="0" indent="0">
                        <a:buNone/>
                      </a:pPr>
                      <a:r>
                        <a:rPr lang="en-US" sz="1150" dirty="0">
                          <a:solidFill>
                            <a:srgbClr val="000000"/>
                          </a:solidFill>
                          <a:latin typeface="Calibri" pitchFamily="34" charset="0"/>
                          <a:ea typeface="Calibri" pitchFamily="34" charset="-122"/>
                          <a:cs typeface="Calibri" pitchFamily="34" charset="-120"/>
                        </a:rPr>
                        <a:t>O6  ·  deliver and verify an application</a:t>
                      </a:r>
                      <a:endParaRPr lang="en-US" sz="1150" dirty="0">
                        <a:latin typeface="Calibri" charset="0"/>
                        <a:ea typeface="Calibri" charset="0"/>
                        <a:cs typeface="Calibri" charset="0"/>
                      </a:endParaRPr>
                    </a:p>
                  </a:txBody>
                  <a:tcPr anchor="ctr">
                    <a:lnL w="9525" cap="flat" cmpd="sng" algn="ctr">
                      <a:solidFill>
                        <a:srgbClr val="C9CDD4"/>
                      </a:solidFill>
                      <a:prstDash val="solid"/>
                      <a:round/>
                      <a:headEnd type="none" w="med" len="med"/>
                      <a:tailEnd type="none" w="med" len="med"/>
                    </a:lnL>
                    <a:lnR w="9525" cap="flat" cmpd="sng" algn="ctr">
                      <a:solidFill>
                        <a:srgbClr val="C9CDD4"/>
                      </a:solidFill>
                      <a:prstDash val="solid"/>
                      <a:round/>
                      <a:headEnd type="none" w="med" len="med"/>
                      <a:tailEnd type="none" w="med" len="med"/>
                    </a:lnR>
                    <a:lnT w="9525" cap="flat" cmpd="sng" algn="ctr">
                      <a:solidFill>
                        <a:srgbClr val="C9CDD4"/>
                      </a:solidFill>
                      <a:prstDash val="solid"/>
                      <a:round/>
                      <a:headEnd type="none" w="med" len="med"/>
                      <a:tailEnd type="none" w="med" len="med"/>
                    </a:lnT>
                    <a:lnB w="9525" cap="flat" cmpd="sng" algn="ctr">
                      <a:solidFill>
                        <a:srgbClr val="C9CDD4"/>
                      </a:solidFill>
                      <a:prstDash val="solid"/>
                      <a:round/>
                      <a:headEnd type="none" w="med" len="med"/>
                      <a:tailEnd type="none" w="med" len="med"/>
                    </a:lnB>
                  </a:tcPr>
                </a:tc>
                <a:tc>
                  <a:txBody>
                    <a:bodyPr/>
                    <a:lstStyle/>
                    <a:p>
                      <a:pPr marL="0" indent="0">
                        <a:buNone/>
                      </a:pPr>
                      <a:r>
                        <a:rPr lang="en-US" sz="1150" dirty="0">
                          <a:solidFill>
                            <a:srgbClr val="000000"/>
                          </a:solidFill>
                          <a:latin typeface="Calibri" pitchFamily="34" charset="0"/>
                          <a:ea typeface="Calibri" pitchFamily="34" charset="-122"/>
                          <a:cs typeface="Calibri" pitchFamily="34" charset="-120"/>
                        </a:rPr>
                        <a:t>All twelve passed</a:t>
                      </a:r>
                      <a:endParaRPr lang="en-US" sz="1150" dirty="0">
                        <a:latin typeface="Calibri" charset="0"/>
                        <a:ea typeface="Calibri" charset="0"/>
                        <a:cs typeface="Calibri" charset="0"/>
                      </a:endParaRPr>
                    </a:p>
                  </a:txBody>
                  <a:tcPr anchor="ctr">
                    <a:lnL w="9525" cap="flat" cmpd="sng" algn="ctr">
                      <a:solidFill>
                        <a:srgbClr val="C9CDD4"/>
                      </a:solidFill>
                      <a:prstDash val="solid"/>
                      <a:round/>
                      <a:headEnd type="none" w="med" len="med"/>
                      <a:tailEnd type="none" w="med" len="med"/>
                    </a:lnL>
                    <a:lnR w="9525" cap="flat" cmpd="sng" algn="ctr">
                      <a:solidFill>
                        <a:srgbClr val="C9CDD4"/>
                      </a:solidFill>
                      <a:prstDash val="solid"/>
                      <a:round/>
                      <a:headEnd type="none" w="med" len="med"/>
                      <a:tailEnd type="none" w="med" len="med"/>
                    </a:lnR>
                    <a:lnT w="9525" cap="flat" cmpd="sng" algn="ctr">
                      <a:solidFill>
                        <a:srgbClr val="C9CDD4"/>
                      </a:solidFill>
                      <a:prstDash val="solid"/>
                      <a:round/>
                      <a:headEnd type="none" w="med" len="med"/>
                      <a:tailEnd type="none" w="med" len="med"/>
                    </a:lnT>
                    <a:lnB w="9525" cap="flat" cmpd="sng" algn="ctr">
                      <a:solidFill>
                        <a:srgbClr val="C9CDD4"/>
                      </a:solidFill>
                      <a:prstDash val="solid"/>
                      <a:round/>
                      <a:headEnd type="none" w="med" len="med"/>
                      <a:tailEnd type="none" w="med" len="med"/>
                    </a:lnB>
                  </a:tcPr>
                </a:tc>
                <a:extLst>
                  <a:ext uri="{0D108BD9-81ED-4DB2-BD59-A6C34878D82A}">
                    <a16:rowId xmlns:a16="http://schemas.microsoft.com/office/drawing/2014/main" val="10004"/>
                  </a:ext>
                </a:extLst>
              </a:tr>
            </a:tbl>
          </a:graphicData>
        </a:graphic>
      </p:graphicFrame>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1045159"/>
          </a:xfrm>
          <a:prstGeom prst="rect">
            <a:avLst/>
          </a:prstGeom>
          <a:solidFill>
            <a:srgbClr val="9A003B"/>
          </a:solidFill>
          <a:ln w="12700">
            <a:solidFill>
              <a:srgbClr val="9A003B"/>
            </a:solidFill>
            <a:prstDash val="solid"/>
          </a:ln>
        </p:spPr>
      </p:sp>
      <p:sp>
        <p:nvSpPr>
          <p:cNvPr id="3" name="Text 1"/>
          <p:cNvSpPr txBox="1"/>
          <p:nvPr/>
        </p:nvSpPr>
        <p:spPr>
          <a:xfrm>
            <a:off x="228600" y="109728"/>
            <a:ext cx="11704320" cy="825703"/>
          </a:xfrm>
          <a:prstGeom prst="rect">
            <a:avLst/>
          </a:prstGeom>
          <a:noFill/>
          <a:ln/>
        </p:spPr>
        <p:txBody>
          <a:bodyPr wrap="square" lIns="0" tIns="0" rIns="0" bIns="0" rtlCol="0" anchor="ctr"/>
          <a:lstStyle/>
          <a:p>
            <a:pPr marL="0" indent="0">
              <a:lnSpc>
                <a:spcPct val="95000"/>
              </a:lnSpc>
              <a:buNone/>
            </a:pPr>
            <a:r>
              <a:rPr lang="en-US" sz="2500" dirty="0">
                <a:solidFill>
                  <a:srgbClr val="FFFFFF"/>
                </a:solidFill>
                <a:latin typeface="Calibri" pitchFamily="34" charset="0"/>
                <a:ea typeface="Calibri" pitchFamily="34" charset="-122"/>
                <a:cs typeface="Calibri" pitchFamily="34" charset="-120"/>
              </a:rPr>
              <a:t>Evaluation: Strengths, Weaknesses and Limitations</a:t>
            </a:r>
            <a:endParaRPr lang="en-US" sz="2500" dirty="0"/>
          </a:p>
        </p:txBody>
      </p:sp>
      <p:sp>
        <p:nvSpPr>
          <p:cNvPr id="4" name="Text 2"/>
          <p:cNvSpPr txBox="1"/>
          <p:nvPr/>
        </p:nvSpPr>
        <p:spPr>
          <a:xfrm>
            <a:off x="10515600" y="5806440"/>
            <a:ext cx="1463040" cy="749808"/>
          </a:xfrm>
          <a:prstGeom prst="rect">
            <a:avLst/>
          </a:prstGeom>
          <a:noFill/>
          <a:ln/>
        </p:spPr>
        <p:txBody>
          <a:bodyPr wrap="square" lIns="0" tIns="0" rIns="0" bIns="0" rtlCol="0" anchor="b"/>
          <a:lstStyle/>
          <a:p>
            <a:pPr marL="0" indent="0" algn="r">
              <a:lnSpc>
                <a:spcPct val="85000"/>
              </a:lnSpc>
              <a:buNone/>
            </a:pPr>
            <a:r>
              <a:rPr lang="en-US" sz="1150" b="1" dirty="0">
                <a:solidFill>
                  <a:srgbClr val="9A003B"/>
                </a:solidFill>
                <a:latin typeface="Calibri" pitchFamily="34" charset="0"/>
                <a:ea typeface="Calibri" pitchFamily="34" charset="-122"/>
                <a:cs typeface="Calibri" pitchFamily="34" charset="-120"/>
              </a:rPr>
              <a:t>Sheffield</a:t>
            </a:r>
            <a:endParaRPr lang="en-US" sz="1150" dirty="0"/>
          </a:p>
          <a:p>
            <a:pPr marL="0" indent="0" algn="r">
              <a:lnSpc>
                <a:spcPct val="85000"/>
              </a:lnSpc>
              <a:buNone/>
            </a:pPr>
            <a:r>
              <a:rPr lang="en-US" sz="1150" b="1" dirty="0">
                <a:solidFill>
                  <a:srgbClr val="9A003B"/>
                </a:solidFill>
                <a:latin typeface="Calibri" pitchFamily="34" charset="0"/>
                <a:ea typeface="Calibri" pitchFamily="34" charset="-122"/>
                <a:cs typeface="Calibri" pitchFamily="34" charset="-120"/>
              </a:rPr>
              <a:t>Hallam</a:t>
            </a:r>
            <a:endParaRPr lang="en-US" sz="1150" dirty="0"/>
          </a:p>
          <a:p>
            <a:pPr marL="0" indent="0" algn="r">
              <a:lnSpc>
                <a:spcPct val="85000"/>
              </a:lnSpc>
              <a:buNone/>
            </a:pPr>
            <a:r>
              <a:rPr lang="en-US" sz="1150" b="1" dirty="0">
                <a:solidFill>
                  <a:srgbClr val="9A003B"/>
                </a:solidFill>
                <a:latin typeface="Calibri" pitchFamily="34" charset="0"/>
                <a:ea typeface="Calibri" pitchFamily="34" charset="-122"/>
                <a:cs typeface="Calibri" pitchFamily="34" charset="-120"/>
              </a:rPr>
              <a:t>University</a:t>
            </a:r>
            <a:endParaRPr lang="en-US" sz="1150" dirty="0"/>
          </a:p>
        </p:txBody>
      </p:sp>
      <p:sp>
        <p:nvSpPr>
          <p:cNvPr id="5" name="Shape 3"/>
          <p:cNvSpPr/>
          <p:nvPr/>
        </p:nvSpPr>
        <p:spPr>
          <a:xfrm>
            <a:off x="0" y="6624828"/>
            <a:ext cx="4063898" cy="233172"/>
          </a:xfrm>
          <a:prstGeom prst="rect">
            <a:avLst/>
          </a:prstGeom>
          <a:solidFill>
            <a:srgbClr val="4D001E"/>
          </a:solidFill>
          <a:ln w="12700">
            <a:solidFill>
              <a:srgbClr val="4D001E"/>
            </a:solidFill>
            <a:prstDash val="solid"/>
          </a:ln>
        </p:spPr>
      </p:sp>
      <p:sp>
        <p:nvSpPr>
          <p:cNvPr id="6" name="Shape 4"/>
          <p:cNvSpPr/>
          <p:nvPr/>
        </p:nvSpPr>
        <p:spPr>
          <a:xfrm>
            <a:off x="4063898" y="6624828"/>
            <a:ext cx="4063898" cy="233172"/>
          </a:xfrm>
          <a:prstGeom prst="rect">
            <a:avLst/>
          </a:prstGeom>
          <a:solidFill>
            <a:srgbClr val="74002C"/>
          </a:solidFill>
          <a:ln w="12700">
            <a:solidFill>
              <a:srgbClr val="74002C"/>
            </a:solidFill>
            <a:prstDash val="solid"/>
          </a:ln>
        </p:spPr>
      </p:sp>
      <p:sp>
        <p:nvSpPr>
          <p:cNvPr id="7" name="Shape 5"/>
          <p:cNvSpPr/>
          <p:nvPr/>
        </p:nvSpPr>
        <p:spPr>
          <a:xfrm>
            <a:off x="8127797" y="6624828"/>
            <a:ext cx="4063898" cy="233172"/>
          </a:xfrm>
          <a:prstGeom prst="rect">
            <a:avLst/>
          </a:prstGeom>
          <a:solidFill>
            <a:srgbClr val="9A003B"/>
          </a:solidFill>
          <a:ln w="12700">
            <a:solidFill>
              <a:srgbClr val="9A003B"/>
            </a:solidFill>
            <a:prstDash val="solid"/>
          </a:ln>
        </p:spPr>
      </p:sp>
      <p:sp>
        <p:nvSpPr>
          <p:cNvPr id="8" name="Text 6"/>
          <p:cNvSpPr txBox="1"/>
          <p:nvPr/>
        </p:nvSpPr>
        <p:spPr>
          <a:xfrm>
            <a:off x="1143000" y="6624828"/>
            <a:ext cx="2743200" cy="233172"/>
          </a:xfrm>
          <a:prstGeom prst="rect">
            <a:avLst/>
          </a:prstGeom>
          <a:noFill/>
          <a:ln/>
        </p:spPr>
        <p:txBody>
          <a:bodyPr wrap="square" lIns="0" tIns="0" rIns="0" bIns="0" rtlCol="0" anchor="ctr"/>
          <a:lstStyle/>
          <a:p>
            <a:pPr marL="0" indent="0">
              <a:buNone/>
            </a:pPr>
            <a:r>
              <a:rPr lang="en-US" sz="900" dirty="0">
                <a:solidFill>
                  <a:srgbClr val="FFFFFF"/>
                </a:solidFill>
                <a:latin typeface="Calibri" pitchFamily="34" charset="0"/>
                <a:ea typeface="Calibri" pitchFamily="34" charset="-122"/>
                <a:cs typeface="Calibri" pitchFamily="34" charset="-120"/>
              </a:rPr>
              <a:t>[Student Initials]  (SHU)</a:t>
            </a:r>
            <a:endParaRPr lang="en-US" sz="900" dirty="0"/>
          </a:p>
        </p:txBody>
      </p:sp>
      <p:sp>
        <p:nvSpPr>
          <p:cNvPr id="9" name="Text 7"/>
          <p:cNvSpPr txBox="1"/>
          <p:nvPr/>
        </p:nvSpPr>
        <p:spPr>
          <a:xfrm>
            <a:off x="5276088" y="6624828"/>
            <a:ext cx="2743200" cy="233172"/>
          </a:xfrm>
          <a:prstGeom prst="rect">
            <a:avLst/>
          </a:prstGeom>
          <a:noFill/>
          <a:ln/>
        </p:spPr>
        <p:txBody>
          <a:bodyPr wrap="square" lIns="0" tIns="0" rIns="0" bIns="0" rtlCol="0" anchor="ctr"/>
          <a:lstStyle/>
          <a:p>
            <a:pPr marL="0" indent="0">
              <a:buNone/>
            </a:pPr>
            <a:r>
              <a:rPr lang="en-US" sz="900" dirty="0">
                <a:solidFill>
                  <a:srgbClr val="FFFFFF"/>
                </a:solidFill>
                <a:latin typeface="Calibri" pitchFamily="34" charset="0"/>
                <a:ea typeface="Calibri" pitchFamily="34" charset="-122"/>
                <a:cs typeface="Calibri" pitchFamily="34" charset="-120"/>
              </a:rPr>
              <a:t>Does the Emoji Matter?</a:t>
            </a:r>
            <a:endParaRPr lang="en-US" sz="900" dirty="0"/>
          </a:p>
        </p:txBody>
      </p:sp>
      <p:sp>
        <p:nvSpPr>
          <p:cNvPr id="10" name="Text 8"/>
          <p:cNvSpPr txBox="1"/>
          <p:nvPr/>
        </p:nvSpPr>
        <p:spPr>
          <a:xfrm>
            <a:off x="9235440" y="6624828"/>
            <a:ext cx="1645920" cy="233172"/>
          </a:xfrm>
          <a:prstGeom prst="rect">
            <a:avLst/>
          </a:prstGeom>
          <a:noFill/>
          <a:ln/>
        </p:spPr>
        <p:txBody>
          <a:bodyPr wrap="square" lIns="0" tIns="0" rIns="0" bIns="0" rtlCol="0" anchor="ctr"/>
          <a:lstStyle/>
          <a:p>
            <a:pPr marL="0" indent="0">
              <a:buNone/>
            </a:pPr>
            <a:r>
              <a:rPr lang="en-US" sz="900" dirty="0">
                <a:solidFill>
                  <a:srgbClr val="FFFFFF"/>
                </a:solidFill>
                <a:latin typeface="Calibri" pitchFamily="34" charset="0"/>
                <a:ea typeface="Calibri" pitchFamily="34" charset="-122"/>
                <a:cs typeface="Calibri" pitchFamily="34" charset="-120"/>
              </a:rPr>
              <a:t>September 2026</a:t>
            </a:r>
            <a:endParaRPr lang="en-US" sz="900" dirty="0"/>
          </a:p>
        </p:txBody>
      </p:sp>
      <p:sp>
        <p:nvSpPr>
          <p:cNvPr id="11" name="Text 9"/>
          <p:cNvSpPr txBox="1"/>
          <p:nvPr/>
        </p:nvSpPr>
        <p:spPr>
          <a:xfrm>
            <a:off x="10881360" y="6624828"/>
            <a:ext cx="1161288" cy="233172"/>
          </a:xfrm>
          <a:prstGeom prst="rect">
            <a:avLst/>
          </a:prstGeom>
          <a:noFill/>
          <a:ln/>
        </p:spPr>
        <p:txBody>
          <a:bodyPr wrap="square" lIns="0" tIns="0" rIns="0" bIns="0" rtlCol="0" anchor="ctr"/>
          <a:lstStyle/>
          <a:p>
            <a:pPr marL="0" indent="0" algn="r">
              <a:buNone/>
            </a:pPr>
            <a:r>
              <a:rPr lang="en-US" sz="900" dirty="0">
                <a:solidFill>
                  <a:srgbClr val="FFFFFF"/>
                </a:solidFill>
                <a:latin typeface="Calibri" pitchFamily="34" charset="0"/>
                <a:ea typeface="Calibri" pitchFamily="34" charset="-122"/>
                <a:cs typeface="Calibri" pitchFamily="34" charset="-120"/>
              </a:rPr>
              <a:t>33 / 43</a:t>
            </a:r>
            <a:endParaRPr lang="en-US" sz="900" dirty="0"/>
          </a:p>
        </p:txBody>
      </p:sp>
      <p:sp>
        <p:nvSpPr>
          <p:cNvPr id="12" name="Shape 10"/>
          <p:cNvSpPr/>
          <p:nvPr/>
        </p:nvSpPr>
        <p:spPr>
          <a:xfrm>
            <a:off x="566928" y="1298448"/>
            <a:ext cx="3566160" cy="384048"/>
          </a:xfrm>
          <a:prstGeom prst="rect">
            <a:avLst/>
          </a:prstGeom>
          <a:solidFill>
            <a:srgbClr val="2764B4"/>
          </a:solidFill>
          <a:ln w="12700">
            <a:solidFill>
              <a:srgbClr val="2764B4"/>
            </a:solidFill>
            <a:prstDash val="solid"/>
          </a:ln>
        </p:spPr>
      </p:sp>
      <p:sp>
        <p:nvSpPr>
          <p:cNvPr id="13" name="Text 11"/>
          <p:cNvSpPr txBox="1"/>
          <p:nvPr/>
        </p:nvSpPr>
        <p:spPr>
          <a:xfrm>
            <a:off x="694944" y="1298448"/>
            <a:ext cx="3310128" cy="384048"/>
          </a:xfrm>
          <a:prstGeom prst="rect">
            <a:avLst/>
          </a:prstGeom>
          <a:noFill/>
          <a:ln/>
        </p:spPr>
        <p:txBody>
          <a:bodyPr wrap="square" lIns="0" tIns="0" rIns="0" bIns="0" rtlCol="0" anchor="ctr"/>
          <a:lstStyle/>
          <a:p>
            <a:pPr marL="0" indent="0">
              <a:buNone/>
            </a:pPr>
            <a:r>
              <a:rPr lang="en-US" sz="1500" b="1" dirty="0">
                <a:solidFill>
                  <a:srgbClr val="FFFFFF"/>
                </a:solidFill>
                <a:latin typeface="Calibri" pitchFamily="34" charset="0"/>
                <a:ea typeface="Calibri" pitchFamily="34" charset="-122"/>
                <a:cs typeface="Calibri" pitchFamily="34" charset="-120"/>
              </a:rPr>
              <a:t>Strengths</a:t>
            </a:r>
            <a:endParaRPr lang="en-US" sz="1500" dirty="0"/>
          </a:p>
        </p:txBody>
      </p:sp>
      <p:sp>
        <p:nvSpPr>
          <p:cNvPr id="14" name="Shape 12"/>
          <p:cNvSpPr/>
          <p:nvPr/>
        </p:nvSpPr>
        <p:spPr>
          <a:xfrm>
            <a:off x="566928" y="1682496"/>
            <a:ext cx="3566160" cy="3959352"/>
          </a:xfrm>
          <a:prstGeom prst="rect">
            <a:avLst/>
          </a:prstGeom>
          <a:solidFill>
            <a:srgbClr val="F4DDE6"/>
          </a:solidFill>
          <a:ln/>
        </p:spPr>
      </p:sp>
      <p:sp>
        <p:nvSpPr>
          <p:cNvPr id="15" name="Text 13"/>
          <p:cNvSpPr txBox="1"/>
          <p:nvPr/>
        </p:nvSpPr>
        <p:spPr>
          <a:xfrm>
            <a:off x="768096" y="1801368"/>
            <a:ext cx="3163824" cy="3657600"/>
          </a:xfrm>
          <a:prstGeom prst="rect">
            <a:avLst/>
          </a:prstGeom>
          <a:noFill/>
          <a:ln/>
        </p:spPr>
        <p:txBody>
          <a:bodyPr wrap="square" lIns="0" tIns="0" rIns="0" bIns="0" rtlCol="0" anchor="t"/>
          <a:lstStyle/>
          <a:p>
            <a:pPr marL="177800" indent="-177800">
              <a:lnSpc>
                <a:spcPct val="106000"/>
              </a:lnSpc>
              <a:spcAft>
                <a:spcPts val="800"/>
              </a:spcAft>
              <a:buSzPct val="100000"/>
              <a:buChar char="•"/>
            </a:pPr>
            <a:r>
              <a:rPr lang="en-US" sz="1200" dirty="0">
                <a:solidFill>
                  <a:srgbClr val="000000"/>
                </a:solidFill>
                <a:latin typeface="Calibri" pitchFamily="34" charset="0"/>
                <a:ea typeface="Calibri" pitchFamily="34" charset="-122"/>
                <a:cs typeface="Calibri" pitchFamily="34" charset="-120"/>
              </a:rPr>
              <a:t>The single fork removes the confound the literature could not remove</a:t>
            </a:r>
            <a:endParaRPr lang="en-US" sz="1200" dirty="0"/>
          </a:p>
          <a:p>
            <a:pPr marL="177800" indent="-177800">
              <a:lnSpc>
                <a:spcPct val="106000"/>
              </a:lnSpc>
              <a:spcAft>
                <a:spcPts val="800"/>
              </a:spcAft>
              <a:buSzPct val="100000"/>
              <a:buChar char="•"/>
            </a:pPr>
            <a:r>
              <a:rPr lang="en-US" sz="1200" dirty="0">
                <a:solidFill>
                  <a:srgbClr val="000000"/>
                </a:solidFill>
                <a:latin typeface="Calibri" pitchFamily="34" charset="0"/>
                <a:ea typeface="Calibri" pitchFamily="34" charset="-122"/>
                <a:cs typeface="Calibri" pitchFamily="34" charset="-120"/>
              </a:rPr>
              <a:t>Identical protocol and budget across all four conditions</a:t>
            </a:r>
            <a:endParaRPr lang="en-US" sz="1200" dirty="0"/>
          </a:p>
          <a:p>
            <a:pPr marL="177800" indent="-177800">
              <a:lnSpc>
                <a:spcPct val="106000"/>
              </a:lnSpc>
              <a:spcAft>
                <a:spcPts val="800"/>
              </a:spcAft>
              <a:buSzPct val="100000"/>
              <a:buChar char="•"/>
            </a:pPr>
            <a:r>
              <a:rPr lang="en-US" sz="1200" dirty="0">
                <a:solidFill>
                  <a:srgbClr val="000000"/>
                </a:solidFill>
                <a:latin typeface="Calibri" pitchFamily="34" charset="0"/>
                <a:ea typeface="Calibri" pitchFamily="34" charset="-122"/>
                <a:cs typeface="Calibri" pitchFamily="34" charset="-120"/>
              </a:rPr>
              <a:t>Fixed seed; two independent runs gave the same figures</a:t>
            </a:r>
            <a:endParaRPr lang="en-US" sz="1200" dirty="0"/>
          </a:p>
          <a:p>
            <a:pPr marL="177800" indent="-177800">
              <a:lnSpc>
                <a:spcPct val="106000"/>
              </a:lnSpc>
              <a:spcAft>
                <a:spcPts val="800"/>
              </a:spcAft>
              <a:buSzPct val="100000"/>
              <a:buChar char="•"/>
            </a:pPr>
            <a:r>
              <a:rPr lang="en-US" sz="1200" dirty="0">
                <a:solidFill>
                  <a:srgbClr val="000000"/>
                </a:solidFill>
                <a:latin typeface="Calibri" pitchFamily="34" charset="0"/>
                <a:ea typeface="Calibri" pitchFamily="34" charset="-122"/>
                <a:cs typeface="Calibri" pitchFamily="34" charset="-120"/>
              </a:rPr>
              <a:t>Per-emotion reporting, which the reviewed studies omit</a:t>
            </a:r>
            <a:endParaRPr lang="en-US" sz="1200" dirty="0"/>
          </a:p>
          <a:p>
            <a:pPr marL="177800" indent="-177800">
              <a:lnSpc>
                <a:spcPct val="106000"/>
              </a:lnSpc>
              <a:spcAft>
                <a:spcPts val="800"/>
              </a:spcAft>
              <a:buSzPct val="100000"/>
              <a:buChar char="•"/>
            </a:pPr>
            <a:r>
              <a:rPr lang="en-US" sz="1200" dirty="0">
                <a:solidFill>
                  <a:srgbClr val="000000"/>
                </a:solidFill>
                <a:latin typeface="Calibri" pitchFamily="34" charset="0"/>
                <a:ea typeface="Calibri" pitchFamily="34" charset="-122"/>
                <a:cs typeface="Calibri" pitchFamily="34" charset="-120"/>
              </a:rPr>
              <a:t>Test split preserved unused, so nothing was tuned against it</a:t>
            </a:r>
            <a:endParaRPr lang="en-US" sz="1200" dirty="0"/>
          </a:p>
        </p:txBody>
      </p:sp>
      <p:sp>
        <p:nvSpPr>
          <p:cNvPr id="16" name="Shape 14"/>
          <p:cNvSpPr/>
          <p:nvPr/>
        </p:nvSpPr>
        <p:spPr>
          <a:xfrm>
            <a:off x="4315968" y="1298448"/>
            <a:ext cx="3566160" cy="384048"/>
          </a:xfrm>
          <a:prstGeom prst="rect">
            <a:avLst/>
          </a:prstGeom>
          <a:solidFill>
            <a:srgbClr val="2764B4"/>
          </a:solidFill>
          <a:ln w="12700">
            <a:solidFill>
              <a:srgbClr val="2764B4"/>
            </a:solidFill>
            <a:prstDash val="solid"/>
          </a:ln>
        </p:spPr>
      </p:sp>
      <p:sp>
        <p:nvSpPr>
          <p:cNvPr id="17" name="Text 15"/>
          <p:cNvSpPr txBox="1"/>
          <p:nvPr/>
        </p:nvSpPr>
        <p:spPr>
          <a:xfrm>
            <a:off x="4443984" y="1298448"/>
            <a:ext cx="3310128" cy="384048"/>
          </a:xfrm>
          <a:prstGeom prst="rect">
            <a:avLst/>
          </a:prstGeom>
          <a:noFill/>
          <a:ln/>
        </p:spPr>
        <p:txBody>
          <a:bodyPr wrap="square" lIns="0" tIns="0" rIns="0" bIns="0" rtlCol="0" anchor="ctr"/>
          <a:lstStyle/>
          <a:p>
            <a:pPr marL="0" indent="0">
              <a:buNone/>
            </a:pPr>
            <a:r>
              <a:rPr lang="en-US" sz="1500" b="1" dirty="0">
                <a:solidFill>
                  <a:srgbClr val="FFFFFF"/>
                </a:solidFill>
                <a:latin typeface="Calibri" pitchFamily="34" charset="0"/>
                <a:ea typeface="Calibri" pitchFamily="34" charset="-122"/>
                <a:cs typeface="Calibri" pitchFamily="34" charset="-120"/>
              </a:rPr>
              <a:t>Weaknesses</a:t>
            </a:r>
            <a:endParaRPr lang="en-US" sz="1500" dirty="0"/>
          </a:p>
        </p:txBody>
      </p:sp>
      <p:sp>
        <p:nvSpPr>
          <p:cNvPr id="18" name="Shape 16"/>
          <p:cNvSpPr/>
          <p:nvPr/>
        </p:nvSpPr>
        <p:spPr>
          <a:xfrm>
            <a:off x="4315968" y="1682496"/>
            <a:ext cx="3566160" cy="3959352"/>
          </a:xfrm>
          <a:prstGeom prst="rect">
            <a:avLst/>
          </a:prstGeom>
          <a:solidFill>
            <a:srgbClr val="F4DDE6"/>
          </a:solidFill>
          <a:ln/>
        </p:spPr>
      </p:sp>
      <p:sp>
        <p:nvSpPr>
          <p:cNvPr id="19" name="Text 17"/>
          <p:cNvSpPr txBox="1"/>
          <p:nvPr/>
        </p:nvSpPr>
        <p:spPr>
          <a:xfrm>
            <a:off x="4517136" y="1801368"/>
            <a:ext cx="3163824" cy="3657600"/>
          </a:xfrm>
          <a:prstGeom prst="rect">
            <a:avLst/>
          </a:prstGeom>
          <a:noFill/>
          <a:ln/>
        </p:spPr>
        <p:txBody>
          <a:bodyPr wrap="square" lIns="0" tIns="0" rIns="0" bIns="0" rtlCol="0" anchor="t"/>
          <a:lstStyle/>
          <a:p>
            <a:pPr marL="177800" indent="-177800">
              <a:lnSpc>
                <a:spcPct val="106000"/>
              </a:lnSpc>
              <a:spcAft>
                <a:spcPts val="800"/>
              </a:spcAft>
              <a:buSzPct val="100000"/>
              <a:buChar char="•"/>
            </a:pPr>
            <a:r>
              <a:rPr lang="en-US" sz="1200" dirty="0">
                <a:solidFill>
                  <a:srgbClr val="000000"/>
                </a:solidFill>
                <a:latin typeface="Calibri" pitchFamily="34" charset="0"/>
                <a:ea typeface="Calibri" pitchFamily="34" charset="-122"/>
                <a:cs typeface="Calibri" pitchFamily="34" charset="-120"/>
              </a:rPr>
              <a:t>Both architectures trained from scratch, so absolute scores are modest</a:t>
            </a:r>
            <a:endParaRPr lang="en-US" sz="1200" dirty="0"/>
          </a:p>
          <a:p>
            <a:pPr marL="177800" indent="-177800">
              <a:lnSpc>
                <a:spcPct val="106000"/>
              </a:lnSpc>
              <a:spcAft>
                <a:spcPts val="800"/>
              </a:spcAft>
              <a:buSzPct val="100000"/>
              <a:buChar char="•"/>
            </a:pPr>
            <a:r>
              <a:rPr lang="en-US" sz="1200" dirty="0">
                <a:solidFill>
                  <a:srgbClr val="000000"/>
                </a:solidFill>
                <a:latin typeface="Calibri" pitchFamily="34" charset="0"/>
                <a:ea typeface="Calibri" pitchFamily="34" charset="-122"/>
                <a:cs typeface="Calibri" pitchFamily="34" charset="-120"/>
              </a:rPr>
              <a:t>One Transformer comparison involves a configuration change as well as the track change</a:t>
            </a:r>
            <a:endParaRPr lang="en-US" sz="1200" dirty="0"/>
          </a:p>
          <a:p>
            <a:pPr marL="177800" indent="-177800">
              <a:lnSpc>
                <a:spcPct val="106000"/>
              </a:lnSpc>
              <a:spcAft>
                <a:spcPts val="800"/>
              </a:spcAft>
              <a:buSzPct val="100000"/>
              <a:buChar char="•"/>
            </a:pPr>
            <a:r>
              <a:rPr lang="en-US" sz="1200" dirty="0">
                <a:solidFill>
                  <a:srgbClr val="000000"/>
                </a:solidFill>
                <a:latin typeface="Calibri" pitchFamily="34" charset="0"/>
                <a:ea typeface="Calibri" pitchFamily="34" charset="-122"/>
                <a:cs typeface="Calibri" pitchFamily="34" charset="-120"/>
              </a:rPr>
              <a:t>The tuning grid was three configurations per condition, not an exhaustive search</a:t>
            </a:r>
            <a:endParaRPr lang="en-US" sz="1200" dirty="0"/>
          </a:p>
          <a:p>
            <a:pPr marL="177800" indent="-177800">
              <a:lnSpc>
                <a:spcPct val="106000"/>
              </a:lnSpc>
              <a:spcAft>
                <a:spcPts val="800"/>
              </a:spcAft>
              <a:buSzPct val="100000"/>
              <a:buChar char="•"/>
            </a:pPr>
            <a:r>
              <a:rPr lang="en-US" sz="1200" dirty="0">
                <a:solidFill>
                  <a:srgbClr val="000000"/>
                </a:solidFill>
                <a:latin typeface="Calibri" pitchFamily="34" charset="0"/>
                <a:ea typeface="Calibri" pitchFamily="34" charset="-122"/>
                <a:cs typeface="Calibri" pitchFamily="34" charset="-120"/>
              </a:rPr>
              <a:t>Emoji-only inputs are a genuine edge case the model cannot classify</a:t>
            </a:r>
            <a:endParaRPr lang="en-US" sz="1200" dirty="0"/>
          </a:p>
        </p:txBody>
      </p:sp>
      <p:sp>
        <p:nvSpPr>
          <p:cNvPr id="20" name="Shape 18"/>
          <p:cNvSpPr/>
          <p:nvPr/>
        </p:nvSpPr>
        <p:spPr>
          <a:xfrm>
            <a:off x="8065008" y="1298448"/>
            <a:ext cx="3557016" cy="384048"/>
          </a:xfrm>
          <a:prstGeom prst="rect">
            <a:avLst/>
          </a:prstGeom>
          <a:solidFill>
            <a:srgbClr val="2764B4"/>
          </a:solidFill>
          <a:ln w="12700">
            <a:solidFill>
              <a:srgbClr val="2764B4"/>
            </a:solidFill>
            <a:prstDash val="solid"/>
          </a:ln>
        </p:spPr>
      </p:sp>
      <p:sp>
        <p:nvSpPr>
          <p:cNvPr id="21" name="Text 19"/>
          <p:cNvSpPr txBox="1"/>
          <p:nvPr/>
        </p:nvSpPr>
        <p:spPr>
          <a:xfrm>
            <a:off x="8193024" y="1298448"/>
            <a:ext cx="3300984" cy="384048"/>
          </a:xfrm>
          <a:prstGeom prst="rect">
            <a:avLst/>
          </a:prstGeom>
          <a:noFill/>
          <a:ln/>
        </p:spPr>
        <p:txBody>
          <a:bodyPr wrap="square" lIns="0" tIns="0" rIns="0" bIns="0" rtlCol="0" anchor="ctr"/>
          <a:lstStyle/>
          <a:p>
            <a:pPr marL="0" indent="0">
              <a:buNone/>
            </a:pPr>
            <a:r>
              <a:rPr lang="en-US" sz="1500" b="1" dirty="0">
                <a:solidFill>
                  <a:srgbClr val="FFFFFF"/>
                </a:solidFill>
                <a:latin typeface="Calibri" pitchFamily="34" charset="0"/>
                <a:ea typeface="Calibri" pitchFamily="34" charset="-122"/>
                <a:cs typeface="Calibri" pitchFamily="34" charset="-120"/>
              </a:rPr>
              <a:t>Limitations</a:t>
            </a:r>
            <a:endParaRPr lang="en-US" sz="1500" dirty="0"/>
          </a:p>
        </p:txBody>
      </p:sp>
      <p:sp>
        <p:nvSpPr>
          <p:cNvPr id="22" name="Shape 20"/>
          <p:cNvSpPr/>
          <p:nvPr/>
        </p:nvSpPr>
        <p:spPr>
          <a:xfrm>
            <a:off x="8065008" y="1682496"/>
            <a:ext cx="3557016" cy="3959352"/>
          </a:xfrm>
          <a:prstGeom prst="rect">
            <a:avLst/>
          </a:prstGeom>
          <a:solidFill>
            <a:srgbClr val="F4DDE6"/>
          </a:solidFill>
          <a:ln/>
        </p:spPr>
      </p:sp>
      <p:sp>
        <p:nvSpPr>
          <p:cNvPr id="23" name="Text 21"/>
          <p:cNvSpPr txBox="1"/>
          <p:nvPr/>
        </p:nvSpPr>
        <p:spPr>
          <a:xfrm>
            <a:off x="8266176" y="1801368"/>
            <a:ext cx="3154680" cy="3657600"/>
          </a:xfrm>
          <a:prstGeom prst="rect">
            <a:avLst/>
          </a:prstGeom>
          <a:noFill/>
          <a:ln/>
        </p:spPr>
        <p:txBody>
          <a:bodyPr wrap="square" lIns="0" tIns="0" rIns="0" bIns="0" rtlCol="0" anchor="t"/>
          <a:lstStyle/>
          <a:p>
            <a:pPr marL="177800" indent="-177800">
              <a:lnSpc>
                <a:spcPct val="106000"/>
              </a:lnSpc>
              <a:spcAft>
                <a:spcPts val="800"/>
              </a:spcAft>
              <a:buSzPct val="100000"/>
              <a:buChar char="•"/>
            </a:pPr>
            <a:r>
              <a:rPr lang="en-US" sz="1200" dirty="0">
                <a:solidFill>
                  <a:srgbClr val="000000"/>
                </a:solidFill>
                <a:latin typeface="Calibri" pitchFamily="34" charset="0"/>
                <a:ea typeface="Calibri" pitchFamily="34" charset="-122"/>
                <a:cs typeface="Calibri" pitchFamily="34" charset="-120"/>
              </a:rPr>
              <a:t>Results are development-split figures, so absolute values are optimistic</a:t>
            </a:r>
            <a:endParaRPr lang="en-US" sz="1200" dirty="0"/>
          </a:p>
          <a:p>
            <a:pPr marL="177800" indent="-177800">
              <a:lnSpc>
                <a:spcPct val="106000"/>
              </a:lnSpc>
              <a:spcAft>
                <a:spcPts val="800"/>
              </a:spcAft>
              <a:buSzPct val="100000"/>
              <a:buChar char="•"/>
            </a:pPr>
            <a:r>
              <a:rPr lang="en-US" sz="1200" dirty="0">
                <a:solidFill>
                  <a:srgbClr val="000000"/>
                </a:solidFill>
                <a:latin typeface="Calibri" pitchFamily="34" charset="0"/>
                <a:ea typeface="Calibri" pitchFamily="34" charset="-122"/>
                <a:cs typeface="Calibri" pitchFamily="34" charset="-120"/>
              </a:rPr>
              <a:t>Each condition was trained once, so no variance estimate exists</a:t>
            </a:r>
            <a:endParaRPr lang="en-US" sz="1200" dirty="0"/>
          </a:p>
          <a:p>
            <a:pPr marL="177800" indent="-177800">
              <a:lnSpc>
                <a:spcPct val="106000"/>
              </a:lnSpc>
              <a:spcAft>
                <a:spcPts val="800"/>
              </a:spcAft>
              <a:buSzPct val="100000"/>
              <a:buChar char="•"/>
            </a:pPr>
            <a:r>
              <a:rPr lang="en-US" sz="1200" dirty="0">
                <a:solidFill>
                  <a:srgbClr val="000000"/>
                </a:solidFill>
                <a:latin typeface="Calibri" pitchFamily="34" charset="0"/>
                <a:ea typeface="Calibri" pitchFamily="34" charset="-122"/>
                <a:cs typeface="Calibri" pitchFamily="34" charset="-120"/>
              </a:rPr>
              <a:t>Findings apply to one English corpus and one label set</a:t>
            </a:r>
            <a:endParaRPr lang="en-US" sz="1200" dirty="0"/>
          </a:p>
          <a:p>
            <a:pPr marL="177800" indent="-177800">
              <a:lnSpc>
                <a:spcPct val="106000"/>
              </a:lnSpc>
              <a:spcAft>
                <a:spcPts val="800"/>
              </a:spcAft>
              <a:buSzPct val="100000"/>
              <a:buChar char="•"/>
            </a:pPr>
            <a:r>
              <a:rPr lang="en-US" sz="1200" dirty="0">
                <a:solidFill>
                  <a:srgbClr val="000000"/>
                </a:solidFill>
                <a:latin typeface="Calibri" pitchFamily="34" charset="0"/>
                <a:ea typeface="Calibri" pitchFamily="34" charset="-122"/>
                <a:cs typeface="Calibri" pitchFamily="34" charset="-120"/>
              </a:rPr>
              <a:t>Only 11.3% of training tweets carry emoji, which bounds the size of any effect</a:t>
            </a:r>
            <a:endParaRPr lang="en-US" sz="1200" dirty="0"/>
          </a:p>
        </p:txBody>
      </p:sp>
      <p:sp>
        <p:nvSpPr>
          <p:cNvPr id="24" name="Text 22"/>
          <p:cNvSpPr txBox="1"/>
          <p:nvPr/>
        </p:nvSpPr>
        <p:spPr>
          <a:xfrm>
            <a:off x="566928" y="5852160"/>
            <a:ext cx="9829800" cy="365760"/>
          </a:xfrm>
          <a:prstGeom prst="rect">
            <a:avLst/>
          </a:prstGeom>
          <a:noFill/>
          <a:ln/>
        </p:spPr>
        <p:txBody>
          <a:bodyPr wrap="square" lIns="0" tIns="0" rIns="0" bIns="0" rtlCol="0" anchor="t"/>
          <a:lstStyle/>
          <a:p>
            <a:pPr marL="0" indent="0" algn="ctr">
              <a:lnSpc>
                <a:spcPct val="100000"/>
              </a:lnSpc>
              <a:buNone/>
            </a:pPr>
            <a:r>
              <a:rPr lang="en-US" sz="1050" dirty="0">
                <a:solidFill>
                  <a:srgbClr val="5C5C5C"/>
                </a:solidFill>
                <a:latin typeface="Calibri" pitchFamily="34" charset="0"/>
                <a:ea typeface="Calibri" pitchFamily="34" charset="-122"/>
                <a:cs typeface="Calibri" pitchFamily="34" charset="-120"/>
              </a:rPr>
              <a:t>Relating this back to the original problem: the project set out to test one preprocessing decision in isolation, and it did. The limitations concern how far the number generalises, not whether the comparison was fair.</a:t>
            </a:r>
            <a:endParaRPr lang="en-US" sz="105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914400" y="2514600"/>
            <a:ext cx="10360152" cy="658368"/>
          </a:xfrm>
          <a:prstGeom prst="rect">
            <a:avLst/>
          </a:prstGeom>
          <a:noFill/>
          <a:ln/>
        </p:spPr>
        <p:txBody>
          <a:bodyPr wrap="square" lIns="0" tIns="0" rIns="0" bIns="0" rtlCol="0" anchor="ctr"/>
          <a:lstStyle/>
          <a:p>
            <a:pPr marL="0" indent="0" algn="ctr">
              <a:buNone/>
            </a:pPr>
            <a:r>
              <a:rPr lang="en-US" sz="3400" dirty="0">
                <a:solidFill>
                  <a:srgbClr val="000000"/>
                </a:solidFill>
                <a:latin typeface="Calibri" pitchFamily="34" charset="0"/>
                <a:ea typeface="Calibri" pitchFamily="34" charset="-122"/>
                <a:cs typeface="Calibri" pitchFamily="34" charset="-120"/>
              </a:rPr>
              <a:t>8.  Conclusion</a:t>
            </a:r>
            <a:endParaRPr lang="en-US" sz="3400" dirty="0"/>
          </a:p>
        </p:txBody>
      </p:sp>
      <p:sp>
        <p:nvSpPr>
          <p:cNvPr id="3" name="Shape 1"/>
          <p:cNvSpPr/>
          <p:nvPr/>
        </p:nvSpPr>
        <p:spPr>
          <a:xfrm>
            <a:off x="2258568" y="3502152"/>
            <a:ext cx="7680960" cy="32004"/>
          </a:xfrm>
          <a:prstGeom prst="rect">
            <a:avLst/>
          </a:prstGeom>
          <a:solidFill>
            <a:srgbClr val="CC0000"/>
          </a:solidFill>
          <a:ln w="12700">
            <a:solidFill>
              <a:srgbClr val="CC0000"/>
            </a:solidFill>
            <a:prstDash val="solid"/>
          </a:ln>
        </p:spPr>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1045159"/>
          </a:xfrm>
          <a:prstGeom prst="rect">
            <a:avLst/>
          </a:prstGeom>
          <a:solidFill>
            <a:srgbClr val="9A003B"/>
          </a:solidFill>
          <a:ln w="12700">
            <a:solidFill>
              <a:srgbClr val="9A003B"/>
            </a:solidFill>
            <a:prstDash val="solid"/>
          </a:ln>
        </p:spPr>
      </p:sp>
      <p:sp>
        <p:nvSpPr>
          <p:cNvPr id="3" name="Text 1"/>
          <p:cNvSpPr txBox="1"/>
          <p:nvPr/>
        </p:nvSpPr>
        <p:spPr>
          <a:xfrm>
            <a:off x="228600" y="109728"/>
            <a:ext cx="11704320" cy="825703"/>
          </a:xfrm>
          <a:prstGeom prst="rect">
            <a:avLst/>
          </a:prstGeom>
          <a:noFill/>
          <a:ln/>
        </p:spPr>
        <p:txBody>
          <a:bodyPr wrap="square" lIns="0" tIns="0" rIns="0" bIns="0" rtlCol="0" anchor="ctr"/>
          <a:lstStyle/>
          <a:p>
            <a:pPr marL="0" indent="0">
              <a:lnSpc>
                <a:spcPct val="95000"/>
              </a:lnSpc>
              <a:buNone/>
            </a:pPr>
            <a:r>
              <a:rPr lang="en-US" sz="2500" dirty="0">
                <a:solidFill>
                  <a:srgbClr val="FFFFFF"/>
                </a:solidFill>
                <a:latin typeface="Calibri" pitchFamily="34" charset="0"/>
                <a:ea typeface="Calibri" pitchFamily="34" charset="-122"/>
                <a:cs typeface="Calibri" pitchFamily="34" charset="-120"/>
              </a:rPr>
              <a:t>Conclusion: Resolution of Gaps and Objectives I</a:t>
            </a:r>
            <a:endParaRPr lang="en-US" sz="2500" dirty="0"/>
          </a:p>
        </p:txBody>
      </p:sp>
      <p:sp>
        <p:nvSpPr>
          <p:cNvPr id="4" name="Text 2"/>
          <p:cNvSpPr txBox="1"/>
          <p:nvPr/>
        </p:nvSpPr>
        <p:spPr>
          <a:xfrm>
            <a:off x="10515600" y="5806440"/>
            <a:ext cx="1463040" cy="749808"/>
          </a:xfrm>
          <a:prstGeom prst="rect">
            <a:avLst/>
          </a:prstGeom>
          <a:noFill/>
          <a:ln/>
        </p:spPr>
        <p:txBody>
          <a:bodyPr wrap="square" lIns="0" tIns="0" rIns="0" bIns="0" rtlCol="0" anchor="b"/>
          <a:lstStyle/>
          <a:p>
            <a:pPr marL="0" indent="0" algn="r">
              <a:lnSpc>
                <a:spcPct val="85000"/>
              </a:lnSpc>
              <a:buNone/>
            </a:pPr>
            <a:r>
              <a:rPr lang="en-US" sz="1150" b="1" dirty="0">
                <a:solidFill>
                  <a:srgbClr val="9A003B"/>
                </a:solidFill>
                <a:latin typeface="Calibri" pitchFamily="34" charset="0"/>
                <a:ea typeface="Calibri" pitchFamily="34" charset="-122"/>
                <a:cs typeface="Calibri" pitchFamily="34" charset="-120"/>
              </a:rPr>
              <a:t>Sheffield</a:t>
            </a:r>
            <a:endParaRPr lang="en-US" sz="1150" dirty="0"/>
          </a:p>
          <a:p>
            <a:pPr marL="0" indent="0" algn="r">
              <a:lnSpc>
                <a:spcPct val="85000"/>
              </a:lnSpc>
              <a:buNone/>
            </a:pPr>
            <a:r>
              <a:rPr lang="en-US" sz="1150" b="1" dirty="0">
                <a:solidFill>
                  <a:srgbClr val="9A003B"/>
                </a:solidFill>
                <a:latin typeface="Calibri" pitchFamily="34" charset="0"/>
                <a:ea typeface="Calibri" pitchFamily="34" charset="-122"/>
                <a:cs typeface="Calibri" pitchFamily="34" charset="-120"/>
              </a:rPr>
              <a:t>Hallam</a:t>
            </a:r>
            <a:endParaRPr lang="en-US" sz="1150" dirty="0"/>
          </a:p>
          <a:p>
            <a:pPr marL="0" indent="0" algn="r">
              <a:lnSpc>
                <a:spcPct val="85000"/>
              </a:lnSpc>
              <a:buNone/>
            </a:pPr>
            <a:r>
              <a:rPr lang="en-US" sz="1150" b="1" dirty="0">
                <a:solidFill>
                  <a:srgbClr val="9A003B"/>
                </a:solidFill>
                <a:latin typeface="Calibri" pitchFamily="34" charset="0"/>
                <a:ea typeface="Calibri" pitchFamily="34" charset="-122"/>
                <a:cs typeface="Calibri" pitchFamily="34" charset="-120"/>
              </a:rPr>
              <a:t>University</a:t>
            </a:r>
            <a:endParaRPr lang="en-US" sz="1150" dirty="0"/>
          </a:p>
        </p:txBody>
      </p:sp>
      <p:sp>
        <p:nvSpPr>
          <p:cNvPr id="5" name="Shape 3"/>
          <p:cNvSpPr/>
          <p:nvPr/>
        </p:nvSpPr>
        <p:spPr>
          <a:xfrm>
            <a:off x="0" y="6624828"/>
            <a:ext cx="4063898" cy="233172"/>
          </a:xfrm>
          <a:prstGeom prst="rect">
            <a:avLst/>
          </a:prstGeom>
          <a:solidFill>
            <a:srgbClr val="4D001E"/>
          </a:solidFill>
          <a:ln w="12700">
            <a:solidFill>
              <a:srgbClr val="4D001E"/>
            </a:solidFill>
            <a:prstDash val="solid"/>
          </a:ln>
        </p:spPr>
      </p:sp>
      <p:sp>
        <p:nvSpPr>
          <p:cNvPr id="6" name="Shape 4"/>
          <p:cNvSpPr/>
          <p:nvPr/>
        </p:nvSpPr>
        <p:spPr>
          <a:xfrm>
            <a:off x="4063898" y="6624828"/>
            <a:ext cx="4063898" cy="233172"/>
          </a:xfrm>
          <a:prstGeom prst="rect">
            <a:avLst/>
          </a:prstGeom>
          <a:solidFill>
            <a:srgbClr val="74002C"/>
          </a:solidFill>
          <a:ln w="12700">
            <a:solidFill>
              <a:srgbClr val="74002C"/>
            </a:solidFill>
            <a:prstDash val="solid"/>
          </a:ln>
        </p:spPr>
      </p:sp>
      <p:sp>
        <p:nvSpPr>
          <p:cNvPr id="7" name="Shape 5"/>
          <p:cNvSpPr/>
          <p:nvPr/>
        </p:nvSpPr>
        <p:spPr>
          <a:xfrm>
            <a:off x="8127797" y="6624828"/>
            <a:ext cx="4063898" cy="233172"/>
          </a:xfrm>
          <a:prstGeom prst="rect">
            <a:avLst/>
          </a:prstGeom>
          <a:solidFill>
            <a:srgbClr val="9A003B"/>
          </a:solidFill>
          <a:ln w="12700">
            <a:solidFill>
              <a:srgbClr val="9A003B"/>
            </a:solidFill>
            <a:prstDash val="solid"/>
          </a:ln>
        </p:spPr>
      </p:sp>
      <p:sp>
        <p:nvSpPr>
          <p:cNvPr id="8" name="Text 6"/>
          <p:cNvSpPr txBox="1"/>
          <p:nvPr/>
        </p:nvSpPr>
        <p:spPr>
          <a:xfrm>
            <a:off x="1143000" y="6624828"/>
            <a:ext cx="2743200" cy="233172"/>
          </a:xfrm>
          <a:prstGeom prst="rect">
            <a:avLst/>
          </a:prstGeom>
          <a:noFill/>
          <a:ln/>
        </p:spPr>
        <p:txBody>
          <a:bodyPr wrap="square" lIns="0" tIns="0" rIns="0" bIns="0" rtlCol="0" anchor="ctr"/>
          <a:lstStyle/>
          <a:p>
            <a:pPr marL="0" indent="0">
              <a:buNone/>
            </a:pPr>
            <a:r>
              <a:rPr lang="en-US" sz="900" dirty="0">
                <a:solidFill>
                  <a:srgbClr val="FFFFFF"/>
                </a:solidFill>
                <a:latin typeface="Calibri" pitchFamily="34" charset="0"/>
                <a:ea typeface="Calibri" pitchFamily="34" charset="-122"/>
                <a:cs typeface="Calibri" pitchFamily="34" charset="-120"/>
              </a:rPr>
              <a:t>[Student Initials]  (SHU)</a:t>
            </a:r>
            <a:endParaRPr lang="en-US" sz="900" dirty="0"/>
          </a:p>
        </p:txBody>
      </p:sp>
      <p:sp>
        <p:nvSpPr>
          <p:cNvPr id="9" name="Text 7"/>
          <p:cNvSpPr txBox="1"/>
          <p:nvPr/>
        </p:nvSpPr>
        <p:spPr>
          <a:xfrm>
            <a:off x="5276088" y="6624828"/>
            <a:ext cx="2743200" cy="233172"/>
          </a:xfrm>
          <a:prstGeom prst="rect">
            <a:avLst/>
          </a:prstGeom>
          <a:noFill/>
          <a:ln/>
        </p:spPr>
        <p:txBody>
          <a:bodyPr wrap="square" lIns="0" tIns="0" rIns="0" bIns="0" rtlCol="0" anchor="ctr"/>
          <a:lstStyle/>
          <a:p>
            <a:pPr marL="0" indent="0">
              <a:buNone/>
            </a:pPr>
            <a:r>
              <a:rPr lang="en-US" sz="900" dirty="0">
                <a:solidFill>
                  <a:srgbClr val="FFFFFF"/>
                </a:solidFill>
                <a:latin typeface="Calibri" pitchFamily="34" charset="0"/>
                <a:ea typeface="Calibri" pitchFamily="34" charset="-122"/>
                <a:cs typeface="Calibri" pitchFamily="34" charset="-120"/>
              </a:rPr>
              <a:t>Does the Emoji Matter?</a:t>
            </a:r>
            <a:endParaRPr lang="en-US" sz="900" dirty="0"/>
          </a:p>
        </p:txBody>
      </p:sp>
      <p:sp>
        <p:nvSpPr>
          <p:cNvPr id="10" name="Text 8"/>
          <p:cNvSpPr txBox="1"/>
          <p:nvPr/>
        </p:nvSpPr>
        <p:spPr>
          <a:xfrm>
            <a:off x="9235440" y="6624828"/>
            <a:ext cx="1645920" cy="233172"/>
          </a:xfrm>
          <a:prstGeom prst="rect">
            <a:avLst/>
          </a:prstGeom>
          <a:noFill/>
          <a:ln/>
        </p:spPr>
        <p:txBody>
          <a:bodyPr wrap="square" lIns="0" tIns="0" rIns="0" bIns="0" rtlCol="0" anchor="ctr"/>
          <a:lstStyle/>
          <a:p>
            <a:pPr marL="0" indent="0">
              <a:buNone/>
            </a:pPr>
            <a:r>
              <a:rPr lang="en-US" sz="900" dirty="0">
                <a:solidFill>
                  <a:srgbClr val="FFFFFF"/>
                </a:solidFill>
                <a:latin typeface="Calibri" pitchFamily="34" charset="0"/>
                <a:ea typeface="Calibri" pitchFamily="34" charset="-122"/>
                <a:cs typeface="Calibri" pitchFamily="34" charset="-120"/>
              </a:rPr>
              <a:t>September 2026</a:t>
            </a:r>
            <a:endParaRPr lang="en-US" sz="900" dirty="0"/>
          </a:p>
        </p:txBody>
      </p:sp>
      <p:sp>
        <p:nvSpPr>
          <p:cNvPr id="11" name="Text 9"/>
          <p:cNvSpPr txBox="1"/>
          <p:nvPr/>
        </p:nvSpPr>
        <p:spPr>
          <a:xfrm>
            <a:off x="10881360" y="6624828"/>
            <a:ext cx="1161288" cy="233172"/>
          </a:xfrm>
          <a:prstGeom prst="rect">
            <a:avLst/>
          </a:prstGeom>
          <a:noFill/>
          <a:ln/>
        </p:spPr>
        <p:txBody>
          <a:bodyPr wrap="square" lIns="0" tIns="0" rIns="0" bIns="0" rtlCol="0" anchor="ctr"/>
          <a:lstStyle/>
          <a:p>
            <a:pPr marL="0" indent="0" algn="r">
              <a:buNone/>
            </a:pPr>
            <a:r>
              <a:rPr lang="en-US" sz="900" dirty="0">
                <a:solidFill>
                  <a:srgbClr val="FFFFFF"/>
                </a:solidFill>
                <a:latin typeface="Calibri" pitchFamily="34" charset="0"/>
                <a:ea typeface="Calibri" pitchFamily="34" charset="-122"/>
                <a:cs typeface="Calibri" pitchFamily="34" charset="-120"/>
              </a:rPr>
              <a:t>35 / 43</a:t>
            </a:r>
            <a:endParaRPr lang="en-US" sz="900" dirty="0"/>
          </a:p>
        </p:txBody>
      </p:sp>
      <p:sp>
        <p:nvSpPr>
          <p:cNvPr id="12" name="Text 10"/>
          <p:cNvSpPr txBox="1"/>
          <p:nvPr/>
        </p:nvSpPr>
        <p:spPr>
          <a:xfrm>
            <a:off x="566928" y="1298448"/>
            <a:ext cx="5669280" cy="274320"/>
          </a:xfrm>
          <a:prstGeom prst="rect">
            <a:avLst/>
          </a:prstGeom>
          <a:noFill/>
          <a:ln/>
        </p:spPr>
        <p:txBody>
          <a:bodyPr wrap="square" lIns="0" tIns="0" rIns="0" bIns="0" rtlCol="0" anchor="t"/>
          <a:lstStyle/>
          <a:p>
            <a:pPr marL="0" indent="0">
              <a:lnSpc>
                <a:spcPct val="106000"/>
              </a:lnSpc>
              <a:buNone/>
            </a:pPr>
            <a:r>
              <a:rPr lang="en-US" sz="1500" b="1" dirty="0">
                <a:solidFill>
                  <a:srgbClr val="000000"/>
                </a:solidFill>
                <a:latin typeface="Calibri" pitchFamily="34" charset="0"/>
                <a:ea typeface="Calibri" pitchFamily="34" charset="-122"/>
                <a:cs typeface="Calibri" pitchFamily="34" charset="-120"/>
              </a:rPr>
              <a:t>Addressing Literature Gaps:</a:t>
            </a:r>
            <a:endParaRPr lang="en-US" sz="1500" dirty="0"/>
          </a:p>
        </p:txBody>
      </p:sp>
      <p:sp>
        <p:nvSpPr>
          <p:cNvPr id="13" name="Text 11"/>
          <p:cNvSpPr txBox="1"/>
          <p:nvPr/>
        </p:nvSpPr>
        <p:spPr>
          <a:xfrm>
            <a:off x="749808" y="1664208"/>
            <a:ext cx="5486400" cy="2743200"/>
          </a:xfrm>
          <a:prstGeom prst="rect">
            <a:avLst/>
          </a:prstGeom>
          <a:noFill/>
          <a:ln/>
        </p:spPr>
        <p:txBody>
          <a:bodyPr wrap="square" lIns="0" tIns="0" rIns="0" bIns="0" rtlCol="0" anchor="t"/>
          <a:lstStyle/>
          <a:p>
            <a:pPr marL="177800" indent="-177800">
              <a:lnSpc>
                <a:spcPct val="106000"/>
              </a:lnSpc>
              <a:spcAft>
                <a:spcPts val="800"/>
              </a:spcAft>
              <a:buSzPct val="100000"/>
              <a:buChar char="•"/>
            </a:pPr>
            <a:r>
              <a:rPr lang="en-US" sz="1300" b="1" dirty="0">
                <a:solidFill>
                  <a:srgbClr val="000000"/>
                </a:solidFill>
                <a:latin typeface="Calibri" pitchFamily="34" charset="0"/>
                <a:ea typeface="Calibri" pitchFamily="34" charset="-122"/>
                <a:cs typeface="Calibri" pitchFamily="34" charset="-120"/>
              </a:rPr>
              <a:t>Gap 1 closed. </a:t>
            </a:r>
            <a:r>
              <a:rPr lang="en-US" sz="1300" dirty="0">
                <a:solidFill>
                  <a:srgbClr val="000000"/>
                </a:solidFill>
                <a:latin typeface="Calibri" pitchFamily="34" charset="0"/>
                <a:ea typeface="Calibri" pitchFamily="34" charset="-122"/>
                <a:cs typeface="Calibri" pitchFamily="34" charset="-120"/>
              </a:rPr>
              <a:t>The single-fork pipeline isolates the emoji step, so the reported difference belongs to that step alone.</a:t>
            </a:r>
            <a:endParaRPr lang="en-US" sz="1300" dirty="0"/>
          </a:p>
          <a:p>
            <a:pPr marL="177800" indent="-177800">
              <a:lnSpc>
                <a:spcPct val="106000"/>
              </a:lnSpc>
              <a:spcAft>
                <a:spcPts val="800"/>
              </a:spcAft>
              <a:buSzPct val="100000"/>
              <a:buChar char="•"/>
            </a:pPr>
            <a:r>
              <a:rPr lang="en-US" sz="1300" b="1" dirty="0">
                <a:solidFill>
                  <a:srgbClr val="000000"/>
                </a:solidFill>
                <a:latin typeface="Calibri" pitchFamily="34" charset="0"/>
                <a:ea typeface="Calibri" pitchFamily="34" charset="-122"/>
                <a:cs typeface="Calibri" pitchFamily="34" charset="-120"/>
              </a:rPr>
              <a:t>Gap 2 closed. </a:t>
            </a:r>
            <a:r>
              <a:rPr lang="en-US" sz="1300" dirty="0">
                <a:solidFill>
                  <a:srgbClr val="000000"/>
                </a:solidFill>
                <a:latin typeface="Calibri" pitchFamily="34" charset="0"/>
                <a:ea typeface="Calibri" pitchFamily="34" charset="-122"/>
                <a:cs typeface="Calibri" pitchFamily="34" charset="-120"/>
              </a:rPr>
              <a:t>Per-emotion F1 is reported for all eleven labels, exposing a 15.9-point range the average hides.</a:t>
            </a:r>
            <a:endParaRPr lang="en-US" sz="1300" dirty="0"/>
          </a:p>
          <a:p>
            <a:pPr marL="177800" indent="-177800">
              <a:lnSpc>
                <a:spcPct val="106000"/>
              </a:lnSpc>
              <a:spcAft>
                <a:spcPts val="800"/>
              </a:spcAft>
              <a:buSzPct val="100000"/>
              <a:buChar char="•"/>
            </a:pPr>
            <a:r>
              <a:rPr lang="en-US" sz="1300" b="1" dirty="0">
                <a:solidFill>
                  <a:srgbClr val="000000"/>
                </a:solidFill>
                <a:latin typeface="Calibri" pitchFamily="34" charset="0"/>
                <a:ea typeface="Calibri" pitchFamily="34" charset="-122"/>
                <a:cs typeface="Calibri" pitchFamily="34" charset="-120"/>
              </a:rPr>
              <a:t>Gap 3 closed. </a:t>
            </a:r>
            <a:r>
              <a:rPr lang="en-US" sz="1300" dirty="0">
                <a:solidFill>
                  <a:srgbClr val="000000"/>
                </a:solidFill>
                <a:latin typeface="Calibri" pitchFamily="34" charset="0"/>
                <a:ea typeface="Calibri" pitchFamily="34" charset="-122"/>
                <a:cs typeface="Calibri" pitchFamily="34" charset="-120"/>
              </a:rPr>
              <a:t>Both factors were varied in one design, showing the effect is roughly 80% larger for the Transformer.</a:t>
            </a:r>
            <a:endParaRPr lang="en-US" sz="1300" dirty="0"/>
          </a:p>
          <a:p>
            <a:pPr marL="177800" indent="-177800">
              <a:lnSpc>
                <a:spcPct val="106000"/>
              </a:lnSpc>
              <a:spcAft>
                <a:spcPts val="800"/>
              </a:spcAft>
              <a:buSzPct val="100000"/>
              <a:buChar char="•"/>
            </a:pPr>
            <a:r>
              <a:rPr lang="en-US" sz="1300" b="1" dirty="0">
                <a:solidFill>
                  <a:srgbClr val="000000"/>
                </a:solidFill>
                <a:latin typeface="Calibri" pitchFamily="34" charset="0"/>
                <a:ea typeface="Calibri" pitchFamily="34" charset="-122"/>
                <a:cs typeface="Calibri" pitchFamily="34" charset="-120"/>
              </a:rPr>
              <a:t>Gap 4 closed. </a:t>
            </a:r>
            <a:r>
              <a:rPr lang="en-US" sz="1300" dirty="0">
                <a:solidFill>
                  <a:srgbClr val="000000"/>
                </a:solidFill>
                <a:latin typeface="Calibri" pitchFamily="34" charset="0"/>
                <a:ea typeface="Calibri" pitchFamily="34" charset="-122"/>
                <a:cs typeface="Calibri" pitchFamily="34" charset="-120"/>
              </a:rPr>
              <a:t>Emoji density was measured before modelling: 11.3% of training rows and 24.8% of development rows.</a:t>
            </a:r>
            <a:endParaRPr lang="en-US" sz="1300" dirty="0"/>
          </a:p>
        </p:txBody>
      </p:sp>
      <p:sp>
        <p:nvSpPr>
          <p:cNvPr id="14" name="Text 12"/>
          <p:cNvSpPr txBox="1"/>
          <p:nvPr/>
        </p:nvSpPr>
        <p:spPr>
          <a:xfrm>
            <a:off x="6400800" y="1298448"/>
            <a:ext cx="5221224" cy="274320"/>
          </a:xfrm>
          <a:prstGeom prst="rect">
            <a:avLst/>
          </a:prstGeom>
          <a:noFill/>
          <a:ln/>
        </p:spPr>
        <p:txBody>
          <a:bodyPr wrap="square" lIns="0" tIns="0" rIns="0" bIns="0" rtlCol="0" anchor="t"/>
          <a:lstStyle/>
          <a:p>
            <a:pPr marL="0" indent="0">
              <a:lnSpc>
                <a:spcPct val="106000"/>
              </a:lnSpc>
              <a:buNone/>
            </a:pPr>
            <a:r>
              <a:rPr lang="en-US" sz="1500" b="1" dirty="0">
                <a:solidFill>
                  <a:srgbClr val="000000"/>
                </a:solidFill>
                <a:latin typeface="Calibri" pitchFamily="34" charset="0"/>
                <a:ea typeface="Calibri" pitchFamily="34" charset="-122"/>
                <a:cs typeface="Calibri" pitchFamily="34" charset="-120"/>
              </a:rPr>
              <a:t>Objective Completion Mapping:</a:t>
            </a:r>
            <a:endParaRPr lang="en-US" sz="1500" dirty="0"/>
          </a:p>
        </p:txBody>
      </p:sp>
      <p:graphicFrame>
        <p:nvGraphicFramePr>
          <p:cNvPr id="36" name="Table 0"/>
          <p:cNvGraphicFramePr>
            <a:graphicFrameLocks noGrp="1"/>
          </p:cNvGraphicFramePr>
          <p:nvPr>
            <p:extLst>
              <p:ext uri="{D42A27DB-BD31-4B8C-83A1-F6EECF244321}">
                <p14:modId xmlns:p14="http://schemas.microsoft.com/office/powerpoint/2010/main" val="1579011935"/>
              </p:ext>
            </p:extLst>
          </p:nvPr>
        </p:nvGraphicFramePr>
        <p:xfrm>
          <a:off x="6400800" y="1664208"/>
          <a:ext cx="5221224" cy="3392424"/>
        </p:xfrm>
        <a:graphic>
          <a:graphicData uri="http://schemas.openxmlformats.org/drawingml/2006/table">
            <a:tbl>
              <a:tblPr/>
              <a:tblGrid>
                <a:gridCol w="1783080">
                  <a:extLst>
                    <a:ext uri="{9D8B030D-6E8A-4147-A177-3AD203B41FA5}">
                      <a16:colId xmlns:a16="http://schemas.microsoft.com/office/drawing/2014/main" val="20000"/>
                    </a:ext>
                  </a:extLst>
                </a:gridCol>
                <a:gridCol w="2770632">
                  <a:extLst>
                    <a:ext uri="{9D8B030D-6E8A-4147-A177-3AD203B41FA5}">
                      <a16:colId xmlns:a16="http://schemas.microsoft.com/office/drawing/2014/main" val="20001"/>
                    </a:ext>
                  </a:extLst>
                </a:gridCol>
                <a:gridCol w="667512">
                  <a:extLst>
                    <a:ext uri="{9D8B030D-6E8A-4147-A177-3AD203B41FA5}">
                      <a16:colId xmlns:a16="http://schemas.microsoft.com/office/drawing/2014/main" val="20002"/>
                    </a:ext>
                  </a:extLst>
                </a:gridCol>
              </a:tblGrid>
              <a:tr h="484632">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Objective</a:t>
                      </a:r>
                      <a:endParaRPr lang="en-US" sz="1200" dirty="0">
                        <a:latin typeface="Calibri" charset="0"/>
                        <a:ea typeface="Calibri" charset="0"/>
                        <a:cs typeface="Calibri" charset="0"/>
                      </a:endParaRPr>
                    </a:p>
                  </a:txBody>
                  <a:tcPr anchor="ctr">
                    <a:lnL w="9525" cap="flat" cmpd="sng" algn="ctr">
                      <a:solidFill>
                        <a:srgbClr val="C9CDD4"/>
                      </a:solidFill>
                      <a:prstDash val="solid"/>
                      <a:round/>
                      <a:headEnd type="none" w="med" len="med"/>
                      <a:tailEnd type="none" w="med" len="med"/>
                    </a:lnL>
                    <a:lnR w="9525" cap="flat" cmpd="sng" algn="ctr">
                      <a:solidFill>
                        <a:srgbClr val="C9CDD4"/>
                      </a:solidFill>
                      <a:prstDash val="solid"/>
                      <a:round/>
                      <a:headEnd type="none" w="med" len="med"/>
                      <a:tailEnd type="none" w="med" len="med"/>
                    </a:lnR>
                    <a:lnT w="9525" cap="flat" cmpd="sng" algn="ctr">
                      <a:solidFill>
                        <a:srgbClr val="C9CDD4"/>
                      </a:solidFill>
                      <a:prstDash val="solid"/>
                      <a:round/>
                      <a:headEnd type="none" w="med" len="med"/>
                      <a:tailEnd type="none" w="med" len="med"/>
                    </a:lnT>
                    <a:lnB w="9525" cap="flat" cmpd="sng" algn="ctr">
                      <a:solidFill>
                        <a:srgbClr val="C9CDD4"/>
                      </a:solidFill>
                      <a:prstDash val="solid"/>
                      <a:round/>
                      <a:headEnd type="none" w="med" len="med"/>
                      <a:tailEnd type="none" w="med" len="med"/>
                    </a:lnB>
                    <a:solidFill>
                      <a:srgbClr val="9A003B"/>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Outcome</a:t>
                      </a:r>
                      <a:endParaRPr lang="en-US" sz="1200" dirty="0">
                        <a:latin typeface="Calibri" charset="0"/>
                        <a:ea typeface="Calibri" charset="0"/>
                        <a:cs typeface="Calibri" charset="0"/>
                      </a:endParaRPr>
                    </a:p>
                  </a:txBody>
                  <a:tcPr anchor="ctr">
                    <a:lnL w="9525" cap="flat" cmpd="sng" algn="ctr">
                      <a:solidFill>
                        <a:srgbClr val="C9CDD4"/>
                      </a:solidFill>
                      <a:prstDash val="solid"/>
                      <a:round/>
                      <a:headEnd type="none" w="med" len="med"/>
                      <a:tailEnd type="none" w="med" len="med"/>
                    </a:lnL>
                    <a:lnR w="9525" cap="flat" cmpd="sng" algn="ctr">
                      <a:solidFill>
                        <a:srgbClr val="C9CDD4"/>
                      </a:solidFill>
                      <a:prstDash val="solid"/>
                      <a:round/>
                      <a:headEnd type="none" w="med" len="med"/>
                      <a:tailEnd type="none" w="med" len="med"/>
                    </a:lnR>
                    <a:lnT w="9525" cap="flat" cmpd="sng" algn="ctr">
                      <a:solidFill>
                        <a:srgbClr val="C9CDD4"/>
                      </a:solidFill>
                      <a:prstDash val="solid"/>
                      <a:round/>
                      <a:headEnd type="none" w="med" len="med"/>
                      <a:tailEnd type="none" w="med" len="med"/>
                    </a:lnT>
                    <a:lnB w="9525" cap="flat" cmpd="sng" algn="ctr">
                      <a:solidFill>
                        <a:srgbClr val="C9CDD4"/>
                      </a:solidFill>
                      <a:prstDash val="solid"/>
                      <a:round/>
                      <a:headEnd type="none" w="med" len="med"/>
                      <a:tailEnd type="none" w="med" len="med"/>
                    </a:lnB>
                    <a:solidFill>
                      <a:srgbClr val="9A003B"/>
                    </a:solidFill>
                  </a:tcPr>
                </a:tc>
                <a:tc>
                  <a:txBody>
                    <a:bodyPr/>
                    <a:lstStyle/>
                    <a:p>
                      <a:pPr marL="0" indent="0">
                        <a:buNone/>
                      </a:pPr>
                      <a:endParaRPr lang="en-US" sz="1200" dirty="0">
                        <a:latin typeface="Calibri" charset="0"/>
                        <a:ea typeface="Calibri" charset="0"/>
                        <a:cs typeface="Calibri" charset="0"/>
                      </a:endParaRPr>
                    </a:p>
                  </a:txBody>
                  <a:tcPr anchor="ctr">
                    <a:lnL w="9525" cap="flat" cmpd="sng" algn="ctr">
                      <a:solidFill>
                        <a:srgbClr val="C9CDD4"/>
                      </a:solidFill>
                      <a:prstDash val="solid"/>
                      <a:round/>
                      <a:headEnd type="none" w="med" len="med"/>
                      <a:tailEnd type="none" w="med" len="med"/>
                    </a:lnL>
                    <a:lnR w="9525" cap="flat" cmpd="sng" algn="ctr">
                      <a:solidFill>
                        <a:srgbClr val="C9CDD4"/>
                      </a:solidFill>
                      <a:prstDash val="solid"/>
                      <a:round/>
                      <a:headEnd type="none" w="med" len="med"/>
                      <a:tailEnd type="none" w="med" len="med"/>
                    </a:lnR>
                    <a:lnT w="9525" cap="flat" cmpd="sng" algn="ctr">
                      <a:solidFill>
                        <a:srgbClr val="C9CDD4"/>
                      </a:solidFill>
                      <a:prstDash val="solid"/>
                      <a:round/>
                      <a:headEnd type="none" w="med" len="med"/>
                      <a:tailEnd type="none" w="med" len="med"/>
                    </a:lnT>
                    <a:lnB w="9525" cap="flat" cmpd="sng" algn="ctr">
                      <a:solidFill>
                        <a:srgbClr val="C9CDD4"/>
                      </a:solidFill>
                      <a:prstDash val="solid"/>
                      <a:round/>
                      <a:headEnd type="none" w="med" len="med"/>
                      <a:tailEnd type="none" w="med" len="med"/>
                    </a:lnB>
                    <a:solidFill>
                      <a:srgbClr val="9A003B"/>
                    </a:solidFill>
                  </a:tcPr>
                </a:tc>
                <a:extLst>
                  <a:ext uri="{0D108BD9-81ED-4DB2-BD59-A6C34878D82A}">
                    <a16:rowId xmlns:a16="http://schemas.microsoft.com/office/drawing/2014/main" val="10000"/>
                  </a:ext>
                </a:extLst>
              </a:tr>
              <a:tr h="484632">
                <a:tc>
                  <a:txBody>
                    <a:bodyPr/>
                    <a:lstStyle/>
                    <a:p>
                      <a:pPr marL="0" indent="0">
                        <a:buNone/>
                      </a:pPr>
                      <a:r>
                        <a:rPr lang="en-US" sz="1100" dirty="0">
                          <a:solidFill>
                            <a:srgbClr val="000000"/>
                          </a:solidFill>
                          <a:latin typeface="Calibri" pitchFamily="34" charset="0"/>
                          <a:ea typeface="Calibri" pitchFamily="34" charset="-122"/>
                          <a:cs typeface="Calibri" pitchFamily="34" charset="-120"/>
                        </a:rPr>
                        <a:t>O1  Identify the gap</a:t>
                      </a:r>
                      <a:endParaRPr lang="en-US" sz="1100" dirty="0">
                        <a:latin typeface="Calibri" charset="0"/>
                        <a:ea typeface="Calibri" charset="0"/>
                        <a:cs typeface="Calibri" charset="0"/>
                      </a:endParaRPr>
                    </a:p>
                  </a:txBody>
                  <a:tcPr anchor="ctr">
                    <a:lnL w="9525" cap="flat" cmpd="sng" algn="ctr">
                      <a:solidFill>
                        <a:srgbClr val="C9CDD4"/>
                      </a:solidFill>
                      <a:prstDash val="solid"/>
                      <a:round/>
                      <a:headEnd type="none" w="med" len="med"/>
                      <a:tailEnd type="none" w="med" len="med"/>
                    </a:lnL>
                    <a:lnR w="9525" cap="flat" cmpd="sng" algn="ctr">
                      <a:solidFill>
                        <a:srgbClr val="C9CDD4"/>
                      </a:solidFill>
                      <a:prstDash val="solid"/>
                      <a:round/>
                      <a:headEnd type="none" w="med" len="med"/>
                      <a:tailEnd type="none" w="med" len="med"/>
                    </a:lnR>
                    <a:lnT w="9525" cap="flat" cmpd="sng" algn="ctr">
                      <a:solidFill>
                        <a:srgbClr val="C9CDD4"/>
                      </a:solidFill>
                      <a:prstDash val="solid"/>
                      <a:round/>
                      <a:headEnd type="none" w="med" len="med"/>
                      <a:tailEnd type="none" w="med" len="med"/>
                    </a:lnT>
                    <a:lnB w="9525" cap="flat" cmpd="sng" algn="ctr">
                      <a:solidFill>
                        <a:srgbClr val="C9CDD4"/>
                      </a:solidFill>
                      <a:prstDash val="solid"/>
                      <a:round/>
                      <a:headEnd type="none" w="med" len="med"/>
                      <a:tailEnd type="none" w="med" len="med"/>
                    </a:lnB>
                  </a:tcPr>
                </a:tc>
                <a:tc>
                  <a:txBody>
                    <a:bodyPr/>
                    <a:lstStyle/>
                    <a:p>
                      <a:pPr marL="0" indent="0">
                        <a:buNone/>
                      </a:pPr>
                      <a:r>
                        <a:rPr lang="en-US" sz="1100" dirty="0">
                          <a:solidFill>
                            <a:srgbClr val="000000"/>
                          </a:solidFill>
                          <a:latin typeface="Calibri" pitchFamily="34" charset="0"/>
                          <a:ea typeface="Calibri" pitchFamily="34" charset="-122"/>
                          <a:cs typeface="Calibri" pitchFamily="34" charset="-120"/>
                        </a:rPr>
                        <a:t>Four gaps stated and traced to design</a:t>
                      </a:r>
                      <a:endParaRPr lang="en-US" sz="1100" dirty="0">
                        <a:latin typeface="Calibri" charset="0"/>
                        <a:ea typeface="Calibri" charset="0"/>
                        <a:cs typeface="Calibri" charset="0"/>
                      </a:endParaRPr>
                    </a:p>
                  </a:txBody>
                  <a:tcPr anchor="ctr">
                    <a:lnL w="9525" cap="flat" cmpd="sng" algn="ctr">
                      <a:solidFill>
                        <a:srgbClr val="C9CDD4"/>
                      </a:solidFill>
                      <a:prstDash val="solid"/>
                      <a:round/>
                      <a:headEnd type="none" w="med" len="med"/>
                      <a:tailEnd type="none" w="med" len="med"/>
                    </a:lnL>
                    <a:lnR w="9525" cap="flat" cmpd="sng" algn="ctr">
                      <a:solidFill>
                        <a:srgbClr val="C9CDD4"/>
                      </a:solidFill>
                      <a:prstDash val="solid"/>
                      <a:round/>
                      <a:headEnd type="none" w="med" len="med"/>
                      <a:tailEnd type="none" w="med" len="med"/>
                    </a:lnR>
                    <a:lnT w="9525" cap="flat" cmpd="sng" algn="ctr">
                      <a:solidFill>
                        <a:srgbClr val="C9CDD4"/>
                      </a:solidFill>
                      <a:prstDash val="solid"/>
                      <a:round/>
                      <a:headEnd type="none" w="med" len="med"/>
                      <a:tailEnd type="none" w="med" len="med"/>
                    </a:lnT>
                    <a:lnB w="9525" cap="flat" cmpd="sng" algn="ctr">
                      <a:solidFill>
                        <a:srgbClr val="C9CDD4"/>
                      </a:solidFill>
                      <a:prstDash val="solid"/>
                      <a:round/>
                      <a:headEnd type="none" w="med" len="med"/>
                      <a:tailEnd type="none" w="med" len="med"/>
                    </a:lnB>
                  </a:tcPr>
                </a:tc>
                <a:tc>
                  <a:txBody>
                    <a:bodyPr/>
                    <a:lstStyle/>
                    <a:p>
                      <a:pPr marL="0" indent="0">
                        <a:buNone/>
                      </a:pPr>
                      <a:r>
                        <a:rPr lang="en-US" sz="1100" dirty="0">
                          <a:solidFill>
                            <a:srgbClr val="000000"/>
                          </a:solidFill>
                          <a:latin typeface="Calibri" pitchFamily="34" charset="0"/>
                          <a:ea typeface="Calibri" pitchFamily="34" charset="-122"/>
                          <a:cs typeface="Calibri" pitchFamily="34" charset="-120"/>
                        </a:rPr>
                        <a:t>Met</a:t>
                      </a:r>
                      <a:endParaRPr lang="en-US" sz="1100" dirty="0">
                        <a:latin typeface="Calibri" charset="0"/>
                        <a:ea typeface="Calibri" charset="0"/>
                        <a:cs typeface="Calibri" charset="0"/>
                      </a:endParaRPr>
                    </a:p>
                  </a:txBody>
                  <a:tcPr anchor="ctr">
                    <a:lnL w="9525" cap="flat" cmpd="sng" algn="ctr">
                      <a:solidFill>
                        <a:srgbClr val="C9CDD4"/>
                      </a:solidFill>
                      <a:prstDash val="solid"/>
                      <a:round/>
                      <a:headEnd type="none" w="med" len="med"/>
                      <a:tailEnd type="none" w="med" len="med"/>
                    </a:lnL>
                    <a:lnR w="9525" cap="flat" cmpd="sng" algn="ctr">
                      <a:solidFill>
                        <a:srgbClr val="C9CDD4"/>
                      </a:solidFill>
                      <a:prstDash val="solid"/>
                      <a:round/>
                      <a:headEnd type="none" w="med" len="med"/>
                      <a:tailEnd type="none" w="med" len="med"/>
                    </a:lnR>
                    <a:lnT w="9525" cap="flat" cmpd="sng" algn="ctr">
                      <a:solidFill>
                        <a:srgbClr val="C9CDD4"/>
                      </a:solidFill>
                      <a:prstDash val="solid"/>
                      <a:round/>
                      <a:headEnd type="none" w="med" len="med"/>
                      <a:tailEnd type="none" w="med" len="med"/>
                    </a:lnT>
                    <a:lnB w="9525" cap="flat" cmpd="sng" algn="ctr">
                      <a:solidFill>
                        <a:srgbClr val="C9CDD4"/>
                      </a:solidFill>
                      <a:prstDash val="solid"/>
                      <a:round/>
                      <a:headEnd type="none" w="med" len="med"/>
                      <a:tailEnd type="none" w="med" len="med"/>
                    </a:lnB>
                  </a:tcPr>
                </a:tc>
                <a:extLst>
                  <a:ext uri="{0D108BD9-81ED-4DB2-BD59-A6C34878D82A}">
                    <a16:rowId xmlns:a16="http://schemas.microsoft.com/office/drawing/2014/main" val="10001"/>
                  </a:ext>
                </a:extLst>
              </a:tr>
              <a:tr h="484632">
                <a:tc>
                  <a:txBody>
                    <a:bodyPr/>
                    <a:lstStyle/>
                    <a:p>
                      <a:pPr marL="0" indent="0">
                        <a:buNone/>
                      </a:pPr>
                      <a:r>
                        <a:rPr lang="en-US" sz="1100" dirty="0">
                          <a:solidFill>
                            <a:srgbClr val="000000"/>
                          </a:solidFill>
                          <a:latin typeface="Calibri" pitchFamily="34" charset="0"/>
                          <a:ea typeface="Calibri" pitchFamily="34" charset="-122"/>
                          <a:cs typeface="Calibri" pitchFamily="34" charset="-120"/>
                        </a:rPr>
                        <a:t>O2  Single-fork pipeline</a:t>
                      </a:r>
                      <a:endParaRPr lang="en-US" sz="1100" dirty="0">
                        <a:latin typeface="Calibri" charset="0"/>
                        <a:ea typeface="Calibri" charset="0"/>
                        <a:cs typeface="Calibri" charset="0"/>
                      </a:endParaRPr>
                    </a:p>
                  </a:txBody>
                  <a:tcPr anchor="ctr">
                    <a:lnL w="9525" cap="flat" cmpd="sng" algn="ctr">
                      <a:solidFill>
                        <a:srgbClr val="C9CDD4"/>
                      </a:solidFill>
                      <a:prstDash val="solid"/>
                      <a:round/>
                      <a:headEnd type="none" w="med" len="med"/>
                      <a:tailEnd type="none" w="med" len="med"/>
                    </a:lnL>
                    <a:lnR w="9525" cap="flat" cmpd="sng" algn="ctr">
                      <a:solidFill>
                        <a:srgbClr val="C9CDD4"/>
                      </a:solidFill>
                      <a:prstDash val="solid"/>
                      <a:round/>
                      <a:headEnd type="none" w="med" len="med"/>
                      <a:tailEnd type="none" w="med" len="med"/>
                    </a:lnR>
                    <a:lnT w="9525" cap="flat" cmpd="sng" algn="ctr">
                      <a:solidFill>
                        <a:srgbClr val="C9CDD4"/>
                      </a:solidFill>
                      <a:prstDash val="solid"/>
                      <a:round/>
                      <a:headEnd type="none" w="med" len="med"/>
                      <a:tailEnd type="none" w="med" len="med"/>
                    </a:lnT>
                    <a:lnB w="9525" cap="flat" cmpd="sng" algn="ctr">
                      <a:solidFill>
                        <a:srgbClr val="C9CDD4"/>
                      </a:solidFill>
                      <a:prstDash val="solid"/>
                      <a:round/>
                      <a:headEnd type="none" w="med" len="med"/>
                      <a:tailEnd type="none" w="med" len="med"/>
                    </a:lnB>
                  </a:tcPr>
                </a:tc>
                <a:tc>
                  <a:txBody>
                    <a:bodyPr/>
                    <a:lstStyle/>
                    <a:p>
                      <a:pPr marL="0" indent="0">
                        <a:buNone/>
                      </a:pPr>
                      <a:r>
                        <a:rPr lang="en-US" sz="1100" dirty="0">
                          <a:solidFill>
                            <a:srgbClr val="000000"/>
                          </a:solidFill>
                          <a:latin typeface="Calibri" pitchFamily="34" charset="0"/>
                          <a:ea typeface="Calibri" pitchFamily="34" charset="-122"/>
                          <a:cs typeface="Calibri" pitchFamily="34" charset="-120"/>
                        </a:rPr>
                        <a:t>Built; fixture test proves no drift</a:t>
                      </a:r>
                      <a:endParaRPr lang="en-US" sz="1100" dirty="0">
                        <a:latin typeface="Calibri" charset="0"/>
                        <a:ea typeface="Calibri" charset="0"/>
                        <a:cs typeface="Calibri" charset="0"/>
                      </a:endParaRPr>
                    </a:p>
                  </a:txBody>
                  <a:tcPr anchor="ctr">
                    <a:lnL w="9525" cap="flat" cmpd="sng" algn="ctr">
                      <a:solidFill>
                        <a:srgbClr val="C9CDD4"/>
                      </a:solidFill>
                      <a:prstDash val="solid"/>
                      <a:round/>
                      <a:headEnd type="none" w="med" len="med"/>
                      <a:tailEnd type="none" w="med" len="med"/>
                    </a:lnL>
                    <a:lnR w="9525" cap="flat" cmpd="sng" algn="ctr">
                      <a:solidFill>
                        <a:srgbClr val="C9CDD4"/>
                      </a:solidFill>
                      <a:prstDash val="solid"/>
                      <a:round/>
                      <a:headEnd type="none" w="med" len="med"/>
                      <a:tailEnd type="none" w="med" len="med"/>
                    </a:lnR>
                    <a:lnT w="9525" cap="flat" cmpd="sng" algn="ctr">
                      <a:solidFill>
                        <a:srgbClr val="C9CDD4"/>
                      </a:solidFill>
                      <a:prstDash val="solid"/>
                      <a:round/>
                      <a:headEnd type="none" w="med" len="med"/>
                      <a:tailEnd type="none" w="med" len="med"/>
                    </a:lnT>
                    <a:lnB w="9525" cap="flat" cmpd="sng" algn="ctr">
                      <a:solidFill>
                        <a:srgbClr val="C9CDD4"/>
                      </a:solidFill>
                      <a:prstDash val="solid"/>
                      <a:round/>
                      <a:headEnd type="none" w="med" len="med"/>
                      <a:tailEnd type="none" w="med" len="med"/>
                    </a:lnB>
                  </a:tcPr>
                </a:tc>
                <a:tc>
                  <a:txBody>
                    <a:bodyPr/>
                    <a:lstStyle/>
                    <a:p>
                      <a:pPr marL="0" indent="0">
                        <a:buNone/>
                      </a:pPr>
                      <a:r>
                        <a:rPr lang="en-US" sz="1100" dirty="0">
                          <a:solidFill>
                            <a:srgbClr val="000000"/>
                          </a:solidFill>
                          <a:latin typeface="Calibri" pitchFamily="34" charset="0"/>
                          <a:ea typeface="Calibri" pitchFamily="34" charset="-122"/>
                          <a:cs typeface="Calibri" pitchFamily="34" charset="-120"/>
                        </a:rPr>
                        <a:t>Met</a:t>
                      </a:r>
                      <a:endParaRPr lang="en-US" sz="1100" dirty="0">
                        <a:latin typeface="Calibri" charset="0"/>
                        <a:ea typeface="Calibri" charset="0"/>
                        <a:cs typeface="Calibri" charset="0"/>
                      </a:endParaRPr>
                    </a:p>
                  </a:txBody>
                  <a:tcPr anchor="ctr">
                    <a:lnL w="9525" cap="flat" cmpd="sng" algn="ctr">
                      <a:solidFill>
                        <a:srgbClr val="C9CDD4"/>
                      </a:solidFill>
                      <a:prstDash val="solid"/>
                      <a:round/>
                      <a:headEnd type="none" w="med" len="med"/>
                      <a:tailEnd type="none" w="med" len="med"/>
                    </a:lnL>
                    <a:lnR w="9525" cap="flat" cmpd="sng" algn="ctr">
                      <a:solidFill>
                        <a:srgbClr val="C9CDD4"/>
                      </a:solidFill>
                      <a:prstDash val="solid"/>
                      <a:round/>
                      <a:headEnd type="none" w="med" len="med"/>
                      <a:tailEnd type="none" w="med" len="med"/>
                    </a:lnR>
                    <a:lnT w="9525" cap="flat" cmpd="sng" algn="ctr">
                      <a:solidFill>
                        <a:srgbClr val="C9CDD4"/>
                      </a:solidFill>
                      <a:prstDash val="solid"/>
                      <a:round/>
                      <a:headEnd type="none" w="med" len="med"/>
                      <a:tailEnd type="none" w="med" len="med"/>
                    </a:lnT>
                    <a:lnB w="9525" cap="flat" cmpd="sng" algn="ctr">
                      <a:solidFill>
                        <a:srgbClr val="C9CDD4"/>
                      </a:solidFill>
                      <a:prstDash val="solid"/>
                      <a:round/>
                      <a:headEnd type="none" w="med" len="med"/>
                      <a:tailEnd type="none" w="med" len="med"/>
                    </a:lnB>
                  </a:tcPr>
                </a:tc>
                <a:extLst>
                  <a:ext uri="{0D108BD9-81ED-4DB2-BD59-A6C34878D82A}">
                    <a16:rowId xmlns:a16="http://schemas.microsoft.com/office/drawing/2014/main" val="10002"/>
                  </a:ext>
                </a:extLst>
              </a:tr>
              <a:tr h="484632">
                <a:tc>
                  <a:txBody>
                    <a:bodyPr/>
                    <a:lstStyle/>
                    <a:p>
                      <a:pPr marL="0" indent="0">
                        <a:buNone/>
                      </a:pPr>
                      <a:r>
                        <a:rPr lang="en-US" sz="1100" dirty="0">
                          <a:solidFill>
                            <a:srgbClr val="000000"/>
                          </a:solidFill>
                          <a:latin typeface="Calibri" pitchFamily="34" charset="0"/>
                          <a:ea typeface="Calibri" pitchFamily="34" charset="-122"/>
                          <a:cs typeface="Calibri" pitchFamily="34" charset="-120"/>
                        </a:rPr>
                        <a:t>O3  Two architectures</a:t>
                      </a:r>
                      <a:endParaRPr lang="en-US" sz="1100" dirty="0">
                        <a:latin typeface="Calibri" charset="0"/>
                        <a:ea typeface="Calibri" charset="0"/>
                        <a:cs typeface="Calibri" charset="0"/>
                      </a:endParaRPr>
                    </a:p>
                  </a:txBody>
                  <a:tcPr anchor="ctr">
                    <a:lnL w="9525" cap="flat" cmpd="sng" algn="ctr">
                      <a:solidFill>
                        <a:srgbClr val="C9CDD4"/>
                      </a:solidFill>
                      <a:prstDash val="solid"/>
                      <a:round/>
                      <a:headEnd type="none" w="med" len="med"/>
                      <a:tailEnd type="none" w="med" len="med"/>
                    </a:lnL>
                    <a:lnR w="9525" cap="flat" cmpd="sng" algn="ctr">
                      <a:solidFill>
                        <a:srgbClr val="C9CDD4"/>
                      </a:solidFill>
                      <a:prstDash val="solid"/>
                      <a:round/>
                      <a:headEnd type="none" w="med" len="med"/>
                      <a:tailEnd type="none" w="med" len="med"/>
                    </a:lnR>
                    <a:lnT w="9525" cap="flat" cmpd="sng" algn="ctr">
                      <a:solidFill>
                        <a:srgbClr val="C9CDD4"/>
                      </a:solidFill>
                      <a:prstDash val="solid"/>
                      <a:round/>
                      <a:headEnd type="none" w="med" len="med"/>
                      <a:tailEnd type="none" w="med" len="med"/>
                    </a:lnT>
                    <a:lnB w="9525" cap="flat" cmpd="sng" algn="ctr">
                      <a:solidFill>
                        <a:srgbClr val="C9CDD4"/>
                      </a:solidFill>
                      <a:prstDash val="solid"/>
                      <a:round/>
                      <a:headEnd type="none" w="med" len="med"/>
                      <a:tailEnd type="none" w="med" len="med"/>
                    </a:lnB>
                  </a:tcPr>
                </a:tc>
                <a:tc>
                  <a:txBody>
                    <a:bodyPr/>
                    <a:lstStyle/>
                    <a:p>
                      <a:pPr marL="0" indent="0">
                        <a:buNone/>
                      </a:pPr>
                      <a:r>
                        <a:rPr lang="en-US" sz="1100" dirty="0">
                          <a:solidFill>
                            <a:srgbClr val="000000"/>
                          </a:solidFill>
                          <a:latin typeface="Calibri" pitchFamily="34" charset="0"/>
                          <a:ea typeface="Calibri" pitchFamily="34" charset="-122"/>
                          <a:cs typeface="Calibri" pitchFamily="34" charset="-120"/>
                        </a:rPr>
                        <a:t>Identical protocol on both tracks</a:t>
                      </a:r>
                      <a:endParaRPr lang="en-US" sz="1100" dirty="0">
                        <a:latin typeface="Calibri" charset="0"/>
                        <a:ea typeface="Calibri" charset="0"/>
                        <a:cs typeface="Calibri" charset="0"/>
                      </a:endParaRPr>
                    </a:p>
                  </a:txBody>
                  <a:tcPr anchor="ctr">
                    <a:lnL w="9525" cap="flat" cmpd="sng" algn="ctr">
                      <a:solidFill>
                        <a:srgbClr val="C9CDD4"/>
                      </a:solidFill>
                      <a:prstDash val="solid"/>
                      <a:round/>
                      <a:headEnd type="none" w="med" len="med"/>
                      <a:tailEnd type="none" w="med" len="med"/>
                    </a:lnL>
                    <a:lnR w="9525" cap="flat" cmpd="sng" algn="ctr">
                      <a:solidFill>
                        <a:srgbClr val="C9CDD4"/>
                      </a:solidFill>
                      <a:prstDash val="solid"/>
                      <a:round/>
                      <a:headEnd type="none" w="med" len="med"/>
                      <a:tailEnd type="none" w="med" len="med"/>
                    </a:lnR>
                    <a:lnT w="9525" cap="flat" cmpd="sng" algn="ctr">
                      <a:solidFill>
                        <a:srgbClr val="C9CDD4"/>
                      </a:solidFill>
                      <a:prstDash val="solid"/>
                      <a:round/>
                      <a:headEnd type="none" w="med" len="med"/>
                      <a:tailEnd type="none" w="med" len="med"/>
                    </a:lnT>
                    <a:lnB w="9525" cap="flat" cmpd="sng" algn="ctr">
                      <a:solidFill>
                        <a:srgbClr val="C9CDD4"/>
                      </a:solidFill>
                      <a:prstDash val="solid"/>
                      <a:round/>
                      <a:headEnd type="none" w="med" len="med"/>
                      <a:tailEnd type="none" w="med" len="med"/>
                    </a:lnB>
                  </a:tcPr>
                </a:tc>
                <a:tc>
                  <a:txBody>
                    <a:bodyPr/>
                    <a:lstStyle/>
                    <a:p>
                      <a:pPr marL="0" indent="0">
                        <a:buNone/>
                      </a:pPr>
                      <a:r>
                        <a:rPr lang="en-US" sz="1100" dirty="0">
                          <a:solidFill>
                            <a:srgbClr val="000000"/>
                          </a:solidFill>
                          <a:latin typeface="Calibri" pitchFamily="34" charset="0"/>
                          <a:ea typeface="Calibri" pitchFamily="34" charset="-122"/>
                          <a:cs typeface="Calibri" pitchFamily="34" charset="-120"/>
                        </a:rPr>
                        <a:t>Met</a:t>
                      </a:r>
                      <a:endParaRPr lang="en-US" sz="1100" dirty="0">
                        <a:latin typeface="Calibri" charset="0"/>
                        <a:ea typeface="Calibri" charset="0"/>
                        <a:cs typeface="Calibri" charset="0"/>
                      </a:endParaRPr>
                    </a:p>
                  </a:txBody>
                  <a:tcPr anchor="ctr">
                    <a:lnL w="9525" cap="flat" cmpd="sng" algn="ctr">
                      <a:solidFill>
                        <a:srgbClr val="C9CDD4"/>
                      </a:solidFill>
                      <a:prstDash val="solid"/>
                      <a:round/>
                      <a:headEnd type="none" w="med" len="med"/>
                      <a:tailEnd type="none" w="med" len="med"/>
                    </a:lnL>
                    <a:lnR w="9525" cap="flat" cmpd="sng" algn="ctr">
                      <a:solidFill>
                        <a:srgbClr val="C9CDD4"/>
                      </a:solidFill>
                      <a:prstDash val="solid"/>
                      <a:round/>
                      <a:headEnd type="none" w="med" len="med"/>
                      <a:tailEnd type="none" w="med" len="med"/>
                    </a:lnR>
                    <a:lnT w="9525" cap="flat" cmpd="sng" algn="ctr">
                      <a:solidFill>
                        <a:srgbClr val="C9CDD4"/>
                      </a:solidFill>
                      <a:prstDash val="solid"/>
                      <a:round/>
                      <a:headEnd type="none" w="med" len="med"/>
                      <a:tailEnd type="none" w="med" len="med"/>
                    </a:lnT>
                    <a:lnB w="9525" cap="flat" cmpd="sng" algn="ctr">
                      <a:solidFill>
                        <a:srgbClr val="C9CDD4"/>
                      </a:solidFill>
                      <a:prstDash val="solid"/>
                      <a:round/>
                      <a:headEnd type="none" w="med" len="med"/>
                      <a:tailEnd type="none" w="med" len="med"/>
                    </a:lnB>
                  </a:tcPr>
                </a:tc>
                <a:extLst>
                  <a:ext uri="{0D108BD9-81ED-4DB2-BD59-A6C34878D82A}">
                    <a16:rowId xmlns:a16="http://schemas.microsoft.com/office/drawing/2014/main" val="10003"/>
                  </a:ext>
                </a:extLst>
              </a:tr>
              <a:tr h="484632">
                <a:tc>
                  <a:txBody>
                    <a:bodyPr/>
                    <a:lstStyle/>
                    <a:p>
                      <a:pPr marL="0" indent="0">
                        <a:buNone/>
                      </a:pPr>
                      <a:r>
                        <a:rPr lang="en-US" sz="1100" dirty="0">
                          <a:solidFill>
                            <a:srgbClr val="000000"/>
                          </a:solidFill>
                          <a:latin typeface="Calibri" pitchFamily="34" charset="0"/>
                          <a:ea typeface="Calibri" pitchFamily="34" charset="-122"/>
                          <a:cs typeface="Calibri" pitchFamily="34" charset="-120"/>
                        </a:rPr>
                        <a:t>O4  Tune with imbalance</a:t>
                      </a:r>
                      <a:endParaRPr lang="en-US" sz="1100" dirty="0">
                        <a:latin typeface="Calibri" charset="0"/>
                        <a:ea typeface="Calibri" charset="0"/>
                        <a:cs typeface="Calibri" charset="0"/>
                      </a:endParaRPr>
                    </a:p>
                  </a:txBody>
                  <a:tcPr anchor="ctr">
                    <a:lnL w="9525" cap="flat" cmpd="sng" algn="ctr">
                      <a:solidFill>
                        <a:srgbClr val="C9CDD4"/>
                      </a:solidFill>
                      <a:prstDash val="solid"/>
                      <a:round/>
                      <a:headEnd type="none" w="med" len="med"/>
                      <a:tailEnd type="none" w="med" len="med"/>
                    </a:lnL>
                    <a:lnR w="9525" cap="flat" cmpd="sng" algn="ctr">
                      <a:solidFill>
                        <a:srgbClr val="C9CDD4"/>
                      </a:solidFill>
                      <a:prstDash val="solid"/>
                      <a:round/>
                      <a:headEnd type="none" w="med" len="med"/>
                      <a:tailEnd type="none" w="med" len="med"/>
                    </a:lnR>
                    <a:lnT w="9525" cap="flat" cmpd="sng" algn="ctr">
                      <a:solidFill>
                        <a:srgbClr val="C9CDD4"/>
                      </a:solidFill>
                      <a:prstDash val="solid"/>
                      <a:round/>
                      <a:headEnd type="none" w="med" len="med"/>
                      <a:tailEnd type="none" w="med" len="med"/>
                    </a:lnT>
                    <a:lnB w="9525" cap="flat" cmpd="sng" algn="ctr">
                      <a:solidFill>
                        <a:srgbClr val="C9CDD4"/>
                      </a:solidFill>
                      <a:prstDash val="solid"/>
                      <a:round/>
                      <a:headEnd type="none" w="med" len="med"/>
                      <a:tailEnd type="none" w="med" len="med"/>
                    </a:lnB>
                  </a:tcPr>
                </a:tc>
                <a:tc>
                  <a:txBody>
                    <a:bodyPr/>
                    <a:lstStyle/>
                    <a:p>
                      <a:pPr marL="0" indent="0">
                        <a:buNone/>
                      </a:pPr>
                      <a:r>
                        <a:rPr lang="en-US" sz="1100" dirty="0">
                          <a:solidFill>
                            <a:srgbClr val="000000"/>
                          </a:solidFill>
                          <a:latin typeface="Calibri" pitchFamily="34" charset="0"/>
                          <a:ea typeface="Calibri" pitchFamily="34" charset="-122"/>
                          <a:cs typeface="Calibri" pitchFamily="34" charset="-120"/>
                        </a:rPr>
                        <a:t>Weighted loss plus threshold sweep</a:t>
                      </a:r>
                      <a:endParaRPr lang="en-US" sz="1100" dirty="0">
                        <a:latin typeface="Calibri" charset="0"/>
                        <a:ea typeface="Calibri" charset="0"/>
                        <a:cs typeface="Calibri" charset="0"/>
                      </a:endParaRPr>
                    </a:p>
                  </a:txBody>
                  <a:tcPr anchor="ctr">
                    <a:lnL w="9525" cap="flat" cmpd="sng" algn="ctr">
                      <a:solidFill>
                        <a:srgbClr val="C9CDD4"/>
                      </a:solidFill>
                      <a:prstDash val="solid"/>
                      <a:round/>
                      <a:headEnd type="none" w="med" len="med"/>
                      <a:tailEnd type="none" w="med" len="med"/>
                    </a:lnL>
                    <a:lnR w="9525" cap="flat" cmpd="sng" algn="ctr">
                      <a:solidFill>
                        <a:srgbClr val="C9CDD4"/>
                      </a:solidFill>
                      <a:prstDash val="solid"/>
                      <a:round/>
                      <a:headEnd type="none" w="med" len="med"/>
                      <a:tailEnd type="none" w="med" len="med"/>
                    </a:lnR>
                    <a:lnT w="9525" cap="flat" cmpd="sng" algn="ctr">
                      <a:solidFill>
                        <a:srgbClr val="C9CDD4"/>
                      </a:solidFill>
                      <a:prstDash val="solid"/>
                      <a:round/>
                      <a:headEnd type="none" w="med" len="med"/>
                      <a:tailEnd type="none" w="med" len="med"/>
                    </a:lnT>
                    <a:lnB w="9525" cap="flat" cmpd="sng" algn="ctr">
                      <a:solidFill>
                        <a:srgbClr val="C9CDD4"/>
                      </a:solidFill>
                      <a:prstDash val="solid"/>
                      <a:round/>
                      <a:headEnd type="none" w="med" len="med"/>
                      <a:tailEnd type="none" w="med" len="med"/>
                    </a:lnB>
                  </a:tcPr>
                </a:tc>
                <a:tc>
                  <a:txBody>
                    <a:bodyPr/>
                    <a:lstStyle/>
                    <a:p>
                      <a:pPr marL="0" indent="0">
                        <a:buNone/>
                      </a:pPr>
                      <a:r>
                        <a:rPr lang="en-US" sz="1100" dirty="0">
                          <a:solidFill>
                            <a:srgbClr val="000000"/>
                          </a:solidFill>
                          <a:latin typeface="Calibri" pitchFamily="34" charset="0"/>
                          <a:ea typeface="Calibri" pitchFamily="34" charset="-122"/>
                          <a:cs typeface="Calibri" pitchFamily="34" charset="-120"/>
                        </a:rPr>
                        <a:t>Met</a:t>
                      </a:r>
                      <a:endParaRPr lang="en-US" sz="1100" dirty="0">
                        <a:latin typeface="Calibri" charset="0"/>
                        <a:ea typeface="Calibri" charset="0"/>
                        <a:cs typeface="Calibri" charset="0"/>
                      </a:endParaRPr>
                    </a:p>
                  </a:txBody>
                  <a:tcPr anchor="ctr">
                    <a:lnL w="9525" cap="flat" cmpd="sng" algn="ctr">
                      <a:solidFill>
                        <a:srgbClr val="C9CDD4"/>
                      </a:solidFill>
                      <a:prstDash val="solid"/>
                      <a:round/>
                      <a:headEnd type="none" w="med" len="med"/>
                      <a:tailEnd type="none" w="med" len="med"/>
                    </a:lnL>
                    <a:lnR w="9525" cap="flat" cmpd="sng" algn="ctr">
                      <a:solidFill>
                        <a:srgbClr val="C9CDD4"/>
                      </a:solidFill>
                      <a:prstDash val="solid"/>
                      <a:round/>
                      <a:headEnd type="none" w="med" len="med"/>
                      <a:tailEnd type="none" w="med" len="med"/>
                    </a:lnR>
                    <a:lnT w="9525" cap="flat" cmpd="sng" algn="ctr">
                      <a:solidFill>
                        <a:srgbClr val="C9CDD4"/>
                      </a:solidFill>
                      <a:prstDash val="solid"/>
                      <a:round/>
                      <a:headEnd type="none" w="med" len="med"/>
                      <a:tailEnd type="none" w="med" len="med"/>
                    </a:lnT>
                    <a:lnB w="9525" cap="flat" cmpd="sng" algn="ctr">
                      <a:solidFill>
                        <a:srgbClr val="C9CDD4"/>
                      </a:solidFill>
                      <a:prstDash val="solid"/>
                      <a:round/>
                      <a:headEnd type="none" w="med" len="med"/>
                      <a:tailEnd type="none" w="med" len="med"/>
                    </a:lnB>
                  </a:tcPr>
                </a:tc>
                <a:extLst>
                  <a:ext uri="{0D108BD9-81ED-4DB2-BD59-A6C34878D82A}">
                    <a16:rowId xmlns:a16="http://schemas.microsoft.com/office/drawing/2014/main" val="10004"/>
                  </a:ext>
                </a:extLst>
              </a:tr>
              <a:tr h="484632">
                <a:tc>
                  <a:txBody>
                    <a:bodyPr/>
                    <a:lstStyle/>
                    <a:p>
                      <a:pPr marL="0" indent="0">
                        <a:buNone/>
                      </a:pPr>
                      <a:r>
                        <a:rPr lang="en-US" sz="1100" dirty="0">
                          <a:solidFill>
                            <a:srgbClr val="000000"/>
                          </a:solidFill>
                          <a:latin typeface="Calibri" pitchFamily="34" charset="0"/>
                          <a:ea typeface="Calibri" pitchFamily="34" charset="-122"/>
                          <a:cs typeface="Calibri" pitchFamily="34" charset="-120"/>
                        </a:rPr>
                        <a:t>O5  Evaluate and compare</a:t>
                      </a:r>
                      <a:endParaRPr lang="en-US" sz="1100" dirty="0">
                        <a:latin typeface="Calibri" charset="0"/>
                        <a:ea typeface="Calibri" charset="0"/>
                        <a:cs typeface="Calibri" charset="0"/>
                      </a:endParaRPr>
                    </a:p>
                  </a:txBody>
                  <a:tcPr anchor="ctr">
                    <a:lnL w="9525" cap="flat" cmpd="sng" algn="ctr">
                      <a:solidFill>
                        <a:srgbClr val="C9CDD4"/>
                      </a:solidFill>
                      <a:prstDash val="solid"/>
                      <a:round/>
                      <a:headEnd type="none" w="med" len="med"/>
                      <a:tailEnd type="none" w="med" len="med"/>
                    </a:lnL>
                    <a:lnR w="9525" cap="flat" cmpd="sng" algn="ctr">
                      <a:solidFill>
                        <a:srgbClr val="C9CDD4"/>
                      </a:solidFill>
                      <a:prstDash val="solid"/>
                      <a:round/>
                      <a:headEnd type="none" w="med" len="med"/>
                      <a:tailEnd type="none" w="med" len="med"/>
                    </a:lnR>
                    <a:lnT w="9525" cap="flat" cmpd="sng" algn="ctr">
                      <a:solidFill>
                        <a:srgbClr val="C9CDD4"/>
                      </a:solidFill>
                      <a:prstDash val="solid"/>
                      <a:round/>
                      <a:headEnd type="none" w="med" len="med"/>
                      <a:tailEnd type="none" w="med" len="med"/>
                    </a:lnT>
                    <a:lnB w="9525" cap="flat" cmpd="sng" algn="ctr">
                      <a:solidFill>
                        <a:srgbClr val="C9CDD4"/>
                      </a:solidFill>
                      <a:prstDash val="solid"/>
                      <a:round/>
                      <a:headEnd type="none" w="med" len="med"/>
                      <a:tailEnd type="none" w="med" len="med"/>
                    </a:lnB>
                  </a:tcPr>
                </a:tc>
                <a:tc>
                  <a:txBody>
                    <a:bodyPr/>
                    <a:lstStyle/>
                    <a:p>
                      <a:pPr marL="0" indent="0">
                        <a:buNone/>
                      </a:pPr>
                      <a:r>
                        <a:rPr lang="en-US" sz="1100" dirty="0">
                          <a:solidFill>
                            <a:srgbClr val="000000"/>
                          </a:solidFill>
                          <a:latin typeface="Calibri" pitchFamily="34" charset="0"/>
                          <a:ea typeface="Calibri" pitchFamily="34" charset="-122"/>
                          <a:cs typeface="Calibri" pitchFamily="34" charset="-120"/>
                        </a:rPr>
                        <a:t>Four conditions scored; difference computed</a:t>
                      </a:r>
                      <a:endParaRPr lang="en-US" sz="1100" dirty="0">
                        <a:latin typeface="Calibri" charset="0"/>
                        <a:ea typeface="Calibri" charset="0"/>
                        <a:cs typeface="Calibri" charset="0"/>
                      </a:endParaRPr>
                    </a:p>
                  </a:txBody>
                  <a:tcPr anchor="ctr">
                    <a:lnL w="9525" cap="flat" cmpd="sng" algn="ctr">
                      <a:solidFill>
                        <a:srgbClr val="C9CDD4"/>
                      </a:solidFill>
                      <a:prstDash val="solid"/>
                      <a:round/>
                      <a:headEnd type="none" w="med" len="med"/>
                      <a:tailEnd type="none" w="med" len="med"/>
                    </a:lnL>
                    <a:lnR w="9525" cap="flat" cmpd="sng" algn="ctr">
                      <a:solidFill>
                        <a:srgbClr val="C9CDD4"/>
                      </a:solidFill>
                      <a:prstDash val="solid"/>
                      <a:round/>
                      <a:headEnd type="none" w="med" len="med"/>
                      <a:tailEnd type="none" w="med" len="med"/>
                    </a:lnR>
                    <a:lnT w="9525" cap="flat" cmpd="sng" algn="ctr">
                      <a:solidFill>
                        <a:srgbClr val="C9CDD4"/>
                      </a:solidFill>
                      <a:prstDash val="solid"/>
                      <a:round/>
                      <a:headEnd type="none" w="med" len="med"/>
                      <a:tailEnd type="none" w="med" len="med"/>
                    </a:lnT>
                    <a:lnB w="9525" cap="flat" cmpd="sng" algn="ctr">
                      <a:solidFill>
                        <a:srgbClr val="C9CDD4"/>
                      </a:solidFill>
                      <a:prstDash val="solid"/>
                      <a:round/>
                      <a:headEnd type="none" w="med" len="med"/>
                      <a:tailEnd type="none" w="med" len="med"/>
                    </a:lnB>
                  </a:tcPr>
                </a:tc>
                <a:tc>
                  <a:txBody>
                    <a:bodyPr/>
                    <a:lstStyle/>
                    <a:p>
                      <a:pPr marL="0" indent="0">
                        <a:buNone/>
                      </a:pPr>
                      <a:r>
                        <a:rPr lang="en-US" sz="1100" dirty="0">
                          <a:solidFill>
                            <a:srgbClr val="000000"/>
                          </a:solidFill>
                          <a:latin typeface="Calibri" pitchFamily="34" charset="0"/>
                          <a:ea typeface="Calibri" pitchFamily="34" charset="-122"/>
                          <a:cs typeface="Calibri" pitchFamily="34" charset="-120"/>
                        </a:rPr>
                        <a:t>Met</a:t>
                      </a:r>
                      <a:endParaRPr lang="en-US" sz="1100" dirty="0">
                        <a:latin typeface="Calibri" charset="0"/>
                        <a:ea typeface="Calibri" charset="0"/>
                        <a:cs typeface="Calibri" charset="0"/>
                      </a:endParaRPr>
                    </a:p>
                  </a:txBody>
                  <a:tcPr anchor="ctr">
                    <a:lnL w="9525" cap="flat" cmpd="sng" algn="ctr">
                      <a:solidFill>
                        <a:srgbClr val="C9CDD4"/>
                      </a:solidFill>
                      <a:prstDash val="solid"/>
                      <a:round/>
                      <a:headEnd type="none" w="med" len="med"/>
                      <a:tailEnd type="none" w="med" len="med"/>
                    </a:lnL>
                    <a:lnR w="9525" cap="flat" cmpd="sng" algn="ctr">
                      <a:solidFill>
                        <a:srgbClr val="C9CDD4"/>
                      </a:solidFill>
                      <a:prstDash val="solid"/>
                      <a:round/>
                      <a:headEnd type="none" w="med" len="med"/>
                      <a:tailEnd type="none" w="med" len="med"/>
                    </a:lnR>
                    <a:lnT w="9525" cap="flat" cmpd="sng" algn="ctr">
                      <a:solidFill>
                        <a:srgbClr val="C9CDD4"/>
                      </a:solidFill>
                      <a:prstDash val="solid"/>
                      <a:round/>
                      <a:headEnd type="none" w="med" len="med"/>
                      <a:tailEnd type="none" w="med" len="med"/>
                    </a:lnT>
                    <a:lnB w="9525" cap="flat" cmpd="sng" algn="ctr">
                      <a:solidFill>
                        <a:srgbClr val="C9CDD4"/>
                      </a:solidFill>
                      <a:prstDash val="solid"/>
                      <a:round/>
                      <a:headEnd type="none" w="med" len="med"/>
                      <a:tailEnd type="none" w="med" len="med"/>
                    </a:lnB>
                  </a:tcPr>
                </a:tc>
                <a:extLst>
                  <a:ext uri="{0D108BD9-81ED-4DB2-BD59-A6C34878D82A}">
                    <a16:rowId xmlns:a16="http://schemas.microsoft.com/office/drawing/2014/main" val="10005"/>
                  </a:ext>
                </a:extLst>
              </a:tr>
              <a:tr h="484632">
                <a:tc>
                  <a:txBody>
                    <a:bodyPr/>
                    <a:lstStyle/>
                    <a:p>
                      <a:pPr marL="0" indent="0">
                        <a:buNone/>
                      </a:pPr>
                      <a:r>
                        <a:rPr lang="en-US" sz="1100" dirty="0">
                          <a:solidFill>
                            <a:srgbClr val="000000"/>
                          </a:solidFill>
                          <a:latin typeface="Calibri" pitchFamily="34" charset="0"/>
                          <a:ea typeface="Calibri" pitchFamily="34" charset="-122"/>
                          <a:cs typeface="Calibri" pitchFamily="34" charset="-120"/>
                        </a:rPr>
                        <a:t>O6  Deliver an application</a:t>
                      </a:r>
                      <a:endParaRPr lang="en-US" sz="1100" dirty="0">
                        <a:latin typeface="Calibri" charset="0"/>
                        <a:ea typeface="Calibri" charset="0"/>
                        <a:cs typeface="Calibri" charset="0"/>
                      </a:endParaRPr>
                    </a:p>
                  </a:txBody>
                  <a:tcPr anchor="ctr">
                    <a:lnL w="9525" cap="flat" cmpd="sng" algn="ctr">
                      <a:solidFill>
                        <a:srgbClr val="C9CDD4"/>
                      </a:solidFill>
                      <a:prstDash val="solid"/>
                      <a:round/>
                      <a:headEnd type="none" w="med" len="med"/>
                      <a:tailEnd type="none" w="med" len="med"/>
                    </a:lnL>
                    <a:lnR w="9525" cap="flat" cmpd="sng" algn="ctr">
                      <a:solidFill>
                        <a:srgbClr val="C9CDD4"/>
                      </a:solidFill>
                      <a:prstDash val="solid"/>
                      <a:round/>
                      <a:headEnd type="none" w="med" len="med"/>
                      <a:tailEnd type="none" w="med" len="med"/>
                    </a:lnR>
                    <a:lnT w="9525" cap="flat" cmpd="sng" algn="ctr">
                      <a:solidFill>
                        <a:srgbClr val="C9CDD4"/>
                      </a:solidFill>
                      <a:prstDash val="solid"/>
                      <a:round/>
                      <a:headEnd type="none" w="med" len="med"/>
                      <a:tailEnd type="none" w="med" len="med"/>
                    </a:lnT>
                    <a:lnB w="9525" cap="flat" cmpd="sng" algn="ctr">
                      <a:solidFill>
                        <a:srgbClr val="C9CDD4"/>
                      </a:solidFill>
                      <a:prstDash val="solid"/>
                      <a:round/>
                      <a:headEnd type="none" w="med" len="med"/>
                      <a:tailEnd type="none" w="med" len="med"/>
                    </a:lnB>
                  </a:tcPr>
                </a:tc>
                <a:tc>
                  <a:txBody>
                    <a:bodyPr/>
                    <a:lstStyle/>
                    <a:p>
                      <a:pPr marL="0" indent="0">
                        <a:buNone/>
                      </a:pPr>
                      <a:r>
                        <a:rPr lang="en-US" sz="1100" dirty="0">
                          <a:solidFill>
                            <a:srgbClr val="000000"/>
                          </a:solidFill>
                          <a:latin typeface="Calibri" pitchFamily="34" charset="0"/>
                          <a:ea typeface="Calibri" pitchFamily="34" charset="-122"/>
                          <a:cs typeface="Calibri" pitchFamily="34" charset="-120"/>
                        </a:rPr>
                        <a:t>Delivered; twelve test cases passed</a:t>
                      </a:r>
                      <a:endParaRPr lang="en-US" sz="1100" dirty="0">
                        <a:latin typeface="Calibri" charset="0"/>
                        <a:ea typeface="Calibri" charset="0"/>
                        <a:cs typeface="Calibri" charset="0"/>
                      </a:endParaRPr>
                    </a:p>
                  </a:txBody>
                  <a:tcPr anchor="ctr">
                    <a:lnL w="9525" cap="flat" cmpd="sng" algn="ctr">
                      <a:solidFill>
                        <a:srgbClr val="C9CDD4"/>
                      </a:solidFill>
                      <a:prstDash val="solid"/>
                      <a:round/>
                      <a:headEnd type="none" w="med" len="med"/>
                      <a:tailEnd type="none" w="med" len="med"/>
                    </a:lnL>
                    <a:lnR w="9525" cap="flat" cmpd="sng" algn="ctr">
                      <a:solidFill>
                        <a:srgbClr val="C9CDD4"/>
                      </a:solidFill>
                      <a:prstDash val="solid"/>
                      <a:round/>
                      <a:headEnd type="none" w="med" len="med"/>
                      <a:tailEnd type="none" w="med" len="med"/>
                    </a:lnR>
                    <a:lnT w="9525" cap="flat" cmpd="sng" algn="ctr">
                      <a:solidFill>
                        <a:srgbClr val="C9CDD4"/>
                      </a:solidFill>
                      <a:prstDash val="solid"/>
                      <a:round/>
                      <a:headEnd type="none" w="med" len="med"/>
                      <a:tailEnd type="none" w="med" len="med"/>
                    </a:lnT>
                    <a:lnB w="9525" cap="flat" cmpd="sng" algn="ctr">
                      <a:solidFill>
                        <a:srgbClr val="C9CDD4"/>
                      </a:solidFill>
                      <a:prstDash val="solid"/>
                      <a:round/>
                      <a:headEnd type="none" w="med" len="med"/>
                      <a:tailEnd type="none" w="med" len="med"/>
                    </a:lnB>
                  </a:tcPr>
                </a:tc>
                <a:tc>
                  <a:txBody>
                    <a:bodyPr/>
                    <a:lstStyle/>
                    <a:p>
                      <a:pPr marL="0" indent="0">
                        <a:buNone/>
                      </a:pPr>
                      <a:r>
                        <a:rPr lang="en-US" sz="1100" dirty="0">
                          <a:solidFill>
                            <a:srgbClr val="000000"/>
                          </a:solidFill>
                          <a:latin typeface="Calibri" pitchFamily="34" charset="0"/>
                          <a:ea typeface="Calibri" pitchFamily="34" charset="-122"/>
                          <a:cs typeface="Calibri" pitchFamily="34" charset="-120"/>
                        </a:rPr>
                        <a:t>Met</a:t>
                      </a:r>
                      <a:endParaRPr lang="en-US" sz="1100" dirty="0">
                        <a:latin typeface="Calibri" charset="0"/>
                        <a:ea typeface="Calibri" charset="0"/>
                        <a:cs typeface="Calibri" charset="0"/>
                      </a:endParaRPr>
                    </a:p>
                  </a:txBody>
                  <a:tcPr anchor="ctr">
                    <a:lnL w="9525" cap="flat" cmpd="sng" algn="ctr">
                      <a:solidFill>
                        <a:srgbClr val="C9CDD4"/>
                      </a:solidFill>
                      <a:prstDash val="solid"/>
                      <a:round/>
                      <a:headEnd type="none" w="med" len="med"/>
                      <a:tailEnd type="none" w="med" len="med"/>
                    </a:lnL>
                    <a:lnR w="9525" cap="flat" cmpd="sng" algn="ctr">
                      <a:solidFill>
                        <a:srgbClr val="C9CDD4"/>
                      </a:solidFill>
                      <a:prstDash val="solid"/>
                      <a:round/>
                      <a:headEnd type="none" w="med" len="med"/>
                      <a:tailEnd type="none" w="med" len="med"/>
                    </a:lnR>
                    <a:lnT w="9525" cap="flat" cmpd="sng" algn="ctr">
                      <a:solidFill>
                        <a:srgbClr val="C9CDD4"/>
                      </a:solidFill>
                      <a:prstDash val="solid"/>
                      <a:round/>
                      <a:headEnd type="none" w="med" len="med"/>
                      <a:tailEnd type="none" w="med" len="med"/>
                    </a:lnT>
                    <a:lnB w="9525" cap="flat" cmpd="sng" algn="ctr">
                      <a:solidFill>
                        <a:srgbClr val="C9CDD4"/>
                      </a:solidFill>
                      <a:prstDash val="solid"/>
                      <a:round/>
                      <a:headEnd type="none" w="med" len="med"/>
                      <a:tailEnd type="none" w="med" len="med"/>
                    </a:lnB>
                  </a:tcPr>
                </a:tc>
                <a:extLst>
                  <a:ext uri="{0D108BD9-81ED-4DB2-BD59-A6C34878D82A}">
                    <a16:rowId xmlns:a16="http://schemas.microsoft.com/office/drawing/2014/main" val="10006"/>
                  </a:ext>
                </a:extLst>
              </a:tr>
            </a:tbl>
          </a:graphicData>
        </a:graphic>
      </p:graphicFrame>
      <p:sp>
        <p:nvSpPr>
          <p:cNvPr id="16" name="Shape 13"/>
          <p:cNvSpPr/>
          <p:nvPr/>
        </p:nvSpPr>
        <p:spPr>
          <a:xfrm>
            <a:off x="566928" y="4553712"/>
            <a:ext cx="5669280" cy="384048"/>
          </a:xfrm>
          <a:prstGeom prst="rect">
            <a:avLst/>
          </a:prstGeom>
          <a:solidFill>
            <a:srgbClr val="2764B4"/>
          </a:solidFill>
          <a:ln w="12700">
            <a:solidFill>
              <a:srgbClr val="2764B4"/>
            </a:solidFill>
            <a:prstDash val="solid"/>
          </a:ln>
        </p:spPr>
      </p:sp>
      <p:sp>
        <p:nvSpPr>
          <p:cNvPr id="17" name="Text 14"/>
          <p:cNvSpPr txBox="1"/>
          <p:nvPr/>
        </p:nvSpPr>
        <p:spPr>
          <a:xfrm>
            <a:off x="694944" y="4553712"/>
            <a:ext cx="5413248" cy="384048"/>
          </a:xfrm>
          <a:prstGeom prst="rect">
            <a:avLst/>
          </a:prstGeom>
          <a:noFill/>
          <a:ln/>
        </p:spPr>
        <p:txBody>
          <a:bodyPr wrap="square" lIns="0" tIns="0" rIns="0" bIns="0" rtlCol="0" anchor="ctr"/>
          <a:lstStyle/>
          <a:p>
            <a:pPr marL="0" indent="0">
              <a:buNone/>
            </a:pPr>
            <a:r>
              <a:rPr lang="en-US" sz="1500" b="1" dirty="0">
                <a:solidFill>
                  <a:srgbClr val="FFFFFF"/>
                </a:solidFill>
                <a:latin typeface="Calibri" pitchFamily="34" charset="0"/>
                <a:ea typeface="Calibri" pitchFamily="34" charset="-122"/>
                <a:cs typeface="Calibri" pitchFamily="34" charset="-120"/>
              </a:rPr>
              <a:t>All six objectives achieved</a:t>
            </a:r>
            <a:endParaRPr lang="en-US" sz="1500" dirty="0"/>
          </a:p>
        </p:txBody>
      </p:sp>
      <p:sp>
        <p:nvSpPr>
          <p:cNvPr id="18" name="Shape 15"/>
          <p:cNvSpPr/>
          <p:nvPr/>
        </p:nvSpPr>
        <p:spPr>
          <a:xfrm>
            <a:off x="566928" y="4937760"/>
            <a:ext cx="5669280" cy="576072"/>
          </a:xfrm>
          <a:prstGeom prst="rect">
            <a:avLst/>
          </a:prstGeom>
          <a:solidFill>
            <a:srgbClr val="F4DDE6"/>
          </a:solidFill>
          <a:ln/>
        </p:spPr>
      </p:sp>
      <p:sp>
        <p:nvSpPr>
          <p:cNvPr id="19" name="Text 16"/>
          <p:cNvSpPr txBox="1"/>
          <p:nvPr/>
        </p:nvSpPr>
        <p:spPr>
          <a:xfrm>
            <a:off x="768096" y="4983480"/>
            <a:ext cx="5266944" cy="502920"/>
          </a:xfrm>
          <a:prstGeom prst="rect">
            <a:avLst/>
          </a:prstGeom>
          <a:noFill/>
          <a:ln/>
        </p:spPr>
        <p:txBody>
          <a:bodyPr wrap="square" lIns="0" tIns="0" rIns="0" bIns="0" rtlCol="0" anchor="t"/>
          <a:lstStyle/>
          <a:p>
            <a:pPr marL="0" indent="0">
              <a:lnSpc>
                <a:spcPct val="106000"/>
              </a:lnSpc>
              <a:buNone/>
            </a:pPr>
            <a:r>
              <a:rPr lang="en-US" sz="1200" dirty="0">
                <a:solidFill>
                  <a:srgbClr val="000000"/>
                </a:solidFill>
                <a:latin typeface="Calibri" pitchFamily="34" charset="0"/>
                <a:ea typeface="Calibri" pitchFamily="34" charset="-122"/>
                <a:cs typeface="Calibri" pitchFamily="34" charset="-120"/>
              </a:rPr>
              <a:t>The gap was identified, the pipeline built and verified, both architectures tuned identically, all four conditions evaluated, and the application delivered and tested.</a:t>
            </a:r>
            <a:endParaRPr lang="en-US" sz="1200" dirty="0"/>
          </a:p>
        </p:txBody>
      </p:sp>
    </p:spTree>
  </p:cSld>
  <p:clrMapOvr>
    <a:overrideClrMapping bg1="lt1" tx1="dk1" bg2="lt2" tx2="dk2" accent1="accent1" accent2="accent2" accent3="accent3" accent4="accent4" accent5="accent5" accent6="accent6" hlink="hlink" folHlink="folHlink"/>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1045159"/>
          </a:xfrm>
          <a:prstGeom prst="rect">
            <a:avLst/>
          </a:prstGeom>
          <a:solidFill>
            <a:srgbClr val="9A003B"/>
          </a:solidFill>
          <a:ln w="12700">
            <a:solidFill>
              <a:srgbClr val="9A003B"/>
            </a:solidFill>
            <a:prstDash val="solid"/>
          </a:ln>
        </p:spPr>
      </p:sp>
      <p:sp>
        <p:nvSpPr>
          <p:cNvPr id="3" name="Text 1"/>
          <p:cNvSpPr txBox="1"/>
          <p:nvPr/>
        </p:nvSpPr>
        <p:spPr>
          <a:xfrm>
            <a:off x="228600" y="109728"/>
            <a:ext cx="11704320" cy="825703"/>
          </a:xfrm>
          <a:prstGeom prst="rect">
            <a:avLst/>
          </a:prstGeom>
          <a:noFill/>
          <a:ln/>
        </p:spPr>
        <p:txBody>
          <a:bodyPr wrap="square" lIns="0" tIns="0" rIns="0" bIns="0" rtlCol="0" anchor="ctr"/>
          <a:lstStyle/>
          <a:p>
            <a:pPr marL="0" indent="0">
              <a:lnSpc>
                <a:spcPct val="95000"/>
              </a:lnSpc>
              <a:buNone/>
            </a:pPr>
            <a:r>
              <a:rPr lang="en-US" sz="2500" dirty="0">
                <a:solidFill>
                  <a:srgbClr val="FFFFFF"/>
                </a:solidFill>
                <a:latin typeface="Calibri" pitchFamily="34" charset="0"/>
                <a:ea typeface="Calibri" pitchFamily="34" charset="-122"/>
                <a:cs typeface="Calibri" pitchFamily="34" charset="-120"/>
              </a:rPr>
              <a:t>Conclusion: Resolution of Gaps and Objectives II</a:t>
            </a:r>
            <a:endParaRPr lang="en-US" sz="2500" dirty="0"/>
          </a:p>
        </p:txBody>
      </p:sp>
      <p:sp>
        <p:nvSpPr>
          <p:cNvPr id="4" name="Text 2"/>
          <p:cNvSpPr txBox="1"/>
          <p:nvPr/>
        </p:nvSpPr>
        <p:spPr>
          <a:xfrm>
            <a:off x="10515600" y="5806440"/>
            <a:ext cx="1463040" cy="749808"/>
          </a:xfrm>
          <a:prstGeom prst="rect">
            <a:avLst/>
          </a:prstGeom>
          <a:noFill/>
          <a:ln/>
        </p:spPr>
        <p:txBody>
          <a:bodyPr wrap="square" lIns="0" tIns="0" rIns="0" bIns="0" rtlCol="0" anchor="b"/>
          <a:lstStyle/>
          <a:p>
            <a:pPr marL="0" indent="0" algn="r">
              <a:lnSpc>
                <a:spcPct val="85000"/>
              </a:lnSpc>
              <a:buNone/>
            </a:pPr>
            <a:r>
              <a:rPr lang="en-US" sz="1150" b="1" dirty="0">
                <a:solidFill>
                  <a:srgbClr val="9A003B"/>
                </a:solidFill>
                <a:latin typeface="Calibri" pitchFamily="34" charset="0"/>
                <a:ea typeface="Calibri" pitchFamily="34" charset="-122"/>
                <a:cs typeface="Calibri" pitchFamily="34" charset="-120"/>
              </a:rPr>
              <a:t>Sheffield</a:t>
            </a:r>
            <a:endParaRPr lang="en-US" sz="1150" dirty="0"/>
          </a:p>
          <a:p>
            <a:pPr marL="0" indent="0" algn="r">
              <a:lnSpc>
                <a:spcPct val="85000"/>
              </a:lnSpc>
              <a:buNone/>
            </a:pPr>
            <a:r>
              <a:rPr lang="en-US" sz="1150" b="1" dirty="0">
                <a:solidFill>
                  <a:srgbClr val="9A003B"/>
                </a:solidFill>
                <a:latin typeface="Calibri" pitchFamily="34" charset="0"/>
                <a:ea typeface="Calibri" pitchFamily="34" charset="-122"/>
                <a:cs typeface="Calibri" pitchFamily="34" charset="-120"/>
              </a:rPr>
              <a:t>Hallam</a:t>
            </a:r>
            <a:endParaRPr lang="en-US" sz="1150" dirty="0"/>
          </a:p>
          <a:p>
            <a:pPr marL="0" indent="0" algn="r">
              <a:lnSpc>
                <a:spcPct val="85000"/>
              </a:lnSpc>
              <a:buNone/>
            </a:pPr>
            <a:r>
              <a:rPr lang="en-US" sz="1150" b="1" dirty="0">
                <a:solidFill>
                  <a:srgbClr val="9A003B"/>
                </a:solidFill>
                <a:latin typeface="Calibri" pitchFamily="34" charset="0"/>
                <a:ea typeface="Calibri" pitchFamily="34" charset="-122"/>
                <a:cs typeface="Calibri" pitchFamily="34" charset="-120"/>
              </a:rPr>
              <a:t>University</a:t>
            </a:r>
            <a:endParaRPr lang="en-US" sz="1150" dirty="0"/>
          </a:p>
        </p:txBody>
      </p:sp>
      <p:sp>
        <p:nvSpPr>
          <p:cNvPr id="5" name="Shape 3"/>
          <p:cNvSpPr/>
          <p:nvPr/>
        </p:nvSpPr>
        <p:spPr>
          <a:xfrm>
            <a:off x="0" y="6624828"/>
            <a:ext cx="4063898" cy="233172"/>
          </a:xfrm>
          <a:prstGeom prst="rect">
            <a:avLst/>
          </a:prstGeom>
          <a:solidFill>
            <a:srgbClr val="4D001E"/>
          </a:solidFill>
          <a:ln w="12700">
            <a:solidFill>
              <a:srgbClr val="4D001E"/>
            </a:solidFill>
            <a:prstDash val="solid"/>
          </a:ln>
        </p:spPr>
      </p:sp>
      <p:sp>
        <p:nvSpPr>
          <p:cNvPr id="6" name="Shape 4"/>
          <p:cNvSpPr/>
          <p:nvPr/>
        </p:nvSpPr>
        <p:spPr>
          <a:xfrm>
            <a:off x="4063898" y="6624828"/>
            <a:ext cx="4063898" cy="233172"/>
          </a:xfrm>
          <a:prstGeom prst="rect">
            <a:avLst/>
          </a:prstGeom>
          <a:solidFill>
            <a:srgbClr val="74002C"/>
          </a:solidFill>
          <a:ln w="12700">
            <a:solidFill>
              <a:srgbClr val="74002C"/>
            </a:solidFill>
            <a:prstDash val="solid"/>
          </a:ln>
        </p:spPr>
      </p:sp>
      <p:sp>
        <p:nvSpPr>
          <p:cNvPr id="7" name="Shape 5"/>
          <p:cNvSpPr/>
          <p:nvPr/>
        </p:nvSpPr>
        <p:spPr>
          <a:xfrm>
            <a:off x="8127797" y="6624828"/>
            <a:ext cx="4063898" cy="233172"/>
          </a:xfrm>
          <a:prstGeom prst="rect">
            <a:avLst/>
          </a:prstGeom>
          <a:solidFill>
            <a:srgbClr val="9A003B"/>
          </a:solidFill>
          <a:ln w="12700">
            <a:solidFill>
              <a:srgbClr val="9A003B"/>
            </a:solidFill>
            <a:prstDash val="solid"/>
          </a:ln>
        </p:spPr>
      </p:sp>
      <p:sp>
        <p:nvSpPr>
          <p:cNvPr id="8" name="Text 6"/>
          <p:cNvSpPr txBox="1"/>
          <p:nvPr/>
        </p:nvSpPr>
        <p:spPr>
          <a:xfrm>
            <a:off x="1143000" y="6624828"/>
            <a:ext cx="2743200" cy="233172"/>
          </a:xfrm>
          <a:prstGeom prst="rect">
            <a:avLst/>
          </a:prstGeom>
          <a:noFill/>
          <a:ln/>
        </p:spPr>
        <p:txBody>
          <a:bodyPr wrap="square" lIns="0" tIns="0" rIns="0" bIns="0" rtlCol="0" anchor="ctr"/>
          <a:lstStyle/>
          <a:p>
            <a:pPr marL="0" indent="0">
              <a:buNone/>
            </a:pPr>
            <a:r>
              <a:rPr lang="en-US" sz="900" dirty="0">
                <a:solidFill>
                  <a:srgbClr val="FFFFFF"/>
                </a:solidFill>
                <a:latin typeface="Calibri" pitchFamily="34" charset="0"/>
                <a:ea typeface="Calibri" pitchFamily="34" charset="-122"/>
                <a:cs typeface="Calibri" pitchFamily="34" charset="-120"/>
              </a:rPr>
              <a:t>[Student Initials]  (SHU)</a:t>
            </a:r>
            <a:endParaRPr lang="en-US" sz="900" dirty="0"/>
          </a:p>
        </p:txBody>
      </p:sp>
      <p:sp>
        <p:nvSpPr>
          <p:cNvPr id="9" name="Text 7"/>
          <p:cNvSpPr txBox="1"/>
          <p:nvPr/>
        </p:nvSpPr>
        <p:spPr>
          <a:xfrm>
            <a:off x="5276088" y="6624828"/>
            <a:ext cx="2743200" cy="233172"/>
          </a:xfrm>
          <a:prstGeom prst="rect">
            <a:avLst/>
          </a:prstGeom>
          <a:noFill/>
          <a:ln/>
        </p:spPr>
        <p:txBody>
          <a:bodyPr wrap="square" lIns="0" tIns="0" rIns="0" bIns="0" rtlCol="0" anchor="ctr"/>
          <a:lstStyle/>
          <a:p>
            <a:pPr marL="0" indent="0">
              <a:buNone/>
            </a:pPr>
            <a:r>
              <a:rPr lang="en-US" sz="900" dirty="0">
                <a:solidFill>
                  <a:srgbClr val="FFFFFF"/>
                </a:solidFill>
                <a:latin typeface="Calibri" pitchFamily="34" charset="0"/>
                <a:ea typeface="Calibri" pitchFamily="34" charset="-122"/>
                <a:cs typeface="Calibri" pitchFamily="34" charset="-120"/>
              </a:rPr>
              <a:t>Does the Emoji Matter?</a:t>
            </a:r>
            <a:endParaRPr lang="en-US" sz="900" dirty="0"/>
          </a:p>
        </p:txBody>
      </p:sp>
      <p:sp>
        <p:nvSpPr>
          <p:cNvPr id="10" name="Text 8"/>
          <p:cNvSpPr txBox="1"/>
          <p:nvPr/>
        </p:nvSpPr>
        <p:spPr>
          <a:xfrm>
            <a:off x="9235440" y="6624828"/>
            <a:ext cx="1645920" cy="233172"/>
          </a:xfrm>
          <a:prstGeom prst="rect">
            <a:avLst/>
          </a:prstGeom>
          <a:noFill/>
          <a:ln/>
        </p:spPr>
        <p:txBody>
          <a:bodyPr wrap="square" lIns="0" tIns="0" rIns="0" bIns="0" rtlCol="0" anchor="ctr"/>
          <a:lstStyle/>
          <a:p>
            <a:pPr marL="0" indent="0">
              <a:buNone/>
            </a:pPr>
            <a:r>
              <a:rPr lang="en-US" sz="900" dirty="0">
                <a:solidFill>
                  <a:srgbClr val="FFFFFF"/>
                </a:solidFill>
                <a:latin typeface="Calibri" pitchFamily="34" charset="0"/>
                <a:ea typeface="Calibri" pitchFamily="34" charset="-122"/>
                <a:cs typeface="Calibri" pitchFamily="34" charset="-120"/>
              </a:rPr>
              <a:t>September 2026</a:t>
            </a:r>
            <a:endParaRPr lang="en-US" sz="900" dirty="0"/>
          </a:p>
        </p:txBody>
      </p:sp>
      <p:sp>
        <p:nvSpPr>
          <p:cNvPr id="11" name="Text 9"/>
          <p:cNvSpPr txBox="1"/>
          <p:nvPr/>
        </p:nvSpPr>
        <p:spPr>
          <a:xfrm>
            <a:off x="10881360" y="6624828"/>
            <a:ext cx="1161288" cy="233172"/>
          </a:xfrm>
          <a:prstGeom prst="rect">
            <a:avLst/>
          </a:prstGeom>
          <a:noFill/>
          <a:ln/>
        </p:spPr>
        <p:txBody>
          <a:bodyPr wrap="square" lIns="0" tIns="0" rIns="0" bIns="0" rtlCol="0" anchor="ctr"/>
          <a:lstStyle/>
          <a:p>
            <a:pPr marL="0" indent="0" algn="r">
              <a:buNone/>
            </a:pPr>
            <a:r>
              <a:rPr lang="en-US" sz="900" dirty="0">
                <a:solidFill>
                  <a:srgbClr val="FFFFFF"/>
                </a:solidFill>
                <a:latin typeface="Calibri" pitchFamily="34" charset="0"/>
                <a:ea typeface="Calibri" pitchFamily="34" charset="-122"/>
                <a:cs typeface="Calibri" pitchFamily="34" charset="-120"/>
              </a:rPr>
              <a:t>36 / 43</a:t>
            </a:r>
            <a:endParaRPr lang="en-US" sz="900" dirty="0"/>
          </a:p>
        </p:txBody>
      </p:sp>
      <p:sp>
        <p:nvSpPr>
          <p:cNvPr id="12" name="Shape 10"/>
          <p:cNvSpPr/>
          <p:nvPr/>
        </p:nvSpPr>
        <p:spPr>
          <a:xfrm>
            <a:off x="566928" y="1298448"/>
            <a:ext cx="11055096" cy="384048"/>
          </a:xfrm>
          <a:prstGeom prst="rect">
            <a:avLst/>
          </a:prstGeom>
          <a:solidFill>
            <a:srgbClr val="2764B4"/>
          </a:solidFill>
          <a:ln w="12700">
            <a:solidFill>
              <a:srgbClr val="2764B4"/>
            </a:solidFill>
            <a:prstDash val="solid"/>
          </a:ln>
        </p:spPr>
      </p:sp>
      <p:sp>
        <p:nvSpPr>
          <p:cNvPr id="13" name="Text 11"/>
          <p:cNvSpPr txBox="1"/>
          <p:nvPr/>
        </p:nvSpPr>
        <p:spPr>
          <a:xfrm>
            <a:off x="694944" y="1298448"/>
            <a:ext cx="10799064" cy="384048"/>
          </a:xfrm>
          <a:prstGeom prst="rect">
            <a:avLst/>
          </a:prstGeom>
          <a:noFill/>
          <a:ln/>
        </p:spPr>
        <p:txBody>
          <a:bodyPr wrap="square" lIns="0" tIns="0" rIns="0" bIns="0" rtlCol="0" anchor="ctr"/>
          <a:lstStyle/>
          <a:p>
            <a:pPr marL="0" indent="0">
              <a:buNone/>
            </a:pPr>
            <a:r>
              <a:rPr lang="en-US" sz="1500" b="1" dirty="0">
                <a:solidFill>
                  <a:srgbClr val="FFFFFF"/>
                </a:solidFill>
                <a:latin typeface="Calibri" pitchFamily="34" charset="0"/>
                <a:ea typeface="Calibri" pitchFamily="34" charset="-122"/>
                <a:cs typeface="Calibri" pitchFamily="34" charset="-120"/>
              </a:rPr>
              <a:t>The research question, answered</a:t>
            </a:r>
            <a:endParaRPr lang="en-US" sz="1500" dirty="0"/>
          </a:p>
        </p:txBody>
      </p:sp>
      <p:sp>
        <p:nvSpPr>
          <p:cNvPr id="14" name="Shape 12"/>
          <p:cNvSpPr/>
          <p:nvPr/>
        </p:nvSpPr>
        <p:spPr>
          <a:xfrm>
            <a:off x="566928" y="1682496"/>
            <a:ext cx="11055096" cy="1124712"/>
          </a:xfrm>
          <a:prstGeom prst="rect">
            <a:avLst/>
          </a:prstGeom>
          <a:solidFill>
            <a:srgbClr val="F4DDE6"/>
          </a:solidFill>
          <a:ln/>
        </p:spPr>
      </p:sp>
      <p:sp>
        <p:nvSpPr>
          <p:cNvPr id="15" name="Text 13"/>
          <p:cNvSpPr txBox="1"/>
          <p:nvPr/>
        </p:nvSpPr>
        <p:spPr>
          <a:xfrm>
            <a:off x="768096" y="1783080"/>
            <a:ext cx="10652760" cy="960120"/>
          </a:xfrm>
          <a:prstGeom prst="rect">
            <a:avLst/>
          </a:prstGeom>
          <a:noFill/>
          <a:ln/>
        </p:spPr>
        <p:txBody>
          <a:bodyPr wrap="square" lIns="0" tIns="0" rIns="0" bIns="0" rtlCol="0" anchor="t"/>
          <a:lstStyle/>
          <a:p>
            <a:pPr marL="0" indent="0">
              <a:lnSpc>
                <a:spcPct val="106000"/>
              </a:lnSpc>
              <a:buNone/>
            </a:pPr>
            <a:r>
              <a:rPr lang="en-US" sz="1400" dirty="0">
                <a:solidFill>
                  <a:srgbClr val="000000"/>
                </a:solidFill>
                <a:latin typeface="Calibri" pitchFamily="34" charset="0"/>
                <a:ea typeface="Calibri" pitchFamily="34" charset="-122"/>
                <a:cs typeface="Calibri" pitchFamily="34" charset="-120"/>
              </a:rPr>
              <a:t>Converting emoji into text improved both models. Micro-F1 rose by 2.03 points for the BiLSTM and 3.71 for the Transformer, with Macro-F1 and ROC-AUC agreeing. The effect is real on this corpus but it is not uniform: it depends on the architecture and, far more strongly, on the emotion, ranging from +11.80 to -4.13 points.</a:t>
            </a:r>
            <a:endParaRPr lang="en-US" sz="1400" dirty="0"/>
          </a:p>
        </p:txBody>
      </p:sp>
      <p:sp>
        <p:nvSpPr>
          <p:cNvPr id="16" name="Text 14"/>
          <p:cNvSpPr txBox="1"/>
          <p:nvPr/>
        </p:nvSpPr>
        <p:spPr>
          <a:xfrm>
            <a:off x="566928" y="2990088"/>
            <a:ext cx="11055096" cy="274320"/>
          </a:xfrm>
          <a:prstGeom prst="rect">
            <a:avLst/>
          </a:prstGeom>
          <a:noFill/>
          <a:ln/>
        </p:spPr>
        <p:txBody>
          <a:bodyPr wrap="square" lIns="0" tIns="0" rIns="0" bIns="0" rtlCol="0" anchor="t"/>
          <a:lstStyle/>
          <a:p>
            <a:pPr marL="0" indent="0">
              <a:lnSpc>
                <a:spcPct val="106000"/>
              </a:lnSpc>
              <a:buNone/>
            </a:pPr>
            <a:r>
              <a:rPr lang="en-US" sz="1500" b="1" dirty="0">
                <a:solidFill>
                  <a:srgbClr val="000000"/>
                </a:solidFill>
                <a:latin typeface="Calibri" pitchFamily="34" charset="0"/>
                <a:ea typeface="Calibri" pitchFamily="34" charset="-122"/>
                <a:cs typeface="Calibri" pitchFamily="34" charset="-120"/>
              </a:rPr>
              <a:t>Contribution of the deliverable:</a:t>
            </a:r>
            <a:endParaRPr lang="en-US" sz="1500" dirty="0"/>
          </a:p>
        </p:txBody>
      </p:sp>
      <p:sp>
        <p:nvSpPr>
          <p:cNvPr id="17" name="Text 15"/>
          <p:cNvSpPr txBox="1"/>
          <p:nvPr/>
        </p:nvSpPr>
        <p:spPr>
          <a:xfrm>
            <a:off x="749808" y="3355848"/>
            <a:ext cx="10872216" cy="1463040"/>
          </a:xfrm>
          <a:prstGeom prst="rect">
            <a:avLst/>
          </a:prstGeom>
          <a:noFill/>
          <a:ln/>
        </p:spPr>
        <p:txBody>
          <a:bodyPr wrap="square" lIns="0" tIns="0" rIns="0" bIns="0" rtlCol="0" anchor="t"/>
          <a:lstStyle/>
          <a:p>
            <a:pPr marL="177800" indent="-177800">
              <a:lnSpc>
                <a:spcPct val="106000"/>
              </a:lnSpc>
              <a:spcAft>
                <a:spcPts val="800"/>
              </a:spcAft>
              <a:buSzPct val="100000"/>
              <a:buChar char="•"/>
            </a:pPr>
            <a:r>
              <a:rPr lang="en-US" sz="1350" b="1" dirty="0">
                <a:solidFill>
                  <a:srgbClr val="000000"/>
                </a:solidFill>
                <a:latin typeface="Calibri" pitchFamily="34" charset="0"/>
                <a:ea typeface="Calibri" pitchFamily="34" charset="-122"/>
                <a:cs typeface="Calibri" pitchFamily="34" charset="-120"/>
              </a:rPr>
              <a:t>Method. </a:t>
            </a:r>
            <a:r>
              <a:rPr lang="en-US" sz="1350" dirty="0">
                <a:solidFill>
                  <a:srgbClr val="000000"/>
                </a:solidFill>
                <a:latin typeface="Calibri" pitchFamily="34" charset="0"/>
                <a:ea typeface="Calibri" pitchFamily="34" charset="-122"/>
                <a:cs typeface="Calibri" pitchFamily="34" charset="-120"/>
              </a:rPr>
              <a:t>A reusable way to test one preprocessing choice in isolation, which the reviewed literature does not provide.</a:t>
            </a:r>
            <a:endParaRPr lang="en-US" sz="1350" dirty="0"/>
          </a:p>
          <a:p>
            <a:pPr marL="177800" indent="-177800">
              <a:lnSpc>
                <a:spcPct val="106000"/>
              </a:lnSpc>
              <a:spcAft>
                <a:spcPts val="800"/>
              </a:spcAft>
              <a:buSzPct val="100000"/>
              <a:buChar char="•"/>
            </a:pPr>
            <a:r>
              <a:rPr lang="en-US" sz="1350" b="1" dirty="0">
                <a:solidFill>
                  <a:srgbClr val="000000"/>
                </a:solidFill>
                <a:latin typeface="Calibri" pitchFamily="34" charset="0"/>
                <a:ea typeface="Calibri" pitchFamily="34" charset="-122"/>
                <a:cs typeface="Calibri" pitchFamily="34" charset="-120"/>
              </a:rPr>
              <a:t>Finding. </a:t>
            </a:r>
            <a:r>
              <a:rPr lang="en-US" sz="1350" dirty="0">
                <a:solidFill>
                  <a:srgbClr val="000000"/>
                </a:solidFill>
                <a:latin typeface="Calibri" pitchFamily="34" charset="0"/>
                <a:ea typeface="Calibri" pitchFamily="34" charset="-122"/>
                <a:cs typeface="Calibri" pitchFamily="34" charset="-120"/>
              </a:rPr>
              <a:t>Evidence that the emoji effect is conditional on the emotion, not a single average number.</a:t>
            </a:r>
            <a:endParaRPr lang="en-US" sz="1350" dirty="0"/>
          </a:p>
          <a:p>
            <a:pPr marL="177800" indent="-177800">
              <a:lnSpc>
                <a:spcPct val="106000"/>
              </a:lnSpc>
              <a:spcAft>
                <a:spcPts val="800"/>
              </a:spcAft>
              <a:buSzPct val="100000"/>
              <a:buChar char="•"/>
            </a:pPr>
            <a:r>
              <a:rPr lang="en-US" sz="1350" b="1" dirty="0">
                <a:solidFill>
                  <a:srgbClr val="000000"/>
                </a:solidFill>
                <a:latin typeface="Calibri" pitchFamily="34" charset="0"/>
                <a:ea typeface="Calibri" pitchFamily="34" charset="-122"/>
                <a:cs typeface="Calibri" pitchFamily="34" charset="-120"/>
              </a:rPr>
              <a:t>Artefact. </a:t>
            </a:r>
            <a:r>
              <a:rPr lang="en-US" sz="1350" dirty="0">
                <a:solidFill>
                  <a:srgbClr val="000000"/>
                </a:solidFill>
                <a:latin typeface="Calibri" pitchFamily="34" charset="0"/>
                <a:ea typeface="Calibri" pitchFamily="34" charset="-122"/>
                <a:cs typeface="Calibri" pitchFamily="34" charset="-120"/>
              </a:rPr>
              <a:t>An application that lets anyone see, for their own text, exactly which labels the emoji changed.</a:t>
            </a:r>
            <a:endParaRPr lang="en-US" sz="1350" dirty="0"/>
          </a:p>
        </p:txBody>
      </p:sp>
      <p:sp>
        <p:nvSpPr>
          <p:cNvPr id="18" name="Shape 16"/>
          <p:cNvSpPr/>
          <p:nvPr/>
        </p:nvSpPr>
        <p:spPr>
          <a:xfrm>
            <a:off x="566928" y="4864608"/>
            <a:ext cx="9829800" cy="384048"/>
          </a:xfrm>
          <a:prstGeom prst="rect">
            <a:avLst/>
          </a:prstGeom>
          <a:solidFill>
            <a:srgbClr val="2764B4"/>
          </a:solidFill>
          <a:ln w="12700">
            <a:solidFill>
              <a:srgbClr val="2764B4"/>
            </a:solidFill>
            <a:prstDash val="solid"/>
          </a:ln>
        </p:spPr>
      </p:sp>
      <p:sp>
        <p:nvSpPr>
          <p:cNvPr id="19" name="Text 17"/>
          <p:cNvSpPr txBox="1"/>
          <p:nvPr/>
        </p:nvSpPr>
        <p:spPr>
          <a:xfrm>
            <a:off x="694944" y="4864608"/>
            <a:ext cx="9573768" cy="384048"/>
          </a:xfrm>
          <a:prstGeom prst="rect">
            <a:avLst/>
          </a:prstGeom>
          <a:noFill/>
          <a:ln/>
        </p:spPr>
        <p:txBody>
          <a:bodyPr wrap="square" lIns="0" tIns="0" rIns="0" bIns="0" rtlCol="0" anchor="ctr"/>
          <a:lstStyle/>
          <a:p>
            <a:pPr marL="0" indent="0">
              <a:buNone/>
            </a:pPr>
            <a:r>
              <a:rPr lang="en-US" sz="1500" b="1" dirty="0">
                <a:solidFill>
                  <a:srgbClr val="FFFFFF"/>
                </a:solidFill>
                <a:latin typeface="Calibri" pitchFamily="34" charset="0"/>
                <a:ea typeface="Calibri" pitchFamily="34" charset="-122"/>
                <a:cs typeface="Calibri" pitchFamily="34" charset="-120"/>
              </a:rPr>
              <a:t>Lessons learned</a:t>
            </a:r>
            <a:endParaRPr lang="en-US" sz="1500" dirty="0"/>
          </a:p>
        </p:txBody>
      </p:sp>
      <p:sp>
        <p:nvSpPr>
          <p:cNvPr id="20" name="Shape 18"/>
          <p:cNvSpPr/>
          <p:nvPr/>
        </p:nvSpPr>
        <p:spPr>
          <a:xfrm>
            <a:off x="566928" y="5248656"/>
            <a:ext cx="9829800" cy="667512"/>
          </a:xfrm>
          <a:prstGeom prst="rect">
            <a:avLst/>
          </a:prstGeom>
          <a:solidFill>
            <a:srgbClr val="F4DDE6"/>
          </a:solidFill>
          <a:ln/>
        </p:spPr>
      </p:sp>
      <p:sp>
        <p:nvSpPr>
          <p:cNvPr id="21" name="Text 19"/>
          <p:cNvSpPr txBox="1"/>
          <p:nvPr/>
        </p:nvSpPr>
        <p:spPr>
          <a:xfrm>
            <a:off x="768096" y="5321808"/>
            <a:ext cx="9427464" cy="548640"/>
          </a:xfrm>
          <a:prstGeom prst="rect">
            <a:avLst/>
          </a:prstGeom>
          <a:noFill/>
          <a:ln/>
        </p:spPr>
        <p:txBody>
          <a:bodyPr wrap="square" lIns="0" tIns="0" rIns="0" bIns="0" rtlCol="0" anchor="t"/>
          <a:lstStyle/>
          <a:p>
            <a:pPr marL="0" indent="0">
              <a:lnSpc>
                <a:spcPct val="106000"/>
              </a:lnSpc>
              <a:buNone/>
            </a:pPr>
            <a:r>
              <a:rPr lang="en-US" sz="1250" dirty="0">
                <a:solidFill>
                  <a:srgbClr val="000000"/>
                </a:solidFill>
                <a:latin typeface="Calibri" pitchFamily="34" charset="0"/>
                <a:ea typeface="Calibri" pitchFamily="34" charset="-122"/>
                <a:cs typeface="Calibri" pitchFamily="34" charset="-120"/>
              </a:rPr>
              <a:t>A narrow, testable question produced stronger work than a broad one. Fixing the random seed earlier would have saved effort, since the first unseeded runs could not be reproduced, and checking library versions before changing environment would have avoided a model-loading failure.</a:t>
            </a:r>
            <a:endParaRPr lang="en-US" sz="1250" dirty="0"/>
          </a:p>
        </p:txBody>
      </p:sp>
    </p:spTree>
  </p:cSld>
  <p:clrMapOvr>
    <a:overrideClrMapping bg1="lt1" tx1="dk1" bg2="lt2" tx2="dk2" accent1="accent1" accent2="accent2" accent3="accent3" accent4="accent4" accent5="accent5" accent6="accent6" hlink="hlink" folHlink="folHlink"/>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1045159"/>
          </a:xfrm>
          <a:prstGeom prst="rect">
            <a:avLst/>
          </a:prstGeom>
          <a:solidFill>
            <a:srgbClr val="9A003B"/>
          </a:solidFill>
          <a:ln w="12700">
            <a:solidFill>
              <a:srgbClr val="9A003B"/>
            </a:solidFill>
            <a:prstDash val="solid"/>
          </a:ln>
        </p:spPr>
      </p:sp>
      <p:sp>
        <p:nvSpPr>
          <p:cNvPr id="3" name="Text 1"/>
          <p:cNvSpPr txBox="1"/>
          <p:nvPr/>
        </p:nvSpPr>
        <p:spPr>
          <a:xfrm>
            <a:off x="228600" y="109728"/>
            <a:ext cx="11704320" cy="825703"/>
          </a:xfrm>
          <a:prstGeom prst="rect">
            <a:avLst/>
          </a:prstGeom>
          <a:noFill/>
          <a:ln/>
        </p:spPr>
        <p:txBody>
          <a:bodyPr wrap="square" lIns="0" tIns="0" rIns="0" bIns="0" rtlCol="0" anchor="ctr"/>
          <a:lstStyle/>
          <a:p>
            <a:pPr marL="0" indent="0">
              <a:lnSpc>
                <a:spcPct val="95000"/>
              </a:lnSpc>
              <a:buNone/>
            </a:pPr>
            <a:r>
              <a:rPr lang="en-US" sz="2500" dirty="0">
                <a:solidFill>
                  <a:srgbClr val="FFFFFF"/>
                </a:solidFill>
                <a:latin typeface="Calibri" pitchFamily="34" charset="0"/>
                <a:ea typeface="Calibri" pitchFamily="34" charset="-122"/>
                <a:cs typeface="Calibri" pitchFamily="34" charset="-120"/>
              </a:rPr>
              <a:t>Conclusion: Recommendations and Future Work</a:t>
            </a:r>
            <a:endParaRPr lang="en-US" sz="2500" dirty="0"/>
          </a:p>
        </p:txBody>
      </p:sp>
      <p:sp>
        <p:nvSpPr>
          <p:cNvPr id="4" name="Text 2"/>
          <p:cNvSpPr txBox="1"/>
          <p:nvPr/>
        </p:nvSpPr>
        <p:spPr>
          <a:xfrm>
            <a:off x="10515600" y="5806440"/>
            <a:ext cx="1463040" cy="749808"/>
          </a:xfrm>
          <a:prstGeom prst="rect">
            <a:avLst/>
          </a:prstGeom>
          <a:noFill/>
          <a:ln/>
        </p:spPr>
        <p:txBody>
          <a:bodyPr wrap="square" lIns="0" tIns="0" rIns="0" bIns="0" rtlCol="0" anchor="b"/>
          <a:lstStyle/>
          <a:p>
            <a:pPr marL="0" indent="0" algn="r">
              <a:lnSpc>
                <a:spcPct val="85000"/>
              </a:lnSpc>
              <a:buNone/>
            </a:pPr>
            <a:r>
              <a:rPr lang="en-US" sz="1150" b="1" dirty="0">
                <a:solidFill>
                  <a:srgbClr val="9A003B"/>
                </a:solidFill>
                <a:latin typeface="Calibri" pitchFamily="34" charset="0"/>
                <a:ea typeface="Calibri" pitchFamily="34" charset="-122"/>
                <a:cs typeface="Calibri" pitchFamily="34" charset="-120"/>
              </a:rPr>
              <a:t>Sheffield</a:t>
            </a:r>
            <a:endParaRPr lang="en-US" sz="1150" dirty="0"/>
          </a:p>
          <a:p>
            <a:pPr marL="0" indent="0" algn="r">
              <a:lnSpc>
                <a:spcPct val="85000"/>
              </a:lnSpc>
              <a:buNone/>
            </a:pPr>
            <a:r>
              <a:rPr lang="en-US" sz="1150" b="1" dirty="0">
                <a:solidFill>
                  <a:srgbClr val="9A003B"/>
                </a:solidFill>
                <a:latin typeface="Calibri" pitchFamily="34" charset="0"/>
                <a:ea typeface="Calibri" pitchFamily="34" charset="-122"/>
                <a:cs typeface="Calibri" pitchFamily="34" charset="-120"/>
              </a:rPr>
              <a:t>Hallam</a:t>
            </a:r>
            <a:endParaRPr lang="en-US" sz="1150" dirty="0"/>
          </a:p>
          <a:p>
            <a:pPr marL="0" indent="0" algn="r">
              <a:lnSpc>
                <a:spcPct val="85000"/>
              </a:lnSpc>
              <a:buNone/>
            </a:pPr>
            <a:r>
              <a:rPr lang="en-US" sz="1150" b="1" dirty="0">
                <a:solidFill>
                  <a:srgbClr val="9A003B"/>
                </a:solidFill>
                <a:latin typeface="Calibri" pitchFamily="34" charset="0"/>
                <a:ea typeface="Calibri" pitchFamily="34" charset="-122"/>
                <a:cs typeface="Calibri" pitchFamily="34" charset="-120"/>
              </a:rPr>
              <a:t>University</a:t>
            </a:r>
            <a:endParaRPr lang="en-US" sz="1150" dirty="0"/>
          </a:p>
        </p:txBody>
      </p:sp>
      <p:sp>
        <p:nvSpPr>
          <p:cNvPr id="5" name="Shape 3"/>
          <p:cNvSpPr/>
          <p:nvPr/>
        </p:nvSpPr>
        <p:spPr>
          <a:xfrm>
            <a:off x="0" y="6624828"/>
            <a:ext cx="4063898" cy="233172"/>
          </a:xfrm>
          <a:prstGeom prst="rect">
            <a:avLst/>
          </a:prstGeom>
          <a:solidFill>
            <a:srgbClr val="4D001E"/>
          </a:solidFill>
          <a:ln w="12700">
            <a:solidFill>
              <a:srgbClr val="4D001E"/>
            </a:solidFill>
            <a:prstDash val="solid"/>
          </a:ln>
        </p:spPr>
      </p:sp>
      <p:sp>
        <p:nvSpPr>
          <p:cNvPr id="6" name="Shape 4"/>
          <p:cNvSpPr/>
          <p:nvPr/>
        </p:nvSpPr>
        <p:spPr>
          <a:xfrm>
            <a:off x="4063898" y="6624828"/>
            <a:ext cx="4063898" cy="233172"/>
          </a:xfrm>
          <a:prstGeom prst="rect">
            <a:avLst/>
          </a:prstGeom>
          <a:solidFill>
            <a:srgbClr val="74002C"/>
          </a:solidFill>
          <a:ln w="12700">
            <a:solidFill>
              <a:srgbClr val="74002C"/>
            </a:solidFill>
            <a:prstDash val="solid"/>
          </a:ln>
        </p:spPr>
      </p:sp>
      <p:sp>
        <p:nvSpPr>
          <p:cNvPr id="7" name="Shape 5"/>
          <p:cNvSpPr/>
          <p:nvPr/>
        </p:nvSpPr>
        <p:spPr>
          <a:xfrm>
            <a:off x="8127797" y="6624828"/>
            <a:ext cx="4063898" cy="233172"/>
          </a:xfrm>
          <a:prstGeom prst="rect">
            <a:avLst/>
          </a:prstGeom>
          <a:solidFill>
            <a:srgbClr val="9A003B"/>
          </a:solidFill>
          <a:ln w="12700">
            <a:solidFill>
              <a:srgbClr val="9A003B"/>
            </a:solidFill>
            <a:prstDash val="solid"/>
          </a:ln>
        </p:spPr>
      </p:sp>
      <p:sp>
        <p:nvSpPr>
          <p:cNvPr id="8" name="Text 6"/>
          <p:cNvSpPr txBox="1"/>
          <p:nvPr/>
        </p:nvSpPr>
        <p:spPr>
          <a:xfrm>
            <a:off x="1143000" y="6624828"/>
            <a:ext cx="2743200" cy="233172"/>
          </a:xfrm>
          <a:prstGeom prst="rect">
            <a:avLst/>
          </a:prstGeom>
          <a:noFill/>
          <a:ln/>
        </p:spPr>
        <p:txBody>
          <a:bodyPr wrap="square" lIns="0" tIns="0" rIns="0" bIns="0" rtlCol="0" anchor="ctr"/>
          <a:lstStyle/>
          <a:p>
            <a:pPr marL="0" indent="0">
              <a:buNone/>
            </a:pPr>
            <a:r>
              <a:rPr lang="en-US" sz="900" dirty="0">
                <a:solidFill>
                  <a:srgbClr val="FFFFFF"/>
                </a:solidFill>
                <a:latin typeface="Calibri" pitchFamily="34" charset="0"/>
                <a:ea typeface="Calibri" pitchFamily="34" charset="-122"/>
                <a:cs typeface="Calibri" pitchFamily="34" charset="-120"/>
              </a:rPr>
              <a:t>[Student Initials]  (SHU)</a:t>
            </a:r>
            <a:endParaRPr lang="en-US" sz="900" dirty="0"/>
          </a:p>
        </p:txBody>
      </p:sp>
      <p:sp>
        <p:nvSpPr>
          <p:cNvPr id="9" name="Text 7"/>
          <p:cNvSpPr txBox="1"/>
          <p:nvPr/>
        </p:nvSpPr>
        <p:spPr>
          <a:xfrm>
            <a:off x="5276088" y="6624828"/>
            <a:ext cx="2743200" cy="233172"/>
          </a:xfrm>
          <a:prstGeom prst="rect">
            <a:avLst/>
          </a:prstGeom>
          <a:noFill/>
          <a:ln/>
        </p:spPr>
        <p:txBody>
          <a:bodyPr wrap="square" lIns="0" tIns="0" rIns="0" bIns="0" rtlCol="0" anchor="ctr"/>
          <a:lstStyle/>
          <a:p>
            <a:pPr marL="0" indent="0">
              <a:buNone/>
            </a:pPr>
            <a:r>
              <a:rPr lang="en-US" sz="900" dirty="0">
                <a:solidFill>
                  <a:srgbClr val="FFFFFF"/>
                </a:solidFill>
                <a:latin typeface="Calibri" pitchFamily="34" charset="0"/>
                <a:ea typeface="Calibri" pitchFamily="34" charset="-122"/>
                <a:cs typeface="Calibri" pitchFamily="34" charset="-120"/>
              </a:rPr>
              <a:t>Does the Emoji Matter?</a:t>
            </a:r>
            <a:endParaRPr lang="en-US" sz="900" dirty="0"/>
          </a:p>
        </p:txBody>
      </p:sp>
      <p:sp>
        <p:nvSpPr>
          <p:cNvPr id="10" name="Text 8"/>
          <p:cNvSpPr txBox="1"/>
          <p:nvPr/>
        </p:nvSpPr>
        <p:spPr>
          <a:xfrm>
            <a:off x="9235440" y="6624828"/>
            <a:ext cx="1645920" cy="233172"/>
          </a:xfrm>
          <a:prstGeom prst="rect">
            <a:avLst/>
          </a:prstGeom>
          <a:noFill/>
          <a:ln/>
        </p:spPr>
        <p:txBody>
          <a:bodyPr wrap="square" lIns="0" tIns="0" rIns="0" bIns="0" rtlCol="0" anchor="ctr"/>
          <a:lstStyle/>
          <a:p>
            <a:pPr marL="0" indent="0">
              <a:buNone/>
            </a:pPr>
            <a:r>
              <a:rPr lang="en-US" sz="900" dirty="0">
                <a:solidFill>
                  <a:srgbClr val="FFFFFF"/>
                </a:solidFill>
                <a:latin typeface="Calibri" pitchFamily="34" charset="0"/>
                <a:ea typeface="Calibri" pitchFamily="34" charset="-122"/>
                <a:cs typeface="Calibri" pitchFamily="34" charset="-120"/>
              </a:rPr>
              <a:t>September 2026</a:t>
            </a:r>
            <a:endParaRPr lang="en-US" sz="900" dirty="0"/>
          </a:p>
        </p:txBody>
      </p:sp>
      <p:sp>
        <p:nvSpPr>
          <p:cNvPr id="11" name="Text 9"/>
          <p:cNvSpPr txBox="1"/>
          <p:nvPr/>
        </p:nvSpPr>
        <p:spPr>
          <a:xfrm>
            <a:off x="10881360" y="6624828"/>
            <a:ext cx="1161288" cy="233172"/>
          </a:xfrm>
          <a:prstGeom prst="rect">
            <a:avLst/>
          </a:prstGeom>
          <a:noFill/>
          <a:ln/>
        </p:spPr>
        <p:txBody>
          <a:bodyPr wrap="square" lIns="0" tIns="0" rIns="0" bIns="0" rtlCol="0" anchor="ctr"/>
          <a:lstStyle/>
          <a:p>
            <a:pPr marL="0" indent="0" algn="r">
              <a:buNone/>
            </a:pPr>
            <a:r>
              <a:rPr lang="en-US" sz="900" dirty="0">
                <a:solidFill>
                  <a:srgbClr val="FFFFFF"/>
                </a:solidFill>
                <a:latin typeface="Calibri" pitchFamily="34" charset="0"/>
                <a:ea typeface="Calibri" pitchFamily="34" charset="-122"/>
                <a:cs typeface="Calibri" pitchFamily="34" charset="-120"/>
              </a:rPr>
              <a:t>37 / 43</a:t>
            </a:r>
            <a:endParaRPr lang="en-US" sz="900" dirty="0"/>
          </a:p>
        </p:txBody>
      </p:sp>
      <p:sp>
        <p:nvSpPr>
          <p:cNvPr id="12" name="Text 10"/>
          <p:cNvSpPr txBox="1"/>
          <p:nvPr/>
        </p:nvSpPr>
        <p:spPr>
          <a:xfrm>
            <a:off x="566928" y="1298448"/>
            <a:ext cx="5120640" cy="274320"/>
          </a:xfrm>
          <a:prstGeom prst="rect">
            <a:avLst/>
          </a:prstGeom>
          <a:noFill/>
          <a:ln/>
        </p:spPr>
        <p:txBody>
          <a:bodyPr wrap="square" lIns="0" tIns="0" rIns="0" bIns="0" rtlCol="0" anchor="t"/>
          <a:lstStyle/>
          <a:p>
            <a:pPr marL="0" indent="0">
              <a:lnSpc>
                <a:spcPct val="106000"/>
              </a:lnSpc>
              <a:buNone/>
            </a:pPr>
            <a:r>
              <a:rPr lang="en-US" sz="1500" b="1" dirty="0">
                <a:solidFill>
                  <a:srgbClr val="000000"/>
                </a:solidFill>
                <a:latin typeface="Calibri" pitchFamily="34" charset="0"/>
                <a:ea typeface="Calibri" pitchFamily="34" charset="-122"/>
                <a:cs typeface="Calibri" pitchFamily="34" charset="-120"/>
              </a:rPr>
              <a:t>Recommendations:</a:t>
            </a:r>
            <a:endParaRPr lang="en-US" sz="1500" dirty="0"/>
          </a:p>
        </p:txBody>
      </p:sp>
      <p:sp>
        <p:nvSpPr>
          <p:cNvPr id="13" name="Text 11"/>
          <p:cNvSpPr txBox="1"/>
          <p:nvPr/>
        </p:nvSpPr>
        <p:spPr>
          <a:xfrm>
            <a:off x="749808" y="1664208"/>
            <a:ext cx="4937760" cy="1737360"/>
          </a:xfrm>
          <a:prstGeom prst="rect">
            <a:avLst/>
          </a:prstGeom>
          <a:noFill/>
          <a:ln/>
        </p:spPr>
        <p:txBody>
          <a:bodyPr wrap="square" lIns="0" tIns="0" rIns="0" bIns="0" rtlCol="0" anchor="t"/>
          <a:lstStyle/>
          <a:p>
            <a:pPr marL="177800" indent="-177800">
              <a:lnSpc>
                <a:spcPct val="106000"/>
              </a:lnSpc>
              <a:spcAft>
                <a:spcPts val="800"/>
              </a:spcAft>
              <a:buSzPct val="100000"/>
              <a:buChar char="•"/>
            </a:pPr>
            <a:r>
              <a:rPr lang="en-US" sz="1300" dirty="0">
                <a:solidFill>
                  <a:srgbClr val="000000"/>
                </a:solidFill>
                <a:latin typeface="Calibri" pitchFamily="34" charset="0"/>
                <a:ea typeface="Calibri" pitchFamily="34" charset="-122"/>
                <a:cs typeface="Calibri" pitchFamily="34" charset="-120"/>
              </a:rPr>
              <a:t>Test emoji handling on your own task and label set rather than applying a default</a:t>
            </a:r>
            <a:endParaRPr lang="en-US" sz="1300" dirty="0"/>
          </a:p>
          <a:p>
            <a:pPr marL="177800" indent="-177800">
              <a:lnSpc>
                <a:spcPct val="106000"/>
              </a:lnSpc>
              <a:spcAft>
                <a:spcPts val="800"/>
              </a:spcAft>
              <a:buSzPct val="100000"/>
              <a:buChar char="•"/>
            </a:pPr>
            <a:r>
              <a:rPr lang="en-US" sz="1300" dirty="0">
                <a:solidFill>
                  <a:srgbClr val="000000"/>
                </a:solidFill>
                <a:latin typeface="Calibri" pitchFamily="34" charset="0"/>
                <a:ea typeface="Calibri" pitchFamily="34" charset="-122"/>
                <a:cs typeface="Calibri" pitchFamily="34" charset="-120"/>
              </a:rPr>
              <a:t>Check results per label, because gains on frequent emotions can hide losses on rarer ones</a:t>
            </a:r>
            <a:endParaRPr lang="en-US" sz="1300" dirty="0"/>
          </a:p>
          <a:p>
            <a:pPr marL="177800" indent="-177800">
              <a:lnSpc>
                <a:spcPct val="106000"/>
              </a:lnSpc>
              <a:spcAft>
                <a:spcPts val="800"/>
              </a:spcAft>
              <a:buSzPct val="100000"/>
              <a:buChar char="•"/>
            </a:pPr>
            <a:r>
              <a:rPr lang="en-US" sz="1300" dirty="0">
                <a:solidFill>
                  <a:srgbClr val="000000"/>
                </a:solidFill>
                <a:latin typeface="Calibri" pitchFamily="34" charset="0"/>
                <a:ea typeface="Calibri" pitchFamily="34" charset="-122"/>
                <a:cs typeface="Calibri" pitchFamily="34" charset="-120"/>
              </a:rPr>
              <a:t>Report emoji density, so a reader can judge the size of any reported effect</a:t>
            </a:r>
            <a:endParaRPr lang="en-US" sz="1300" dirty="0"/>
          </a:p>
        </p:txBody>
      </p:sp>
      <p:sp>
        <p:nvSpPr>
          <p:cNvPr id="14" name="Shape 12"/>
          <p:cNvSpPr/>
          <p:nvPr/>
        </p:nvSpPr>
        <p:spPr>
          <a:xfrm>
            <a:off x="566928" y="3493008"/>
            <a:ext cx="5120640" cy="384048"/>
          </a:xfrm>
          <a:prstGeom prst="rect">
            <a:avLst/>
          </a:prstGeom>
          <a:solidFill>
            <a:srgbClr val="2764B4"/>
          </a:solidFill>
          <a:ln w="12700">
            <a:solidFill>
              <a:srgbClr val="2764B4"/>
            </a:solidFill>
            <a:prstDash val="solid"/>
          </a:ln>
        </p:spPr>
      </p:sp>
      <p:sp>
        <p:nvSpPr>
          <p:cNvPr id="15" name="Text 13"/>
          <p:cNvSpPr txBox="1"/>
          <p:nvPr/>
        </p:nvSpPr>
        <p:spPr>
          <a:xfrm>
            <a:off x="694944" y="3493008"/>
            <a:ext cx="4864608" cy="384048"/>
          </a:xfrm>
          <a:prstGeom prst="rect">
            <a:avLst/>
          </a:prstGeom>
          <a:noFill/>
          <a:ln/>
        </p:spPr>
        <p:txBody>
          <a:bodyPr wrap="square" lIns="0" tIns="0" rIns="0" bIns="0" rtlCol="0" anchor="ctr"/>
          <a:lstStyle/>
          <a:p>
            <a:pPr marL="0" indent="0">
              <a:buNone/>
            </a:pPr>
            <a:r>
              <a:rPr lang="en-US" sz="1500" b="1" dirty="0">
                <a:solidFill>
                  <a:srgbClr val="FFFFFF"/>
                </a:solidFill>
                <a:latin typeface="Calibri" pitchFamily="34" charset="0"/>
                <a:ea typeface="Calibri" pitchFamily="34" charset="-122"/>
                <a:cs typeface="Calibri" pitchFamily="34" charset="-120"/>
              </a:rPr>
              <a:t>Limitations to carry forward</a:t>
            </a:r>
            <a:endParaRPr lang="en-US" sz="1500" dirty="0"/>
          </a:p>
        </p:txBody>
      </p:sp>
      <p:sp>
        <p:nvSpPr>
          <p:cNvPr id="16" name="Shape 14"/>
          <p:cNvSpPr/>
          <p:nvPr/>
        </p:nvSpPr>
        <p:spPr>
          <a:xfrm>
            <a:off x="566928" y="3877056"/>
            <a:ext cx="5120640" cy="1856232"/>
          </a:xfrm>
          <a:prstGeom prst="rect">
            <a:avLst/>
          </a:prstGeom>
          <a:solidFill>
            <a:srgbClr val="F4DDE6"/>
          </a:solidFill>
          <a:ln/>
        </p:spPr>
      </p:sp>
      <p:sp>
        <p:nvSpPr>
          <p:cNvPr id="17" name="Text 15"/>
          <p:cNvSpPr txBox="1"/>
          <p:nvPr/>
        </p:nvSpPr>
        <p:spPr>
          <a:xfrm>
            <a:off x="768096" y="3995928"/>
            <a:ext cx="4718304" cy="1645920"/>
          </a:xfrm>
          <a:prstGeom prst="rect">
            <a:avLst/>
          </a:prstGeom>
          <a:noFill/>
          <a:ln/>
        </p:spPr>
        <p:txBody>
          <a:bodyPr wrap="square" lIns="0" tIns="0" rIns="0" bIns="0" rtlCol="0" anchor="t"/>
          <a:lstStyle/>
          <a:p>
            <a:pPr marL="177800" indent="-177800">
              <a:lnSpc>
                <a:spcPct val="106000"/>
              </a:lnSpc>
              <a:spcAft>
                <a:spcPts val="800"/>
              </a:spcAft>
              <a:buSzPct val="100000"/>
              <a:buChar char="•"/>
            </a:pPr>
            <a:r>
              <a:rPr lang="en-US" sz="1250" dirty="0">
                <a:solidFill>
                  <a:srgbClr val="000000"/>
                </a:solidFill>
                <a:latin typeface="Calibri" pitchFamily="34" charset="0"/>
                <a:ea typeface="Calibri" pitchFamily="34" charset="-122"/>
                <a:cs typeface="Calibri" pitchFamily="34" charset="-120"/>
              </a:rPr>
              <a:t>Development-split figures, so absolute values are optimistic</a:t>
            </a:r>
            <a:endParaRPr lang="en-US" sz="1250" dirty="0"/>
          </a:p>
          <a:p>
            <a:pPr marL="177800" indent="-177800">
              <a:lnSpc>
                <a:spcPct val="106000"/>
              </a:lnSpc>
              <a:spcAft>
                <a:spcPts val="800"/>
              </a:spcAft>
              <a:buSzPct val="100000"/>
              <a:buChar char="•"/>
            </a:pPr>
            <a:r>
              <a:rPr lang="en-US" sz="1250" dirty="0">
                <a:solidFill>
                  <a:srgbClr val="000000"/>
                </a:solidFill>
                <a:latin typeface="Calibri" pitchFamily="34" charset="0"/>
                <a:ea typeface="Calibri" pitchFamily="34" charset="-122"/>
                <a:cs typeface="Calibri" pitchFamily="34" charset="-120"/>
              </a:rPr>
              <a:t>One training run per condition, so no variance estimate</a:t>
            </a:r>
            <a:endParaRPr lang="en-US" sz="1250" dirty="0"/>
          </a:p>
          <a:p>
            <a:pPr marL="177800" indent="-177800">
              <a:lnSpc>
                <a:spcPct val="106000"/>
              </a:lnSpc>
              <a:spcAft>
                <a:spcPts val="800"/>
              </a:spcAft>
              <a:buSzPct val="100000"/>
              <a:buChar char="•"/>
            </a:pPr>
            <a:r>
              <a:rPr lang="en-US" sz="1250" dirty="0">
                <a:solidFill>
                  <a:srgbClr val="000000"/>
                </a:solidFill>
                <a:latin typeface="Calibri" pitchFamily="34" charset="0"/>
                <a:ea typeface="Calibri" pitchFamily="34" charset="-122"/>
                <a:cs typeface="Calibri" pitchFamily="34" charset="-120"/>
              </a:rPr>
              <a:t>One English corpus and one eleven-label inventory</a:t>
            </a:r>
            <a:endParaRPr lang="en-US" sz="1250" dirty="0"/>
          </a:p>
        </p:txBody>
      </p:sp>
      <p:sp>
        <p:nvSpPr>
          <p:cNvPr id="18" name="Text 16"/>
          <p:cNvSpPr txBox="1"/>
          <p:nvPr/>
        </p:nvSpPr>
        <p:spPr>
          <a:xfrm>
            <a:off x="6035040" y="1298448"/>
            <a:ext cx="5586984" cy="274320"/>
          </a:xfrm>
          <a:prstGeom prst="rect">
            <a:avLst/>
          </a:prstGeom>
          <a:noFill/>
          <a:ln/>
        </p:spPr>
        <p:txBody>
          <a:bodyPr wrap="square" lIns="0" tIns="0" rIns="0" bIns="0" rtlCol="0" anchor="t"/>
          <a:lstStyle/>
          <a:p>
            <a:pPr marL="0" indent="0">
              <a:lnSpc>
                <a:spcPct val="106000"/>
              </a:lnSpc>
              <a:buNone/>
            </a:pPr>
            <a:r>
              <a:rPr lang="en-US" sz="1500" b="1" dirty="0">
                <a:solidFill>
                  <a:srgbClr val="000000"/>
                </a:solidFill>
                <a:latin typeface="Calibri" pitchFamily="34" charset="0"/>
                <a:ea typeface="Calibri" pitchFamily="34" charset="-122"/>
                <a:cs typeface="Calibri" pitchFamily="34" charset="-120"/>
              </a:rPr>
              <a:t>Future Work:</a:t>
            </a:r>
            <a:endParaRPr lang="en-US" sz="1500" dirty="0"/>
          </a:p>
        </p:txBody>
      </p:sp>
      <p:graphicFrame>
        <p:nvGraphicFramePr>
          <p:cNvPr id="38" name="Table 0"/>
          <p:cNvGraphicFramePr>
            <a:graphicFrameLocks noGrp="1"/>
          </p:cNvGraphicFramePr>
          <p:nvPr>
            <p:extLst>
              <p:ext uri="{D42A27DB-BD31-4B8C-83A1-F6EECF244321}">
                <p14:modId xmlns:p14="http://schemas.microsoft.com/office/powerpoint/2010/main" val="1579011935"/>
              </p:ext>
            </p:extLst>
          </p:nvPr>
        </p:nvGraphicFramePr>
        <p:xfrm>
          <a:off x="6035040" y="1664208"/>
          <a:ext cx="5586984" cy="4032504"/>
        </p:xfrm>
        <a:graphic>
          <a:graphicData uri="http://schemas.openxmlformats.org/drawingml/2006/table">
            <a:tbl>
              <a:tblPr/>
              <a:tblGrid>
                <a:gridCol w="365760">
                  <a:extLst>
                    <a:ext uri="{9D8B030D-6E8A-4147-A177-3AD203B41FA5}">
                      <a16:colId xmlns:a16="http://schemas.microsoft.com/office/drawing/2014/main" val="20000"/>
                    </a:ext>
                  </a:extLst>
                </a:gridCol>
                <a:gridCol w="2432304">
                  <a:extLst>
                    <a:ext uri="{9D8B030D-6E8A-4147-A177-3AD203B41FA5}">
                      <a16:colId xmlns:a16="http://schemas.microsoft.com/office/drawing/2014/main" val="20001"/>
                    </a:ext>
                  </a:extLst>
                </a:gridCol>
                <a:gridCol w="2788920">
                  <a:extLst>
                    <a:ext uri="{9D8B030D-6E8A-4147-A177-3AD203B41FA5}">
                      <a16:colId xmlns:a16="http://schemas.microsoft.com/office/drawing/2014/main" val="20002"/>
                    </a:ext>
                  </a:extLst>
                </a:gridCol>
              </a:tblGrid>
              <a:tr h="576072">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a:t>
                      </a:r>
                      <a:endParaRPr lang="en-US" sz="1200" dirty="0">
                        <a:latin typeface="Calibri" charset="0"/>
                        <a:ea typeface="Calibri" charset="0"/>
                        <a:cs typeface="Calibri" charset="0"/>
                      </a:endParaRPr>
                    </a:p>
                  </a:txBody>
                  <a:tcPr anchor="ctr">
                    <a:lnL w="9525" cap="flat" cmpd="sng" algn="ctr">
                      <a:solidFill>
                        <a:srgbClr val="C9CDD4"/>
                      </a:solidFill>
                      <a:prstDash val="solid"/>
                      <a:round/>
                      <a:headEnd type="none" w="med" len="med"/>
                      <a:tailEnd type="none" w="med" len="med"/>
                    </a:lnL>
                    <a:lnR w="9525" cap="flat" cmpd="sng" algn="ctr">
                      <a:solidFill>
                        <a:srgbClr val="C9CDD4"/>
                      </a:solidFill>
                      <a:prstDash val="solid"/>
                      <a:round/>
                      <a:headEnd type="none" w="med" len="med"/>
                      <a:tailEnd type="none" w="med" len="med"/>
                    </a:lnR>
                    <a:lnT w="9525" cap="flat" cmpd="sng" algn="ctr">
                      <a:solidFill>
                        <a:srgbClr val="C9CDD4"/>
                      </a:solidFill>
                      <a:prstDash val="solid"/>
                      <a:round/>
                      <a:headEnd type="none" w="med" len="med"/>
                      <a:tailEnd type="none" w="med" len="med"/>
                    </a:lnT>
                    <a:lnB w="9525" cap="flat" cmpd="sng" algn="ctr">
                      <a:solidFill>
                        <a:srgbClr val="C9CDD4"/>
                      </a:solidFill>
                      <a:prstDash val="solid"/>
                      <a:round/>
                      <a:headEnd type="none" w="med" len="med"/>
                      <a:tailEnd type="none" w="med" len="med"/>
                    </a:lnB>
                    <a:solidFill>
                      <a:srgbClr val="9A003B"/>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Extension</a:t>
                      </a:r>
                      <a:endParaRPr lang="en-US" sz="1200" dirty="0">
                        <a:latin typeface="Calibri" charset="0"/>
                        <a:ea typeface="Calibri" charset="0"/>
                        <a:cs typeface="Calibri" charset="0"/>
                      </a:endParaRPr>
                    </a:p>
                  </a:txBody>
                  <a:tcPr anchor="ctr">
                    <a:lnL w="9525" cap="flat" cmpd="sng" algn="ctr">
                      <a:solidFill>
                        <a:srgbClr val="C9CDD4"/>
                      </a:solidFill>
                      <a:prstDash val="solid"/>
                      <a:round/>
                      <a:headEnd type="none" w="med" len="med"/>
                      <a:tailEnd type="none" w="med" len="med"/>
                    </a:lnL>
                    <a:lnR w="9525" cap="flat" cmpd="sng" algn="ctr">
                      <a:solidFill>
                        <a:srgbClr val="C9CDD4"/>
                      </a:solidFill>
                      <a:prstDash val="solid"/>
                      <a:round/>
                      <a:headEnd type="none" w="med" len="med"/>
                      <a:tailEnd type="none" w="med" len="med"/>
                    </a:lnR>
                    <a:lnT w="9525" cap="flat" cmpd="sng" algn="ctr">
                      <a:solidFill>
                        <a:srgbClr val="C9CDD4"/>
                      </a:solidFill>
                      <a:prstDash val="solid"/>
                      <a:round/>
                      <a:headEnd type="none" w="med" len="med"/>
                      <a:tailEnd type="none" w="med" len="med"/>
                    </a:lnT>
                    <a:lnB w="9525" cap="flat" cmpd="sng" algn="ctr">
                      <a:solidFill>
                        <a:srgbClr val="C9CDD4"/>
                      </a:solidFill>
                      <a:prstDash val="solid"/>
                      <a:round/>
                      <a:headEnd type="none" w="med" len="med"/>
                      <a:tailEnd type="none" w="med" len="med"/>
                    </a:lnB>
                    <a:solidFill>
                      <a:srgbClr val="9A003B"/>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Why it matters</a:t>
                      </a:r>
                      <a:endParaRPr lang="en-US" sz="1200" dirty="0">
                        <a:latin typeface="Calibri" charset="0"/>
                        <a:ea typeface="Calibri" charset="0"/>
                        <a:cs typeface="Calibri" charset="0"/>
                      </a:endParaRPr>
                    </a:p>
                  </a:txBody>
                  <a:tcPr anchor="ctr">
                    <a:lnL w="9525" cap="flat" cmpd="sng" algn="ctr">
                      <a:solidFill>
                        <a:srgbClr val="C9CDD4"/>
                      </a:solidFill>
                      <a:prstDash val="solid"/>
                      <a:round/>
                      <a:headEnd type="none" w="med" len="med"/>
                      <a:tailEnd type="none" w="med" len="med"/>
                    </a:lnL>
                    <a:lnR w="9525" cap="flat" cmpd="sng" algn="ctr">
                      <a:solidFill>
                        <a:srgbClr val="C9CDD4"/>
                      </a:solidFill>
                      <a:prstDash val="solid"/>
                      <a:round/>
                      <a:headEnd type="none" w="med" len="med"/>
                      <a:tailEnd type="none" w="med" len="med"/>
                    </a:lnR>
                    <a:lnT w="9525" cap="flat" cmpd="sng" algn="ctr">
                      <a:solidFill>
                        <a:srgbClr val="C9CDD4"/>
                      </a:solidFill>
                      <a:prstDash val="solid"/>
                      <a:round/>
                      <a:headEnd type="none" w="med" len="med"/>
                      <a:tailEnd type="none" w="med" len="med"/>
                    </a:lnT>
                    <a:lnB w="9525" cap="flat" cmpd="sng" algn="ctr">
                      <a:solidFill>
                        <a:srgbClr val="C9CDD4"/>
                      </a:solidFill>
                      <a:prstDash val="solid"/>
                      <a:round/>
                      <a:headEnd type="none" w="med" len="med"/>
                      <a:tailEnd type="none" w="med" len="med"/>
                    </a:lnB>
                    <a:solidFill>
                      <a:srgbClr val="9A003B"/>
                    </a:solidFill>
                  </a:tcPr>
                </a:tc>
                <a:extLst>
                  <a:ext uri="{0D108BD9-81ED-4DB2-BD59-A6C34878D82A}">
                    <a16:rowId xmlns:a16="http://schemas.microsoft.com/office/drawing/2014/main" val="10000"/>
                  </a:ext>
                </a:extLst>
              </a:tr>
              <a:tr h="576072">
                <a:tc>
                  <a:txBody>
                    <a:bodyPr/>
                    <a:lstStyle/>
                    <a:p>
                      <a:pPr marL="0" indent="0">
                        <a:buNone/>
                      </a:pPr>
                      <a:r>
                        <a:rPr lang="en-US" sz="1050" dirty="0">
                          <a:solidFill>
                            <a:srgbClr val="000000"/>
                          </a:solidFill>
                          <a:latin typeface="Calibri" pitchFamily="34" charset="0"/>
                          <a:ea typeface="Calibri" pitchFamily="34" charset="-122"/>
                          <a:cs typeface="Calibri" pitchFamily="34" charset="-120"/>
                        </a:rPr>
                        <a:t>1</a:t>
                      </a:r>
                      <a:endParaRPr lang="en-US" sz="1050" dirty="0">
                        <a:latin typeface="Calibri" charset="0"/>
                        <a:ea typeface="Calibri" charset="0"/>
                        <a:cs typeface="Calibri" charset="0"/>
                      </a:endParaRPr>
                    </a:p>
                  </a:txBody>
                  <a:tcPr anchor="ctr">
                    <a:lnL w="9525" cap="flat" cmpd="sng" algn="ctr">
                      <a:solidFill>
                        <a:srgbClr val="C9CDD4"/>
                      </a:solidFill>
                      <a:prstDash val="solid"/>
                      <a:round/>
                      <a:headEnd type="none" w="med" len="med"/>
                      <a:tailEnd type="none" w="med" len="med"/>
                    </a:lnL>
                    <a:lnR w="9525" cap="flat" cmpd="sng" algn="ctr">
                      <a:solidFill>
                        <a:srgbClr val="C9CDD4"/>
                      </a:solidFill>
                      <a:prstDash val="solid"/>
                      <a:round/>
                      <a:headEnd type="none" w="med" len="med"/>
                      <a:tailEnd type="none" w="med" len="med"/>
                    </a:lnR>
                    <a:lnT w="9525" cap="flat" cmpd="sng" algn="ctr">
                      <a:solidFill>
                        <a:srgbClr val="C9CDD4"/>
                      </a:solidFill>
                      <a:prstDash val="solid"/>
                      <a:round/>
                      <a:headEnd type="none" w="med" len="med"/>
                      <a:tailEnd type="none" w="med" len="med"/>
                    </a:lnT>
                    <a:lnB w="9525" cap="flat" cmpd="sng" algn="ctr">
                      <a:solidFill>
                        <a:srgbClr val="C9CDD4"/>
                      </a:solidFill>
                      <a:prstDash val="solid"/>
                      <a:round/>
                      <a:headEnd type="none" w="med" len="med"/>
                      <a:tailEnd type="none" w="med" len="med"/>
                    </a:lnB>
                  </a:tcPr>
                </a:tc>
                <a:tc>
                  <a:txBody>
                    <a:bodyPr/>
                    <a:lstStyle/>
                    <a:p>
                      <a:pPr marL="0" indent="0">
                        <a:buNone/>
                      </a:pPr>
                      <a:r>
                        <a:rPr lang="en-US" sz="1050" dirty="0">
                          <a:solidFill>
                            <a:srgbClr val="000000"/>
                          </a:solidFill>
                          <a:latin typeface="Calibri" pitchFamily="34" charset="0"/>
                          <a:ea typeface="Calibri" pitchFamily="34" charset="-122"/>
                          <a:cs typeface="Calibri" pitchFamily="34" charset="-120"/>
                        </a:rPr>
                        <a:t>Score the preserved test split</a:t>
                      </a:r>
                      <a:endParaRPr lang="en-US" sz="1050" dirty="0">
                        <a:latin typeface="Calibri" charset="0"/>
                        <a:ea typeface="Calibri" charset="0"/>
                        <a:cs typeface="Calibri" charset="0"/>
                      </a:endParaRPr>
                    </a:p>
                  </a:txBody>
                  <a:tcPr anchor="ctr">
                    <a:lnL w="9525" cap="flat" cmpd="sng" algn="ctr">
                      <a:solidFill>
                        <a:srgbClr val="C9CDD4"/>
                      </a:solidFill>
                      <a:prstDash val="solid"/>
                      <a:round/>
                      <a:headEnd type="none" w="med" len="med"/>
                      <a:tailEnd type="none" w="med" len="med"/>
                    </a:lnL>
                    <a:lnR w="9525" cap="flat" cmpd="sng" algn="ctr">
                      <a:solidFill>
                        <a:srgbClr val="C9CDD4"/>
                      </a:solidFill>
                      <a:prstDash val="solid"/>
                      <a:round/>
                      <a:headEnd type="none" w="med" len="med"/>
                      <a:tailEnd type="none" w="med" len="med"/>
                    </a:lnR>
                    <a:lnT w="9525" cap="flat" cmpd="sng" algn="ctr">
                      <a:solidFill>
                        <a:srgbClr val="C9CDD4"/>
                      </a:solidFill>
                      <a:prstDash val="solid"/>
                      <a:round/>
                      <a:headEnd type="none" w="med" len="med"/>
                      <a:tailEnd type="none" w="med" len="med"/>
                    </a:lnT>
                    <a:lnB w="9525" cap="flat" cmpd="sng" algn="ctr">
                      <a:solidFill>
                        <a:srgbClr val="C9CDD4"/>
                      </a:solidFill>
                      <a:prstDash val="solid"/>
                      <a:round/>
                      <a:headEnd type="none" w="med" len="med"/>
                      <a:tailEnd type="none" w="med" len="med"/>
                    </a:lnB>
                  </a:tcPr>
                </a:tc>
                <a:tc>
                  <a:txBody>
                    <a:bodyPr/>
                    <a:lstStyle/>
                    <a:p>
                      <a:pPr marL="0" indent="0">
                        <a:buNone/>
                      </a:pPr>
                      <a:r>
                        <a:rPr lang="en-US" sz="1050" dirty="0">
                          <a:solidFill>
                            <a:srgbClr val="000000"/>
                          </a:solidFill>
                          <a:latin typeface="Calibri" pitchFamily="34" charset="0"/>
                          <a:ea typeface="Calibri" pitchFamily="34" charset="-122"/>
                          <a:cs typeface="Calibri" pitchFamily="34" charset="-120"/>
                        </a:rPr>
                        <a:t>Converts indicative results into confirmed ones; no retraining needed</a:t>
                      </a:r>
                      <a:endParaRPr lang="en-US" sz="1050" dirty="0">
                        <a:latin typeface="Calibri" charset="0"/>
                        <a:ea typeface="Calibri" charset="0"/>
                        <a:cs typeface="Calibri" charset="0"/>
                      </a:endParaRPr>
                    </a:p>
                  </a:txBody>
                  <a:tcPr anchor="ctr">
                    <a:lnL w="9525" cap="flat" cmpd="sng" algn="ctr">
                      <a:solidFill>
                        <a:srgbClr val="C9CDD4"/>
                      </a:solidFill>
                      <a:prstDash val="solid"/>
                      <a:round/>
                      <a:headEnd type="none" w="med" len="med"/>
                      <a:tailEnd type="none" w="med" len="med"/>
                    </a:lnL>
                    <a:lnR w="9525" cap="flat" cmpd="sng" algn="ctr">
                      <a:solidFill>
                        <a:srgbClr val="C9CDD4"/>
                      </a:solidFill>
                      <a:prstDash val="solid"/>
                      <a:round/>
                      <a:headEnd type="none" w="med" len="med"/>
                      <a:tailEnd type="none" w="med" len="med"/>
                    </a:lnR>
                    <a:lnT w="9525" cap="flat" cmpd="sng" algn="ctr">
                      <a:solidFill>
                        <a:srgbClr val="C9CDD4"/>
                      </a:solidFill>
                      <a:prstDash val="solid"/>
                      <a:round/>
                      <a:headEnd type="none" w="med" len="med"/>
                      <a:tailEnd type="none" w="med" len="med"/>
                    </a:lnT>
                    <a:lnB w="9525" cap="flat" cmpd="sng" algn="ctr">
                      <a:solidFill>
                        <a:srgbClr val="C9CDD4"/>
                      </a:solidFill>
                      <a:prstDash val="solid"/>
                      <a:round/>
                      <a:headEnd type="none" w="med" len="med"/>
                      <a:tailEnd type="none" w="med" len="med"/>
                    </a:lnB>
                  </a:tcPr>
                </a:tc>
                <a:extLst>
                  <a:ext uri="{0D108BD9-81ED-4DB2-BD59-A6C34878D82A}">
                    <a16:rowId xmlns:a16="http://schemas.microsoft.com/office/drawing/2014/main" val="10001"/>
                  </a:ext>
                </a:extLst>
              </a:tr>
              <a:tr h="576072">
                <a:tc>
                  <a:txBody>
                    <a:bodyPr/>
                    <a:lstStyle/>
                    <a:p>
                      <a:pPr marL="0" indent="0">
                        <a:buNone/>
                      </a:pPr>
                      <a:r>
                        <a:rPr lang="en-US" sz="1050" dirty="0">
                          <a:solidFill>
                            <a:srgbClr val="000000"/>
                          </a:solidFill>
                          <a:latin typeface="Calibri" pitchFamily="34" charset="0"/>
                          <a:ea typeface="Calibri" pitchFamily="34" charset="-122"/>
                          <a:cs typeface="Calibri" pitchFamily="34" charset="-120"/>
                        </a:rPr>
                        <a:t>2</a:t>
                      </a:r>
                      <a:endParaRPr lang="en-US" sz="1050" dirty="0">
                        <a:latin typeface="Calibri" charset="0"/>
                        <a:ea typeface="Calibri" charset="0"/>
                        <a:cs typeface="Calibri" charset="0"/>
                      </a:endParaRPr>
                    </a:p>
                  </a:txBody>
                  <a:tcPr anchor="ctr">
                    <a:lnL w="9525" cap="flat" cmpd="sng" algn="ctr">
                      <a:solidFill>
                        <a:srgbClr val="C9CDD4"/>
                      </a:solidFill>
                      <a:prstDash val="solid"/>
                      <a:round/>
                      <a:headEnd type="none" w="med" len="med"/>
                      <a:tailEnd type="none" w="med" len="med"/>
                    </a:lnL>
                    <a:lnR w="9525" cap="flat" cmpd="sng" algn="ctr">
                      <a:solidFill>
                        <a:srgbClr val="C9CDD4"/>
                      </a:solidFill>
                      <a:prstDash val="solid"/>
                      <a:round/>
                      <a:headEnd type="none" w="med" len="med"/>
                      <a:tailEnd type="none" w="med" len="med"/>
                    </a:lnR>
                    <a:lnT w="9525" cap="flat" cmpd="sng" algn="ctr">
                      <a:solidFill>
                        <a:srgbClr val="C9CDD4"/>
                      </a:solidFill>
                      <a:prstDash val="solid"/>
                      <a:round/>
                      <a:headEnd type="none" w="med" len="med"/>
                      <a:tailEnd type="none" w="med" len="med"/>
                    </a:lnT>
                    <a:lnB w="9525" cap="flat" cmpd="sng" algn="ctr">
                      <a:solidFill>
                        <a:srgbClr val="C9CDD4"/>
                      </a:solidFill>
                      <a:prstDash val="solid"/>
                      <a:round/>
                      <a:headEnd type="none" w="med" len="med"/>
                      <a:tailEnd type="none" w="med" len="med"/>
                    </a:lnB>
                  </a:tcPr>
                </a:tc>
                <a:tc>
                  <a:txBody>
                    <a:bodyPr/>
                    <a:lstStyle/>
                    <a:p>
                      <a:pPr marL="0" indent="0">
                        <a:buNone/>
                      </a:pPr>
                      <a:r>
                        <a:rPr lang="en-US" sz="1050" dirty="0">
                          <a:solidFill>
                            <a:srgbClr val="000000"/>
                          </a:solidFill>
                          <a:latin typeface="Calibri" pitchFamily="34" charset="0"/>
                          <a:ea typeface="Calibri" pitchFamily="34" charset="-122"/>
                          <a:cs typeface="Calibri" pitchFamily="34" charset="-120"/>
                        </a:rPr>
                        <a:t>Repeat across several random seeds</a:t>
                      </a:r>
                      <a:endParaRPr lang="en-US" sz="1050" dirty="0">
                        <a:latin typeface="Calibri" charset="0"/>
                        <a:ea typeface="Calibri" charset="0"/>
                        <a:cs typeface="Calibri" charset="0"/>
                      </a:endParaRPr>
                    </a:p>
                  </a:txBody>
                  <a:tcPr anchor="ctr">
                    <a:lnL w="9525" cap="flat" cmpd="sng" algn="ctr">
                      <a:solidFill>
                        <a:srgbClr val="C9CDD4"/>
                      </a:solidFill>
                      <a:prstDash val="solid"/>
                      <a:round/>
                      <a:headEnd type="none" w="med" len="med"/>
                      <a:tailEnd type="none" w="med" len="med"/>
                    </a:lnL>
                    <a:lnR w="9525" cap="flat" cmpd="sng" algn="ctr">
                      <a:solidFill>
                        <a:srgbClr val="C9CDD4"/>
                      </a:solidFill>
                      <a:prstDash val="solid"/>
                      <a:round/>
                      <a:headEnd type="none" w="med" len="med"/>
                      <a:tailEnd type="none" w="med" len="med"/>
                    </a:lnR>
                    <a:lnT w="9525" cap="flat" cmpd="sng" algn="ctr">
                      <a:solidFill>
                        <a:srgbClr val="C9CDD4"/>
                      </a:solidFill>
                      <a:prstDash val="solid"/>
                      <a:round/>
                      <a:headEnd type="none" w="med" len="med"/>
                      <a:tailEnd type="none" w="med" len="med"/>
                    </a:lnT>
                    <a:lnB w="9525" cap="flat" cmpd="sng" algn="ctr">
                      <a:solidFill>
                        <a:srgbClr val="C9CDD4"/>
                      </a:solidFill>
                      <a:prstDash val="solid"/>
                      <a:round/>
                      <a:headEnd type="none" w="med" len="med"/>
                      <a:tailEnd type="none" w="med" len="med"/>
                    </a:lnB>
                  </a:tcPr>
                </a:tc>
                <a:tc>
                  <a:txBody>
                    <a:bodyPr/>
                    <a:lstStyle/>
                    <a:p>
                      <a:pPr marL="0" indent="0">
                        <a:buNone/>
                      </a:pPr>
                      <a:r>
                        <a:rPr lang="en-US" sz="1050" dirty="0">
                          <a:solidFill>
                            <a:srgbClr val="000000"/>
                          </a:solidFill>
                          <a:latin typeface="Calibri" pitchFamily="34" charset="0"/>
                          <a:ea typeface="Calibri" pitchFamily="34" charset="-122"/>
                          <a:cs typeface="Calibri" pitchFamily="34" charset="-120"/>
                        </a:rPr>
                        <a:t>Provides the variance estimate this study lacks</a:t>
                      </a:r>
                      <a:endParaRPr lang="en-US" sz="1050" dirty="0">
                        <a:latin typeface="Calibri" charset="0"/>
                        <a:ea typeface="Calibri" charset="0"/>
                        <a:cs typeface="Calibri" charset="0"/>
                      </a:endParaRPr>
                    </a:p>
                  </a:txBody>
                  <a:tcPr anchor="ctr">
                    <a:lnL w="9525" cap="flat" cmpd="sng" algn="ctr">
                      <a:solidFill>
                        <a:srgbClr val="C9CDD4"/>
                      </a:solidFill>
                      <a:prstDash val="solid"/>
                      <a:round/>
                      <a:headEnd type="none" w="med" len="med"/>
                      <a:tailEnd type="none" w="med" len="med"/>
                    </a:lnL>
                    <a:lnR w="9525" cap="flat" cmpd="sng" algn="ctr">
                      <a:solidFill>
                        <a:srgbClr val="C9CDD4"/>
                      </a:solidFill>
                      <a:prstDash val="solid"/>
                      <a:round/>
                      <a:headEnd type="none" w="med" len="med"/>
                      <a:tailEnd type="none" w="med" len="med"/>
                    </a:lnR>
                    <a:lnT w="9525" cap="flat" cmpd="sng" algn="ctr">
                      <a:solidFill>
                        <a:srgbClr val="C9CDD4"/>
                      </a:solidFill>
                      <a:prstDash val="solid"/>
                      <a:round/>
                      <a:headEnd type="none" w="med" len="med"/>
                      <a:tailEnd type="none" w="med" len="med"/>
                    </a:lnT>
                    <a:lnB w="9525" cap="flat" cmpd="sng" algn="ctr">
                      <a:solidFill>
                        <a:srgbClr val="C9CDD4"/>
                      </a:solidFill>
                      <a:prstDash val="solid"/>
                      <a:round/>
                      <a:headEnd type="none" w="med" len="med"/>
                      <a:tailEnd type="none" w="med" len="med"/>
                    </a:lnB>
                  </a:tcPr>
                </a:tc>
                <a:extLst>
                  <a:ext uri="{0D108BD9-81ED-4DB2-BD59-A6C34878D82A}">
                    <a16:rowId xmlns:a16="http://schemas.microsoft.com/office/drawing/2014/main" val="10002"/>
                  </a:ext>
                </a:extLst>
              </a:tr>
              <a:tr h="576072">
                <a:tc>
                  <a:txBody>
                    <a:bodyPr/>
                    <a:lstStyle/>
                    <a:p>
                      <a:pPr marL="0" indent="0">
                        <a:buNone/>
                      </a:pPr>
                      <a:r>
                        <a:rPr lang="en-US" sz="1050" dirty="0">
                          <a:solidFill>
                            <a:srgbClr val="000000"/>
                          </a:solidFill>
                          <a:latin typeface="Calibri" pitchFamily="34" charset="0"/>
                          <a:ea typeface="Calibri" pitchFamily="34" charset="-122"/>
                          <a:cs typeface="Calibri" pitchFamily="34" charset="-120"/>
                        </a:rPr>
                        <a:t>3</a:t>
                      </a:r>
                      <a:endParaRPr lang="en-US" sz="1050" dirty="0">
                        <a:latin typeface="Calibri" charset="0"/>
                        <a:ea typeface="Calibri" charset="0"/>
                        <a:cs typeface="Calibri" charset="0"/>
                      </a:endParaRPr>
                    </a:p>
                  </a:txBody>
                  <a:tcPr anchor="ctr">
                    <a:lnL w="9525" cap="flat" cmpd="sng" algn="ctr">
                      <a:solidFill>
                        <a:srgbClr val="C9CDD4"/>
                      </a:solidFill>
                      <a:prstDash val="solid"/>
                      <a:round/>
                      <a:headEnd type="none" w="med" len="med"/>
                      <a:tailEnd type="none" w="med" len="med"/>
                    </a:lnL>
                    <a:lnR w="9525" cap="flat" cmpd="sng" algn="ctr">
                      <a:solidFill>
                        <a:srgbClr val="C9CDD4"/>
                      </a:solidFill>
                      <a:prstDash val="solid"/>
                      <a:round/>
                      <a:headEnd type="none" w="med" len="med"/>
                      <a:tailEnd type="none" w="med" len="med"/>
                    </a:lnR>
                    <a:lnT w="9525" cap="flat" cmpd="sng" algn="ctr">
                      <a:solidFill>
                        <a:srgbClr val="C9CDD4"/>
                      </a:solidFill>
                      <a:prstDash val="solid"/>
                      <a:round/>
                      <a:headEnd type="none" w="med" len="med"/>
                      <a:tailEnd type="none" w="med" len="med"/>
                    </a:lnT>
                    <a:lnB w="9525" cap="flat" cmpd="sng" algn="ctr">
                      <a:solidFill>
                        <a:srgbClr val="C9CDD4"/>
                      </a:solidFill>
                      <a:prstDash val="solid"/>
                      <a:round/>
                      <a:headEnd type="none" w="med" len="med"/>
                      <a:tailEnd type="none" w="med" len="med"/>
                    </a:lnB>
                  </a:tcPr>
                </a:tc>
                <a:tc>
                  <a:txBody>
                    <a:bodyPr/>
                    <a:lstStyle/>
                    <a:p>
                      <a:pPr marL="0" indent="0">
                        <a:buNone/>
                      </a:pPr>
                      <a:r>
                        <a:rPr lang="en-US" sz="1050" dirty="0">
                          <a:solidFill>
                            <a:srgbClr val="000000"/>
                          </a:solidFill>
                          <a:latin typeface="Calibri" pitchFamily="34" charset="0"/>
                          <a:ea typeface="Calibri" pitchFamily="34" charset="-122"/>
                          <a:cs typeface="Calibri" pitchFamily="34" charset="-120"/>
                        </a:rPr>
                        <a:t>Repeat the Transformer comparison with configuration fixed</a:t>
                      </a:r>
                      <a:endParaRPr lang="en-US" sz="1050" dirty="0">
                        <a:latin typeface="Calibri" charset="0"/>
                        <a:ea typeface="Calibri" charset="0"/>
                        <a:cs typeface="Calibri" charset="0"/>
                      </a:endParaRPr>
                    </a:p>
                  </a:txBody>
                  <a:tcPr anchor="ctr">
                    <a:lnL w="9525" cap="flat" cmpd="sng" algn="ctr">
                      <a:solidFill>
                        <a:srgbClr val="C9CDD4"/>
                      </a:solidFill>
                      <a:prstDash val="solid"/>
                      <a:round/>
                      <a:headEnd type="none" w="med" len="med"/>
                      <a:tailEnd type="none" w="med" len="med"/>
                    </a:lnL>
                    <a:lnR w="9525" cap="flat" cmpd="sng" algn="ctr">
                      <a:solidFill>
                        <a:srgbClr val="C9CDD4"/>
                      </a:solidFill>
                      <a:prstDash val="solid"/>
                      <a:round/>
                      <a:headEnd type="none" w="med" len="med"/>
                      <a:tailEnd type="none" w="med" len="med"/>
                    </a:lnR>
                    <a:lnT w="9525" cap="flat" cmpd="sng" algn="ctr">
                      <a:solidFill>
                        <a:srgbClr val="C9CDD4"/>
                      </a:solidFill>
                      <a:prstDash val="solid"/>
                      <a:round/>
                      <a:headEnd type="none" w="med" len="med"/>
                      <a:tailEnd type="none" w="med" len="med"/>
                    </a:lnT>
                    <a:lnB w="9525" cap="flat" cmpd="sng" algn="ctr">
                      <a:solidFill>
                        <a:srgbClr val="C9CDD4"/>
                      </a:solidFill>
                      <a:prstDash val="solid"/>
                      <a:round/>
                      <a:headEnd type="none" w="med" len="med"/>
                      <a:tailEnd type="none" w="med" len="med"/>
                    </a:lnB>
                  </a:tcPr>
                </a:tc>
                <a:tc>
                  <a:txBody>
                    <a:bodyPr/>
                    <a:lstStyle/>
                    <a:p>
                      <a:pPr marL="0" indent="0">
                        <a:buNone/>
                      </a:pPr>
                      <a:r>
                        <a:rPr lang="en-US" sz="1050" dirty="0">
                          <a:solidFill>
                            <a:srgbClr val="000000"/>
                          </a:solidFill>
                          <a:latin typeface="Calibri" pitchFamily="34" charset="0"/>
                          <a:ea typeface="Calibri" pitchFamily="34" charset="-122"/>
                          <a:cs typeface="Calibri" pitchFamily="34" charset="-120"/>
                        </a:rPr>
                        <a:t>Removes the one remaining confound</a:t>
                      </a:r>
                      <a:endParaRPr lang="en-US" sz="1050" dirty="0">
                        <a:latin typeface="Calibri" charset="0"/>
                        <a:ea typeface="Calibri" charset="0"/>
                        <a:cs typeface="Calibri" charset="0"/>
                      </a:endParaRPr>
                    </a:p>
                  </a:txBody>
                  <a:tcPr anchor="ctr">
                    <a:lnL w="9525" cap="flat" cmpd="sng" algn="ctr">
                      <a:solidFill>
                        <a:srgbClr val="C9CDD4"/>
                      </a:solidFill>
                      <a:prstDash val="solid"/>
                      <a:round/>
                      <a:headEnd type="none" w="med" len="med"/>
                      <a:tailEnd type="none" w="med" len="med"/>
                    </a:lnL>
                    <a:lnR w="9525" cap="flat" cmpd="sng" algn="ctr">
                      <a:solidFill>
                        <a:srgbClr val="C9CDD4"/>
                      </a:solidFill>
                      <a:prstDash val="solid"/>
                      <a:round/>
                      <a:headEnd type="none" w="med" len="med"/>
                      <a:tailEnd type="none" w="med" len="med"/>
                    </a:lnR>
                    <a:lnT w="9525" cap="flat" cmpd="sng" algn="ctr">
                      <a:solidFill>
                        <a:srgbClr val="C9CDD4"/>
                      </a:solidFill>
                      <a:prstDash val="solid"/>
                      <a:round/>
                      <a:headEnd type="none" w="med" len="med"/>
                      <a:tailEnd type="none" w="med" len="med"/>
                    </a:lnT>
                    <a:lnB w="9525" cap="flat" cmpd="sng" algn="ctr">
                      <a:solidFill>
                        <a:srgbClr val="C9CDD4"/>
                      </a:solidFill>
                      <a:prstDash val="solid"/>
                      <a:round/>
                      <a:headEnd type="none" w="med" len="med"/>
                      <a:tailEnd type="none" w="med" len="med"/>
                    </a:lnB>
                  </a:tcPr>
                </a:tc>
                <a:extLst>
                  <a:ext uri="{0D108BD9-81ED-4DB2-BD59-A6C34878D82A}">
                    <a16:rowId xmlns:a16="http://schemas.microsoft.com/office/drawing/2014/main" val="10003"/>
                  </a:ext>
                </a:extLst>
              </a:tr>
              <a:tr h="576072">
                <a:tc>
                  <a:txBody>
                    <a:bodyPr/>
                    <a:lstStyle/>
                    <a:p>
                      <a:pPr marL="0" indent="0">
                        <a:buNone/>
                      </a:pPr>
                      <a:r>
                        <a:rPr lang="en-US" sz="1050" dirty="0">
                          <a:solidFill>
                            <a:srgbClr val="000000"/>
                          </a:solidFill>
                          <a:latin typeface="Calibri" pitchFamily="34" charset="0"/>
                          <a:ea typeface="Calibri" pitchFamily="34" charset="-122"/>
                          <a:cs typeface="Calibri" pitchFamily="34" charset="-120"/>
                        </a:rPr>
                        <a:t>4</a:t>
                      </a:r>
                      <a:endParaRPr lang="en-US" sz="1050" dirty="0">
                        <a:latin typeface="Calibri" charset="0"/>
                        <a:ea typeface="Calibri" charset="0"/>
                        <a:cs typeface="Calibri" charset="0"/>
                      </a:endParaRPr>
                    </a:p>
                  </a:txBody>
                  <a:tcPr anchor="ctr">
                    <a:lnL w="9525" cap="flat" cmpd="sng" algn="ctr">
                      <a:solidFill>
                        <a:srgbClr val="C9CDD4"/>
                      </a:solidFill>
                      <a:prstDash val="solid"/>
                      <a:round/>
                      <a:headEnd type="none" w="med" len="med"/>
                      <a:tailEnd type="none" w="med" len="med"/>
                    </a:lnL>
                    <a:lnR w="9525" cap="flat" cmpd="sng" algn="ctr">
                      <a:solidFill>
                        <a:srgbClr val="C9CDD4"/>
                      </a:solidFill>
                      <a:prstDash val="solid"/>
                      <a:round/>
                      <a:headEnd type="none" w="med" len="med"/>
                      <a:tailEnd type="none" w="med" len="med"/>
                    </a:lnR>
                    <a:lnT w="9525" cap="flat" cmpd="sng" algn="ctr">
                      <a:solidFill>
                        <a:srgbClr val="C9CDD4"/>
                      </a:solidFill>
                      <a:prstDash val="solid"/>
                      <a:round/>
                      <a:headEnd type="none" w="med" len="med"/>
                      <a:tailEnd type="none" w="med" len="med"/>
                    </a:lnT>
                    <a:lnB w="9525" cap="flat" cmpd="sng" algn="ctr">
                      <a:solidFill>
                        <a:srgbClr val="C9CDD4"/>
                      </a:solidFill>
                      <a:prstDash val="solid"/>
                      <a:round/>
                      <a:headEnd type="none" w="med" len="med"/>
                      <a:tailEnd type="none" w="med" len="med"/>
                    </a:lnB>
                  </a:tcPr>
                </a:tc>
                <a:tc>
                  <a:txBody>
                    <a:bodyPr/>
                    <a:lstStyle/>
                    <a:p>
                      <a:pPr marL="0" indent="0">
                        <a:buNone/>
                      </a:pPr>
                      <a:r>
                        <a:rPr lang="en-US" sz="1050" dirty="0">
                          <a:solidFill>
                            <a:srgbClr val="000000"/>
                          </a:solidFill>
                          <a:latin typeface="Calibri" pitchFamily="34" charset="0"/>
                          <a:ea typeface="Calibri" pitchFamily="34" charset="-122"/>
                          <a:cs typeface="Calibri" pitchFamily="34" charset="-120"/>
                        </a:rPr>
                        <a:t>Evaluate only on emoji-bearing tweets</a:t>
                      </a:r>
                      <a:endParaRPr lang="en-US" sz="1050" dirty="0">
                        <a:latin typeface="Calibri" charset="0"/>
                        <a:ea typeface="Calibri" charset="0"/>
                        <a:cs typeface="Calibri" charset="0"/>
                      </a:endParaRPr>
                    </a:p>
                  </a:txBody>
                  <a:tcPr anchor="ctr">
                    <a:lnL w="9525" cap="flat" cmpd="sng" algn="ctr">
                      <a:solidFill>
                        <a:srgbClr val="C9CDD4"/>
                      </a:solidFill>
                      <a:prstDash val="solid"/>
                      <a:round/>
                      <a:headEnd type="none" w="med" len="med"/>
                      <a:tailEnd type="none" w="med" len="med"/>
                    </a:lnL>
                    <a:lnR w="9525" cap="flat" cmpd="sng" algn="ctr">
                      <a:solidFill>
                        <a:srgbClr val="C9CDD4"/>
                      </a:solidFill>
                      <a:prstDash val="solid"/>
                      <a:round/>
                      <a:headEnd type="none" w="med" len="med"/>
                      <a:tailEnd type="none" w="med" len="med"/>
                    </a:lnR>
                    <a:lnT w="9525" cap="flat" cmpd="sng" algn="ctr">
                      <a:solidFill>
                        <a:srgbClr val="C9CDD4"/>
                      </a:solidFill>
                      <a:prstDash val="solid"/>
                      <a:round/>
                      <a:headEnd type="none" w="med" len="med"/>
                      <a:tailEnd type="none" w="med" len="med"/>
                    </a:lnT>
                    <a:lnB w="9525" cap="flat" cmpd="sng" algn="ctr">
                      <a:solidFill>
                        <a:srgbClr val="C9CDD4"/>
                      </a:solidFill>
                      <a:prstDash val="solid"/>
                      <a:round/>
                      <a:headEnd type="none" w="med" len="med"/>
                      <a:tailEnd type="none" w="med" len="med"/>
                    </a:lnB>
                  </a:tcPr>
                </a:tc>
                <a:tc>
                  <a:txBody>
                    <a:bodyPr/>
                    <a:lstStyle/>
                    <a:p>
                      <a:pPr marL="0" indent="0">
                        <a:buNone/>
                      </a:pPr>
                      <a:r>
                        <a:rPr lang="en-US" sz="1050" dirty="0">
                          <a:solidFill>
                            <a:srgbClr val="000000"/>
                          </a:solidFill>
                          <a:latin typeface="Calibri" pitchFamily="34" charset="0"/>
                          <a:ea typeface="Calibri" pitchFamily="34" charset="-122"/>
                          <a:cs typeface="Calibri" pitchFamily="34" charset="-120"/>
                        </a:rPr>
                        <a:t>Gives a much sharper estimate of the true effect size</a:t>
                      </a:r>
                      <a:endParaRPr lang="en-US" sz="1050" dirty="0">
                        <a:latin typeface="Calibri" charset="0"/>
                        <a:ea typeface="Calibri" charset="0"/>
                        <a:cs typeface="Calibri" charset="0"/>
                      </a:endParaRPr>
                    </a:p>
                  </a:txBody>
                  <a:tcPr anchor="ctr">
                    <a:lnL w="9525" cap="flat" cmpd="sng" algn="ctr">
                      <a:solidFill>
                        <a:srgbClr val="C9CDD4"/>
                      </a:solidFill>
                      <a:prstDash val="solid"/>
                      <a:round/>
                      <a:headEnd type="none" w="med" len="med"/>
                      <a:tailEnd type="none" w="med" len="med"/>
                    </a:lnL>
                    <a:lnR w="9525" cap="flat" cmpd="sng" algn="ctr">
                      <a:solidFill>
                        <a:srgbClr val="C9CDD4"/>
                      </a:solidFill>
                      <a:prstDash val="solid"/>
                      <a:round/>
                      <a:headEnd type="none" w="med" len="med"/>
                      <a:tailEnd type="none" w="med" len="med"/>
                    </a:lnR>
                    <a:lnT w="9525" cap="flat" cmpd="sng" algn="ctr">
                      <a:solidFill>
                        <a:srgbClr val="C9CDD4"/>
                      </a:solidFill>
                      <a:prstDash val="solid"/>
                      <a:round/>
                      <a:headEnd type="none" w="med" len="med"/>
                      <a:tailEnd type="none" w="med" len="med"/>
                    </a:lnT>
                    <a:lnB w="9525" cap="flat" cmpd="sng" algn="ctr">
                      <a:solidFill>
                        <a:srgbClr val="C9CDD4"/>
                      </a:solidFill>
                      <a:prstDash val="solid"/>
                      <a:round/>
                      <a:headEnd type="none" w="med" len="med"/>
                      <a:tailEnd type="none" w="med" len="med"/>
                    </a:lnB>
                  </a:tcPr>
                </a:tc>
                <a:extLst>
                  <a:ext uri="{0D108BD9-81ED-4DB2-BD59-A6C34878D82A}">
                    <a16:rowId xmlns:a16="http://schemas.microsoft.com/office/drawing/2014/main" val="10004"/>
                  </a:ext>
                </a:extLst>
              </a:tr>
              <a:tr h="576072">
                <a:tc>
                  <a:txBody>
                    <a:bodyPr/>
                    <a:lstStyle/>
                    <a:p>
                      <a:pPr marL="0" indent="0">
                        <a:buNone/>
                      </a:pPr>
                      <a:r>
                        <a:rPr lang="en-US" sz="1050" dirty="0">
                          <a:solidFill>
                            <a:srgbClr val="000000"/>
                          </a:solidFill>
                          <a:latin typeface="Calibri" pitchFamily="34" charset="0"/>
                          <a:ea typeface="Calibri" pitchFamily="34" charset="-122"/>
                          <a:cs typeface="Calibri" pitchFamily="34" charset="-120"/>
                        </a:rPr>
                        <a:t>5</a:t>
                      </a:r>
                      <a:endParaRPr lang="en-US" sz="1050" dirty="0">
                        <a:latin typeface="Calibri" charset="0"/>
                        <a:ea typeface="Calibri" charset="0"/>
                        <a:cs typeface="Calibri" charset="0"/>
                      </a:endParaRPr>
                    </a:p>
                  </a:txBody>
                  <a:tcPr anchor="ctr">
                    <a:lnL w="9525" cap="flat" cmpd="sng" algn="ctr">
                      <a:solidFill>
                        <a:srgbClr val="C9CDD4"/>
                      </a:solidFill>
                      <a:prstDash val="solid"/>
                      <a:round/>
                      <a:headEnd type="none" w="med" len="med"/>
                      <a:tailEnd type="none" w="med" len="med"/>
                    </a:lnL>
                    <a:lnR w="9525" cap="flat" cmpd="sng" algn="ctr">
                      <a:solidFill>
                        <a:srgbClr val="C9CDD4"/>
                      </a:solidFill>
                      <a:prstDash val="solid"/>
                      <a:round/>
                      <a:headEnd type="none" w="med" len="med"/>
                      <a:tailEnd type="none" w="med" len="med"/>
                    </a:lnR>
                    <a:lnT w="9525" cap="flat" cmpd="sng" algn="ctr">
                      <a:solidFill>
                        <a:srgbClr val="C9CDD4"/>
                      </a:solidFill>
                      <a:prstDash val="solid"/>
                      <a:round/>
                      <a:headEnd type="none" w="med" len="med"/>
                      <a:tailEnd type="none" w="med" len="med"/>
                    </a:lnT>
                    <a:lnB w="9525" cap="flat" cmpd="sng" algn="ctr">
                      <a:solidFill>
                        <a:srgbClr val="C9CDD4"/>
                      </a:solidFill>
                      <a:prstDash val="solid"/>
                      <a:round/>
                      <a:headEnd type="none" w="med" len="med"/>
                      <a:tailEnd type="none" w="med" len="med"/>
                    </a:lnB>
                  </a:tcPr>
                </a:tc>
                <a:tc>
                  <a:txBody>
                    <a:bodyPr/>
                    <a:lstStyle/>
                    <a:p>
                      <a:pPr marL="0" indent="0">
                        <a:buNone/>
                      </a:pPr>
                      <a:r>
                        <a:rPr lang="en-US" sz="1050" dirty="0">
                          <a:solidFill>
                            <a:srgbClr val="000000"/>
                          </a:solidFill>
                          <a:latin typeface="Calibri" pitchFamily="34" charset="0"/>
                          <a:ea typeface="Calibri" pitchFamily="34" charset="-122"/>
                          <a:cs typeface="Calibri" pitchFamily="34" charset="-120"/>
                        </a:rPr>
                        <a:t>Repeat with a pre-trained encoder</a:t>
                      </a:r>
                      <a:endParaRPr lang="en-US" sz="1050" dirty="0">
                        <a:latin typeface="Calibri" charset="0"/>
                        <a:ea typeface="Calibri" charset="0"/>
                        <a:cs typeface="Calibri" charset="0"/>
                      </a:endParaRPr>
                    </a:p>
                  </a:txBody>
                  <a:tcPr anchor="ctr">
                    <a:lnL w="9525" cap="flat" cmpd="sng" algn="ctr">
                      <a:solidFill>
                        <a:srgbClr val="C9CDD4"/>
                      </a:solidFill>
                      <a:prstDash val="solid"/>
                      <a:round/>
                      <a:headEnd type="none" w="med" len="med"/>
                      <a:tailEnd type="none" w="med" len="med"/>
                    </a:lnL>
                    <a:lnR w="9525" cap="flat" cmpd="sng" algn="ctr">
                      <a:solidFill>
                        <a:srgbClr val="C9CDD4"/>
                      </a:solidFill>
                      <a:prstDash val="solid"/>
                      <a:round/>
                      <a:headEnd type="none" w="med" len="med"/>
                      <a:tailEnd type="none" w="med" len="med"/>
                    </a:lnR>
                    <a:lnT w="9525" cap="flat" cmpd="sng" algn="ctr">
                      <a:solidFill>
                        <a:srgbClr val="C9CDD4"/>
                      </a:solidFill>
                      <a:prstDash val="solid"/>
                      <a:round/>
                      <a:headEnd type="none" w="med" len="med"/>
                      <a:tailEnd type="none" w="med" len="med"/>
                    </a:lnT>
                    <a:lnB w="9525" cap="flat" cmpd="sng" algn="ctr">
                      <a:solidFill>
                        <a:srgbClr val="C9CDD4"/>
                      </a:solidFill>
                      <a:prstDash val="solid"/>
                      <a:round/>
                      <a:headEnd type="none" w="med" len="med"/>
                      <a:tailEnd type="none" w="med" len="med"/>
                    </a:lnB>
                  </a:tcPr>
                </a:tc>
                <a:tc>
                  <a:txBody>
                    <a:bodyPr/>
                    <a:lstStyle/>
                    <a:p>
                      <a:pPr marL="0" indent="0">
                        <a:buNone/>
                      </a:pPr>
                      <a:r>
                        <a:rPr lang="en-US" sz="1050" dirty="0">
                          <a:solidFill>
                            <a:srgbClr val="000000"/>
                          </a:solidFill>
                          <a:latin typeface="Calibri" pitchFamily="34" charset="0"/>
                          <a:ea typeface="Calibri" pitchFamily="34" charset="-122"/>
                          <a:cs typeface="Calibri" pitchFamily="34" charset="-120"/>
                        </a:rPr>
                        <a:t>Tests whether the pattern holds with large-scale pre-training</a:t>
                      </a:r>
                      <a:endParaRPr lang="en-US" sz="1050" dirty="0">
                        <a:latin typeface="Calibri" charset="0"/>
                        <a:ea typeface="Calibri" charset="0"/>
                        <a:cs typeface="Calibri" charset="0"/>
                      </a:endParaRPr>
                    </a:p>
                  </a:txBody>
                  <a:tcPr anchor="ctr">
                    <a:lnL w="9525" cap="flat" cmpd="sng" algn="ctr">
                      <a:solidFill>
                        <a:srgbClr val="C9CDD4"/>
                      </a:solidFill>
                      <a:prstDash val="solid"/>
                      <a:round/>
                      <a:headEnd type="none" w="med" len="med"/>
                      <a:tailEnd type="none" w="med" len="med"/>
                    </a:lnL>
                    <a:lnR w="9525" cap="flat" cmpd="sng" algn="ctr">
                      <a:solidFill>
                        <a:srgbClr val="C9CDD4"/>
                      </a:solidFill>
                      <a:prstDash val="solid"/>
                      <a:round/>
                      <a:headEnd type="none" w="med" len="med"/>
                      <a:tailEnd type="none" w="med" len="med"/>
                    </a:lnR>
                    <a:lnT w="9525" cap="flat" cmpd="sng" algn="ctr">
                      <a:solidFill>
                        <a:srgbClr val="C9CDD4"/>
                      </a:solidFill>
                      <a:prstDash val="solid"/>
                      <a:round/>
                      <a:headEnd type="none" w="med" len="med"/>
                      <a:tailEnd type="none" w="med" len="med"/>
                    </a:lnT>
                    <a:lnB w="9525" cap="flat" cmpd="sng" algn="ctr">
                      <a:solidFill>
                        <a:srgbClr val="C9CDD4"/>
                      </a:solidFill>
                      <a:prstDash val="solid"/>
                      <a:round/>
                      <a:headEnd type="none" w="med" len="med"/>
                      <a:tailEnd type="none" w="med" len="med"/>
                    </a:lnB>
                  </a:tcPr>
                </a:tc>
                <a:extLst>
                  <a:ext uri="{0D108BD9-81ED-4DB2-BD59-A6C34878D82A}">
                    <a16:rowId xmlns:a16="http://schemas.microsoft.com/office/drawing/2014/main" val="10005"/>
                  </a:ext>
                </a:extLst>
              </a:tr>
              <a:tr h="576072">
                <a:tc>
                  <a:txBody>
                    <a:bodyPr/>
                    <a:lstStyle/>
                    <a:p>
                      <a:pPr marL="0" indent="0">
                        <a:buNone/>
                      </a:pPr>
                      <a:r>
                        <a:rPr lang="en-US" sz="1050" dirty="0">
                          <a:solidFill>
                            <a:srgbClr val="000000"/>
                          </a:solidFill>
                          <a:latin typeface="Calibri" pitchFamily="34" charset="0"/>
                          <a:ea typeface="Calibri" pitchFamily="34" charset="-122"/>
                          <a:cs typeface="Calibri" pitchFamily="34" charset="-120"/>
                        </a:rPr>
                        <a:t>6</a:t>
                      </a:r>
                      <a:endParaRPr lang="en-US" sz="1050" dirty="0">
                        <a:latin typeface="Calibri" charset="0"/>
                        <a:ea typeface="Calibri" charset="0"/>
                        <a:cs typeface="Calibri" charset="0"/>
                      </a:endParaRPr>
                    </a:p>
                  </a:txBody>
                  <a:tcPr anchor="ctr">
                    <a:lnL w="9525" cap="flat" cmpd="sng" algn="ctr">
                      <a:solidFill>
                        <a:srgbClr val="C9CDD4"/>
                      </a:solidFill>
                      <a:prstDash val="solid"/>
                      <a:round/>
                      <a:headEnd type="none" w="med" len="med"/>
                      <a:tailEnd type="none" w="med" len="med"/>
                    </a:lnL>
                    <a:lnR w="9525" cap="flat" cmpd="sng" algn="ctr">
                      <a:solidFill>
                        <a:srgbClr val="C9CDD4"/>
                      </a:solidFill>
                      <a:prstDash val="solid"/>
                      <a:round/>
                      <a:headEnd type="none" w="med" len="med"/>
                      <a:tailEnd type="none" w="med" len="med"/>
                    </a:lnR>
                    <a:lnT w="9525" cap="flat" cmpd="sng" algn="ctr">
                      <a:solidFill>
                        <a:srgbClr val="C9CDD4"/>
                      </a:solidFill>
                      <a:prstDash val="solid"/>
                      <a:round/>
                      <a:headEnd type="none" w="med" len="med"/>
                      <a:tailEnd type="none" w="med" len="med"/>
                    </a:lnT>
                    <a:lnB w="9525" cap="flat" cmpd="sng" algn="ctr">
                      <a:solidFill>
                        <a:srgbClr val="C9CDD4"/>
                      </a:solidFill>
                      <a:prstDash val="solid"/>
                      <a:round/>
                      <a:headEnd type="none" w="med" len="med"/>
                      <a:tailEnd type="none" w="med" len="med"/>
                    </a:lnB>
                  </a:tcPr>
                </a:tc>
                <a:tc>
                  <a:txBody>
                    <a:bodyPr/>
                    <a:lstStyle/>
                    <a:p>
                      <a:pPr marL="0" indent="0">
                        <a:buNone/>
                      </a:pPr>
                      <a:r>
                        <a:rPr lang="en-US" sz="1050" dirty="0">
                          <a:solidFill>
                            <a:srgbClr val="000000"/>
                          </a:solidFill>
                          <a:latin typeface="Calibri" pitchFamily="34" charset="0"/>
                          <a:ea typeface="Calibri" pitchFamily="34" charset="-122"/>
                          <a:cs typeface="Calibri" pitchFamily="34" charset="-120"/>
                        </a:rPr>
                        <a:t>Compare against learned emoji representations</a:t>
                      </a:r>
                      <a:endParaRPr lang="en-US" sz="1050" dirty="0">
                        <a:latin typeface="Calibri" charset="0"/>
                        <a:ea typeface="Calibri" charset="0"/>
                        <a:cs typeface="Calibri" charset="0"/>
                      </a:endParaRPr>
                    </a:p>
                  </a:txBody>
                  <a:tcPr anchor="ctr">
                    <a:lnL w="9525" cap="flat" cmpd="sng" algn="ctr">
                      <a:solidFill>
                        <a:srgbClr val="C9CDD4"/>
                      </a:solidFill>
                      <a:prstDash val="solid"/>
                      <a:round/>
                      <a:headEnd type="none" w="med" len="med"/>
                      <a:tailEnd type="none" w="med" len="med"/>
                    </a:lnL>
                    <a:lnR w="9525" cap="flat" cmpd="sng" algn="ctr">
                      <a:solidFill>
                        <a:srgbClr val="C9CDD4"/>
                      </a:solidFill>
                      <a:prstDash val="solid"/>
                      <a:round/>
                      <a:headEnd type="none" w="med" len="med"/>
                      <a:tailEnd type="none" w="med" len="med"/>
                    </a:lnR>
                    <a:lnT w="9525" cap="flat" cmpd="sng" algn="ctr">
                      <a:solidFill>
                        <a:srgbClr val="C9CDD4"/>
                      </a:solidFill>
                      <a:prstDash val="solid"/>
                      <a:round/>
                      <a:headEnd type="none" w="med" len="med"/>
                      <a:tailEnd type="none" w="med" len="med"/>
                    </a:lnT>
                    <a:lnB w="9525" cap="flat" cmpd="sng" algn="ctr">
                      <a:solidFill>
                        <a:srgbClr val="C9CDD4"/>
                      </a:solidFill>
                      <a:prstDash val="solid"/>
                      <a:round/>
                      <a:headEnd type="none" w="med" len="med"/>
                      <a:tailEnd type="none" w="med" len="med"/>
                    </a:lnB>
                  </a:tcPr>
                </a:tc>
                <a:tc>
                  <a:txBody>
                    <a:bodyPr/>
                    <a:lstStyle/>
                    <a:p>
                      <a:pPr marL="0" indent="0">
                        <a:buNone/>
                      </a:pPr>
                      <a:r>
                        <a:rPr lang="en-US" sz="1050" dirty="0">
                          <a:solidFill>
                            <a:srgbClr val="000000"/>
                          </a:solidFill>
                          <a:latin typeface="Calibri" pitchFamily="34" charset="0"/>
                          <a:ea typeface="Calibri" pitchFamily="34" charset="-122"/>
                          <a:cs typeface="Calibri" pitchFamily="34" charset="-120"/>
                        </a:rPr>
                        <a:t>Tests whether richer representations widen the gain</a:t>
                      </a:r>
                      <a:endParaRPr lang="en-US" sz="1050" dirty="0">
                        <a:latin typeface="Calibri" charset="0"/>
                        <a:ea typeface="Calibri" charset="0"/>
                        <a:cs typeface="Calibri" charset="0"/>
                      </a:endParaRPr>
                    </a:p>
                  </a:txBody>
                  <a:tcPr anchor="ctr">
                    <a:lnL w="9525" cap="flat" cmpd="sng" algn="ctr">
                      <a:solidFill>
                        <a:srgbClr val="C9CDD4"/>
                      </a:solidFill>
                      <a:prstDash val="solid"/>
                      <a:round/>
                      <a:headEnd type="none" w="med" len="med"/>
                      <a:tailEnd type="none" w="med" len="med"/>
                    </a:lnL>
                    <a:lnR w="9525" cap="flat" cmpd="sng" algn="ctr">
                      <a:solidFill>
                        <a:srgbClr val="C9CDD4"/>
                      </a:solidFill>
                      <a:prstDash val="solid"/>
                      <a:round/>
                      <a:headEnd type="none" w="med" len="med"/>
                      <a:tailEnd type="none" w="med" len="med"/>
                    </a:lnR>
                    <a:lnT w="9525" cap="flat" cmpd="sng" algn="ctr">
                      <a:solidFill>
                        <a:srgbClr val="C9CDD4"/>
                      </a:solidFill>
                      <a:prstDash val="solid"/>
                      <a:round/>
                      <a:headEnd type="none" w="med" len="med"/>
                      <a:tailEnd type="none" w="med" len="med"/>
                    </a:lnT>
                    <a:lnB w="9525" cap="flat" cmpd="sng" algn="ctr">
                      <a:solidFill>
                        <a:srgbClr val="C9CDD4"/>
                      </a:solidFill>
                      <a:prstDash val="solid"/>
                      <a:round/>
                      <a:headEnd type="none" w="med" len="med"/>
                      <a:tailEnd type="none" w="med" len="med"/>
                    </a:lnB>
                  </a:tcPr>
                </a:tc>
                <a:extLst>
                  <a:ext uri="{0D108BD9-81ED-4DB2-BD59-A6C34878D82A}">
                    <a16:rowId xmlns:a16="http://schemas.microsoft.com/office/drawing/2014/main" val="10006"/>
                  </a:ext>
                </a:extLst>
              </a:tr>
            </a:tbl>
          </a:graphicData>
        </a:graphic>
      </p:graphicFrame>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914400" y="2514600"/>
            <a:ext cx="10360152" cy="658368"/>
          </a:xfrm>
          <a:prstGeom prst="rect">
            <a:avLst/>
          </a:prstGeom>
          <a:noFill/>
          <a:ln/>
        </p:spPr>
        <p:txBody>
          <a:bodyPr wrap="square" lIns="0" tIns="0" rIns="0" bIns="0" rtlCol="0" anchor="ctr"/>
          <a:lstStyle/>
          <a:p>
            <a:pPr marL="0" indent="0" algn="ctr">
              <a:buNone/>
            </a:pPr>
            <a:r>
              <a:rPr lang="en-US" sz="3400" dirty="0">
                <a:solidFill>
                  <a:srgbClr val="000000"/>
                </a:solidFill>
                <a:latin typeface="Calibri" pitchFamily="34" charset="0"/>
                <a:ea typeface="Calibri" pitchFamily="34" charset="-122"/>
                <a:cs typeface="Calibri" pitchFamily="34" charset="-120"/>
              </a:rPr>
              <a:t>9.  References</a:t>
            </a:r>
            <a:endParaRPr lang="en-US" sz="3400" dirty="0"/>
          </a:p>
        </p:txBody>
      </p:sp>
      <p:sp>
        <p:nvSpPr>
          <p:cNvPr id="3" name="Shape 1"/>
          <p:cNvSpPr/>
          <p:nvPr/>
        </p:nvSpPr>
        <p:spPr>
          <a:xfrm>
            <a:off x="2258568" y="3502152"/>
            <a:ext cx="7680960" cy="32004"/>
          </a:xfrm>
          <a:prstGeom prst="rect">
            <a:avLst/>
          </a:prstGeom>
          <a:solidFill>
            <a:srgbClr val="CC0000"/>
          </a:solidFill>
          <a:ln w="12700">
            <a:solidFill>
              <a:srgbClr val="CC0000"/>
            </a:solidFill>
            <a:prstDash val="solid"/>
          </a:ln>
        </p:spPr>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1045159"/>
          </a:xfrm>
          <a:prstGeom prst="rect">
            <a:avLst/>
          </a:prstGeom>
          <a:solidFill>
            <a:srgbClr val="9A003B"/>
          </a:solidFill>
          <a:ln w="12700">
            <a:solidFill>
              <a:srgbClr val="9A003B"/>
            </a:solidFill>
            <a:prstDash val="solid"/>
          </a:ln>
        </p:spPr>
      </p:sp>
      <p:sp>
        <p:nvSpPr>
          <p:cNvPr id="3" name="Text 1"/>
          <p:cNvSpPr txBox="1"/>
          <p:nvPr/>
        </p:nvSpPr>
        <p:spPr>
          <a:xfrm>
            <a:off x="228600" y="109728"/>
            <a:ext cx="11704320" cy="825703"/>
          </a:xfrm>
          <a:prstGeom prst="rect">
            <a:avLst/>
          </a:prstGeom>
          <a:noFill/>
          <a:ln/>
        </p:spPr>
        <p:txBody>
          <a:bodyPr wrap="square" lIns="0" tIns="0" rIns="0" bIns="0" rtlCol="0" anchor="ctr"/>
          <a:lstStyle/>
          <a:p>
            <a:pPr marL="0" indent="0">
              <a:lnSpc>
                <a:spcPct val="95000"/>
              </a:lnSpc>
              <a:buNone/>
            </a:pPr>
            <a:r>
              <a:rPr lang="en-US" sz="2500" dirty="0">
                <a:solidFill>
                  <a:srgbClr val="FFFFFF"/>
                </a:solidFill>
                <a:latin typeface="Calibri" pitchFamily="34" charset="0"/>
                <a:ea typeface="Calibri" pitchFamily="34" charset="-122"/>
                <a:cs typeface="Calibri" pitchFamily="34" charset="-120"/>
              </a:rPr>
              <a:t>References: APA 7th Edition Style Mapping I</a:t>
            </a:r>
            <a:endParaRPr lang="en-US" sz="2500" dirty="0"/>
          </a:p>
        </p:txBody>
      </p:sp>
      <p:sp>
        <p:nvSpPr>
          <p:cNvPr id="4" name="Text 2"/>
          <p:cNvSpPr txBox="1"/>
          <p:nvPr/>
        </p:nvSpPr>
        <p:spPr>
          <a:xfrm>
            <a:off x="10515600" y="5806440"/>
            <a:ext cx="1463040" cy="749808"/>
          </a:xfrm>
          <a:prstGeom prst="rect">
            <a:avLst/>
          </a:prstGeom>
          <a:noFill/>
          <a:ln/>
        </p:spPr>
        <p:txBody>
          <a:bodyPr wrap="square" lIns="0" tIns="0" rIns="0" bIns="0" rtlCol="0" anchor="b"/>
          <a:lstStyle/>
          <a:p>
            <a:pPr marL="0" indent="0" algn="r">
              <a:lnSpc>
                <a:spcPct val="85000"/>
              </a:lnSpc>
              <a:buNone/>
            </a:pPr>
            <a:r>
              <a:rPr lang="en-US" sz="1150" b="1" dirty="0">
                <a:solidFill>
                  <a:srgbClr val="9A003B"/>
                </a:solidFill>
                <a:latin typeface="Calibri" pitchFamily="34" charset="0"/>
                <a:ea typeface="Calibri" pitchFamily="34" charset="-122"/>
                <a:cs typeface="Calibri" pitchFamily="34" charset="-120"/>
              </a:rPr>
              <a:t>Sheffield</a:t>
            </a:r>
            <a:endParaRPr lang="en-US" sz="1150" dirty="0"/>
          </a:p>
          <a:p>
            <a:pPr marL="0" indent="0" algn="r">
              <a:lnSpc>
                <a:spcPct val="85000"/>
              </a:lnSpc>
              <a:buNone/>
            </a:pPr>
            <a:r>
              <a:rPr lang="en-US" sz="1150" b="1" dirty="0">
                <a:solidFill>
                  <a:srgbClr val="9A003B"/>
                </a:solidFill>
                <a:latin typeface="Calibri" pitchFamily="34" charset="0"/>
                <a:ea typeface="Calibri" pitchFamily="34" charset="-122"/>
                <a:cs typeface="Calibri" pitchFamily="34" charset="-120"/>
              </a:rPr>
              <a:t>Hallam</a:t>
            </a:r>
            <a:endParaRPr lang="en-US" sz="1150" dirty="0"/>
          </a:p>
          <a:p>
            <a:pPr marL="0" indent="0" algn="r">
              <a:lnSpc>
                <a:spcPct val="85000"/>
              </a:lnSpc>
              <a:buNone/>
            </a:pPr>
            <a:r>
              <a:rPr lang="en-US" sz="1150" b="1" dirty="0">
                <a:solidFill>
                  <a:srgbClr val="9A003B"/>
                </a:solidFill>
                <a:latin typeface="Calibri" pitchFamily="34" charset="0"/>
                <a:ea typeface="Calibri" pitchFamily="34" charset="-122"/>
                <a:cs typeface="Calibri" pitchFamily="34" charset="-120"/>
              </a:rPr>
              <a:t>University</a:t>
            </a:r>
            <a:endParaRPr lang="en-US" sz="1150" dirty="0"/>
          </a:p>
        </p:txBody>
      </p:sp>
      <p:sp>
        <p:nvSpPr>
          <p:cNvPr id="5" name="Shape 3"/>
          <p:cNvSpPr/>
          <p:nvPr/>
        </p:nvSpPr>
        <p:spPr>
          <a:xfrm>
            <a:off x="0" y="6624828"/>
            <a:ext cx="4063898" cy="233172"/>
          </a:xfrm>
          <a:prstGeom prst="rect">
            <a:avLst/>
          </a:prstGeom>
          <a:solidFill>
            <a:srgbClr val="4D001E"/>
          </a:solidFill>
          <a:ln w="12700">
            <a:solidFill>
              <a:srgbClr val="4D001E"/>
            </a:solidFill>
            <a:prstDash val="solid"/>
          </a:ln>
        </p:spPr>
      </p:sp>
      <p:sp>
        <p:nvSpPr>
          <p:cNvPr id="6" name="Shape 4"/>
          <p:cNvSpPr/>
          <p:nvPr/>
        </p:nvSpPr>
        <p:spPr>
          <a:xfrm>
            <a:off x="4063898" y="6624828"/>
            <a:ext cx="4063898" cy="233172"/>
          </a:xfrm>
          <a:prstGeom prst="rect">
            <a:avLst/>
          </a:prstGeom>
          <a:solidFill>
            <a:srgbClr val="74002C"/>
          </a:solidFill>
          <a:ln w="12700">
            <a:solidFill>
              <a:srgbClr val="74002C"/>
            </a:solidFill>
            <a:prstDash val="solid"/>
          </a:ln>
        </p:spPr>
      </p:sp>
      <p:sp>
        <p:nvSpPr>
          <p:cNvPr id="7" name="Shape 5"/>
          <p:cNvSpPr/>
          <p:nvPr/>
        </p:nvSpPr>
        <p:spPr>
          <a:xfrm>
            <a:off x="8127797" y="6624828"/>
            <a:ext cx="4063898" cy="233172"/>
          </a:xfrm>
          <a:prstGeom prst="rect">
            <a:avLst/>
          </a:prstGeom>
          <a:solidFill>
            <a:srgbClr val="9A003B"/>
          </a:solidFill>
          <a:ln w="12700">
            <a:solidFill>
              <a:srgbClr val="9A003B"/>
            </a:solidFill>
            <a:prstDash val="solid"/>
          </a:ln>
        </p:spPr>
      </p:sp>
      <p:sp>
        <p:nvSpPr>
          <p:cNvPr id="8" name="Text 6"/>
          <p:cNvSpPr txBox="1"/>
          <p:nvPr/>
        </p:nvSpPr>
        <p:spPr>
          <a:xfrm>
            <a:off x="1143000" y="6624828"/>
            <a:ext cx="2743200" cy="233172"/>
          </a:xfrm>
          <a:prstGeom prst="rect">
            <a:avLst/>
          </a:prstGeom>
          <a:noFill/>
          <a:ln/>
        </p:spPr>
        <p:txBody>
          <a:bodyPr wrap="square" lIns="0" tIns="0" rIns="0" bIns="0" rtlCol="0" anchor="ctr"/>
          <a:lstStyle/>
          <a:p>
            <a:pPr marL="0" indent="0">
              <a:buNone/>
            </a:pPr>
            <a:r>
              <a:rPr lang="en-US" sz="900" dirty="0">
                <a:solidFill>
                  <a:srgbClr val="FFFFFF"/>
                </a:solidFill>
                <a:latin typeface="Calibri" pitchFamily="34" charset="0"/>
                <a:ea typeface="Calibri" pitchFamily="34" charset="-122"/>
                <a:cs typeface="Calibri" pitchFamily="34" charset="-120"/>
              </a:rPr>
              <a:t>[Student Initials]  (SHU)</a:t>
            </a:r>
            <a:endParaRPr lang="en-US" sz="900" dirty="0"/>
          </a:p>
        </p:txBody>
      </p:sp>
      <p:sp>
        <p:nvSpPr>
          <p:cNvPr id="9" name="Text 7"/>
          <p:cNvSpPr txBox="1"/>
          <p:nvPr/>
        </p:nvSpPr>
        <p:spPr>
          <a:xfrm>
            <a:off x="5276088" y="6624828"/>
            <a:ext cx="2743200" cy="233172"/>
          </a:xfrm>
          <a:prstGeom prst="rect">
            <a:avLst/>
          </a:prstGeom>
          <a:noFill/>
          <a:ln/>
        </p:spPr>
        <p:txBody>
          <a:bodyPr wrap="square" lIns="0" tIns="0" rIns="0" bIns="0" rtlCol="0" anchor="ctr"/>
          <a:lstStyle/>
          <a:p>
            <a:pPr marL="0" indent="0">
              <a:buNone/>
            </a:pPr>
            <a:r>
              <a:rPr lang="en-US" sz="900" dirty="0">
                <a:solidFill>
                  <a:srgbClr val="FFFFFF"/>
                </a:solidFill>
                <a:latin typeface="Calibri" pitchFamily="34" charset="0"/>
                <a:ea typeface="Calibri" pitchFamily="34" charset="-122"/>
                <a:cs typeface="Calibri" pitchFamily="34" charset="-120"/>
              </a:rPr>
              <a:t>Does the Emoji Matter?</a:t>
            </a:r>
            <a:endParaRPr lang="en-US" sz="900" dirty="0"/>
          </a:p>
        </p:txBody>
      </p:sp>
      <p:sp>
        <p:nvSpPr>
          <p:cNvPr id="10" name="Text 8"/>
          <p:cNvSpPr txBox="1"/>
          <p:nvPr/>
        </p:nvSpPr>
        <p:spPr>
          <a:xfrm>
            <a:off x="9235440" y="6624828"/>
            <a:ext cx="1645920" cy="233172"/>
          </a:xfrm>
          <a:prstGeom prst="rect">
            <a:avLst/>
          </a:prstGeom>
          <a:noFill/>
          <a:ln/>
        </p:spPr>
        <p:txBody>
          <a:bodyPr wrap="square" lIns="0" tIns="0" rIns="0" bIns="0" rtlCol="0" anchor="ctr"/>
          <a:lstStyle/>
          <a:p>
            <a:pPr marL="0" indent="0">
              <a:buNone/>
            </a:pPr>
            <a:r>
              <a:rPr lang="en-US" sz="900" dirty="0">
                <a:solidFill>
                  <a:srgbClr val="FFFFFF"/>
                </a:solidFill>
                <a:latin typeface="Calibri" pitchFamily="34" charset="0"/>
                <a:ea typeface="Calibri" pitchFamily="34" charset="-122"/>
                <a:cs typeface="Calibri" pitchFamily="34" charset="-120"/>
              </a:rPr>
              <a:t>September 2026</a:t>
            </a:r>
            <a:endParaRPr lang="en-US" sz="900" dirty="0"/>
          </a:p>
        </p:txBody>
      </p:sp>
      <p:sp>
        <p:nvSpPr>
          <p:cNvPr id="11" name="Text 9"/>
          <p:cNvSpPr txBox="1"/>
          <p:nvPr/>
        </p:nvSpPr>
        <p:spPr>
          <a:xfrm>
            <a:off x="10881360" y="6624828"/>
            <a:ext cx="1161288" cy="233172"/>
          </a:xfrm>
          <a:prstGeom prst="rect">
            <a:avLst/>
          </a:prstGeom>
          <a:noFill/>
          <a:ln/>
        </p:spPr>
        <p:txBody>
          <a:bodyPr wrap="square" lIns="0" tIns="0" rIns="0" bIns="0" rtlCol="0" anchor="ctr"/>
          <a:lstStyle/>
          <a:p>
            <a:pPr marL="0" indent="0" algn="r">
              <a:buNone/>
            </a:pPr>
            <a:r>
              <a:rPr lang="en-US" sz="900" dirty="0">
                <a:solidFill>
                  <a:srgbClr val="FFFFFF"/>
                </a:solidFill>
                <a:latin typeface="Calibri" pitchFamily="34" charset="0"/>
                <a:ea typeface="Calibri" pitchFamily="34" charset="-122"/>
                <a:cs typeface="Calibri" pitchFamily="34" charset="-120"/>
              </a:rPr>
              <a:t>39 / 43</a:t>
            </a:r>
            <a:endParaRPr lang="en-US" sz="900" dirty="0"/>
          </a:p>
        </p:txBody>
      </p:sp>
      <p:sp>
        <p:nvSpPr>
          <p:cNvPr id="12" name="Text 10"/>
          <p:cNvSpPr txBox="1"/>
          <p:nvPr/>
        </p:nvSpPr>
        <p:spPr>
          <a:xfrm>
            <a:off x="566928" y="1243584"/>
            <a:ext cx="11055096" cy="4892040"/>
          </a:xfrm>
          <a:prstGeom prst="rect">
            <a:avLst/>
          </a:prstGeom>
          <a:noFill/>
          <a:ln/>
        </p:spPr>
        <p:txBody>
          <a:bodyPr wrap="square" lIns="0" tIns="0" rIns="0" bIns="0" rtlCol="0" anchor="t"/>
          <a:lstStyle/>
          <a:p>
            <a:pPr marL="0" indent="0">
              <a:lnSpc>
                <a:spcPct val="100000"/>
              </a:lnSpc>
              <a:spcAft>
                <a:spcPts val="600"/>
              </a:spcAft>
              <a:buNone/>
            </a:pPr>
            <a:r>
              <a:rPr lang="en-US" sz="1000" dirty="0">
                <a:solidFill>
                  <a:srgbClr val="000000"/>
                </a:solidFill>
                <a:latin typeface="Calibri" pitchFamily="34" charset="0"/>
                <a:ea typeface="Calibri" pitchFamily="34" charset="-122"/>
                <a:cs typeface="Calibri" pitchFamily="34" charset="-120"/>
              </a:rPr>
              <a:t>Afriyie, Y., &amp; Weyori, B. A. (2026). Sentiment analysis based on deep learning approaches for text classification. Journal of Electrical Systems and Information Technology, 13(1), 14. https://doi.org/10.1186/s43067-026-00322-4</a:t>
            </a:r>
            <a:endParaRPr lang="en-US" sz="1000" dirty="0"/>
          </a:p>
          <a:p>
            <a:pPr marL="0" indent="0">
              <a:lnSpc>
                <a:spcPct val="100000"/>
              </a:lnSpc>
              <a:spcAft>
                <a:spcPts val="600"/>
              </a:spcAft>
              <a:buNone/>
            </a:pPr>
            <a:r>
              <a:rPr lang="en-US" sz="1000" dirty="0">
                <a:solidFill>
                  <a:srgbClr val="000000"/>
                </a:solidFill>
                <a:latin typeface="Calibri" pitchFamily="34" charset="0"/>
                <a:ea typeface="Calibri" pitchFamily="34" charset="-122"/>
                <a:cs typeface="Calibri" pitchFamily="34" charset="-120"/>
              </a:rPr>
              <a:t>Bendl, A. M., Cunningham, R. M., Hill, L., &amp; Jarcho, J. M. (2025). Social anxiety and emoji use: Gender differences and the role of loneliness in digital communication among college students. Frontiers in Psychology, 16, 1626509. https://doi.org/10.3389/fpsyg.2025.1626509</a:t>
            </a:r>
            <a:endParaRPr lang="en-US" sz="1000" dirty="0"/>
          </a:p>
          <a:p>
            <a:pPr marL="0" indent="0">
              <a:lnSpc>
                <a:spcPct val="100000"/>
              </a:lnSpc>
              <a:spcAft>
                <a:spcPts val="600"/>
              </a:spcAft>
              <a:buNone/>
            </a:pPr>
            <a:r>
              <a:rPr lang="en-US" sz="1000" dirty="0">
                <a:solidFill>
                  <a:srgbClr val="000000"/>
                </a:solidFill>
                <a:latin typeface="Calibri" pitchFamily="34" charset="0"/>
                <a:ea typeface="Calibri" pitchFamily="34" charset="-122"/>
                <a:cs typeface="Calibri" pitchFamily="34" charset="-120"/>
              </a:rPr>
              <a:t>Carroll, J. (2025). The role of prosocial behaviour, personality and general mental health in predicting emoji use and preference. Psychological Reports, 128(6), 4210-4226. https://doi.org/10.1177/00332941231220304</a:t>
            </a:r>
            <a:endParaRPr lang="en-US" sz="1000" dirty="0"/>
          </a:p>
          <a:p>
            <a:pPr marL="0" indent="0">
              <a:lnSpc>
                <a:spcPct val="100000"/>
              </a:lnSpc>
              <a:spcAft>
                <a:spcPts val="600"/>
              </a:spcAft>
              <a:buNone/>
            </a:pPr>
            <a:r>
              <a:rPr lang="en-US" sz="1000" dirty="0">
                <a:solidFill>
                  <a:srgbClr val="000000"/>
                </a:solidFill>
                <a:latin typeface="Calibri" pitchFamily="34" charset="0"/>
                <a:ea typeface="Calibri" pitchFamily="34" charset="-122"/>
                <a:cs typeface="Calibri" pitchFamily="34" charset="-120"/>
              </a:rPr>
              <a:t>Chandra Sekhar, J. N., Kiran Mayee, M., Nadagoudar, R., Chinna Alluraiah, N., Dhanamjayulu, C., Chinthaginjala, R., Ramesh, K., Prakash, M., Mohanty, S., &amp; Khan, B. (2024). Classification and comparative evaluation of text and emoji-based tweets with deep neural network models. Journal of Electrical and Computer Engineering, 2024, 9652424. https://doi.org/10.1155/2024/9652424</a:t>
            </a:r>
            <a:endParaRPr lang="en-US" sz="1000" dirty="0"/>
          </a:p>
          <a:p>
            <a:pPr marL="0" indent="0">
              <a:lnSpc>
                <a:spcPct val="100000"/>
              </a:lnSpc>
              <a:spcAft>
                <a:spcPts val="600"/>
              </a:spcAft>
              <a:buNone/>
            </a:pPr>
            <a:r>
              <a:rPr lang="en-US" sz="1000" dirty="0">
                <a:solidFill>
                  <a:srgbClr val="000000"/>
                </a:solidFill>
                <a:latin typeface="Calibri" pitchFamily="34" charset="0"/>
                <a:ea typeface="Calibri" pitchFamily="34" charset="-122"/>
                <a:cs typeface="Calibri" pitchFamily="34" charset="-120"/>
              </a:rPr>
              <a:t>Ghosh, S., Gupta, S., Bhattacharyya, S., Das, A. K., Nandi, A., Sarkar, A., Samanta, P. S., &amp; Polprasert, C. (2025). Multi-label imbalanced text handling using ensemble methodology with application to biomedical data classification. Iran Journal of Computer Science, 8(4), 2949-2963. https://doi.org/10.1007/s42044-025-00332-x</a:t>
            </a:r>
            <a:endParaRPr lang="en-US" sz="1000" dirty="0"/>
          </a:p>
          <a:p>
            <a:pPr marL="0" indent="0">
              <a:lnSpc>
                <a:spcPct val="100000"/>
              </a:lnSpc>
              <a:spcAft>
                <a:spcPts val="600"/>
              </a:spcAft>
              <a:buNone/>
            </a:pPr>
            <a:r>
              <a:rPr lang="en-US" sz="1000" dirty="0">
                <a:solidFill>
                  <a:srgbClr val="000000"/>
                </a:solidFill>
                <a:latin typeface="Calibri" pitchFamily="34" charset="0"/>
                <a:ea typeface="Calibri" pitchFamily="34" charset="-122"/>
                <a:cs typeface="Calibri" pitchFamily="34" charset="-120"/>
              </a:rPr>
              <a:t>Hameed, S., Nauman, M., Akhtar, N., Fayyaz, M. A. B., &amp; Nawaz, R. (2025). Explainable AI-driven depression detection from social media using natural language processing and black box machine learning models. Frontiers in Artificial Intelligence, 8, 1627078. https://doi.org/10.3389/frai.2025.1627078</a:t>
            </a:r>
            <a:endParaRPr lang="en-US" sz="1000" dirty="0"/>
          </a:p>
          <a:p>
            <a:pPr marL="0" indent="0">
              <a:lnSpc>
                <a:spcPct val="100000"/>
              </a:lnSpc>
              <a:spcAft>
                <a:spcPts val="600"/>
              </a:spcAft>
              <a:buNone/>
            </a:pPr>
            <a:r>
              <a:rPr lang="en-US" sz="1000" dirty="0">
                <a:solidFill>
                  <a:srgbClr val="000000"/>
                </a:solidFill>
                <a:latin typeface="Calibri" pitchFamily="34" charset="0"/>
                <a:ea typeface="Calibri" pitchFamily="34" charset="-122"/>
                <a:cs typeface="Calibri" pitchFamily="34" charset="-120"/>
              </a:rPr>
              <a:t>Hanif, I. A., Yulianrifat, E. P., Ongris, J. G., Tjitrahardja, E., Azmi, M. F., Naufal, R. B., &amp; Wicaksono, A. F. (2025). University of Indonesia at SemEval-2025 Task 11: Evaluating state-of-the-art encoders for multi-label emotion detection. arXiv. https://arxiv.org/abs/2505.16460</a:t>
            </a:r>
            <a:endParaRPr lang="en-US" sz="1000" dirty="0"/>
          </a:p>
          <a:p>
            <a:pPr marL="0" indent="0">
              <a:lnSpc>
                <a:spcPct val="100000"/>
              </a:lnSpc>
              <a:spcAft>
                <a:spcPts val="600"/>
              </a:spcAft>
              <a:buNone/>
            </a:pPr>
            <a:r>
              <a:rPr lang="en-US" sz="1000" dirty="0">
                <a:solidFill>
                  <a:srgbClr val="000000"/>
                </a:solidFill>
                <a:latin typeface="Calibri" pitchFamily="34" charset="0"/>
                <a:ea typeface="Calibri" pitchFamily="34" charset="-122"/>
                <a:cs typeface="Calibri" pitchFamily="34" charset="-120"/>
              </a:rPr>
              <a:t>Harrington, C. (2025). Making ethical judgement calls about qualitative social media research on sensitive issues. International Journal of Social Research Methodology, 28(4), 397-409. https://doi.org/10.1080/13645579.2024.2393796</a:t>
            </a:r>
            <a:endParaRPr lang="en-US" sz="1000" dirty="0"/>
          </a:p>
          <a:p>
            <a:pPr marL="0" indent="0">
              <a:lnSpc>
                <a:spcPct val="100000"/>
              </a:lnSpc>
              <a:spcAft>
                <a:spcPts val="600"/>
              </a:spcAft>
              <a:buNone/>
            </a:pPr>
            <a:r>
              <a:rPr lang="en-US" sz="1000" dirty="0">
                <a:solidFill>
                  <a:srgbClr val="000000"/>
                </a:solidFill>
                <a:latin typeface="Calibri" pitchFamily="34" charset="0"/>
                <a:ea typeface="Calibri" pitchFamily="34" charset="-122"/>
                <a:cs typeface="Calibri" pitchFamily="34" charset="-120"/>
              </a:rPr>
              <a:t>Huang, J., Li, X., Li, Q., Du, Y., Fan, Y., Chen, X., Huang, D., &amp; Wang, S. (2024). Incorporating emoji sentiment information into a pre-trained language model for Chinese and English sentiment analysis. Intelligent Data Analysis, 28(6), 1601-1625. https://doi.org/10.3233/IDA-230864</a:t>
            </a:r>
            <a:endParaRPr lang="en-US" sz="1000" dirty="0"/>
          </a:p>
          <a:p>
            <a:pPr marL="0" indent="0">
              <a:lnSpc>
                <a:spcPct val="100000"/>
              </a:lnSpc>
              <a:spcAft>
                <a:spcPts val="600"/>
              </a:spcAft>
              <a:buNone/>
            </a:pPr>
            <a:r>
              <a:rPr lang="en-US" sz="1000" dirty="0">
                <a:solidFill>
                  <a:srgbClr val="000000"/>
                </a:solidFill>
                <a:latin typeface="Calibri" pitchFamily="34" charset="0"/>
                <a:ea typeface="Calibri" pitchFamily="34" charset="-122"/>
                <a:cs typeface="Calibri" pitchFamily="34" charset="-120"/>
              </a:rPr>
              <a:t>Jim, J. R., Talukder, M. A. R., Malakar, P., Kabir, M. M., Nur, K., &amp; Mridha, M. F. (2024). Recent advancements and challenges of NLP-based sentiment analysis: A state-of-the-art review. Natural Language Processing Journal, 6, 100059. https://doi.org/10.1016/j.nlp.2024.100059</a:t>
            </a:r>
            <a:endParaRPr lang="en-US" sz="1000" dirty="0"/>
          </a:p>
          <a:p>
            <a:pPr marL="0" indent="0">
              <a:lnSpc>
                <a:spcPct val="100000"/>
              </a:lnSpc>
              <a:spcAft>
                <a:spcPts val="600"/>
              </a:spcAft>
              <a:buNone/>
            </a:pPr>
            <a:r>
              <a:rPr lang="en-US" sz="1000" dirty="0">
                <a:solidFill>
                  <a:srgbClr val="000000"/>
                </a:solidFill>
                <a:latin typeface="Calibri" pitchFamily="34" charset="0"/>
                <a:ea typeface="Calibri" pitchFamily="34" charset="-122"/>
                <a:cs typeface="Calibri" pitchFamily="34" charset="-120"/>
              </a:rPr>
              <a:t>Khan, A., Majumdar, D., &amp; Mondal, B. (2025). Sentiment analysis of emoji fused reviews using machine learning and BERT. Scientific Reports, 15, 7538. https://doi.org/10.1038/s41598-025-92286-0</a:t>
            </a:r>
            <a:endParaRPr lang="en-US" sz="1000" dirty="0"/>
          </a:p>
          <a:p>
            <a:pPr marL="0" indent="0">
              <a:lnSpc>
                <a:spcPct val="100000"/>
              </a:lnSpc>
              <a:spcAft>
                <a:spcPts val="600"/>
              </a:spcAft>
              <a:buNone/>
            </a:pPr>
            <a:r>
              <a:rPr lang="en-US" sz="1000" dirty="0">
                <a:solidFill>
                  <a:srgbClr val="000000"/>
                </a:solidFill>
                <a:latin typeface="Calibri" pitchFamily="34" charset="0"/>
                <a:ea typeface="Calibri" pitchFamily="34" charset="-122"/>
                <a:cs typeface="Calibri" pitchFamily="34" charset="-120"/>
              </a:rPr>
              <a:t>Khan, B., Usman, M., &amp; Binsawad, M. (2026). A novel hybrid model for emotion detection in text through sequential and transformer-based approaches: LSTM enhanced RoBERTa (LER). Scientific Reports, 16, 2224. https://doi.org/10.1038/s41598-025-31984-1</a:t>
            </a:r>
            <a:endParaRPr lang="en-US" sz="1000" dirty="0"/>
          </a:p>
          <a:p>
            <a:pPr marL="0" indent="0">
              <a:lnSpc>
                <a:spcPct val="100000"/>
              </a:lnSpc>
              <a:spcAft>
                <a:spcPts val="600"/>
              </a:spcAft>
              <a:buNone/>
            </a:pPr>
            <a:r>
              <a:rPr lang="en-US" sz="1000" dirty="0">
                <a:solidFill>
                  <a:srgbClr val="000000"/>
                </a:solidFill>
                <a:latin typeface="Calibri" pitchFamily="34" charset="0"/>
                <a:ea typeface="Calibri" pitchFamily="34" charset="-122"/>
                <a:cs typeface="Calibri" pitchFamily="34" charset="-120"/>
              </a:rPr>
              <a:t>Lou, Y., Zhou, J., Zhou, J., Ji, D., &amp; Zhang, Q. (2024). Emoji multimodal microblog sentiment analysis based on mutual attention mechanism. Scientific Reports, 14, 29314. https://doi.org/10.1038/s41598-024-80167-x</a:t>
            </a:r>
            <a:endParaRPr lang="en-US" sz="10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1045159"/>
          </a:xfrm>
          <a:prstGeom prst="rect">
            <a:avLst/>
          </a:prstGeom>
          <a:solidFill>
            <a:srgbClr val="9A003B"/>
          </a:solidFill>
          <a:ln w="12700">
            <a:solidFill>
              <a:srgbClr val="9A003B"/>
            </a:solidFill>
            <a:prstDash val="solid"/>
          </a:ln>
        </p:spPr>
      </p:sp>
      <p:sp>
        <p:nvSpPr>
          <p:cNvPr id="3" name="Text 1"/>
          <p:cNvSpPr txBox="1"/>
          <p:nvPr/>
        </p:nvSpPr>
        <p:spPr>
          <a:xfrm>
            <a:off x="228600" y="109728"/>
            <a:ext cx="11704320" cy="825703"/>
          </a:xfrm>
          <a:prstGeom prst="rect">
            <a:avLst/>
          </a:prstGeom>
          <a:noFill/>
          <a:ln/>
        </p:spPr>
        <p:txBody>
          <a:bodyPr wrap="square" lIns="0" tIns="0" rIns="0" bIns="0" rtlCol="0" anchor="ctr"/>
          <a:lstStyle/>
          <a:p>
            <a:pPr marL="0" indent="0">
              <a:lnSpc>
                <a:spcPct val="95000"/>
              </a:lnSpc>
              <a:buNone/>
            </a:pPr>
            <a:r>
              <a:rPr lang="en-US" sz="2500" dirty="0">
                <a:solidFill>
                  <a:srgbClr val="FFFFFF"/>
                </a:solidFill>
                <a:latin typeface="Calibri" pitchFamily="34" charset="0"/>
                <a:ea typeface="Calibri" pitchFamily="34" charset="-122"/>
                <a:cs typeface="Calibri" pitchFamily="34" charset="-120"/>
              </a:rPr>
              <a:t>References: APA 7th Edition Style Mapping II</a:t>
            </a:r>
            <a:endParaRPr lang="en-US" sz="2500" dirty="0"/>
          </a:p>
        </p:txBody>
      </p:sp>
      <p:sp>
        <p:nvSpPr>
          <p:cNvPr id="4" name="Text 2"/>
          <p:cNvSpPr txBox="1"/>
          <p:nvPr/>
        </p:nvSpPr>
        <p:spPr>
          <a:xfrm>
            <a:off x="10515600" y="5806440"/>
            <a:ext cx="1463040" cy="749808"/>
          </a:xfrm>
          <a:prstGeom prst="rect">
            <a:avLst/>
          </a:prstGeom>
          <a:noFill/>
          <a:ln/>
        </p:spPr>
        <p:txBody>
          <a:bodyPr wrap="square" lIns="0" tIns="0" rIns="0" bIns="0" rtlCol="0" anchor="b"/>
          <a:lstStyle/>
          <a:p>
            <a:pPr marL="0" indent="0" algn="r">
              <a:lnSpc>
                <a:spcPct val="85000"/>
              </a:lnSpc>
              <a:buNone/>
            </a:pPr>
            <a:r>
              <a:rPr lang="en-US" sz="1150" b="1" dirty="0">
                <a:solidFill>
                  <a:srgbClr val="9A003B"/>
                </a:solidFill>
                <a:latin typeface="Calibri" pitchFamily="34" charset="0"/>
                <a:ea typeface="Calibri" pitchFamily="34" charset="-122"/>
                <a:cs typeface="Calibri" pitchFamily="34" charset="-120"/>
              </a:rPr>
              <a:t>Sheffield</a:t>
            </a:r>
            <a:endParaRPr lang="en-US" sz="1150" dirty="0"/>
          </a:p>
          <a:p>
            <a:pPr marL="0" indent="0" algn="r">
              <a:lnSpc>
                <a:spcPct val="85000"/>
              </a:lnSpc>
              <a:buNone/>
            </a:pPr>
            <a:r>
              <a:rPr lang="en-US" sz="1150" b="1" dirty="0">
                <a:solidFill>
                  <a:srgbClr val="9A003B"/>
                </a:solidFill>
                <a:latin typeface="Calibri" pitchFamily="34" charset="0"/>
                <a:ea typeface="Calibri" pitchFamily="34" charset="-122"/>
                <a:cs typeface="Calibri" pitchFamily="34" charset="-120"/>
              </a:rPr>
              <a:t>Hallam</a:t>
            </a:r>
            <a:endParaRPr lang="en-US" sz="1150" dirty="0"/>
          </a:p>
          <a:p>
            <a:pPr marL="0" indent="0" algn="r">
              <a:lnSpc>
                <a:spcPct val="85000"/>
              </a:lnSpc>
              <a:buNone/>
            </a:pPr>
            <a:r>
              <a:rPr lang="en-US" sz="1150" b="1" dirty="0">
                <a:solidFill>
                  <a:srgbClr val="9A003B"/>
                </a:solidFill>
                <a:latin typeface="Calibri" pitchFamily="34" charset="0"/>
                <a:ea typeface="Calibri" pitchFamily="34" charset="-122"/>
                <a:cs typeface="Calibri" pitchFamily="34" charset="-120"/>
              </a:rPr>
              <a:t>University</a:t>
            </a:r>
            <a:endParaRPr lang="en-US" sz="1150" dirty="0"/>
          </a:p>
        </p:txBody>
      </p:sp>
      <p:sp>
        <p:nvSpPr>
          <p:cNvPr id="5" name="Shape 3"/>
          <p:cNvSpPr/>
          <p:nvPr/>
        </p:nvSpPr>
        <p:spPr>
          <a:xfrm>
            <a:off x="0" y="6624828"/>
            <a:ext cx="4063898" cy="233172"/>
          </a:xfrm>
          <a:prstGeom prst="rect">
            <a:avLst/>
          </a:prstGeom>
          <a:solidFill>
            <a:srgbClr val="4D001E"/>
          </a:solidFill>
          <a:ln w="12700">
            <a:solidFill>
              <a:srgbClr val="4D001E"/>
            </a:solidFill>
            <a:prstDash val="solid"/>
          </a:ln>
        </p:spPr>
      </p:sp>
      <p:sp>
        <p:nvSpPr>
          <p:cNvPr id="6" name="Shape 4"/>
          <p:cNvSpPr/>
          <p:nvPr/>
        </p:nvSpPr>
        <p:spPr>
          <a:xfrm>
            <a:off x="4063898" y="6624828"/>
            <a:ext cx="4063898" cy="233172"/>
          </a:xfrm>
          <a:prstGeom prst="rect">
            <a:avLst/>
          </a:prstGeom>
          <a:solidFill>
            <a:srgbClr val="74002C"/>
          </a:solidFill>
          <a:ln w="12700">
            <a:solidFill>
              <a:srgbClr val="74002C"/>
            </a:solidFill>
            <a:prstDash val="solid"/>
          </a:ln>
        </p:spPr>
      </p:sp>
      <p:sp>
        <p:nvSpPr>
          <p:cNvPr id="7" name="Shape 5"/>
          <p:cNvSpPr/>
          <p:nvPr/>
        </p:nvSpPr>
        <p:spPr>
          <a:xfrm>
            <a:off x="8127797" y="6624828"/>
            <a:ext cx="4063898" cy="233172"/>
          </a:xfrm>
          <a:prstGeom prst="rect">
            <a:avLst/>
          </a:prstGeom>
          <a:solidFill>
            <a:srgbClr val="9A003B"/>
          </a:solidFill>
          <a:ln w="12700">
            <a:solidFill>
              <a:srgbClr val="9A003B"/>
            </a:solidFill>
            <a:prstDash val="solid"/>
          </a:ln>
        </p:spPr>
      </p:sp>
      <p:sp>
        <p:nvSpPr>
          <p:cNvPr id="8" name="Text 6"/>
          <p:cNvSpPr txBox="1"/>
          <p:nvPr/>
        </p:nvSpPr>
        <p:spPr>
          <a:xfrm>
            <a:off x="1143000" y="6624828"/>
            <a:ext cx="2743200" cy="233172"/>
          </a:xfrm>
          <a:prstGeom prst="rect">
            <a:avLst/>
          </a:prstGeom>
          <a:noFill/>
          <a:ln/>
        </p:spPr>
        <p:txBody>
          <a:bodyPr wrap="square" lIns="0" tIns="0" rIns="0" bIns="0" rtlCol="0" anchor="ctr"/>
          <a:lstStyle/>
          <a:p>
            <a:pPr marL="0" indent="0">
              <a:buNone/>
            </a:pPr>
            <a:r>
              <a:rPr lang="en-US" sz="900" dirty="0">
                <a:solidFill>
                  <a:srgbClr val="FFFFFF"/>
                </a:solidFill>
                <a:latin typeface="Calibri" pitchFamily="34" charset="0"/>
                <a:ea typeface="Calibri" pitchFamily="34" charset="-122"/>
                <a:cs typeface="Calibri" pitchFamily="34" charset="-120"/>
              </a:rPr>
              <a:t>[Student Initials]  (SHU)</a:t>
            </a:r>
            <a:endParaRPr lang="en-US" sz="900" dirty="0"/>
          </a:p>
        </p:txBody>
      </p:sp>
      <p:sp>
        <p:nvSpPr>
          <p:cNvPr id="9" name="Text 7"/>
          <p:cNvSpPr txBox="1"/>
          <p:nvPr/>
        </p:nvSpPr>
        <p:spPr>
          <a:xfrm>
            <a:off x="5276088" y="6624828"/>
            <a:ext cx="2743200" cy="233172"/>
          </a:xfrm>
          <a:prstGeom prst="rect">
            <a:avLst/>
          </a:prstGeom>
          <a:noFill/>
          <a:ln/>
        </p:spPr>
        <p:txBody>
          <a:bodyPr wrap="square" lIns="0" tIns="0" rIns="0" bIns="0" rtlCol="0" anchor="ctr"/>
          <a:lstStyle/>
          <a:p>
            <a:pPr marL="0" indent="0">
              <a:buNone/>
            </a:pPr>
            <a:r>
              <a:rPr lang="en-US" sz="900" dirty="0">
                <a:solidFill>
                  <a:srgbClr val="FFFFFF"/>
                </a:solidFill>
                <a:latin typeface="Calibri" pitchFamily="34" charset="0"/>
                <a:ea typeface="Calibri" pitchFamily="34" charset="-122"/>
                <a:cs typeface="Calibri" pitchFamily="34" charset="-120"/>
              </a:rPr>
              <a:t>Does the Emoji Matter?</a:t>
            </a:r>
            <a:endParaRPr lang="en-US" sz="900" dirty="0"/>
          </a:p>
        </p:txBody>
      </p:sp>
      <p:sp>
        <p:nvSpPr>
          <p:cNvPr id="10" name="Text 8"/>
          <p:cNvSpPr txBox="1"/>
          <p:nvPr/>
        </p:nvSpPr>
        <p:spPr>
          <a:xfrm>
            <a:off x="9235440" y="6624828"/>
            <a:ext cx="1645920" cy="233172"/>
          </a:xfrm>
          <a:prstGeom prst="rect">
            <a:avLst/>
          </a:prstGeom>
          <a:noFill/>
          <a:ln/>
        </p:spPr>
        <p:txBody>
          <a:bodyPr wrap="square" lIns="0" tIns="0" rIns="0" bIns="0" rtlCol="0" anchor="ctr"/>
          <a:lstStyle/>
          <a:p>
            <a:pPr marL="0" indent="0">
              <a:buNone/>
            </a:pPr>
            <a:r>
              <a:rPr lang="en-US" sz="900" dirty="0">
                <a:solidFill>
                  <a:srgbClr val="FFFFFF"/>
                </a:solidFill>
                <a:latin typeface="Calibri" pitchFamily="34" charset="0"/>
                <a:ea typeface="Calibri" pitchFamily="34" charset="-122"/>
                <a:cs typeface="Calibri" pitchFamily="34" charset="-120"/>
              </a:rPr>
              <a:t>September 2026</a:t>
            </a:r>
            <a:endParaRPr lang="en-US" sz="900" dirty="0"/>
          </a:p>
        </p:txBody>
      </p:sp>
      <p:sp>
        <p:nvSpPr>
          <p:cNvPr id="11" name="Text 9"/>
          <p:cNvSpPr txBox="1"/>
          <p:nvPr/>
        </p:nvSpPr>
        <p:spPr>
          <a:xfrm>
            <a:off x="10881360" y="6624828"/>
            <a:ext cx="1161288" cy="233172"/>
          </a:xfrm>
          <a:prstGeom prst="rect">
            <a:avLst/>
          </a:prstGeom>
          <a:noFill/>
          <a:ln/>
        </p:spPr>
        <p:txBody>
          <a:bodyPr wrap="square" lIns="0" tIns="0" rIns="0" bIns="0" rtlCol="0" anchor="ctr"/>
          <a:lstStyle/>
          <a:p>
            <a:pPr marL="0" indent="0" algn="r">
              <a:buNone/>
            </a:pPr>
            <a:r>
              <a:rPr lang="en-US" sz="900" dirty="0">
                <a:solidFill>
                  <a:srgbClr val="FFFFFF"/>
                </a:solidFill>
                <a:latin typeface="Calibri" pitchFamily="34" charset="0"/>
                <a:ea typeface="Calibri" pitchFamily="34" charset="-122"/>
                <a:cs typeface="Calibri" pitchFamily="34" charset="-120"/>
              </a:rPr>
              <a:t>40 / 43</a:t>
            </a:r>
            <a:endParaRPr lang="en-US" sz="900" dirty="0"/>
          </a:p>
        </p:txBody>
      </p:sp>
      <p:sp>
        <p:nvSpPr>
          <p:cNvPr id="12" name="Text 10"/>
          <p:cNvSpPr txBox="1"/>
          <p:nvPr/>
        </p:nvSpPr>
        <p:spPr>
          <a:xfrm>
            <a:off x="566928" y="1243584"/>
            <a:ext cx="11055096" cy="4892040"/>
          </a:xfrm>
          <a:prstGeom prst="rect">
            <a:avLst/>
          </a:prstGeom>
          <a:noFill/>
          <a:ln/>
        </p:spPr>
        <p:txBody>
          <a:bodyPr wrap="square" lIns="0" tIns="0" rIns="0" bIns="0" rtlCol="0" anchor="t"/>
          <a:lstStyle/>
          <a:p>
            <a:pPr marL="0" indent="0">
              <a:lnSpc>
                <a:spcPct val="100000"/>
              </a:lnSpc>
              <a:spcAft>
                <a:spcPts val="600"/>
              </a:spcAft>
              <a:buNone/>
            </a:pPr>
            <a:r>
              <a:rPr lang="en-US" sz="1000" dirty="0">
                <a:solidFill>
                  <a:srgbClr val="000000"/>
                </a:solidFill>
                <a:latin typeface="Calibri" pitchFamily="34" charset="0"/>
                <a:ea typeface="Calibri" pitchFamily="34" charset="-122"/>
                <a:cs typeface="Calibri" pitchFamily="34" charset="-120"/>
              </a:rPr>
              <a:t>Mohammad, S., Bravo-Marquez, F., Salameh, M., &amp; Kiritchenko, S. (2018). SemEval-2018 Task 1: Affect in tweets. In Proceedings of the 12th International Workshop on Semantic Evaluation (pp. 1-17). Association for Computational Linguistics. https://aclanthology.org/S18-1001/ [Cited as the source of the dataset analysed in this project.]</a:t>
            </a:r>
            <a:endParaRPr lang="en-US" sz="1000" dirty="0"/>
          </a:p>
          <a:p>
            <a:pPr marL="0" indent="0">
              <a:lnSpc>
                <a:spcPct val="100000"/>
              </a:lnSpc>
              <a:spcAft>
                <a:spcPts val="600"/>
              </a:spcAft>
              <a:buNone/>
            </a:pPr>
            <a:r>
              <a:rPr lang="en-US" sz="1000" dirty="0">
                <a:solidFill>
                  <a:srgbClr val="000000"/>
                </a:solidFill>
                <a:latin typeface="Calibri" pitchFamily="34" charset="0"/>
                <a:ea typeface="Calibri" pitchFamily="34" charset="-122"/>
                <a:cs typeface="Calibri" pitchFamily="34" charset="-120"/>
              </a:rPr>
              <a:t>Muhammad, S. H., Ousidhoum, N., Abdulmumin, I., Yimam, S. M., Wahle, J. P., Ruas, T., Beloucif, M., De Kock, C., Belay, T. D., Ahmad, I. S., Surange, N., Teodorescu, A., Adelani, D. I., Aji, A. F., Ali, F., Araujo, V., Ayele, A. A., Ignat, O., Panchenko, A., ... Mohammad, S. M. (2025). SemEval-2025 Task 11: Bridging the gap in text-based emotion detection. arXiv. https://arxiv.org/abs/2503.07269</a:t>
            </a:r>
            <a:endParaRPr lang="en-US" sz="1000" dirty="0"/>
          </a:p>
          <a:p>
            <a:pPr marL="0" indent="0">
              <a:lnSpc>
                <a:spcPct val="100000"/>
              </a:lnSpc>
              <a:spcAft>
                <a:spcPts val="600"/>
              </a:spcAft>
              <a:buNone/>
            </a:pPr>
            <a:r>
              <a:rPr lang="en-US" sz="1000" dirty="0">
                <a:solidFill>
                  <a:srgbClr val="000000"/>
                </a:solidFill>
                <a:latin typeface="Calibri" pitchFamily="34" charset="0"/>
                <a:ea typeface="Calibri" pitchFamily="34" charset="-122"/>
                <a:cs typeface="Calibri" pitchFamily="34" charset="-120"/>
              </a:rPr>
              <a:t>Nwaiwu, S. (2025). Parameter-efficient fine-tuning for low-resource text classification: A comparative study of LoRA, IA3, and ReFT. Frontiers in Big Data, 8, 1677331. https://doi.org/10.3389/fdata.2025.1677331</a:t>
            </a:r>
            <a:endParaRPr lang="en-US" sz="1000" dirty="0"/>
          </a:p>
          <a:p>
            <a:pPr marL="0" indent="0">
              <a:lnSpc>
                <a:spcPct val="100000"/>
              </a:lnSpc>
              <a:spcAft>
                <a:spcPts val="600"/>
              </a:spcAft>
              <a:buNone/>
            </a:pPr>
            <a:r>
              <a:rPr lang="en-US" sz="1000" dirty="0">
                <a:solidFill>
                  <a:srgbClr val="000000"/>
                </a:solidFill>
                <a:latin typeface="Calibri" pitchFamily="34" charset="0"/>
                <a:ea typeface="Calibri" pitchFamily="34" charset="-122"/>
                <a:cs typeface="Calibri" pitchFamily="34" charset="-120"/>
              </a:rPr>
              <a:t>Rezapour, M. (2024). Emotion detection with transformers: A comparative study. arXiv. https://arxiv.org/abs/2403.15454</a:t>
            </a:r>
            <a:endParaRPr lang="en-US" sz="1000" dirty="0"/>
          </a:p>
          <a:p>
            <a:pPr marL="0" indent="0">
              <a:lnSpc>
                <a:spcPct val="100000"/>
              </a:lnSpc>
              <a:spcAft>
                <a:spcPts val="600"/>
              </a:spcAft>
              <a:buNone/>
            </a:pPr>
            <a:r>
              <a:rPr lang="en-US" sz="1000" dirty="0">
                <a:solidFill>
                  <a:srgbClr val="000000"/>
                </a:solidFill>
                <a:latin typeface="Calibri" pitchFamily="34" charset="0"/>
                <a:ea typeface="Calibri" pitchFamily="34" charset="-122"/>
                <a:cs typeface="Calibri" pitchFamily="34" charset="-120"/>
              </a:rPr>
              <a:t>Shamatrin, D. (2025). Adaptive thresholding for multi-label classification via global-local signal fusion. arXiv. https://arxiv.org/abs/2505.03118</a:t>
            </a:r>
            <a:endParaRPr lang="en-US" sz="1000" dirty="0"/>
          </a:p>
          <a:p>
            <a:pPr marL="0" indent="0">
              <a:lnSpc>
                <a:spcPct val="100000"/>
              </a:lnSpc>
              <a:spcAft>
                <a:spcPts val="600"/>
              </a:spcAft>
              <a:buNone/>
            </a:pPr>
            <a:r>
              <a:rPr lang="en-US" sz="1000" dirty="0">
                <a:solidFill>
                  <a:srgbClr val="000000"/>
                </a:solidFill>
                <a:latin typeface="Calibri" pitchFamily="34" charset="0"/>
                <a:ea typeface="Calibri" pitchFamily="34" charset="-122"/>
                <a:cs typeface="Calibri" pitchFamily="34" charset="-120"/>
              </a:rPr>
              <a:t>Shukla, D., &amp; Dwivedi, S. K. (2024). The study of the effect of preprocessing techniques for emotion detection on Amazon product review dataset. Social Network Analysis and Mining, 14, 191. https://doi.org/10.1007/s13278-024-01352-4</a:t>
            </a:r>
            <a:endParaRPr lang="en-US" sz="1000" dirty="0"/>
          </a:p>
          <a:p>
            <a:pPr marL="0" indent="0">
              <a:lnSpc>
                <a:spcPct val="100000"/>
              </a:lnSpc>
              <a:spcAft>
                <a:spcPts val="600"/>
              </a:spcAft>
              <a:buNone/>
            </a:pPr>
            <a:r>
              <a:rPr lang="en-US" sz="1000" dirty="0">
                <a:solidFill>
                  <a:srgbClr val="000000"/>
                </a:solidFill>
                <a:latin typeface="Calibri" pitchFamily="34" charset="0"/>
                <a:ea typeface="Calibri" pitchFamily="34" charset="-122"/>
                <a:cs typeface="Calibri" pitchFamily="34" charset="-120"/>
              </a:rPr>
              <a:t>Singh, G. V., Ghosh, S., Firdaus, M., Ekbal, A., &amp; Bhattacharyya, P. (2024). Predicting multi-label emojis, emotions, and sentiments in code-mixed texts using an emojifying sentiments framework. Scientific Reports, 14, 12204. https://doi.org/10.1038/s41598-024-58944-5</a:t>
            </a:r>
            <a:endParaRPr lang="en-US" sz="1000" dirty="0"/>
          </a:p>
          <a:p>
            <a:pPr marL="0" indent="0">
              <a:lnSpc>
                <a:spcPct val="100000"/>
              </a:lnSpc>
              <a:spcAft>
                <a:spcPts val="600"/>
              </a:spcAft>
              <a:buNone/>
            </a:pPr>
            <a:r>
              <a:rPr lang="en-US" sz="1000" dirty="0">
                <a:solidFill>
                  <a:srgbClr val="000000"/>
                </a:solidFill>
                <a:latin typeface="Calibri" pitchFamily="34" charset="0"/>
                <a:ea typeface="Calibri" pitchFamily="34" charset="-122"/>
                <a:cs typeface="Calibri" pitchFamily="34" charset="-120"/>
              </a:rPr>
              <a:t>Xue, J., Nguyen, P. M., Nguyen, M. L., &amp; Liu, X. (2025). JNLP at SemEval-2025 Task 11: Cross-lingual multi-label emotion detection using generative models. arXiv. https://arxiv.org/abs/2505.13244</a:t>
            </a:r>
            <a:endParaRPr lang="en-US" sz="1000" dirty="0"/>
          </a:p>
          <a:p>
            <a:pPr marL="0" indent="0">
              <a:lnSpc>
                <a:spcPct val="100000"/>
              </a:lnSpc>
              <a:spcAft>
                <a:spcPts val="600"/>
              </a:spcAft>
              <a:buNone/>
            </a:pPr>
            <a:r>
              <a:rPr lang="en-US" sz="1000" dirty="0">
                <a:solidFill>
                  <a:srgbClr val="000000"/>
                </a:solidFill>
                <a:latin typeface="Calibri" pitchFamily="34" charset="0"/>
                <a:ea typeface="Calibri" pitchFamily="34" charset="-122"/>
                <a:cs typeface="Calibri" pitchFamily="34" charset="-120"/>
              </a:rPr>
              <a:t>Zhang, S., Yang, Y., Chen, C., Zhang, X., Leng, Q., &amp; Zhao, X. (2024). Deep learning-based multimodal emotion recognition from audio, visual, and text modalities: A systematic review of recent advancements and future prospects. Expert Systems with Applications, 237, 121692. https://doi.org/10.1016/j.eswa.2023.121692</a:t>
            </a:r>
            <a:endParaRPr lang="en-US" sz="1000" dirty="0"/>
          </a:p>
          <a:p>
            <a:pPr marL="0" indent="0">
              <a:lnSpc>
                <a:spcPct val="100000"/>
              </a:lnSpc>
              <a:spcAft>
                <a:spcPts val="600"/>
              </a:spcAft>
              <a:buNone/>
            </a:pPr>
            <a:r>
              <a:rPr lang="en-US" sz="1000" dirty="0">
                <a:solidFill>
                  <a:srgbClr val="000000"/>
                </a:solidFill>
                <a:latin typeface="Calibri" pitchFamily="34" charset="0"/>
                <a:ea typeface="Calibri" pitchFamily="34" charset="-122"/>
                <a:cs typeface="Calibri" pitchFamily="34" charset="-120"/>
              </a:rPr>
              <a:t>Zhang, Y., Fu, J., Lai, J., Deng, S., Guo, Z., Zhong, C., Tang, J., Cao, W., &amp; Wu, Y. (2024). Reporting of ethical considerations in qualitative research utilizing social media data on public health care: Scoping review. Journal of Medical Internet Research, 26, e51496. https://doi.org/10.2196/51496</a:t>
            </a:r>
            <a:endParaRPr lang="en-US" sz="1000" dirty="0"/>
          </a:p>
          <a:p>
            <a:pPr marL="0" indent="0">
              <a:lnSpc>
                <a:spcPct val="100000"/>
              </a:lnSpc>
              <a:spcAft>
                <a:spcPts val="600"/>
              </a:spcAft>
              <a:buNone/>
            </a:pPr>
            <a:r>
              <a:rPr lang="en-US" sz="1000" dirty="0">
                <a:solidFill>
                  <a:srgbClr val="000000"/>
                </a:solidFill>
                <a:latin typeface="Calibri" pitchFamily="34" charset="0"/>
                <a:ea typeface="Calibri" pitchFamily="34" charset="-122"/>
                <a:cs typeface="Calibri" pitchFamily="34" charset="-120"/>
              </a:rPr>
              <a:t>Zhang, Z., Tan, D., Wang, J., Chen, Y., &amp; Xu, J. (2024). Unleashing the power of emojis in texts via self-supervised graph pre-training. In Proceedings of the 2024 Conference on Empirical Methods in Natural Language Processing (pp. 17851-17863). Association for Computational Linguistics. https://doi.org/10.18653/v1/2024.emnlp-main.989</a:t>
            </a:r>
            <a:endParaRPr lang="en-US" sz="1000" dirty="0"/>
          </a:p>
          <a:p>
            <a:pPr marL="0" indent="0">
              <a:lnSpc>
                <a:spcPct val="100000"/>
              </a:lnSpc>
              <a:spcAft>
                <a:spcPts val="600"/>
              </a:spcAft>
              <a:buNone/>
            </a:pPr>
            <a:r>
              <a:rPr lang="en-US" sz="1000" dirty="0">
                <a:solidFill>
                  <a:srgbClr val="000000"/>
                </a:solidFill>
                <a:latin typeface="Calibri" pitchFamily="34" charset="0"/>
                <a:ea typeface="Calibri" pitchFamily="34" charset="-122"/>
                <a:cs typeface="Calibri" pitchFamily="34" charset="-120"/>
              </a:rPr>
              <a:t>Zhou, G., De Souza, S., Markham, E., Kwakpovwe, O., &amp; Zhao, S. (2024). Semantics and sentiment: Cross-lingual variations in emoji use. In Proceedings of the 2024 Conference on Empirical Methods in Natural Language Processing (pp. 18698-18712). Association for Computational Linguistics. https://doi.org/10.18653/v1/2024.emnlp-main.1041</a:t>
            </a:r>
            <a:endParaRPr lang="en-US" sz="1000" dirty="0"/>
          </a:p>
        </p:txBody>
      </p:sp>
      <p:sp>
        <p:nvSpPr>
          <p:cNvPr id="13" name="Text 11"/>
          <p:cNvSpPr txBox="1"/>
          <p:nvPr/>
        </p:nvSpPr>
        <p:spPr>
          <a:xfrm>
            <a:off x="566928" y="5897880"/>
            <a:ext cx="9829800" cy="365760"/>
          </a:xfrm>
          <a:prstGeom prst="rect">
            <a:avLst/>
          </a:prstGeom>
          <a:noFill/>
          <a:ln/>
        </p:spPr>
        <p:txBody>
          <a:bodyPr wrap="square" lIns="0" tIns="0" rIns="0" bIns="0" rtlCol="0" anchor="t"/>
          <a:lstStyle/>
          <a:p>
            <a:pPr marL="0" indent="0" algn="ctr">
              <a:lnSpc>
                <a:spcPct val="100000"/>
              </a:lnSpc>
              <a:buNone/>
            </a:pPr>
            <a:r>
              <a:rPr lang="en-US" sz="1050" dirty="0">
                <a:solidFill>
                  <a:srgbClr val="5C5C5C"/>
                </a:solidFill>
                <a:latin typeface="Calibri" pitchFamily="34" charset="0"/>
                <a:ea typeface="Calibri" pitchFamily="34" charset="-122"/>
                <a:cs typeface="Calibri" pitchFamily="34" charset="-120"/>
              </a:rPr>
              <a:t>All 25 sources were published in 2023 or later. The one exception is the SemEval-2018 paper, cited because it is the origin of the dataset analysed here. Every DOI and URL was verified against Crossref, arXiv or the ACL Anthology.</a:t>
            </a:r>
            <a:endParaRPr lang="en-US" sz="105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914400" y="2514600"/>
            <a:ext cx="10360152" cy="658368"/>
          </a:xfrm>
          <a:prstGeom prst="rect">
            <a:avLst/>
          </a:prstGeom>
          <a:noFill/>
          <a:ln/>
        </p:spPr>
        <p:txBody>
          <a:bodyPr wrap="square" lIns="0" tIns="0" rIns="0" bIns="0" rtlCol="0" anchor="ctr"/>
          <a:lstStyle/>
          <a:p>
            <a:pPr marL="0" indent="0" algn="ctr">
              <a:buNone/>
            </a:pPr>
            <a:r>
              <a:rPr lang="en-US" sz="3400" dirty="0">
                <a:solidFill>
                  <a:srgbClr val="000000"/>
                </a:solidFill>
                <a:latin typeface="Calibri" pitchFamily="34" charset="0"/>
                <a:ea typeface="Calibri" pitchFamily="34" charset="-122"/>
                <a:cs typeface="Calibri" pitchFamily="34" charset="-120"/>
              </a:rPr>
              <a:t>10.  AI Declaration</a:t>
            </a:r>
            <a:endParaRPr lang="en-US" sz="3400" dirty="0"/>
          </a:p>
        </p:txBody>
      </p:sp>
      <p:sp>
        <p:nvSpPr>
          <p:cNvPr id="3" name="Shape 1"/>
          <p:cNvSpPr/>
          <p:nvPr/>
        </p:nvSpPr>
        <p:spPr>
          <a:xfrm>
            <a:off x="2258568" y="3502152"/>
            <a:ext cx="7680960" cy="32004"/>
          </a:xfrm>
          <a:prstGeom prst="rect">
            <a:avLst/>
          </a:prstGeom>
          <a:solidFill>
            <a:srgbClr val="CC0000"/>
          </a:solidFill>
          <a:ln w="12700">
            <a:solidFill>
              <a:srgbClr val="CC0000"/>
            </a:solidFill>
            <a:prstDash val="solid"/>
          </a:ln>
        </p:spPr>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1045159"/>
          </a:xfrm>
          <a:prstGeom prst="rect">
            <a:avLst/>
          </a:prstGeom>
          <a:solidFill>
            <a:srgbClr val="9A003B"/>
          </a:solidFill>
          <a:ln w="12700">
            <a:solidFill>
              <a:srgbClr val="9A003B"/>
            </a:solidFill>
            <a:prstDash val="solid"/>
          </a:ln>
        </p:spPr>
      </p:sp>
      <p:sp>
        <p:nvSpPr>
          <p:cNvPr id="3" name="Text 1"/>
          <p:cNvSpPr txBox="1"/>
          <p:nvPr/>
        </p:nvSpPr>
        <p:spPr>
          <a:xfrm>
            <a:off x="228600" y="109728"/>
            <a:ext cx="11704320" cy="825703"/>
          </a:xfrm>
          <a:prstGeom prst="rect">
            <a:avLst/>
          </a:prstGeom>
          <a:noFill/>
          <a:ln/>
        </p:spPr>
        <p:txBody>
          <a:bodyPr wrap="square" lIns="0" tIns="0" rIns="0" bIns="0" rtlCol="0" anchor="ctr"/>
          <a:lstStyle/>
          <a:p>
            <a:pPr marL="0" indent="0">
              <a:lnSpc>
                <a:spcPct val="95000"/>
              </a:lnSpc>
              <a:buNone/>
            </a:pPr>
            <a:r>
              <a:rPr lang="en-US" sz="2500" dirty="0">
                <a:solidFill>
                  <a:srgbClr val="FFFFFF"/>
                </a:solidFill>
                <a:latin typeface="Calibri" pitchFamily="34" charset="0"/>
                <a:ea typeface="Calibri" pitchFamily="34" charset="-122"/>
                <a:cs typeface="Calibri" pitchFamily="34" charset="-120"/>
              </a:rPr>
              <a:t>AI Use Transparency Statement (AITS 2 Alignment) I</a:t>
            </a:r>
            <a:endParaRPr lang="en-US" sz="2500" dirty="0"/>
          </a:p>
        </p:txBody>
      </p:sp>
      <p:sp>
        <p:nvSpPr>
          <p:cNvPr id="4" name="Text 2"/>
          <p:cNvSpPr txBox="1"/>
          <p:nvPr/>
        </p:nvSpPr>
        <p:spPr>
          <a:xfrm>
            <a:off x="10515600" y="5806440"/>
            <a:ext cx="1463040" cy="749808"/>
          </a:xfrm>
          <a:prstGeom prst="rect">
            <a:avLst/>
          </a:prstGeom>
          <a:noFill/>
          <a:ln/>
        </p:spPr>
        <p:txBody>
          <a:bodyPr wrap="square" lIns="0" tIns="0" rIns="0" bIns="0" rtlCol="0" anchor="b"/>
          <a:lstStyle/>
          <a:p>
            <a:pPr marL="0" indent="0" algn="r">
              <a:lnSpc>
                <a:spcPct val="85000"/>
              </a:lnSpc>
              <a:buNone/>
            </a:pPr>
            <a:r>
              <a:rPr lang="en-US" sz="1150" b="1" dirty="0">
                <a:solidFill>
                  <a:srgbClr val="9A003B"/>
                </a:solidFill>
                <a:latin typeface="Calibri" pitchFamily="34" charset="0"/>
                <a:ea typeface="Calibri" pitchFamily="34" charset="-122"/>
                <a:cs typeface="Calibri" pitchFamily="34" charset="-120"/>
              </a:rPr>
              <a:t>Sheffield</a:t>
            </a:r>
            <a:endParaRPr lang="en-US" sz="1150" dirty="0"/>
          </a:p>
          <a:p>
            <a:pPr marL="0" indent="0" algn="r">
              <a:lnSpc>
                <a:spcPct val="85000"/>
              </a:lnSpc>
              <a:buNone/>
            </a:pPr>
            <a:r>
              <a:rPr lang="en-US" sz="1150" b="1" dirty="0">
                <a:solidFill>
                  <a:srgbClr val="9A003B"/>
                </a:solidFill>
                <a:latin typeface="Calibri" pitchFamily="34" charset="0"/>
                <a:ea typeface="Calibri" pitchFamily="34" charset="-122"/>
                <a:cs typeface="Calibri" pitchFamily="34" charset="-120"/>
              </a:rPr>
              <a:t>Hallam</a:t>
            </a:r>
            <a:endParaRPr lang="en-US" sz="1150" dirty="0"/>
          </a:p>
          <a:p>
            <a:pPr marL="0" indent="0" algn="r">
              <a:lnSpc>
                <a:spcPct val="85000"/>
              </a:lnSpc>
              <a:buNone/>
            </a:pPr>
            <a:r>
              <a:rPr lang="en-US" sz="1150" b="1" dirty="0">
                <a:solidFill>
                  <a:srgbClr val="9A003B"/>
                </a:solidFill>
                <a:latin typeface="Calibri" pitchFamily="34" charset="0"/>
                <a:ea typeface="Calibri" pitchFamily="34" charset="-122"/>
                <a:cs typeface="Calibri" pitchFamily="34" charset="-120"/>
              </a:rPr>
              <a:t>University</a:t>
            </a:r>
            <a:endParaRPr lang="en-US" sz="1150" dirty="0"/>
          </a:p>
        </p:txBody>
      </p:sp>
      <p:sp>
        <p:nvSpPr>
          <p:cNvPr id="5" name="Shape 3"/>
          <p:cNvSpPr/>
          <p:nvPr/>
        </p:nvSpPr>
        <p:spPr>
          <a:xfrm>
            <a:off x="0" y="6624828"/>
            <a:ext cx="4063898" cy="233172"/>
          </a:xfrm>
          <a:prstGeom prst="rect">
            <a:avLst/>
          </a:prstGeom>
          <a:solidFill>
            <a:srgbClr val="4D001E"/>
          </a:solidFill>
          <a:ln w="12700">
            <a:solidFill>
              <a:srgbClr val="4D001E"/>
            </a:solidFill>
            <a:prstDash val="solid"/>
          </a:ln>
        </p:spPr>
      </p:sp>
      <p:sp>
        <p:nvSpPr>
          <p:cNvPr id="6" name="Shape 4"/>
          <p:cNvSpPr/>
          <p:nvPr/>
        </p:nvSpPr>
        <p:spPr>
          <a:xfrm>
            <a:off x="4063898" y="6624828"/>
            <a:ext cx="4063898" cy="233172"/>
          </a:xfrm>
          <a:prstGeom prst="rect">
            <a:avLst/>
          </a:prstGeom>
          <a:solidFill>
            <a:srgbClr val="74002C"/>
          </a:solidFill>
          <a:ln w="12700">
            <a:solidFill>
              <a:srgbClr val="74002C"/>
            </a:solidFill>
            <a:prstDash val="solid"/>
          </a:ln>
        </p:spPr>
      </p:sp>
      <p:sp>
        <p:nvSpPr>
          <p:cNvPr id="7" name="Shape 5"/>
          <p:cNvSpPr/>
          <p:nvPr/>
        </p:nvSpPr>
        <p:spPr>
          <a:xfrm>
            <a:off x="8127797" y="6624828"/>
            <a:ext cx="4063898" cy="233172"/>
          </a:xfrm>
          <a:prstGeom prst="rect">
            <a:avLst/>
          </a:prstGeom>
          <a:solidFill>
            <a:srgbClr val="9A003B"/>
          </a:solidFill>
          <a:ln w="12700">
            <a:solidFill>
              <a:srgbClr val="9A003B"/>
            </a:solidFill>
            <a:prstDash val="solid"/>
          </a:ln>
        </p:spPr>
      </p:sp>
      <p:sp>
        <p:nvSpPr>
          <p:cNvPr id="8" name="Text 6"/>
          <p:cNvSpPr txBox="1"/>
          <p:nvPr/>
        </p:nvSpPr>
        <p:spPr>
          <a:xfrm>
            <a:off x="1143000" y="6624828"/>
            <a:ext cx="2743200" cy="233172"/>
          </a:xfrm>
          <a:prstGeom prst="rect">
            <a:avLst/>
          </a:prstGeom>
          <a:noFill/>
          <a:ln/>
        </p:spPr>
        <p:txBody>
          <a:bodyPr wrap="square" lIns="0" tIns="0" rIns="0" bIns="0" rtlCol="0" anchor="ctr"/>
          <a:lstStyle/>
          <a:p>
            <a:pPr marL="0" indent="0">
              <a:buNone/>
            </a:pPr>
            <a:r>
              <a:rPr lang="en-US" sz="900" dirty="0">
                <a:solidFill>
                  <a:srgbClr val="FFFFFF"/>
                </a:solidFill>
                <a:latin typeface="Calibri" pitchFamily="34" charset="0"/>
                <a:ea typeface="Calibri" pitchFamily="34" charset="-122"/>
                <a:cs typeface="Calibri" pitchFamily="34" charset="-120"/>
              </a:rPr>
              <a:t>[Student Initials]  (SHU)</a:t>
            </a:r>
            <a:endParaRPr lang="en-US" sz="900" dirty="0"/>
          </a:p>
        </p:txBody>
      </p:sp>
      <p:sp>
        <p:nvSpPr>
          <p:cNvPr id="9" name="Text 7"/>
          <p:cNvSpPr txBox="1"/>
          <p:nvPr/>
        </p:nvSpPr>
        <p:spPr>
          <a:xfrm>
            <a:off x="5276088" y="6624828"/>
            <a:ext cx="2743200" cy="233172"/>
          </a:xfrm>
          <a:prstGeom prst="rect">
            <a:avLst/>
          </a:prstGeom>
          <a:noFill/>
          <a:ln/>
        </p:spPr>
        <p:txBody>
          <a:bodyPr wrap="square" lIns="0" tIns="0" rIns="0" bIns="0" rtlCol="0" anchor="ctr"/>
          <a:lstStyle/>
          <a:p>
            <a:pPr marL="0" indent="0">
              <a:buNone/>
            </a:pPr>
            <a:r>
              <a:rPr lang="en-US" sz="900" dirty="0">
                <a:solidFill>
                  <a:srgbClr val="FFFFFF"/>
                </a:solidFill>
                <a:latin typeface="Calibri" pitchFamily="34" charset="0"/>
                <a:ea typeface="Calibri" pitchFamily="34" charset="-122"/>
                <a:cs typeface="Calibri" pitchFamily="34" charset="-120"/>
              </a:rPr>
              <a:t>Does the Emoji Matter?</a:t>
            </a:r>
            <a:endParaRPr lang="en-US" sz="900" dirty="0"/>
          </a:p>
        </p:txBody>
      </p:sp>
      <p:sp>
        <p:nvSpPr>
          <p:cNvPr id="10" name="Text 8"/>
          <p:cNvSpPr txBox="1"/>
          <p:nvPr/>
        </p:nvSpPr>
        <p:spPr>
          <a:xfrm>
            <a:off x="9235440" y="6624828"/>
            <a:ext cx="1645920" cy="233172"/>
          </a:xfrm>
          <a:prstGeom prst="rect">
            <a:avLst/>
          </a:prstGeom>
          <a:noFill/>
          <a:ln/>
        </p:spPr>
        <p:txBody>
          <a:bodyPr wrap="square" lIns="0" tIns="0" rIns="0" bIns="0" rtlCol="0" anchor="ctr"/>
          <a:lstStyle/>
          <a:p>
            <a:pPr marL="0" indent="0">
              <a:buNone/>
            </a:pPr>
            <a:r>
              <a:rPr lang="en-US" sz="900" dirty="0">
                <a:solidFill>
                  <a:srgbClr val="FFFFFF"/>
                </a:solidFill>
                <a:latin typeface="Calibri" pitchFamily="34" charset="0"/>
                <a:ea typeface="Calibri" pitchFamily="34" charset="-122"/>
                <a:cs typeface="Calibri" pitchFamily="34" charset="-120"/>
              </a:rPr>
              <a:t>September 2026</a:t>
            </a:r>
            <a:endParaRPr lang="en-US" sz="900" dirty="0"/>
          </a:p>
        </p:txBody>
      </p:sp>
      <p:sp>
        <p:nvSpPr>
          <p:cNvPr id="11" name="Text 9"/>
          <p:cNvSpPr txBox="1"/>
          <p:nvPr/>
        </p:nvSpPr>
        <p:spPr>
          <a:xfrm>
            <a:off x="10881360" y="6624828"/>
            <a:ext cx="1161288" cy="233172"/>
          </a:xfrm>
          <a:prstGeom prst="rect">
            <a:avLst/>
          </a:prstGeom>
          <a:noFill/>
          <a:ln/>
        </p:spPr>
        <p:txBody>
          <a:bodyPr wrap="square" lIns="0" tIns="0" rIns="0" bIns="0" rtlCol="0" anchor="ctr"/>
          <a:lstStyle/>
          <a:p>
            <a:pPr marL="0" indent="0" algn="r">
              <a:buNone/>
            </a:pPr>
            <a:r>
              <a:rPr lang="en-US" sz="900" dirty="0">
                <a:solidFill>
                  <a:srgbClr val="FFFFFF"/>
                </a:solidFill>
                <a:latin typeface="Calibri" pitchFamily="34" charset="0"/>
                <a:ea typeface="Calibri" pitchFamily="34" charset="-122"/>
                <a:cs typeface="Calibri" pitchFamily="34" charset="-120"/>
              </a:rPr>
              <a:t>42 / 43</a:t>
            </a:r>
            <a:endParaRPr lang="en-US" sz="900" dirty="0"/>
          </a:p>
        </p:txBody>
      </p:sp>
      <p:sp>
        <p:nvSpPr>
          <p:cNvPr id="12" name="Shape 10"/>
          <p:cNvSpPr/>
          <p:nvPr/>
        </p:nvSpPr>
        <p:spPr>
          <a:xfrm>
            <a:off x="566928" y="1298448"/>
            <a:ext cx="11055096" cy="384048"/>
          </a:xfrm>
          <a:prstGeom prst="rect">
            <a:avLst/>
          </a:prstGeom>
          <a:solidFill>
            <a:srgbClr val="2764B4"/>
          </a:solidFill>
          <a:ln w="12700">
            <a:solidFill>
              <a:srgbClr val="2764B4"/>
            </a:solidFill>
            <a:prstDash val="solid"/>
          </a:ln>
        </p:spPr>
      </p:sp>
      <p:sp>
        <p:nvSpPr>
          <p:cNvPr id="13" name="Text 11"/>
          <p:cNvSpPr txBox="1"/>
          <p:nvPr/>
        </p:nvSpPr>
        <p:spPr>
          <a:xfrm>
            <a:off x="694944" y="1298448"/>
            <a:ext cx="10799064" cy="384048"/>
          </a:xfrm>
          <a:prstGeom prst="rect">
            <a:avLst/>
          </a:prstGeom>
          <a:noFill/>
          <a:ln/>
        </p:spPr>
        <p:txBody>
          <a:bodyPr wrap="square" lIns="0" tIns="0" rIns="0" bIns="0" rtlCol="0" anchor="ctr"/>
          <a:lstStyle/>
          <a:p>
            <a:pPr marL="0" indent="0">
              <a:buNone/>
            </a:pPr>
            <a:r>
              <a:rPr lang="en-US" sz="1500" b="1" dirty="0">
                <a:solidFill>
                  <a:srgbClr val="FFFFFF"/>
                </a:solidFill>
                <a:latin typeface="Calibri" pitchFamily="34" charset="0"/>
                <a:ea typeface="Calibri" pitchFamily="34" charset="-122"/>
                <a:cs typeface="Calibri" pitchFamily="34" charset="-120"/>
              </a:rPr>
              <a:t>AI Transparency Scale (AITS) Declaration</a:t>
            </a:r>
            <a:endParaRPr lang="en-US" sz="1500" dirty="0"/>
          </a:p>
        </p:txBody>
      </p:sp>
      <p:sp>
        <p:nvSpPr>
          <p:cNvPr id="14" name="Shape 12"/>
          <p:cNvSpPr/>
          <p:nvPr/>
        </p:nvSpPr>
        <p:spPr>
          <a:xfrm>
            <a:off x="566928" y="1682496"/>
            <a:ext cx="11055096" cy="576072"/>
          </a:xfrm>
          <a:prstGeom prst="rect">
            <a:avLst/>
          </a:prstGeom>
          <a:solidFill>
            <a:srgbClr val="F4DDE6"/>
          </a:solidFill>
          <a:ln/>
        </p:spPr>
      </p:sp>
      <p:sp>
        <p:nvSpPr>
          <p:cNvPr id="15" name="Text 13"/>
          <p:cNvSpPr txBox="1"/>
          <p:nvPr/>
        </p:nvSpPr>
        <p:spPr>
          <a:xfrm>
            <a:off x="768096" y="1773936"/>
            <a:ext cx="10652760" cy="457200"/>
          </a:xfrm>
          <a:prstGeom prst="rect">
            <a:avLst/>
          </a:prstGeom>
          <a:noFill/>
          <a:ln/>
        </p:spPr>
        <p:txBody>
          <a:bodyPr wrap="square" lIns="0" tIns="0" rIns="0" bIns="0" rtlCol="0" anchor="t"/>
          <a:lstStyle/>
          <a:p>
            <a:pPr marL="0" indent="0">
              <a:lnSpc>
                <a:spcPct val="106000"/>
              </a:lnSpc>
              <a:buNone/>
            </a:pPr>
            <a:r>
              <a:rPr lang="en-US" sz="1350" dirty="0">
                <a:solidFill>
                  <a:srgbClr val="000000"/>
                </a:solidFill>
                <a:latin typeface="Calibri" pitchFamily="34" charset="0"/>
                <a:ea typeface="Calibri" pitchFamily="34" charset="-122"/>
                <a:cs typeface="Calibri" pitchFamily="34" charset="-120"/>
              </a:rPr>
              <a:t>This assessment aligns with AITS Level 2 (AI for Shaping) configurations permitted under university academic conduct policies.</a:t>
            </a:r>
            <a:endParaRPr lang="en-US" sz="1350" dirty="0"/>
          </a:p>
        </p:txBody>
      </p:sp>
      <p:sp>
        <p:nvSpPr>
          <p:cNvPr id="16" name="Text 14"/>
          <p:cNvSpPr txBox="1"/>
          <p:nvPr/>
        </p:nvSpPr>
        <p:spPr>
          <a:xfrm>
            <a:off x="749808" y="2441448"/>
            <a:ext cx="10872216" cy="1600200"/>
          </a:xfrm>
          <a:prstGeom prst="rect">
            <a:avLst/>
          </a:prstGeom>
          <a:noFill/>
          <a:ln/>
        </p:spPr>
        <p:txBody>
          <a:bodyPr wrap="square" lIns="0" tIns="0" rIns="0" bIns="0" rtlCol="0" anchor="t"/>
          <a:lstStyle/>
          <a:p>
            <a:pPr marL="177800" indent="-177800">
              <a:lnSpc>
                <a:spcPct val="106000"/>
              </a:lnSpc>
              <a:spcAft>
                <a:spcPts val="800"/>
              </a:spcAft>
              <a:buSzPct val="100000"/>
              <a:buChar char="•"/>
            </a:pPr>
            <a:r>
              <a:rPr lang="en-US" sz="1300" b="1" dirty="0">
                <a:solidFill>
                  <a:srgbClr val="000000"/>
                </a:solidFill>
                <a:latin typeface="Calibri" pitchFamily="34" charset="0"/>
                <a:ea typeface="Calibri" pitchFamily="34" charset="-122"/>
                <a:cs typeface="Calibri" pitchFamily="34" charset="-120"/>
              </a:rPr>
              <a:t>AI Tools Utilized: </a:t>
            </a:r>
            <a:r>
              <a:rPr lang="en-US" sz="1300" dirty="0">
                <a:solidFill>
                  <a:srgbClr val="000000"/>
                </a:solidFill>
                <a:latin typeface="Calibri" pitchFamily="34" charset="0"/>
                <a:ea typeface="Calibri" pitchFamily="34" charset="-122"/>
                <a:cs typeface="Calibri" pitchFamily="34" charset="-120"/>
              </a:rPr>
              <a:t>a general-purpose AI writing and coding assistant, used strictly for outline structure, clarity of drafted prose, reference-format checking, literature suggestions that were then verified independently, and code review. No AI tool generated results, and no AI output is presented as an experimental finding.</a:t>
            </a:r>
            <a:endParaRPr lang="en-US" sz="1300" dirty="0"/>
          </a:p>
          <a:p>
            <a:pPr marL="177800" indent="-177800">
              <a:lnSpc>
                <a:spcPct val="106000"/>
              </a:lnSpc>
              <a:spcAft>
                <a:spcPts val="800"/>
              </a:spcAft>
              <a:buSzPct val="100000"/>
              <a:buChar char="•"/>
            </a:pPr>
            <a:r>
              <a:rPr lang="en-US" sz="1300" b="1" dirty="0">
                <a:solidFill>
                  <a:srgbClr val="000000"/>
                </a:solidFill>
                <a:latin typeface="Calibri" pitchFamily="34" charset="0"/>
                <a:ea typeface="Calibri" pitchFamily="34" charset="-122"/>
                <a:cs typeface="Calibri" pitchFamily="34" charset="-120"/>
              </a:rPr>
              <a:t>Human Critical Contribution: </a:t>
            </a:r>
            <a:r>
              <a:rPr lang="en-US" sz="1300" dirty="0">
                <a:solidFill>
                  <a:srgbClr val="000000"/>
                </a:solidFill>
                <a:latin typeface="Calibri" pitchFamily="34" charset="0"/>
                <a:ea typeface="Calibri" pitchFamily="34" charset="-122"/>
                <a:cs typeface="Calibri" pitchFamily="34" charset="-120"/>
              </a:rPr>
              <a:t>the research question, experimental design, preprocessing pipeline, model implementations, tuning grids, evaluation protocol and all interpretation are the author's own work. Every number in this presentation was produced by executing the author's own code.</a:t>
            </a:r>
            <a:endParaRPr lang="en-US" sz="1300" dirty="0"/>
          </a:p>
        </p:txBody>
      </p:sp>
      <p:graphicFrame>
        <p:nvGraphicFramePr>
          <p:cNvPr id="43" name="Table 0"/>
          <p:cNvGraphicFramePr>
            <a:graphicFrameLocks noGrp="1"/>
          </p:cNvGraphicFramePr>
          <p:nvPr>
            <p:extLst>
              <p:ext uri="{D42A27DB-BD31-4B8C-83A1-F6EECF244321}">
                <p14:modId xmlns:p14="http://schemas.microsoft.com/office/powerpoint/2010/main" val="1579011935"/>
              </p:ext>
            </p:extLst>
          </p:nvPr>
        </p:nvGraphicFramePr>
        <p:xfrm>
          <a:off x="566928" y="3995928"/>
          <a:ext cx="9829800" cy="1975104"/>
        </p:xfrm>
        <a:graphic>
          <a:graphicData uri="http://schemas.openxmlformats.org/drawingml/2006/table">
            <a:tbl>
              <a:tblPr/>
              <a:tblGrid>
                <a:gridCol w="4526280">
                  <a:extLst>
                    <a:ext uri="{9D8B030D-6E8A-4147-A177-3AD203B41FA5}">
                      <a16:colId xmlns:a16="http://schemas.microsoft.com/office/drawing/2014/main" val="20000"/>
                    </a:ext>
                  </a:extLst>
                </a:gridCol>
                <a:gridCol w="5303520">
                  <a:extLst>
                    <a:ext uri="{9D8B030D-6E8A-4147-A177-3AD203B41FA5}">
                      <a16:colId xmlns:a16="http://schemas.microsoft.com/office/drawing/2014/main" val="20001"/>
                    </a:ext>
                  </a:extLst>
                </a:gridCol>
              </a:tblGrid>
              <a:tr h="329184">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Purpose of AI use</a:t>
                      </a:r>
                      <a:endParaRPr lang="en-US" sz="1200" dirty="0">
                        <a:latin typeface="Calibri" charset="0"/>
                        <a:ea typeface="Calibri" charset="0"/>
                        <a:cs typeface="Calibri" charset="0"/>
                      </a:endParaRPr>
                    </a:p>
                  </a:txBody>
                  <a:tcPr anchor="ctr">
                    <a:lnL w="9525" cap="flat" cmpd="sng" algn="ctr">
                      <a:solidFill>
                        <a:srgbClr val="C9CDD4"/>
                      </a:solidFill>
                      <a:prstDash val="solid"/>
                      <a:round/>
                      <a:headEnd type="none" w="med" len="med"/>
                      <a:tailEnd type="none" w="med" len="med"/>
                    </a:lnL>
                    <a:lnR w="9525" cap="flat" cmpd="sng" algn="ctr">
                      <a:solidFill>
                        <a:srgbClr val="C9CDD4"/>
                      </a:solidFill>
                      <a:prstDash val="solid"/>
                      <a:round/>
                      <a:headEnd type="none" w="med" len="med"/>
                      <a:tailEnd type="none" w="med" len="med"/>
                    </a:lnR>
                    <a:lnT w="9525" cap="flat" cmpd="sng" algn="ctr">
                      <a:solidFill>
                        <a:srgbClr val="C9CDD4"/>
                      </a:solidFill>
                      <a:prstDash val="solid"/>
                      <a:round/>
                      <a:headEnd type="none" w="med" len="med"/>
                      <a:tailEnd type="none" w="med" len="med"/>
                    </a:lnT>
                    <a:lnB w="9525" cap="flat" cmpd="sng" algn="ctr">
                      <a:solidFill>
                        <a:srgbClr val="C9CDD4"/>
                      </a:solidFill>
                      <a:prstDash val="solid"/>
                      <a:round/>
                      <a:headEnd type="none" w="med" len="med"/>
                      <a:tailEnd type="none" w="med" len="med"/>
                    </a:lnB>
                    <a:solidFill>
                      <a:srgbClr val="9A003B"/>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Human oversight applied</a:t>
                      </a:r>
                      <a:endParaRPr lang="en-US" sz="1200" dirty="0">
                        <a:latin typeface="Calibri" charset="0"/>
                        <a:ea typeface="Calibri" charset="0"/>
                        <a:cs typeface="Calibri" charset="0"/>
                      </a:endParaRPr>
                    </a:p>
                  </a:txBody>
                  <a:tcPr anchor="ctr">
                    <a:lnL w="9525" cap="flat" cmpd="sng" algn="ctr">
                      <a:solidFill>
                        <a:srgbClr val="C9CDD4"/>
                      </a:solidFill>
                      <a:prstDash val="solid"/>
                      <a:round/>
                      <a:headEnd type="none" w="med" len="med"/>
                      <a:tailEnd type="none" w="med" len="med"/>
                    </a:lnL>
                    <a:lnR w="9525" cap="flat" cmpd="sng" algn="ctr">
                      <a:solidFill>
                        <a:srgbClr val="C9CDD4"/>
                      </a:solidFill>
                      <a:prstDash val="solid"/>
                      <a:round/>
                      <a:headEnd type="none" w="med" len="med"/>
                      <a:tailEnd type="none" w="med" len="med"/>
                    </a:lnR>
                    <a:lnT w="9525" cap="flat" cmpd="sng" algn="ctr">
                      <a:solidFill>
                        <a:srgbClr val="C9CDD4"/>
                      </a:solidFill>
                      <a:prstDash val="solid"/>
                      <a:round/>
                      <a:headEnd type="none" w="med" len="med"/>
                      <a:tailEnd type="none" w="med" len="med"/>
                    </a:lnT>
                    <a:lnB w="9525" cap="flat" cmpd="sng" algn="ctr">
                      <a:solidFill>
                        <a:srgbClr val="C9CDD4"/>
                      </a:solidFill>
                      <a:prstDash val="solid"/>
                      <a:round/>
                      <a:headEnd type="none" w="med" len="med"/>
                      <a:tailEnd type="none" w="med" len="med"/>
                    </a:lnB>
                    <a:solidFill>
                      <a:srgbClr val="9A003B"/>
                    </a:solidFill>
                  </a:tcPr>
                </a:tc>
                <a:extLst>
                  <a:ext uri="{0D108BD9-81ED-4DB2-BD59-A6C34878D82A}">
                    <a16:rowId xmlns:a16="http://schemas.microsoft.com/office/drawing/2014/main" val="10000"/>
                  </a:ext>
                </a:extLst>
              </a:tr>
              <a:tr h="329184">
                <a:tc>
                  <a:txBody>
                    <a:bodyPr/>
                    <a:lstStyle/>
                    <a:p>
                      <a:pPr marL="0" indent="0">
                        <a:buNone/>
                      </a:pPr>
                      <a:r>
                        <a:rPr lang="en-US" sz="1150" dirty="0">
                          <a:solidFill>
                            <a:srgbClr val="000000"/>
                          </a:solidFill>
                          <a:latin typeface="Calibri" pitchFamily="34" charset="0"/>
                          <a:ea typeface="Calibri" pitchFamily="34" charset="-122"/>
                          <a:cs typeface="Calibri" pitchFamily="34" charset="-120"/>
                        </a:rPr>
                        <a:t>Organising the report against the required structure</a:t>
                      </a:r>
                      <a:endParaRPr lang="en-US" sz="1150" dirty="0">
                        <a:latin typeface="Calibri" charset="0"/>
                        <a:ea typeface="Calibri" charset="0"/>
                        <a:cs typeface="Calibri" charset="0"/>
                      </a:endParaRPr>
                    </a:p>
                  </a:txBody>
                  <a:tcPr anchor="ctr">
                    <a:lnL w="9525" cap="flat" cmpd="sng" algn="ctr">
                      <a:solidFill>
                        <a:srgbClr val="C9CDD4"/>
                      </a:solidFill>
                      <a:prstDash val="solid"/>
                      <a:round/>
                      <a:headEnd type="none" w="med" len="med"/>
                      <a:tailEnd type="none" w="med" len="med"/>
                    </a:lnL>
                    <a:lnR w="9525" cap="flat" cmpd="sng" algn="ctr">
                      <a:solidFill>
                        <a:srgbClr val="C9CDD4"/>
                      </a:solidFill>
                      <a:prstDash val="solid"/>
                      <a:round/>
                      <a:headEnd type="none" w="med" len="med"/>
                      <a:tailEnd type="none" w="med" len="med"/>
                    </a:lnR>
                    <a:lnT w="9525" cap="flat" cmpd="sng" algn="ctr">
                      <a:solidFill>
                        <a:srgbClr val="C9CDD4"/>
                      </a:solidFill>
                      <a:prstDash val="solid"/>
                      <a:round/>
                      <a:headEnd type="none" w="med" len="med"/>
                      <a:tailEnd type="none" w="med" len="med"/>
                    </a:lnT>
                    <a:lnB w="9525" cap="flat" cmpd="sng" algn="ctr">
                      <a:solidFill>
                        <a:srgbClr val="C9CDD4"/>
                      </a:solidFill>
                      <a:prstDash val="solid"/>
                      <a:round/>
                      <a:headEnd type="none" w="med" len="med"/>
                      <a:tailEnd type="none" w="med" len="med"/>
                    </a:lnB>
                  </a:tcPr>
                </a:tc>
                <a:tc>
                  <a:txBody>
                    <a:bodyPr/>
                    <a:lstStyle/>
                    <a:p>
                      <a:pPr marL="0" indent="0">
                        <a:buNone/>
                      </a:pPr>
                      <a:r>
                        <a:rPr lang="en-US" sz="1150" dirty="0">
                          <a:solidFill>
                            <a:srgbClr val="000000"/>
                          </a:solidFill>
                          <a:latin typeface="Calibri" pitchFamily="34" charset="0"/>
                          <a:ea typeface="Calibri" pitchFamily="34" charset="-122"/>
                          <a:cs typeface="Calibri" pitchFamily="34" charset="-120"/>
                        </a:rPr>
                        <a:t>Author decided all content and ordering</a:t>
                      </a:r>
                      <a:endParaRPr lang="en-US" sz="1150" dirty="0">
                        <a:latin typeface="Calibri" charset="0"/>
                        <a:ea typeface="Calibri" charset="0"/>
                        <a:cs typeface="Calibri" charset="0"/>
                      </a:endParaRPr>
                    </a:p>
                  </a:txBody>
                  <a:tcPr anchor="ctr">
                    <a:lnL w="9525" cap="flat" cmpd="sng" algn="ctr">
                      <a:solidFill>
                        <a:srgbClr val="C9CDD4"/>
                      </a:solidFill>
                      <a:prstDash val="solid"/>
                      <a:round/>
                      <a:headEnd type="none" w="med" len="med"/>
                      <a:tailEnd type="none" w="med" len="med"/>
                    </a:lnL>
                    <a:lnR w="9525" cap="flat" cmpd="sng" algn="ctr">
                      <a:solidFill>
                        <a:srgbClr val="C9CDD4"/>
                      </a:solidFill>
                      <a:prstDash val="solid"/>
                      <a:round/>
                      <a:headEnd type="none" w="med" len="med"/>
                      <a:tailEnd type="none" w="med" len="med"/>
                    </a:lnR>
                    <a:lnT w="9525" cap="flat" cmpd="sng" algn="ctr">
                      <a:solidFill>
                        <a:srgbClr val="C9CDD4"/>
                      </a:solidFill>
                      <a:prstDash val="solid"/>
                      <a:round/>
                      <a:headEnd type="none" w="med" len="med"/>
                      <a:tailEnd type="none" w="med" len="med"/>
                    </a:lnT>
                    <a:lnB w="9525" cap="flat" cmpd="sng" algn="ctr">
                      <a:solidFill>
                        <a:srgbClr val="C9CDD4"/>
                      </a:solidFill>
                      <a:prstDash val="solid"/>
                      <a:round/>
                      <a:headEnd type="none" w="med" len="med"/>
                      <a:tailEnd type="none" w="med" len="med"/>
                    </a:lnB>
                  </a:tcPr>
                </a:tc>
                <a:extLst>
                  <a:ext uri="{0D108BD9-81ED-4DB2-BD59-A6C34878D82A}">
                    <a16:rowId xmlns:a16="http://schemas.microsoft.com/office/drawing/2014/main" val="10001"/>
                  </a:ext>
                </a:extLst>
              </a:tr>
              <a:tr h="329184">
                <a:tc>
                  <a:txBody>
                    <a:bodyPr/>
                    <a:lstStyle/>
                    <a:p>
                      <a:pPr marL="0" indent="0">
                        <a:buNone/>
                      </a:pPr>
                      <a:r>
                        <a:rPr lang="en-US" sz="1150" dirty="0">
                          <a:solidFill>
                            <a:srgbClr val="000000"/>
                          </a:solidFill>
                          <a:latin typeface="Calibri" pitchFamily="34" charset="0"/>
                          <a:ea typeface="Calibri" pitchFamily="34" charset="-122"/>
                          <a:cs typeface="Calibri" pitchFamily="34" charset="-120"/>
                        </a:rPr>
                        <a:t>Improving clarity of drafted prose</a:t>
                      </a:r>
                      <a:endParaRPr lang="en-US" sz="1150" dirty="0">
                        <a:latin typeface="Calibri" charset="0"/>
                        <a:ea typeface="Calibri" charset="0"/>
                        <a:cs typeface="Calibri" charset="0"/>
                      </a:endParaRPr>
                    </a:p>
                  </a:txBody>
                  <a:tcPr anchor="ctr">
                    <a:lnL w="9525" cap="flat" cmpd="sng" algn="ctr">
                      <a:solidFill>
                        <a:srgbClr val="C9CDD4"/>
                      </a:solidFill>
                      <a:prstDash val="solid"/>
                      <a:round/>
                      <a:headEnd type="none" w="med" len="med"/>
                      <a:tailEnd type="none" w="med" len="med"/>
                    </a:lnL>
                    <a:lnR w="9525" cap="flat" cmpd="sng" algn="ctr">
                      <a:solidFill>
                        <a:srgbClr val="C9CDD4"/>
                      </a:solidFill>
                      <a:prstDash val="solid"/>
                      <a:round/>
                      <a:headEnd type="none" w="med" len="med"/>
                      <a:tailEnd type="none" w="med" len="med"/>
                    </a:lnR>
                    <a:lnT w="9525" cap="flat" cmpd="sng" algn="ctr">
                      <a:solidFill>
                        <a:srgbClr val="C9CDD4"/>
                      </a:solidFill>
                      <a:prstDash val="solid"/>
                      <a:round/>
                      <a:headEnd type="none" w="med" len="med"/>
                      <a:tailEnd type="none" w="med" len="med"/>
                    </a:lnT>
                    <a:lnB w="9525" cap="flat" cmpd="sng" algn="ctr">
                      <a:solidFill>
                        <a:srgbClr val="C9CDD4"/>
                      </a:solidFill>
                      <a:prstDash val="solid"/>
                      <a:round/>
                      <a:headEnd type="none" w="med" len="med"/>
                      <a:tailEnd type="none" w="med" len="med"/>
                    </a:lnB>
                  </a:tcPr>
                </a:tc>
                <a:tc>
                  <a:txBody>
                    <a:bodyPr/>
                    <a:lstStyle/>
                    <a:p>
                      <a:pPr marL="0" indent="0">
                        <a:buNone/>
                      </a:pPr>
                      <a:r>
                        <a:rPr lang="en-US" sz="1150" dirty="0">
                          <a:solidFill>
                            <a:srgbClr val="000000"/>
                          </a:solidFill>
                          <a:latin typeface="Calibri" pitchFamily="34" charset="0"/>
                          <a:ea typeface="Calibri" pitchFamily="34" charset="-122"/>
                          <a:cs typeface="Calibri" pitchFamily="34" charset="-120"/>
                        </a:rPr>
                        <a:t>Author wrote the substance and rejected overstated wording</a:t>
                      </a:r>
                      <a:endParaRPr lang="en-US" sz="1150" dirty="0">
                        <a:latin typeface="Calibri" charset="0"/>
                        <a:ea typeface="Calibri" charset="0"/>
                        <a:cs typeface="Calibri" charset="0"/>
                      </a:endParaRPr>
                    </a:p>
                  </a:txBody>
                  <a:tcPr anchor="ctr">
                    <a:lnL w="9525" cap="flat" cmpd="sng" algn="ctr">
                      <a:solidFill>
                        <a:srgbClr val="C9CDD4"/>
                      </a:solidFill>
                      <a:prstDash val="solid"/>
                      <a:round/>
                      <a:headEnd type="none" w="med" len="med"/>
                      <a:tailEnd type="none" w="med" len="med"/>
                    </a:lnL>
                    <a:lnR w="9525" cap="flat" cmpd="sng" algn="ctr">
                      <a:solidFill>
                        <a:srgbClr val="C9CDD4"/>
                      </a:solidFill>
                      <a:prstDash val="solid"/>
                      <a:round/>
                      <a:headEnd type="none" w="med" len="med"/>
                      <a:tailEnd type="none" w="med" len="med"/>
                    </a:lnR>
                    <a:lnT w="9525" cap="flat" cmpd="sng" algn="ctr">
                      <a:solidFill>
                        <a:srgbClr val="C9CDD4"/>
                      </a:solidFill>
                      <a:prstDash val="solid"/>
                      <a:round/>
                      <a:headEnd type="none" w="med" len="med"/>
                      <a:tailEnd type="none" w="med" len="med"/>
                    </a:lnT>
                    <a:lnB w="9525" cap="flat" cmpd="sng" algn="ctr">
                      <a:solidFill>
                        <a:srgbClr val="C9CDD4"/>
                      </a:solidFill>
                      <a:prstDash val="solid"/>
                      <a:round/>
                      <a:headEnd type="none" w="med" len="med"/>
                      <a:tailEnd type="none" w="med" len="med"/>
                    </a:lnB>
                  </a:tcPr>
                </a:tc>
                <a:extLst>
                  <a:ext uri="{0D108BD9-81ED-4DB2-BD59-A6C34878D82A}">
                    <a16:rowId xmlns:a16="http://schemas.microsoft.com/office/drawing/2014/main" val="10002"/>
                  </a:ext>
                </a:extLst>
              </a:tr>
              <a:tr h="329184">
                <a:tc>
                  <a:txBody>
                    <a:bodyPr/>
                    <a:lstStyle/>
                    <a:p>
                      <a:pPr marL="0" indent="0">
                        <a:buNone/>
                      </a:pPr>
                      <a:r>
                        <a:rPr lang="en-US" sz="1150" dirty="0">
                          <a:solidFill>
                            <a:srgbClr val="000000"/>
                          </a:solidFill>
                          <a:latin typeface="Calibri" pitchFamily="34" charset="0"/>
                          <a:ea typeface="Calibri" pitchFamily="34" charset="-122"/>
                          <a:cs typeface="Calibri" pitchFamily="34" charset="-120"/>
                        </a:rPr>
                        <a:t>Checking reference formatting</a:t>
                      </a:r>
                      <a:endParaRPr lang="en-US" sz="1150" dirty="0">
                        <a:latin typeface="Calibri" charset="0"/>
                        <a:ea typeface="Calibri" charset="0"/>
                        <a:cs typeface="Calibri" charset="0"/>
                      </a:endParaRPr>
                    </a:p>
                  </a:txBody>
                  <a:tcPr anchor="ctr">
                    <a:lnL w="9525" cap="flat" cmpd="sng" algn="ctr">
                      <a:solidFill>
                        <a:srgbClr val="C9CDD4"/>
                      </a:solidFill>
                      <a:prstDash val="solid"/>
                      <a:round/>
                      <a:headEnd type="none" w="med" len="med"/>
                      <a:tailEnd type="none" w="med" len="med"/>
                    </a:lnL>
                    <a:lnR w="9525" cap="flat" cmpd="sng" algn="ctr">
                      <a:solidFill>
                        <a:srgbClr val="C9CDD4"/>
                      </a:solidFill>
                      <a:prstDash val="solid"/>
                      <a:round/>
                      <a:headEnd type="none" w="med" len="med"/>
                      <a:tailEnd type="none" w="med" len="med"/>
                    </a:lnR>
                    <a:lnT w="9525" cap="flat" cmpd="sng" algn="ctr">
                      <a:solidFill>
                        <a:srgbClr val="C9CDD4"/>
                      </a:solidFill>
                      <a:prstDash val="solid"/>
                      <a:round/>
                      <a:headEnd type="none" w="med" len="med"/>
                      <a:tailEnd type="none" w="med" len="med"/>
                    </a:lnT>
                    <a:lnB w="9525" cap="flat" cmpd="sng" algn="ctr">
                      <a:solidFill>
                        <a:srgbClr val="C9CDD4"/>
                      </a:solidFill>
                      <a:prstDash val="solid"/>
                      <a:round/>
                      <a:headEnd type="none" w="med" len="med"/>
                      <a:tailEnd type="none" w="med" len="med"/>
                    </a:lnB>
                  </a:tcPr>
                </a:tc>
                <a:tc>
                  <a:txBody>
                    <a:bodyPr/>
                    <a:lstStyle/>
                    <a:p>
                      <a:pPr marL="0" indent="0">
                        <a:buNone/>
                      </a:pPr>
                      <a:r>
                        <a:rPr lang="en-US" sz="1150" dirty="0">
                          <a:solidFill>
                            <a:srgbClr val="000000"/>
                          </a:solidFill>
                          <a:latin typeface="Calibri" pitchFamily="34" charset="0"/>
                          <a:ea typeface="Calibri" pitchFamily="34" charset="-122"/>
                          <a:cs typeface="Calibri" pitchFamily="34" charset="-120"/>
                        </a:rPr>
                        <a:t>Author verified every entry against publisher records</a:t>
                      </a:r>
                      <a:endParaRPr lang="en-US" sz="1150" dirty="0">
                        <a:latin typeface="Calibri" charset="0"/>
                        <a:ea typeface="Calibri" charset="0"/>
                        <a:cs typeface="Calibri" charset="0"/>
                      </a:endParaRPr>
                    </a:p>
                  </a:txBody>
                  <a:tcPr anchor="ctr">
                    <a:lnL w="9525" cap="flat" cmpd="sng" algn="ctr">
                      <a:solidFill>
                        <a:srgbClr val="C9CDD4"/>
                      </a:solidFill>
                      <a:prstDash val="solid"/>
                      <a:round/>
                      <a:headEnd type="none" w="med" len="med"/>
                      <a:tailEnd type="none" w="med" len="med"/>
                    </a:lnL>
                    <a:lnR w="9525" cap="flat" cmpd="sng" algn="ctr">
                      <a:solidFill>
                        <a:srgbClr val="C9CDD4"/>
                      </a:solidFill>
                      <a:prstDash val="solid"/>
                      <a:round/>
                      <a:headEnd type="none" w="med" len="med"/>
                      <a:tailEnd type="none" w="med" len="med"/>
                    </a:lnR>
                    <a:lnT w="9525" cap="flat" cmpd="sng" algn="ctr">
                      <a:solidFill>
                        <a:srgbClr val="C9CDD4"/>
                      </a:solidFill>
                      <a:prstDash val="solid"/>
                      <a:round/>
                      <a:headEnd type="none" w="med" len="med"/>
                      <a:tailEnd type="none" w="med" len="med"/>
                    </a:lnT>
                    <a:lnB w="9525" cap="flat" cmpd="sng" algn="ctr">
                      <a:solidFill>
                        <a:srgbClr val="C9CDD4"/>
                      </a:solidFill>
                      <a:prstDash val="solid"/>
                      <a:round/>
                      <a:headEnd type="none" w="med" len="med"/>
                      <a:tailEnd type="none" w="med" len="med"/>
                    </a:lnB>
                  </a:tcPr>
                </a:tc>
                <a:extLst>
                  <a:ext uri="{0D108BD9-81ED-4DB2-BD59-A6C34878D82A}">
                    <a16:rowId xmlns:a16="http://schemas.microsoft.com/office/drawing/2014/main" val="10003"/>
                  </a:ext>
                </a:extLst>
              </a:tr>
              <a:tr h="329184">
                <a:tc>
                  <a:txBody>
                    <a:bodyPr/>
                    <a:lstStyle/>
                    <a:p>
                      <a:pPr marL="0" indent="0">
                        <a:buNone/>
                      </a:pPr>
                      <a:r>
                        <a:rPr lang="en-US" sz="1150" dirty="0">
                          <a:solidFill>
                            <a:srgbClr val="000000"/>
                          </a:solidFill>
                          <a:latin typeface="Calibri" pitchFamily="34" charset="0"/>
                          <a:ea typeface="Calibri" pitchFamily="34" charset="-122"/>
                          <a:cs typeface="Calibri" pitchFamily="34" charset="-120"/>
                        </a:rPr>
                        <a:t>Suggesting candidate literature</a:t>
                      </a:r>
                      <a:endParaRPr lang="en-US" sz="1150" dirty="0">
                        <a:latin typeface="Calibri" charset="0"/>
                        <a:ea typeface="Calibri" charset="0"/>
                        <a:cs typeface="Calibri" charset="0"/>
                      </a:endParaRPr>
                    </a:p>
                  </a:txBody>
                  <a:tcPr anchor="ctr">
                    <a:lnL w="9525" cap="flat" cmpd="sng" algn="ctr">
                      <a:solidFill>
                        <a:srgbClr val="C9CDD4"/>
                      </a:solidFill>
                      <a:prstDash val="solid"/>
                      <a:round/>
                      <a:headEnd type="none" w="med" len="med"/>
                      <a:tailEnd type="none" w="med" len="med"/>
                    </a:lnL>
                    <a:lnR w="9525" cap="flat" cmpd="sng" algn="ctr">
                      <a:solidFill>
                        <a:srgbClr val="C9CDD4"/>
                      </a:solidFill>
                      <a:prstDash val="solid"/>
                      <a:round/>
                      <a:headEnd type="none" w="med" len="med"/>
                      <a:tailEnd type="none" w="med" len="med"/>
                    </a:lnR>
                    <a:lnT w="9525" cap="flat" cmpd="sng" algn="ctr">
                      <a:solidFill>
                        <a:srgbClr val="C9CDD4"/>
                      </a:solidFill>
                      <a:prstDash val="solid"/>
                      <a:round/>
                      <a:headEnd type="none" w="med" len="med"/>
                      <a:tailEnd type="none" w="med" len="med"/>
                    </a:lnT>
                    <a:lnB w="9525" cap="flat" cmpd="sng" algn="ctr">
                      <a:solidFill>
                        <a:srgbClr val="C9CDD4"/>
                      </a:solidFill>
                      <a:prstDash val="solid"/>
                      <a:round/>
                      <a:headEnd type="none" w="med" len="med"/>
                      <a:tailEnd type="none" w="med" len="med"/>
                    </a:lnB>
                  </a:tcPr>
                </a:tc>
                <a:tc>
                  <a:txBody>
                    <a:bodyPr/>
                    <a:lstStyle/>
                    <a:p>
                      <a:pPr marL="0" indent="0">
                        <a:buNone/>
                      </a:pPr>
                      <a:r>
                        <a:rPr lang="en-US" sz="1150" dirty="0">
                          <a:solidFill>
                            <a:srgbClr val="000000"/>
                          </a:solidFill>
                          <a:latin typeface="Calibri" pitchFamily="34" charset="0"/>
                          <a:ea typeface="Calibri" pitchFamily="34" charset="-122"/>
                          <a:cs typeface="Calibri" pitchFamily="34" charset="-120"/>
                        </a:rPr>
                        <a:t>Author checked each suggestion; some rejected as irrelevant</a:t>
                      </a:r>
                      <a:endParaRPr lang="en-US" sz="1150" dirty="0">
                        <a:latin typeface="Calibri" charset="0"/>
                        <a:ea typeface="Calibri" charset="0"/>
                        <a:cs typeface="Calibri" charset="0"/>
                      </a:endParaRPr>
                    </a:p>
                  </a:txBody>
                  <a:tcPr anchor="ctr">
                    <a:lnL w="9525" cap="flat" cmpd="sng" algn="ctr">
                      <a:solidFill>
                        <a:srgbClr val="C9CDD4"/>
                      </a:solidFill>
                      <a:prstDash val="solid"/>
                      <a:round/>
                      <a:headEnd type="none" w="med" len="med"/>
                      <a:tailEnd type="none" w="med" len="med"/>
                    </a:lnL>
                    <a:lnR w="9525" cap="flat" cmpd="sng" algn="ctr">
                      <a:solidFill>
                        <a:srgbClr val="C9CDD4"/>
                      </a:solidFill>
                      <a:prstDash val="solid"/>
                      <a:round/>
                      <a:headEnd type="none" w="med" len="med"/>
                      <a:tailEnd type="none" w="med" len="med"/>
                    </a:lnR>
                    <a:lnT w="9525" cap="flat" cmpd="sng" algn="ctr">
                      <a:solidFill>
                        <a:srgbClr val="C9CDD4"/>
                      </a:solidFill>
                      <a:prstDash val="solid"/>
                      <a:round/>
                      <a:headEnd type="none" w="med" len="med"/>
                      <a:tailEnd type="none" w="med" len="med"/>
                    </a:lnT>
                    <a:lnB w="9525" cap="flat" cmpd="sng" algn="ctr">
                      <a:solidFill>
                        <a:srgbClr val="C9CDD4"/>
                      </a:solidFill>
                      <a:prstDash val="solid"/>
                      <a:round/>
                      <a:headEnd type="none" w="med" len="med"/>
                      <a:tailEnd type="none" w="med" len="med"/>
                    </a:lnB>
                  </a:tcPr>
                </a:tc>
                <a:extLst>
                  <a:ext uri="{0D108BD9-81ED-4DB2-BD59-A6C34878D82A}">
                    <a16:rowId xmlns:a16="http://schemas.microsoft.com/office/drawing/2014/main" val="10004"/>
                  </a:ext>
                </a:extLst>
              </a:tr>
              <a:tr h="329184">
                <a:tc>
                  <a:txBody>
                    <a:bodyPr/>
                    <a:lstStyle/>
                    <a:p>
                      <a:pPr marL="0" indent="0">
                        <a:buNone/>
                      </a:pPr>
                      <a:r>
                        <a:rPr lang="en-US" sz="1150" dirty="0">
                          <a:solidFill>
                            <a:srgbClr val="000000"/>
                          </a:solidFill>
                          <a:latin typeface="Calibri" pitchFamily="34" charset="0"/>
                          <a:ea typeface="Calibri" pitchFamily="34" charset="-122"/>
                          <a:cs typeface="Calibri" pitchFamily="34" charset="-120"/>
                        </a:rPr>
                        <a:t>Reviewing code for defects</a:t>
                      </a:r>
                      <a:endParaRPr lang="en-US" sz="1150" dirty="0">
                        <a:latin typeface="Calibri" charset="0"/>
                        <a:ea typeface="Calibri" charset="0"/>
                        <a:cs typeface="Calibri" charset="0"/>
                      </a:endParaRPr>
                    </a:p>
                  </a:txBody>
                  <a:tcPr anchor="ctr">
                    <a:lnL w="9525" cap="flat" cmpd="sng" algn="ctr">
                      <a:solidFill>
                        <a:srgbClr val="C9CDD4"/>
                      </a:solidFill>
                      <a:prstDash val="solid"/>
                      <a:round/>
                      <a:headEnd type="none" w="med" len="med"/>
                      <a:tailEnd type="none" w="med" len="med"/>
                    </a:lnL>
                    <a:lnR w="9525" cap="flat" cmpd="sng" algn="ctr">
                      <a:solidFill>
                        <a:srgbClr val="C9CDD4"/>
                      </a:solidFill>
                      <a:prstDash val="solid"/>
                      <a:round/>
                      <a:headEnd type="none" w="med" len="med"/>
                      <a:tailEnd type="none" w="med" len="med"/>
                    </a:lnR>
                    <a:lnT w="9525" cap="flat" cmpd="sng" algn="ctr">
                      <a:solidFill>
                        <a:srgbClr val="C9CDD4"/>
                      </a:solidFill>
                      <a:prstDash val="solid"/>
                      <a:round/>
                      <a:headEnd type="none" w="med" len="med"/>
                      <a:tailEnd type="none" w="med" len="med"/>
                    </a:lnT>
                    <a:lnB w="9525" cap="flat" cmpd="sng" algn="ctr">
                      <a:solidFill>
                        <a:srgbClr val="C9CDD4"/>
                      </a:solidFill>
                      <a:prstDash val="solid"/>
                      <a:round/>
                      <a:headEnd type="none" w="med" len="med"/>
                      <a:tailEnd type="none" w="med" len="med"/>
                    </a:lnB>
                  </a:tcPr>
                </a:tc>
                <a:tc>
                  <a:txBody>
                    <a:bodyPr/>
                    <a:lstStyle/>
                    <a:p>
                      <a:pPr marL="0" indent="0">
                        <a:buNone/>
                      </a:pPr>
                      <a:r>
                        <a:rPr lang="en-US" sz="1150" dirty="0">
                          <a:solidFill>
                            <a:srgbClr val="000000"/>
                          </a:solidFill>
                          <a:latin typeface="Calibri" pitchFamily="34" charset="0"/>
                          <a:ea typeface="Calibri" pitchFamily="34" charset="-122"/>
                          <a:cs typeface="Calibri" pitchFamily="34" charset="-120"/>
                        </a:rPr>
                        <a:t>Author diagnosed, fixed and re-tested every change</a:t>
                      </a:r>
                      <a:endParaRPr lang="en-US" sz="1150" dirty="0">
                        <a:latin typeface="Calibri" charset="0"/>
                        <a:ea typeface="Calibri" charset="0"/>
                        <a:cs typeface="Calibri" charset="0"/>
                      </a:endParaRPr>
                    </a:p>
                  </a:txBody>
                  <a:tcPr anchor="ctr">
                    <a:lnL w="9525" cap="flat" cmpd="sng" algn="ctr">
                      <a:solidFill>
                        <a:srgbClr val="C9CDD4"/>
                      </a:solidFill>
                      <a:prstDash val="solid"/>
                      <a:round/>
                      <a:headEnd type="none" w="med" len="med"/>
                      <a:tailEnd type="none" w="med" len="med"/>
                    </a:lnL>
                    <a:lnR w="9525" cap="flat" cmpd="sng" algn="ctr">
                      <a:solidFill>
                        <a:srgbClr val="C9CDD4"/>
                      </a:solidFill>
                      <a:prstDash val="solid"/>
                      <a:round/>
                      <a:headEnd type="none" w="med" len="med"/>
                      <a:tailEnd type="none" w="med" len="med"/>
                    </a:lnR>
                    <a:lnT w="9525" cap="flat" cmpd="sng" algn="ctr">
                      <a:solidFill>
                        <a:srgbClr val="C9CDD4"/>
                      </a:solidFill>
                      <a:prstDash val="solid"/>
                      <a:round/>
                      <a:headEnd type="none" w="med" len="med"/>
                      <a:tailEnd type="none" w="med" len="med"/>
                    </a:lnT>
                    <a:lnB w="9525" cap="flat" cmpd="sng" algn="ctr">
                      <a:solidFill>
                        <a:srgbClr val="C9CDD4"/>
                      </a:solidFill>
                      <a:prstDash val="solid"/>
                      <a:round/>
                      <a:headEnd type="none" w="med" len="med"/>
                      <a:tailEnd type="none" w="med" len="med"/>
                    </a:lnB>
                  </a:tcPr>
                </a:tc>
                <a:extLst>
                  <a:ext uri="{0D108BD9-81ED-4DB2-BD59-A6C34878D82A}">
                    <a16:rowId xmlns:a16="http://schemas.microsoft.com/office/drawing/2014/main" val="10005"/>
                  </a:ext>
                </a:extLst>
              </a:tr>
            </a:tbl>
          </a:graphicData>
        </a:graphic>
      </p:graphicFrame>
      <p:sp>
        <p:nvSpPr>
          <p:cNvPr id="18" name="Text 15"/>
          <p:cNvSpPr txBox="1"/>
          <p:nvPr/>
        </p:nvSpPr>
        <p:spPr>
          <a:xfrm>
            <a:off x="566928" y="5989320"/>
            <a:ext cx="9829800" cy="365760"/>
          </a:xfrm>
          <a:prstGeom prst="rect">
            <a:avLst/>
          </a:prstGeom>
          <a:noFill/>
          <a:ln/>
        </p:spPr>
        <p:txBody>
          <a:bodyPr wrap="square" lIns="0" tIns="0" rIns="0" bIns="0" rtlCol="0" anchor="t"/>
          <a:lstStyle/>
          <a:p>
            <a:pPr marL="0" indent="0" algn="ctr">
              <a:lnSpc>
                <a:spcPct val="100000"/>
              </a:lnSpc>
              <a:buNone/>
            </a:pPr>
            <a:r>
              <a:rPr lang="en-US" sz="1050" dirty="0">
                <a:solidFill>
                  <a:srgbClr val="5C5C5C"/>
                </a:solidFill>
                <a:latin typeface="Calibri" pitchFamily="34" charset="0"/>
                <a:ea typeface="Calibri" pitchFamily="34" charset="-122"/>
                <a:cs typeface="Calibri" pitchFamily="34" charset="-120"/>
              </a:rPr>
              <a:t>Reflection: assistance was most useful for structure and for catching defects early, and least useful for judgement. Keeping verification manual was essential to the integrity of the work.</a:t>
            </a:r>
            <a:endParaRPr lang="en-US" sz="105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1045159"/>
          </a:xfrm>
          <a:prstGeom prst="rect">
            <a:avLst/>
          </a:prstGeom>
          <a:solidFill>
            <a:srgbClr val="9A003B"/>
          </a:solidFill>
          <a:ln w="12700">
            <a:solidFill>
              <a:srgbClr val="9A003B"/>
            </a:solidFill>
            <a:prstDash val="solid"/>
          </a:ln>
        </p:spPr>
      </p:sp>
      <p:sp>
        <p:nvSpPr>
          <p:cNvPr id="3" name="Text 1"/>
          <p:cNvSpPr txBox="1"/>
          <p:nvPr/>
        </p:nvSpPr>
        <p:spPr>
          <a:xfrm>
            <a:off x="228600" y="109728"/>
            <a:ext cx="11704320" cy="825703"/>
          </a:xfrm>
          <a:prstGeom prst="rect">
            <a:avLst/>
          </a:prstGeom>
          <a:noFill/>
          <a:ln/>
        </p:spPr>
        <p:txBody>
          <a:bodyPr wrap="square" lIns="0" tIns="0" rIns="0" bIns="0" rtlCol="0" anchor="ctr"/>
          <a:lstStyle/>
          <a:p>
            <a:pPr marL="0" indent="0">
              <a:lnSpc>
                <a:spcPct val="95000"/>
              </a:lnSpc>
              <a:buNone/>
            </a:pPr>
            <a:r>
              <a:rPr lang="en-US" sz="2500" dirty="0">
                <a:solidFill>
                  <a:srgbClr val="FFFFFF"/>
                </a:solidFill>
                <a:latin typeface="Calibri" pitchFamily="34" charset="0"/>
                <a:ea typeface="Calibri" pitchFamily="34" charset="-122"/>
                <a:cs typeface="Calibri" pitchFamily="34" charset="-120"/>
              </a:rPr>
              <a:t>Academic Presentation: Q&amp;A</a:t>
            </a:r>
            <a:endParaRPr lang="en-US" sz="2500" dirty="0"/>
          </a:p>
        </p:txBody>
      </p:sp>
      <p:sp>
        <p:nvSpPr>
          <p:cNvPr id="4" name="Text 2"/>
          <p:cNvSpPr txBox="1"/>
          <p:nvPr/>
        </p:nvSpPr>
        <p:spPr>
          <a:xfrm>
            <a:off x="10515600" y="5806440"/>
            <a:ext cx="1463040" cy="749808"/>
          </a:xfrm>
          <a:prstGeom prst="rect">
            <a:avLst/>
          </a:prstGeom>
          <a:noFill/>
          <a:ln/>
        </p:spPr>
        <p:txBody>
          <a:bodyPr wrap="square" lIns="0" tIns="0" rIns="0" bIns="0" rtlCol="0" anchor="b"/>
          <a:lstStyle/>
          <a:p>
            <a:pPr marL="0" indent="0" algn="r">
              <a:lnSpc>
                <a:spcPct val="85000"/>
              </a:lnSpc>
              <a:buNone/>
            </a:pPr>
            <a:r>
              <a:rPr lang="en-US" sz="1150" b="1" dirty="0">
                <a:solidFill>
                  <a:srgbClr val="9A003B"/>
                </a:solidFill>
                <a:latin typeface="Calibri" pitchFamily="34" charset="0"/>
                <a:ea typeface="Calibri" pitchFamily="34" charset="-122"/>
                <a:cs typeface="Calibri" pitchFamily="34" charset="-120"/>
              </a:rPr>
              <a:t>Sheffield</a:t>
            </a:r>
            <a:endParaRPr lang="en-US" sz="1150" dirty="0"/>
          </a:p>
          <a:p>
            <a:pPr marL="0" indent="0" algn="r">
              <a:lnSpc>
                <a:spcPct val="85000"/>
              </a:lnSpc>
              <a:buNone/>
            </a:pPr>
            <a:r>
              <a:rPr lang="en-US" sz="1150" b="1" dirty="0">
                <a:solidFill>
                  <a:srgbClr val="9A003B"/>
                </a:solidFill>
                <a:latin typeface="Calibri" pitchFamily="34" charset="0"/>
                <a:ea typeface="Calibri" pitchFamily="34" charset="-122"/>
                <a:cs typeface="Calibri" pitchFamily="34" charset="-120"/>
              </a:rPr>
              <a:t>Hallam</a:t>
            </a:r>
            <a:endParaRPr lang="en-US" sz="1150" dirty="0"/>
          </a:p>
          <a:p>
            <a:pPr marL="0" indent="0" algn="r">
              <a:lnSpc>
                <a:spcPct val="85000"/>
              </a:lnSpc>
              <a:buNone/>
            </a:pPr>
            <a:r>
              <a:rPr lang="en-US" sz="1150" b="1" dirty="0">
                <a:solidFill>
                  <a:srgbClr val="9A003B"/>
                </a:solidFill>
                <a:latin typeface="Calibri" pitchFamily="34" charset="0"/>
                <a:ea typeface="Calibri" pitchFamily="34" charset="-122"/>
                <a:cs typeface="Calibri" pitchFamily="34" charset="-120"/>
              </a:rPr>
              <a:t>University</a:t>
            </a:r>
            <a:endParaRPr lang="en-US" sz="1150" dirty="0"/>
          </a:p>
        </p:txBody>
      </p:sp>
      <p:sp>
        <p:nvSpPr>
          <p:cNvPr id="5" name="Shape 3"/>
          <p:cNvSpPr/>
          <p:nvPr/>
        </p:nvSpPr>
        <p:spPr>
          <a:xfrm>
            <a:off x="0" y="6624828"/>
            <a:ext cx="4063898" cy="233172"/>
          </a:xfrm>
          <a:prstGeom prst="rect">
            <a:avLst/>
          </a:prstGeom>
          <a:solidFill>
            <a:srgbClr val="4D001E"/>
          </a:solidFill>
          <a:ln w="12700">
            <a:solidFill>
              <a:srgbClr val="4D001E"/>
            </a:solidFill>
            <a:prstDash val="solid"/>
          </a:ln>
        </p:spPr>
      </p:sp>
      <p:sp>
        <p:nvSpPr>
          <p:cNvPr id="6" name="Shape 4"/>
          <p:cNvSpPr/>
          <p:nvPr/>
        </p:nvSpPr>
        <p:spPr>
          <a:xfrm>
            <a:off x="4063898" y="6624828"/>
            <a:ext cx="4063898" cy="233172"/>
          </a:xfrm>
          <a:prstGeom prst="rect">
            <a:avLst/>
          </a:prstGeom>
          <a:solidFill>
            <a:srgbClr val="74002C"/>
          </a:solidFill>
          <a:ln w="12700">
            <a:solidFill>
              <a:srgbClr val="74002C"/>
            </a:solidFill>
            <a:prstDash val="solid"/>
          </a:ln>
        </p:spPr>
      </p:sp>
      <p:sp>
        <p:nvSpPr>
          <p:cNvPr id="7" name="Shape 5"/>
          <p:cNvSpPr/>
          <p:nvPr/>
        </p:nvSpPr>
        <p:spPr>
          <a:xfrm>
            <a:off x="8127797" y="6624828"/>
            <a:ext cx="4063898" cy="233172"/>
          </a:xfrm>
          <a:prstGeom prst="rect">
            <a:avLst/>
          </a:prstGeom>
          <a:solidFill>
            <a:srgbClr val="9A003B"/>
          </a:solidFill>
          <a:ln w="12700">
            <a:solidFill>
              <a:srgbClr val="9A003B"/>
            </a:solidFill>
            <a:prstDash val="solid"/>
          </a:ln>
        </p:spPr>
      </p:sp>
      <p:sp>
        <p:nvSpPr>
          <p:cNvPr id="8" name="Text 6"/>
          <p:cNvSpPr txBox="1"/>
          <p:nvPr/>
        </p:nvSpPr>
        <p:spPr>
          <a:xfrm>
            <a:off x="1143000" y="6624828"/>
            <a:ext cx="2743200" cy="233172"/>
          </a:xfrm>
          <a:prstGeom prst="rect">
            <a:avLst/>
          </a:prstGeom>
          <a:noFill/>
          <a:ln/>
        </p:spPr>
        <p:txBody>
          <a:bodyPr wrap="square" lIns="0" tIns="0" rIns="0" bIns="0" rtlCol="0" anchor="ctr"/>
          <a:lstStyle/>
          <a:p>
            <a:pPr marL="0" indent="0">
              <a:buNone/>
            </a:pPr>
            <a:r>
              <a:rPr lang="en-US" sz="900" dirty="0">
                <a:solidFill>
                  <a:srgbClr val="FFFFFF"/>
                </a:solidFill>
                <a:latin typeface="Calibri" pitchFamily="34" charset="0"/>
                <a:ea typeface="Calibri" pitchFamily="34" charset="-122"/>
                <a:cs typeface="Calibri" pitchFamily="34" charset="-120"/>
              </a:rPr>
              <a:t>[Student Initials]  (SHU)</a:t>
            </a:r>
            <a:endParaRPr lang="en-US" sz="900" dirty="0"/>
          </a:p>
        </p:txBody>
      </p:sp>
      <p:sp>
        <p:nvSpPr>
          <p:cNvPr id="9" name="Text 7"/>
          <p:cNvSpPr txBox="1"/>
          <p:nvPr/>
        </p:nvSpPr>
        <p:spPr>
          <a:xfrm>
            <a:off x="5276088" y="6624828"/>
            <a:ext cx="2743200" cy="233172"/>
          </a:xfrm>
          <a:prstGeom prst="rect">
            <a:avLst/>
          </a:prstGeom>
          <a:noFill/>
          <a:ln/>
        </p:spPr>
        <p:txBody>
          <a:bodyPr wrap="square" lIns="0" tIns="0" rIns="0" bIns="0" rtlCol="0" anchor="ctr"/>
          <a:lstStyle/>
          <a:p>
            <a:pPr marL="0" indent="0">
              <a:buNone/>
            </a:pPr>
            <a:r>
              <a:rPr lang="en-US" sz="900" dirty="0">
                <a:solidFill>
                  <a:srgbClr val="FFFFFF"/>
                </a:solidFill>
                <a:latin typeface="Calibri" pitchFamily="34" charset="0"/>
                <a:ea typeface="Calibri" pitchFamily="34" charset="-122"/>
                <a:cs typeface="Calibri" pitchFamily="34" charset="-120"/>
              </a:rPr>
              <a:t>Does the Emoji Matter?</a:t>
            </a:r>
            <a:endParaRPr lang="en-US" sz="900" dirty="0"/>
          </a:p>
        </p:txBody>
      </p:sp>
      <p:sp>
        <p:nvSpPr>
          <p:cNvPr id="10" name="Text 8"/>
          <p:cNvSpPr txBox="1"/>
          <p:nvPr/>
        </p:nvSpPr>
        <p:spPr>
          <a:xfrm>
            <a:off x="9235440" y="6624828"/>
            <a:ext cx="1645920" cy="233172"/>
          </a:xfrm>
          <a:prstGeom prst="rect">
            <a:avLst/>
          </a:prstGeom>
          <a:noFill/>
          <a:ln/>
        </p:spPr>
        <p:txBody>
          <a:bodyPr wrap="square" lIns="0" tIns="0" rIns="0" bIns="0" rtlCol="0" anchor="ctr"/>
          <a:lstStyle/>
          <a:p>
            <a:pPr marL="0" indent="0">
              <a:buNone/>
            </a:pPr>
            <a:r>
              <a:rPr lang="en-US" sz="900" dirty="0">
                <a:solidFill>
                  <a:srgbClr val="FFFFFF"/>
                </a:solidFill>
                <a:latin typeface="Calibri" pitchFamily="34" charset="0"/>
                <a:ea typeface="Calibri" pitchFamily="34" charset="-122"/>
                <a:cs typeface="Calibri" pitchFamily="34" charset="-120"/>
              </a:rPr>
              <a:t>September 2026</a:t>
            </a:r>
            <a:endParaRPr lang="en-US" sz="900" dirty="0"/>
          </a:p>
        </p:txBody>
      </p:sp>
      <p:sp>
        <p:nvSpPr>
          <p:cNvPr id="11" name="Text 9"/>
          <p:cNvSpPr txBox="1"/>
          <p:nvPr/>
        </p:nvSpPr>
        <p:spPr>
          <a:xfrm>
            <a:off x="10881360" y="6624828"/>
            <a:ext cx="1161288" cy="233172"/>
          </a:xfrm>
          <a:prstGeom prst="rect">
            <a:avLst/>
          </a:prstGeom>
          <a:noFill/>
          <a:ln/>
        </p:spPr>
        <p:txBody>
          <a:bodyPr wrap="square" lIns="0" tIns="0" rIns="0" bIns="0" rtlCol="0" anchor="ctr"/>
          <a:lstStyle/>
          <a:p>
            <a:pPr marL="0" indent="0" algn="r">
              <a:buNone/>
            </a:pPr>
            <a:r>
              <a:rPr lang="en-US" sz="900" dirty="0">
                <a:solidFill>
                  <a:srgbClr val="FFFFFF"/>
                </a:solidFill>
                <a:latin typeface="Calibri" pitchFamily="34" charset="0"/>
                <a:ea typeface="Calibri" pitchFamily="34" charset="-122"/>
                <a:cs typeface="Calibri" pitchFamily="34" charset="-120"/>
              </a:rPr>
              <a:t>43 / 43</a:t>
            </a:r>
            <a:endParaRPr lang="en-US" sz="900" dirty="0"/>
          </a:p>
        </p:txBody>
      </p:sp>
      <p:sp>
        <p:nvSpPr>
          <p:cNvPr id="12" name="Text 10"/>
          <p:cNvSpPr txBox="1"/>
          <p:nvPr/>
        </p:nvSpPr>
        <p:spPr>
          <a:xfrm>
            <a:off x="914400" y="1965960"/>
            <a:ext cx="10360152" cy="822960"/>
          </a:xfrm>
          <a:prstGeom prst="rect">
            <a:avLst/>
          </a:prstGeom>
          <a:noFill/>
          <a:ln/>
        </p:spPr>
        <p:txBody>
          <a:bodyPr wrap="square" lIns="0" tIns="0" rIns="0" bIns="0" rtlCol="0" anchor="ctr"/>
          <a:lstStyle/>
          <a:p>
            <a:pPr marL="0" indent="0" algn="ctr">
              <a:buNone/>
            </a:pPr>
            <a:r>
              <a:rPr lang="en-US" sz="4000" dirty="0">
                <a:solidFill>
                  <a:srgbClr val="000000"/>
                </a:solidFill>
                <a:latin typeface="Calibri" pitchFamily="34" charset="0"/>
                <a:ea typeface="Calibri" pitchFamily="34" charset="-122"/>
                <a:cs typeface="Calibri" pitchFamily="34" charset="-120"/>
              </a:rPr>
              <a:t>Thank You!</a:t>
            </a:r>
            <a:endParaRPr lang="en-US" sz="4000" dirty="0"/>
          </a:p>
        </p:txBody>
      </p:sp>
      <p:sp>
        <p:nvSpPr>
          <p:cNvPr id="13" name="Text 11"/>
          <p:cNvSpPr txBox="1"/>
          <p:nvPr/>
        </p:nvSpPr>
        <p:spPr>
          <a:xfrm>
            <a:off x="914400" y="3017520"/>
            <a:ext cx="10360152" cy="411480"/>
          </a:xfrm>
          <a:prstGeom prst="rect">
            <a:avLst/>
          </a:prstGeom>
          <a:noFill/>
          <a:ln/>
        </p:spPr>
        <p:txBody>
          <a:bodyPr wrap="square" lIns="0" tIns="0" rIns="0" bIns="0" rtlCol="0" anchor="ctr"/>
          <a:lstStyle/>
          <a:p>
            <a:pPr marL="0" indent="0" algn="ctr">
              <a:buNone/>
            </a:pPr>
            <a:r>
              <a:rPr lang="en-US" sz="1800" dirty="0">
                <a:solidFill>
                  <a:srgbClr val="000000"/>
                </a:solidFill>
                <a:latin typeface="Calibri" pitchFamily="34" charset="0"/>
                <a:ea typeface="Calibri" pitchFamily="34" charset="-122"/>
                <a:cs typeface="Calibri" pitchFamily="34" charset="-120"/>
              </a:rPr>
              <a:t>Questions &amp; Academic Discussion Welcome</a:t>
            </a:r>
            <a:endParaRPr lang="en-US" sz="1800" dirty="0"/>
          </a:p>
        </p:txBody>
      </p:sp>
      <p:sp>
        <p:nvSpPr>
          <p:cNvPr id="14" name="Text 12"/>
          <p:cNvSpPr txBox="1"/>
          <p:nvPr/>
        </p:nvSpPr>
        <p:spPr>
          <a:xfrm>
            <a:off x="914400" y="4251960"/>
            <a:ext cx="10360152" cy="320040"/>
          </a:xfrm>
          <a:prstGeom prst="rect">
            <a:avLst/>
          </a:prstGeom>
          <a:noFill/>
          <a:ln/>
        </p:spPr>
        <p:txBody>
          <a:bodyPr wrap="square" lIns="0" tIns="0" rIns="0" bIns="0" rtlCol="0" anchor="ctr"/>
          <a:lstStyle/>
          <a:p>
            <a:pPr marL="0" indent="0" algn="ctr">
              <a:buNone/>
            </a:pPr>
            <a:r>
              <a:rPr lang="en-US" sz="1300" dirty="0">
                <a:solidFill>
                  <a:srgbClr val="000000"/>
                </a:solidFill>
                <a:latin typeface="Calibri" pitchFamily="34" charset="0"/>
                <a:ea typeface="Calibri" pitchFamily="34" charset="-122"/>
                <a:cs typeface="Calibri" pitchFamily="34" charset="-120"/>
              </a:rPr>
              <a:t>Primary Contact Address:</a:t>
            </a:r>
            <a:endParaRPr lang="en-US" sz="1300" dirty="0"/>
          </a:p>
        </p:txBody>
      </p:sp>
      <p:sp>
        <p:nvSpPr>
          <p:cNvPr id="15" name="Text 13"/>
          <p:cNvSpPr txBox="1"/>
          <p:nvPr/>
        </p:nvSpPr>
        <p:spPr>
          <a:xfrm>
            <a:off x="914400" y="4617720"/>
            <a:ext cx="10360152" cy="320040"/>
          </a:xfrm>
          <a:prstGeom prst="rect">
            <a:avLst/>
          </a:prstGeom>
          <a:noFill/>
          <a:ln/>
        </p:spPr>
        <p:txBody>
          <a:bodyPr wrap="square" lIns="0" tIns="0" rIns="0" bIns="0" rtlCol="0" anchor="ctr"/>
          <a:lstStyle/>
          <a:p>
            <a:pPr marL="0" indent="0" algn="ctr">
              <a:buNone/>
            </a:pPr>
            <a:r>
              <a:rPr lang="en-US" sz="1400" dirty="0">
                <a:solidFill>
                  <a:srgbClr val="000000"/>
                </a:solidFill>
                <a:latin typeface="Courier New" pitchFamily="34" charset="0"/>
                <a:ea typeface="Courier New" pitchFamily="34" charset="-122"/>
                <a:cs typeface="Courier New" pitchFamily="34" charset="-120"/>
              </a:rPr>
              <a:t>[student.email@student.shu.ac.uk]</a:t>
            </a:r>
            <a:endParaRPr lang="en-US" sz="1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Override1.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themeOverride>
</file>

<file path=ppt/theme/themeOverride2.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themeOverride>
</file>

<file path=docProps/app.xml><?xml version="1.0" encoding="utf-8"?>
<Properties xmlns="http://schemas.openxmlformats.org/officeDocument/2006/extended-properties" xmlns:vt="http://schemas.openxmlformats.org/officeDocument/2006/docPropsVTypes">
  <Template/>
  <TotalTime>5</TotalTime>
  <Words>7246</Words>
  <Application>Microsoft Office PowerPoint</Application>
  <PresentationFormat>Widescreen</PresentationFormat>
  <Paragraphs>773</Paragraphs>
  <Slides>43</Slides>
  <Notes>43</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43</vt:i4>
      </vt:variant>
    </vt:vector>
  </HeadingPairs>
  <TitlesOfParts>
    <vt:vector size="47" baseType="lpstr">
      <vt:lpstr>Arial</vt:lpstr>
      <vt:lpstr>Calibri</vt:lpstr>
      <vt:lpstr>Courier New</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Does the Emoji Matter?</dc:title>
  <dc:subject>PptxGenJS Presentation</dc:subject>
  <dc:creator>[Student Full Name]</dc:creator>
  <cp:lastModifiedBy>HITESH PARAKH</cp:lastModifiedBy>
  <cp:revision>2</cp:revision>
  <dcterms:created xsi:type="dcterms:W3CDTF">2026-09-08T20:37:24Z</dcterms:created>
  <dcterms:modified xsi:type="dcterms:W3CDTF">2026-09-08T21:15:18Z</dcterms:modified>
</cp:coreProperties>
</file>